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sldIdLst>
    <p:sldId id="418" r:id="rId5"/>
    <p:sldId id="256" r:id="rId6"/>
    <p:sldId id="407" r:id="rId7"/>
    <p:sldId id="258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266" r:id="rId16"/>
    <p:sldId id="267" r:id="rId17"/>
    <p:sldId id="419" r:id="rId18"/>
    <p:sldId id="415" r:id="rId19"/>
    <p:sldId id="416" r:id="rId20"/>
    <p:sldId id="417" r:id="rId21"/>
    <p:sldId id="283" r:id="rId22"/>
  </p:sldIdLst>
  <p:sldSz cx="12192000" cy="6858000"/>
  <p:notesSz cx="7104063" cy="10234613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418"/>
          </p14:sldIdLst>
        </p14:section>
        <p14:section name="Writing files (basic)" id="{EA7BE787-30FE-5346-8F04-B940848D5459}">
          <p14:sldIdLst>
            <p14:sldId id="256"/>
            <p14:sldId id="407"/>
            <p14:sldId id="258"/>
            <p14:sldId id="408"/>
            <p14:sldId id="409"/>
            <p14:sldId id="410"/>
            <p14:sldId id="411"/>
            <p14:sldId id="412"/>
            <p14:sldId id="413"/>
            <p14:sldId id="414"/>
            <p14:sldId id="266"/>
            <p14:sldId id="267"/>
            <p14:sldId id="419"/>
            <p14:sldId id="415"/>
            <p14:sldId id="416"/>
            <p14:sldId id="41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E46C0A"/>
    <a:srgbClr val="C0504D"/>
    <a:srgbClr val="4F81BD"/>
    <a:srgbClr val="FFD966"/>
    <a:srgbClr val="00DC65"/>
    <a:srgbClr val="000000"/>
    <a:srgbClr val="D81C24"/>
    <a:srgbClr val="D9272E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3"/>
    <p:restoredTop sz="67404"/>
  </p:normalViewPr>
  <p:slideViewPr>
    <p:cSldViewPr snapToGrid="0">
      <p:cViewPr>
        <p:scale>
          <a:sx n="90" d="100"/>
          <a:sy n="90" d="100"/>
        </p:scale>
        <p:origin x="1590" y="546"/>
      </p:cViewPr>
      <p:guideLst>
        <p:guide orient="horz" pos="2160"/>
        <p:guide pos="3840"/>
      </p:guideLst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2"/>
              </a:buClr>
              <a:buSzPct val="25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acknowledgement</a:t>
            </a:r>
            <a:r>
              <a:rPr lang="en-US" sz="1000" b="0" i="0" u="none" strike="noStrike" cap="none" baseline="0" dirty="0">
                <a:solidFill>
                  <a:schemeClr val="dk2"/>
                </a:solidFill>
              </a:rPr>
              <a:t> </a:t>
            </a:r>
            <a:r>
              <a:rPr lang="en-US" sz="1000" b="0" i="0" u="none" strike="noStrike" cap="none" dirty="0">
                <a:solidFill>
                  <a:schemeClr val="dk2"/>
                </a:solidFill>
              </a:rPr>
              <a:t>page(s) at the end.</a:t>
            </a:r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91113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172" name="Shape 1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535338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180" name="Shape 1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72179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85360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9469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826784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85961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868694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21" name="Shape 2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558730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28" name="Shape 2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965702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35" name="Shape 2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673727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801784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529872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924613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55" name="Shape 2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7910383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057151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Shape 3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98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 dirty="0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9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99" y="3886200"/>
            <a:ext cx="10363199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89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94618"/>
            <a:ext cx="10972800" cy="219169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FB0483-D927-6C4B-9F8E-0CBFBED89EA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4182975"/>
            <a:ext cx="10972800" cy="21916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25274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AU" noProof="0" smtClean="0"/>
              <a:t>2/07/2024</a:t>
            </a:fld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AU" noProof="0" smtClean="0"/>
              <a:t>‹#›</a:t>
            </a:fld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7172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7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8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98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3776"/>
            <a:ext cx="4011084" cy="94132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93776"/>
            <a:ext cx="6815667" cy="56323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99615"/>
            <a:ext cx="4011084" cy="46265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9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Click icon to add picture</a:t>
            </a:r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8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38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698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pening 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title"/>
          </p:nvPr>
        </p:nvSpPr>
        <p:spPr>
          <a:xfrm>
            <a:off x="866775" y="1152525"/>
            <a:ext cx="10448925" cy="2314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4500" b="0" i="0" u="none" strike="noStrike" cap="none">
                <a:solidFill>
                  <a:srgbClr val="FFF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350"/>
            </a:lvl9pPr>
          </a:lstStyle>
          <a:p>
            <a:endParaRPr dirty="0"/>
          </a:p>
        </p:txBody>
      </p:sp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866775" y="3533775"/>
            <a:ext cx="10448925" cy="7905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25717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557213" marR="0" lvl="1" indent="-21431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57250" marR="0" lvl="2" indent="-171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171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543050" marR="0" lvl="4" indent="-171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429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6858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0287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371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154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94617"/>
            <a:ext cx="10972800" cy="4563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7/2/2024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2040"/>
            <a:ext cx="3860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82040"/>
            <a:ext cx="28448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4">
            <a:extLst>
              <a:ext uri="{FF2B5EF4-FFF2-40B4-BE49-F238E27FC236}">
                <a16:creationId xmlns:a16="http://schemas.microsoft.com/office/drawing/2014/main" id="{ED1A118C-2DC5-9B4D-B303-C0863344B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77254"/>
            <a:ext cx="10972799" cy="12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70132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49" r:id="rId3"/>
    <p:sldLayoutId id="2147483650" r:id="rId4"/>
    <p:sldLayoutId id="2147483665" r:id="rId5"/>
    <p:sldLayoutId id="2147483651" r:id="rId6"/>
    <p:sldLayoutId id="2147483661" r:id="rId7"/>
    <p:sldLayoutId id="2147483652" r:id="rId8"/>
    <p:sldLayoutId id="2147483662" r:id="rId9"/>
    <p:sldLayoutId id="2147483653" r:id="rId10"/>
    <p:sldLayoutId id="2147483654" r:id="rId11"/>
    <p:sldLayoutId id="2147483663" r:id="rId12"/>
    <p:sldLayoutId id="2147483655" r:id="rId13"/>
    <p:sldLayoutId id="2147483664" r:id="rId14"/>
    <p:sldLayoutId id="2147483660" r:id="rId15"/>
    <p:sldLayoutId id="2147483656" r:id="rId16"/>
    <p:sldLayoutId id="2147483657" r:id="rId17"/>
    <p:sldLayoutId id="2147483658" r:id="rId18"/>
    <p:sldLayoutId id="2147483659" r:id="rId19"/>
    <p:sldLayoutId id="2147483668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4200" b="1" i="0" kern="1200" spc="5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4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hyperlink" Target="www.pythonlearn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python.org/moin/HowTo/Sorti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5.jpg"/><Relationship Id="rId4" Type="http://schemas.openxmlformats.org/officeDocument/2006/relationships/hyperlink" Target="http://open.umich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B1A4-428B-752A-78E2-CBAD0B2C6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Introductory Programming Techniques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E28E0-6FC7-E9E2-1895-AEA61C11FB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dirty="0"/>
              <a:t>Course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757E9-CA51-8E3C-0901-443F04B1B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AU" dirty="0"/>
              <a:t>North Metropolitan TAFE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6666B9-024F-19BA-CE84-97DF687E7402}"/>
              </a:ext>
            </a:extLst>
          </p:cNvPr>
          <p:cNvSpPr txBox="1"/>
          <p:nvPr/>
        </p:nvSpPr>
        <p:spPr>
          <a:xfrm>
            <a:off x="914400" y="4870093"/>
            <a:ext cx="60933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Courses:</a:t>
            </a:r>
          </a:p>
          <a:p>
            <a:pPr algn="l"/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III in Information Technology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(Programming)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(Networking)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(Cybersecurity)</a:t>
            </a:r>
            <a:b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</a:br>
            <a:r>
              <a:rPr lang="en-US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Certificate IV in IT (Web)</a:t>
            </a:r>
          </a:p>
        </p:txBody>
      </p:sp>
    </p:spTree>
    <p:extLst>
      <p:ext uri="{BB962C8B-B14F-4D97-AF65-F5344CB8AC3E}">
        <p14:creationId xmlns:p14="http://schemas.microsoft.com/office/powerpoint/2010/main" val="311983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b" anchorCtr="0">
            <a:noAutofit/>
          </a:bodyPr>
          <a:lstStyle/>
          <a:p>
            <a:pPr>
              <a:buClr>
                <a:srgbClr val="FF00FF"/>
              </a:buClr>
              <a:buSzPct val="25000"/>
            </a:pPr>
            <a:r>
              <a:rPr lang="en-US" sz="57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/>
          <a:p>
            <a:pPr marL="0" indent="0">
              <a:buClr>
                <a:schemeClr val="lt1"/>
              </a:buClr>
              <a:buSzPct val="25000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Chapter 10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2375869" y="5251843"/>
            <a:ext cx="7423874" cy="762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algn="ctr">
              <a:buClr>
                <a:srgbClr val="FFFF00"/>
              </a:buClr>
              <a:buSzPct val="25000"/>
            </a:pPr>
            <a:r>
              <a:rPr lang="en-US" sz="24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  <a:endParaRPr lang="en-US" sz="2400" u="sng" dirty="0">
              <a:solidFill>
                <a:schemeClr val="hlink"/>
              </a:solidFill>
              <a:latin typeface="Arial" charset="0"/>
              <a:ea typeface="Arial" charset="0"/>
              <a:cs typeface="Arial" charset="0"/>
              <a:sym typeface="Cabin"/>
              <a:hlinkClick r:id="rId4"/>
            </a:endParaRPr>
          </a:p>
        </p:txBody>
      </p:sp>
      <p:pic>
        <p:nvPicPr>
          <p:cNvPr id="168" name="Shape 1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81034" y="5378049"/>
            <a:ext cx="1476375" cy="501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Shape 1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438" y="5232118"/>
            <a:ext cx="768600" cy="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85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Are Like Lists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562627" y="1952439"/>
            <a:ext cx="10538837" cy="1294210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371475" indent="0">
              <a:spcBef>
                <a:spcPts val="0"/>
              </a:spcBef>
              <a:buClr>
                <a:schemeClr val="lt1"/>
              </a:buClr>
              <a:buSzPct val="100000"/>
              <a:buNone/>
            </a:pPr>
            <a:r>
              <a:rPr lang="en-US" sz="27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are another kind of sequence that functions much like a list - they have elements which are indexed starting at 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D1CE68-513D-F877-F687-95D417EDB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100653"/>
              </p:ext>
            </p:extLst>
          </p:nvPr>
        </p:nvGraphicFramePr>
        <p:xfrm>
          <a:off x="1014082" y="3188191"/>
          <a:ext cx="4294118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0816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3643302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names = (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'Glenn'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'Sally'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'Joseph'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(names[2])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Joseph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numbers = (1, 9, 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271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(numbers)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32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(1, 9, 2)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40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print(</a:t>
                      </a:r>
                      <a:r>
                        <a:rPr lang="en-US" sz="1800" dirty="0">
                          <a:solidFill>
                            <a:srgbClr val="FF00FF"/>
                          </a:solidFill>
                          <a:ea typeface="Courier New"/>
                          <a:cs typeface="Courier"/>
                          <a:sym typeface="Courier New"/>
                        </a:rPr>
                        <a:t>max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(numbers))</a:t>
                      </a:r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88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04383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B9919B-C1E2-C83C-8ECC-739F75B67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247505"/>
              </p:ext>
            </p:extLst>
          </p:nvPr>
        </p:nvGraphicFramePr>
        <p:xfrm>
          <a:off x="6057773" y="3188191"/>
          <a:ext cx="4294118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816">
                  <a:extLst>
                    <a:ext uri="{9D8B030D-6E8A-4147-A177-3AD203B41FA5}">
                      <a16:colId xmlns:a16="http://schemas.microsoft.com/office/drawing/2014/main" val="844375552"/>
                    </a:ext>
                  </a:extLst>
                </a:gridCol>
                <a:gridCol w="3643302">
                  <a:extLst>
                    <a:ext uri="{9D8B030D-6E8A-4147-A177-3AD203B41FA5}">
                      <a16:colId xmlns:a16="http://schemas.microsoft.com/office/drawing/2014/main" val="1761468088"/>
                    </a:ext>
                  </a:extLst>
                </a:gridCol>
              </a:tblGrid>
              <a:tr h="3931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  <a:p>
                      <a:r>
                        <a:rPr lang="en-AU" dirty="0">
                          <a:solidFill>
                            <a:srgbClr val="C0504D"/>
                          </a:solidFill>
                        </a:rPr>
                        <a:t>…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C000"/>
                          </a:solidFill>
                          <a:ea typeface="Courier New"/>
                          <a:cs typeface="Courier"/>
                          <a:sym typeface="Courier New"/>
                        </a:rPr>
                        <a:t>for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 counter </a:t>
                      </a:r>
                      <a:r>
                        <a:rPr lang="en-US" sz="1800" dirty="0">
                          <a:solidFill>
                            <a:srgbClr val="FFC000"/>
                          </a:solidFill>
                          <a:ea typeface="Courier New"/>
                          <a:cs typeface="Courier"/>
                          <a:sym typeface="Courier New"/>
                        </a:rPr>
                        <a:t>in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 numbers: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     </a:t>
                      </a: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(counter)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98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1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9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4F81BD"/>
                          </a:solidFill>
                          <a:ea typeface="Courier New"/>
                          <a:cs typeface="Courier"/>
                          <a:sym typeface="Courier New"/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5379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But Tuples are “immutable”</a:t>
            </a:r>
          </a:p>
        </p:txBody>
      </p:sp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449000" cy="994172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238125" indent="0">
              <a:spcBef>
                <a:spcPts val="0"/>
              </a:spcBef>
              <a:buClr>
                <a:schemeClr val="lt1"/>
              </a:buClr>
              <a:buSzPct val="171000"/>
              <a:buNone/>
            </a:pP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Unlike a list, once you create a </a:t>
            </a:r>
            <a:r>
              <a:rPr lang="en-US" sz="2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</a:t>
            </a: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you </a:t>
            </a:r>
            <a:r>
              <a:rPr lang="en-US" sz="2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cannot alter </a:t>
            </a: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its contents - similar to a string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3D9BFB-993F-22C9-A280-3BCF9BA51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990452"/>
              </p:ext>
            </p:extLst>
          </p:nvPr>
        </p:nvGraphicFramePr>
        <p:xfrm>
          <a:off x="312043" y="3339948"/>
          <a:ext cx="3768251" cy="27533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10983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3157268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709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x = [9, 8, 7]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709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x[2] = 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7091"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(x)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1622088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[9, 8, 6]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</a:b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2718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232B6F-0814-CBE5-D168-8BDDBD4B5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997392"/>
              </p:ext>
            </p:extLst>
          </p:nvPr>
        </p:nvGraphicFramePr>
        <p:xfrm>
          <a:off x="4212540" y="3339949"/>
          <a:ext cx="3757469" cy="275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26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3147843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y = 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'ABC'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y[2] = 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'D'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Traceback (most recent call last):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File "&lt;pyshell#1&gt;", line 1, in &lt;module&gt;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  y[2] = "d"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TypeError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: 'str' object does not support item assignment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79685D-8880-3225-8D7F-3D905B944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53599"/>
              </p:ext>
            </p:extLst>
          </p:nvPr>
        </p:nvGraphicFramePr>
        <p:xfrm>
          <a:off x="8111708" y="3339949"/>
          <a:ext cx="3757469" cy="275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26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3147843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z = (5,4,3)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z[2] = 0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Traceback (most recent call last):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File "&lt;pyshell#3&gt;", line 1, in &lt;module&gt;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  z[2] = 0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TypeError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: 'tuple' object does not support item assignment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Things </a:t>
            </a:r>
            <a:r>
              <a:rPr lang="en-US" sz="58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</a:t>
            </a:r>
            <a:r>
              <a:rPr lang="en-US" sz="585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do With Tuples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B9BE26-BA69-25C1-D4C0-8462EF998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0421"/>
              </p:ext>
            </p:extLst>
          </p:nvPr>
        </p:nvGraphicFramePr>
        <p:xfrm>
          <a:off x="1107919" y="1664188"/>
          <a:ext cx="9238891" cy="502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6596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8652295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26322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x = (3, 2, 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 err="1">
                          <a:ea typeface="Courier New"/>
                          <a:cs typeface="Courier"/>
                          <a:sym typeface="Courier New"/>
                        </a:rPr>
                        <a:t>x.sort</a:t>
                      </a:r>
                      <a:r>
                        <a:rPr lang="en-US" dirty="0"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Traceback (most recent call last):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  File "&lt;pyshell#5&gt;", line 1, in &lt;module&gt;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   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x.sort</a:t>
                      </a:r>
                      <a:endParaRPr lang="en-US" dirty="0">
                        <a:solidFill>
                          <a:srgbClr val="FF0000"/>
                        </a:solidFill>
                        <a:ea typeface="Courier New"/>
                        <a:cs typeface="Courier"/>
                        <a:sym typeface="Courier New"/>
                      </a:endParaRP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AttributeError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a typeface="Courier New"/>
                          <a:cs typeface="Courier"/>
                          <a:sym typeface="Courier New"/>
                        </a:rPr>
                        <a:t>: 'tuple' object has no attribute 'sort'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dirty="0" err="1">
                          <a:ea typeface="Courier New"/>
                          <a:cs typeface="Courier"/>
                          <a:sym typeface="Courier New"/>
                        </a:rPr>
                        <a:t>x.append</a:t>
                      </a:r>
                      <a:r>
                        <a:rPr lang="en-US" dirty="0">
                          <a:ea typeface="Courier New"/>
                          <a:cs typeface="Courier"/>
                          <a:sym typeface="Courier New"/>
                        </a:rPr>
                        <a:t>(5)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Traceback (most recent call last):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File "&lt;pyshell#6&gt;", line 1, in &lt;module&gt;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  </a:t>
                      </a: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x.append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(5)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AttributeError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: 'tuple' object has no attribute 'append'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87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ea typeface="Courier New"/>
                          <a:cs typeface="Courier"/>
                          <a:sym typeface="Courier New"/>
                        </a:rPr>
                        <a:t>x.reverse</a:t>
                      </a:r>
                      <a:r>
                        <a:rPr lang="en-US" dirty="0"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271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Traceback (most recent call last):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File "&lt;pyshell#7&gt;", line 1, in &lt;module&gt;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x.reverse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AttributeError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: 'tuple' object has no attribute 'reverse'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247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Tale of Two Sequences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FB8B4-C0C2-96BD-8DC3-E519B3B01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350041"/>
              </p:ext>
            </p:extLst>
          </p:nvPr>
        </p:nvGraphicFramePr>
        <p:xfrm>
          <a:off x="1728420" y="1915159"/>
          <a:ext cx="7217460" cy="212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9020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6568440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animals = </a:t>
                      </a:r>
                      <a:r>
                        <a:rPr lang="en-US" sz="1800" dirty="0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list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type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(animals)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&lt;class 'list'&gt;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dir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(animals)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[…'append', 'clear', 'copy', 'count', 'extend', 'index', 'insert', 'pop', 'remove', 'reverse', 'sort']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132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3169C-DCDC-7314-C4D3-B3AA06E2C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101293"/>
              </p:ext>
            </p:extLst>
          </p:nvPr>
        </p:nvGraphicFramePr>
        <p:xfrm>
          <a:off x="1728420" y="4481722"/>
          <a:ext cx="7217460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18540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6598920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numbers = </a:t>
                      </a:r>
                      <a:r>
                        <a:rPr lang="en-US" sz="1800" dirty="0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tuple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type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(numbers)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&lt;class ‘tuple'&gt;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rgbClr val="CC00CC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dir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(numbers)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[…'count', 'index']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132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xfrm>
            <a:off x="866775" y="592282"/>
            <a:ext cx="9991725" cy="1312643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are More Efficient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body" idx="1"/>
          </p:nvPr>
        </p:nvSpPr>
        <p:spPr>
          <a:xfrm>
            <a:off x="866775" y="1952625"/>
            <a:ext cx="10449000" cy="3698672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Since Python does not have to build tuple structures to be modifiable, they are simpler and more efficient in terms of memory use and performance than lists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our program when we are making “temporary variables” we prefer tuples over lists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7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and Assignment</a:t>
            </a:r>
          </a:p>
        </p:txBody>
      </p:sp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866775" y="1952626"/>
            <a:ext cx="10449000" cy="1497806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also put a </a:t>
            </a:r>
            <a:r>
              <a:rPr lang="en-US" sz="280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</a:t>
            </a:r>
            <a:r>
              <a:rPr lang="en-US" sz="2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on the </a:t>
            </a:r>
            <a:r>
              <a:rPr lang="en-US" sz="280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left-hand side </a:t>
            </a:r>
            <a:r>
              <a:rPr lang="en-US" sz="2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 an assignment statement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omit the parentheses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28FE4E-FB38-8F9D-F162-F65FC5609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75145"/>
              </p:ext>
            </p:extLst>
          </p:nvPr>
        </p:nvGraphicFramePr>
        <p:xfrm>
          <a:off x="1758900" y="3778041"/>
          <a:ext cx="9274860" cy="212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2860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(number, name) = (4, </a:t>
                      </a:r>
                      <a:r>
                        <a:rPr lang="en-US" sz="1800" dirty="0">
                          <a:solidFill>
                            <a:srgbClr val="00B050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‘Fred’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Courier New"/>
                          <a:cs typeface="Courier"/>
                          <a:sym typeface="Courier New"/>
                        </a:rPr>
                        <a:t>)</a:t>
                      </a:r>
                      <a:endParaRPr lang="en-US" sz="1800" dirty="0">
                        <a:solidFill>
                          <a:srgbClr val="00B050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(name)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Fred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(number1, number2) = (99, 98)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(number1)</a:t>
                      </a:r>
                    </a:p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99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132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7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and Dictionaries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795656" y="1793026"/>
            <a:ext cx="10972800" cy="628015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371475" indent="0">
              <a:spcBef>
                <a:spcPts val="0"/>
              </a:spcBef>
              <a:buClr>
                <a:schemeClr val="lt1"/>
              </a:buClr>
              <a:buSzPct val="100000"/>
              <a:buNone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27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items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method in dictionaries returns a list of (key, value)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16FAA9-7D5C-2A09-7BDE-A400FC6B1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394242"/>
              </p:ext>
            </p:extLst>
          </p:nvPr>
        </p:nvGraphicFramePr>
        <p:xfrm>
          <a:off x="1307105" y="2710970"/>
          <a:ext cx="9274860" cy="3764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2860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8382000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fruit = </a:t>
                      </a:r>
                      <a:r>
                        <a:rPr lang="en-US" sz="1800" dirty="0" err="1">
                          <a:ea typeface="Courier New"/>
                          <a:cs typeface="Courier"/>
                          <a:sym typeface="Courier New"/>
                        </a:rPr>
                        <a:t>dict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fruit[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'Apples'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] =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fruit[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'Bananas'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] =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sym typeface="Courier New"/>
                        </a:rPr>
                        <a:t>…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sym typeface="Courier New"/>
                        </a:rPr>
                        <a:t>…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E46C0A"/>
                          </a:solidFill>
                          <a:ea typeface="Courier New"/>
                          <a:cs typeface="Courier"/>
                          <a:sym typeface="Courier New"/>
                        </a:rPr>
                        <a:t>for</a:t>
                      </a:r>
                      <a:r>
                        <a:rPr lang="en-US" sz="1800" dirty="0">
                          <a:solidFill>
                            <a:schemeClr val="lt1"/>
                          </a:solidFill>
                          <a:ea typeface="Courier New"/>
                          <a:cs typeface="Courier"/>
                          <a:sym typeface="Courier New"/>
                        </a:rPr>
                        <a:t> 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(key, value) </a:t>
                      </a:r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ea typeface="Courier New"/>
                          <a:cs typeface="Courier"/>
                          <a:sym typeface="Courier New"/>
                        </a:rPr>
                        <a:t>in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 </a:t>
                      </a:r>
                      <a:r>
                        <a:rPr lang="en-US" sz="1800" dirty="0" err="1">
                          <a:ea typeface="Courier New"/>
                          <a:cs typeface="Courier"/>
                          <a:sym typeface="Courier New"/>
                        </a:rPr>
                        <a:t>fruit</a:t>
                      </a:r>
                      <a:r>
                        <a:rPr lang="en-US" sz="1800" dirty="0" err="1">
                          <a:solidFill>
                            <a:srgbClr val="FF00FF"/>
                          </a:solidFill>
                          <a:ea typeface="Courier New"/>
                          <a:cs typeface="Courier"/>
                          <a:sym typeface="Courier New"/>
                        </a:rPr>
                        <a:t>.items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():</a:t>
                      </a:r>
                      <a:r>
                        <a:rPr lang="en-US" sz="1800" dirty="0">
                          <a:solidFill>
                            <a:schemeClr val="lt1"/>
                          </a:solidFill>
                          <a:ea typeface="Courier New"/>
                          <a:cs typeface="Courier"/>
                          <a:sym typeface="Courier New"/>
                        </a:rPr>
                        <a:t> </a:t>
                      </a:r>
                    </a:p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lt1"/>
                          </a:solidFill>
                          <a:ea typeface="Courier New"/>
                          <a:cs typeface="Courier"/>
                          <a:sym typeface="Courier New"/>
                        </a:rPr>
                        <a:t>...     </a:t>
                      </a: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(key, value)</a:t>
                      </a:r>
                    </a:p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endParaRPr lang="en-US" sz="1800" dirty="0">
                        <a:ea typeface="Courier New"/>
                        <a:cs typeface="Courier"/>
                        <a:sym typeface="Courier New"/>
                      </a:endParaRP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Apples 2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Bananas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ea typeface="Courier New"/>
                          <a:cs typeface="Courier"/>
                          <a:sym typeface="Courier New"/>
                        </a:rPr>
                        <a:t>fruit_tuple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 = </a:t>
                      </a:r>
                      <a:r>
                        <a:rPr lang="en-US" sz="1800" dirty="0" err="1">
                          <a:ea typeface="Courier New"/>
                          <a:cs typeface="Courier"/>
                          <a:sym typeface="Courier New"/>
                        </a:rPr>
                        <a:t>fruits</a:t>
                      </a:r>
                      <a:r>
                        <a:rPr lang="en-US" sz="1800" dirty="0" err="1">
                          <a:solidFill>
                            <a:srgbClr val="FF00FF"/>
                          </a:solidFill>
                          <a:ea typeface="Courier New"/>
                          <a:cs typeface="Courier"/>
                          <a:sym typeface="Courier New"/>
                        </a:rPr>
                        <a:t>.items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813240"/>
                  </a:ext>
                </a:extLst>
              </a:tr>
              <a:tr h="9144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</a:t>
                      </a:r>
                      <a:r>
                        <a:rPr lang="en-US" sz="1800" dirty="0" err="1">
                          <a:ea typeface="Courier New"/>
                          <a:cs typeface="Courier"/>
                          <a:sym typeface="Courier New"/>
                        </a:rPr>
                        <a:t>fruit_tuple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)</a:t>
                      </a:r>
                    </a:p>
                    <a:p>
                      <a:pPr lvl="0"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dict_items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([('Apples', 2), ('Bananas', 4)])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48638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09643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004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7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are Comparable</a:t>
            </a:r>
          </a:p>
        </p:txBody>
      </p:sp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871500" y="1952626"/>
            <a:ext cx="10449000" cy="1787127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t" anchorCtr="0">
            <a:noAutofit/>
          </a:bodyPr>
          <a:lstStyle/>
          <a:p>
            <a:pPr marL="238125" indent="0">
              <a:spcBef>
                <a:spcPts val="0"/>
              </a:spcBef>
              <a:buClr>
                <a:schemeClr val="lt1"/>
              </a:buClr>
              <a:buSzPct val="171000"/>
              <a:buNone/>
            </a:pP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comparison </a:t>
            </a:r>
            <a:r>
              <a:rPr lang="en-US" sz="285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operators</a:t>
            </a: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work with </a:t>
            </a:r>
            <a:r>
              <a:rPr lang="en-US" sz="285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</a:t>
            </a: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other sequences. </a:t>
            </a:r>
          </a:p>
          <a:p>
            <a:pPr marL="238125" indent="0">
              <a:spcBef>
                <a:spcPts val="0"/>
              </a:spcBef>
              <a:buClr>
                <a:schemeClr val="lt1"/>
              </a:buClr>
              <a:buSzPct val="171000"/>
              <a:buNone/>
            </a:pP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first item is equal, Python goes on to the next element,  and so on, until it finds elements that differ.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712CCF-23AA-D16E-32B0-66DC12539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069283"/>
              </p:ext>
            </p:extLst>
          </p:nvPr>
        </p:nvGraphicFramePr>
        <p:xfrm>
          <a:off x="1169945" y="4195235"/>
          <a:ext cx="5718535" cy="202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8375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5090160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(0, 1, 2) &lt; (5, 1, 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(0, 1, 2000000) &lt; (0, 3, 4)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72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(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'Jones'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'Sally'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) &gt; (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'Adams', 'Sam'</a:t>
                      </a:r>
                      <a:r>
                        <a:rPr lang="en-US" sz="1800" dirty="0">
                          <a:ea typeface="Courier New"/>
                          <a:cs typeface="Courier"/>
                          <a:sym typeface="Courier New"/>
                        </a:rPr>
                        <a:t>)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True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85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Lists of Tuples</a:t>
            </a:r>
          </a:p>
        </p:txBody>
      </p:sp>
      <p:sp>
        <p:nvSpPr>
          <p:cNvPr id="231" name="Shape 231"/>
          <p:cNvSpPr txBox="1">
            <a:spLocks noGrp="1"/>
          </p:cNvSpPr>
          <p:nvPr>
            <p:ph type="body" idx="1"/>
          </p:nvPr>
        </p:nvSpPr>
        <p:spPr>
          <a:xfrm>
            <a:off x="866775" y="1952625"/>
            <a:ext cx="10449000" cy="2050970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take advantage of the ability to sort a list of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get a sorted version of a dictionary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First we sort the dictionary by the key using the </a:t>
            </a:r>
            <a:r>
              <a:rPr lang="en-US" sz="27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items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method and </a:t>
            </a:r>
            <a:r>
              <a:rPr lang="en-US" sz="270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sorted() 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9F86B6-9CE9-684E-D41C-BE5A941CD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33897"/>
              </p:ext>
            </p:extLst>
          </p:nvPr>
        </p:nvGraphicFramePr>
        <p:xfrm>
          <a:off x="1230905" y="4453123"/>
          <a:ext cx="6153306" cy="1651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9653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5503653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fruit = {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'apple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':10, 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'banana'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:1, </a:t>
                      </a:r>
                      <a:r>
                        <a:rPr lang="en-US" sz="1800" dirty="0">
                          <a:solidFill>
                            <a:srgbClr val="00DC65"/>
                          </a:solidFill>
                          <a:ea typeface="Courier New"/>
                          <a:cs typeface="Courier"/>
                          <a:sym typeface="Courier New"/>
                        </a:rPr>
                        <a:t>'cherry'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:22}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fruit</a:t>
                      </a:r>
                      <a:r>
                        <a:rPr lang="en-US" sz="1800" dirty="0" err="1">
                          <a:solidFill>
                            <a:srgbClr val="FF00FF"/>
                          </a:solidFill>
                          <a:ea typeface="Courier New"/>
                          <a:cs typeface="Courier"/>
                          <a:sym typeface="Courier New"/>
                        </a:rPr>
                        <a:t>.items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rgbClr val="0070C0"/>
                          </a:solidFill>
                          <a:ea typeface="Courier New"/>
                          <a:cs typeface="Courier"/>
                          <a:sym typeface="Courier New"/>
                        </a:rPr>
                        <a:t>dict_items</a:t>
                      </a:r>
                      <a:r>
                        <a:rPr lang="en-US" sz="1800" dirty="0">
                          <a:solidFill>
                            <a:srgbClr val="0070C0"/>
                          </a:solidFill>
                          <a:ea typeface="Courier New"/>
                          <a:cs typeface="Courier"/>
                          <a:sym typeface="Courier New"/>
                        </a:rPr>
                        <a:t>([('apple', 10), ('cherry', 22), ('banana', 1)])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sorted(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fruit</a:t>
                      </a:r>
                      <a:r>
                        <a:rPr lang="en-US" sz="1800" dirty="0" err="1">
                          <a:solidFill>
                            <a:srgbClr val="FF00FF"/>
                          </a:solidFill>
                          <a:ea typeface="Courier New"/>
                          <a:cs typeface="Courier"/>
                          <a:sym typeface="Courier New"/>
                        </a:rPr>
                        <a:t>.items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a typeface="Courier New"/>
                          <a:cs typeface="Courier"/>
                          <a:sym typeface="Courier New"/>
                        </a:rPr>
                        <a:t>())</a:t>
                      </a:r>
                    </a:p>
                    <a:p>
                      <a:pPr>
                        <a:buClr>
                          <a:schemeClr val="lt1"/>
                        </a:buClr>
                        <a:buSzPct val="25000"/>
                      </a:pPr>
                      <a:r>
                        <a:rPr lang="en-US" sz="1800" dirty="0">
                          <a:solidFill>
                            <a:srgbClr val="0070C0"/>
                          </a:solidFill>
                          <a:ea typeface="Courier New"/>
                          <a:cs typeface="Courier"/>
                          <a:sym typeface="Courier New"/>
                        </a:rPr>
                        <a:t>[('apple', 10), ('banana', 1), ('cherry', 22)]</a:t>
                      </a:r>
                      <a:endParaRPr lang="en-US" sz="1800" dirty="0">
                        <a:solidFill>
                          <a:schemeClr val="tx2"/>
                        </a:solidFill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9104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289416" y="592282"/>
            <a:ext cx="11613170" cy="1312643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400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sorted()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534" y="1904925"/>
            <a:ext cx="10959465" cy="1678202"/>
          </a:xfrm>
        </p:spPr>
        <p:txBody>
          <a:bodyPr>
            <a:normAutofit/>
          </a:bodyPr>
          <a:lstStyle/>
          <a:p>
            <a:pPr marL="485775" indent="0">
              <a:buNone/>
            </a:pPr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do this even more directly using the built-in function </a:t>
            </a:r>
            <a:r>
              <a:rPr lang="en-US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sorted</a:t>
            </a:r>
            <a:r>
              <a:rPr lang="en-US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which takes a sequence as a parameter and returns a sorted sequence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7F15D-7992-6CE4-ECD0-EFB5454F3BD2}"/>
              </a:ext>
            </a:extLst>
          </p:cNvPr>
          <p:cNvSpPr txBox="1"/>
          <p:nvPr/>
        </p:nvSpPr>
        <p:spPr>
          <a:xfrm>
            <a:off x="1313020" y="3583127"/>
            <a:ext cx="10589565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#Most popular car brands</a:t>
            </a:r>
          </a:p>
          <a:p>
            <a:r>
              <a:rPr lang="en-AU" dirty="0"/>
              <a:t>brand = {</a:t>
            </a:r>
            <a:r>
              <a:rPr lang="en-AU" dirty="0">
                <a:solidFill>
                  <a:srgbClr val="00B050"/>
                </a:solidFill>
              </a:rPr>
              <a:t>'Mazda':</a:t>
            </a:r>
            <a:r>
              <a:rPr lang="en-AU" dirty="0"/>
              <a:t>10, </a:t>
            </a:r>
            <a:r>
              <a:rPr lang="en-AU" dirty="0">
                <a:solidFill>
                  <a:srgbClr val="00B050"/>
                </a:solidFill>
              </a:rPr>
              <a:t>'Ford'</a:t>
            </a:r>
            <a:r>
              <a:rPr lang="en-AU" dirty="0"/>
              <a:t>:8, </a:t>
            </a:r>
            <a:r>
              <a:rPr lang="en-AU" dirty="0">
                <a:solidFill>
                  <a:srgbClr val="00B050"/>
                </a:solidFill>
              </a:rPr>
              <a:t>'Toyota'</a:t>
            </a:r>
            <a:r>
              <a:rPr lang="en-AU" dirty="0"/>
              <a:t>:21</a:t>
            </a:r>
            <a:r>
              <a:rPr lang="en-AU" dirty="0">
                <a:solidFill>
                  <a:srgbClr val="00B050"/>
                </a:solidFill>
              </a:rPr>
              <a:t>, 'Hyundai'</a:t>
            </a:r>
            <a:r>
              <a:rPr lang="en-AU" dirty="0"/>
              <a:t>:8}</a:t>
            </a:r>
          </a:p>
          <a:p>
            <a:r>
              <a:rPr lang="en-AU" dirty="0"/>
              <a:t>temporary = </a:t>
            </a:r>
            <a:r>
              <a:rPr lang="en-AU" dirty="0">
                <a:solidFill>
                  <a:srgbClr val="CC00CC"/>
                </a:solidFill>
              </a:rPr>
              <a:t>sorted</a:t>
            </a:r>
            <a:r>
              <a:rPr lang="en-AU" dirty="0"/>
              <a:t>(</a:t>
            </a:r>
            <a:r>
              <a:rPr lang="en-AU" dirty="0" err="1"/>
              <a:t>brand.items</a:t>
            </a:r>
            <a:r>
              <a:rPr lang="en-AU" dirty="0"/>
              <a:t>())</a:t>
            </a:r>
          </a:p>
          <a:p>
            <a:endParaRPr lang="en-AU" dirty="0"/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</a:t>
            </a:r>
            <a:r>
              <a:rPr lang="en-AU" dirty="0">
                <a:solidFill>
                  <a:srgbClr val="00B050"/>
                </a:solidFill>
              </a:rPr>
              <a:t>"Sorted popular car brands"</a:t>
            </a:r>
            <a:r>
              <a:rPr lang="en-AU" dirty="0"/>
              <a:t>)</a:t>
            </a:r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(temporary, </a:t>
            </a:r>
            <a:r>
              <a:rPr lang="en-AU" dirty="0">
                <a:solidFill>
                  <a:srgbClr val="00B050"/>
                </a:solidFill>
              </a:rPr>
              <a:t>"\n"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</a:t>
            </a:r>
            <a:r>
              <a:rPr lang="en-AU" dirty="0">
                <a:solidFill>
                  <a:srgbClr val="00B050"/>
                </a:solidFill>
              </a:rPr>
              <a:t>"Key value pairs"</a:t>
            </a:r>
            <a:r>
              <a:rPr lang="en-AU" dirty="0"/>
              <a:t>)</a:t>
            </a:r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n-AU" dirty="0"/>
              <a:t> key, value 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in</a:t>
            </a:r>
            <a:r>
              <a:rPr lang="en-AU" dirty="0"/>
              <a:t> </a:t>
            </a:r>
            <a:r>
              <a:rPr lang="en-AU" dirty="0">
                <a:solidFill>
                  <a:srgbClr val="CC00CC"/>
                </a:solidFill>
              </a:rPr>
              <a:t>sorted</a:t>
            </a:r>
            <a:r>
              <a:rPr lang="en-AU" dirty="0"/>
              <a:t>(</a:t>
            </a:r>
            <a:r>
              <a:rPr lang="en-AU" dirty="0" err="1"/>
              <a:t>brand.items</a:t>
            </a:r>
            <a:r>
              <a:rPr lang="en-AU" dirty="0"/>
              <a:t>()):</a:t>
            </a:r>
          </a:p>
          <a:p>
            <a:r>
              <a:rPr lang="en-AU" dirty="0"/>
              <a:t>    </a:t>
            </a:r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(key, value)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A534E-E395-F3D1-2D3C-FB0C5880FA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92"/>
          <a:stretch/>
        </p:blipFill>
        <p:spPr>
          <a:xfrm>
            <a:off x="5770358" y="4526028"/>
            <a:ext cx="5913641" cy="1739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54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 by Values Instead of Key</a:t>
            </a:r>
          </a:p>
        </p:txBody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09600" y="1720840"/>
            <a:ext cx="4948237" cy="2833687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could construct a list of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form </a:t>
            </a:r>
            <a:r>
              <a:rPr lang="en-US" sz="27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(value, key)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we could </a:t>
            </a:r>
            <a:r>
              <a:rPr lang="en-US" sz="27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by value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do this with a </a:t>
            </a:r>
            <a:r>
              <a:rPr lang="en-US" sz="27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 that creates a list of tuples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E6016-8A7E-5DE9-AAFE-FCC74F93CA07}"/>
              </a:ext>
            </a:extLst>
          </p:cNvPr>
          <p:cNvSpPr txBox="1"/>
          <p:nvPr/>
        </p:nvSpPr>
        <p:spPr>
          <a:xfrm>
            <a:off x="5803369" y="1720840"/>
            <a:ext cx="6093618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#Most popular car brands</a:t>
            </a:r>
          </a:p>
          <a:p>
            <a:r>
              <a:rPr lang="en-AU" dirty="0"/>
              <a:t>brand = {</a:t>
            </a:r>
            <a:r>
              <a:rPr lang="en-AU" dirty="0">
                <a:solidFill>
                  <a:srgbClr val="00B050"/>
                </a:solidFill>
              </a:rPr>
              <a:t>'Mazda':</a:t>
            </a:r>
            <a:r>
              <a:rPr lang="en-AU" dirty="0"/>
              <a:t>10, </a:t>
            </a:r>
            <a:r>
              <a:rPr lang="en-AU" dirty="0">
                <a:solidFill>
                  <a:srgbClr val="00B050"/>
                </a:solidFill>
              </a:rPr>
              <a:t>'Ford'</a:t>
            </a:r>
            <a:r>
              <a:rPr lang="en-AU" dirty="0"/>
              <a:t>:8, </a:t>
            </a:r>
            <a:r>
              <a:rPr lang="en-AU" dirty="0">
                <a:solidFill>
                  <a:srgbClr val="00B050"/>
                </a:solidFill>
              </a:rPr>
              <a:t>'Toyota'</a:t>
            </a:r>
            <a:r>
              <a:rPr lang="en-AU" dirty="0"/>
              <a:t>:21</a:t>
            </a:r>
            <a:r>
              <a:rPr lang="en-AU" dirty="0">
                <a:solidFill>
                  <a:srgbClr val="00B050"/>
                </a:solidFill>
              </a:rPr>
              <a:t>, 'Hyundai'</a:t>
            </a:r>
            <a:r>
              <a:rPr lang="en-AU" dirty="0"/>
              <a:t>:8}</a:t>
            </a:r>
          </a:p>
          <a:p>
            <a:r>
              <a:rPr lang="en-AU" dirty="0"/>
              <a:t>temporary = []</a:t>
            </a:r>
          </a:p>
          <a:p>
            <a:endParaRPr lang="en-AU" dirty="0"/>
          </a:p>
          <a:p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for</a:t>
            </a:r>
            <a:r>
              <a:rPr lang="en-AU" dirty="0"/>
              <a:t> key, value 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in</a:t>
            </a:r>
            <a:r>
              <a:rPr lang="en-AU" dirty="0"/>
              <a:t> </a:t>
            </a:r>
            <a:r>
              <a:rPr lang="en-AU" dirty="0" err="1"/>
              <a:t>brand.items</a:t>
            </a:r>
            <a:r>
              <a:rPr lang="en-AU" dirty="0"/>
              <a:t>():</a:t>
            </a:r>
          </a:p>
          <a:p>
            <a:r>
              <a:rPr lang="en-AU" dirty="0"/>
              <a:t>    </a:t>
            </a:r>
            <a:r>
              <a:rPr lang="en-AU" dirty="0" err="1"/>
              <a:t>temporary.append</a:t>
            </a:r>
            <a:r>
              <a:rPr lang="en-AU" dirty="0"/>
              <a:t>((key, value)) </a:t>
            </a:r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</a:t>
            </a:r>
            <a:r>
              <a:rPr lang="en-AU" dirty="0">
                <a:solidFill>
                  <a:srgbClr val="00B050"/>
                </a:solidFill>
              </a:rPr>
              <a:t>"Popular car brands“</a:t>
            </a:r>
            <a:r>
              <a:rPr lang="en-AU" dirty="0"/>
              <a:t>)</a:t>
            </a:r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(temporary</a:t>
            </a:r>
            <a:r>
              <a:rPr lang="en-AU" dirty="0">
                <a:solidFill>
                  <a:srgbClr val="00B050"/>
                </a:solidFill>
              </a:rPr>
              <a:t>,"\n"</a:t>
            </a:r>
            <a:r>
              <a:rPr lang="en-AU" dirty="0"/>
              <a:t>)</a:t>
            </a:r>
          </a:p>
          <a:p>
            <a:endParaRPr lang="en-AU" dirty="0"/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</a:t>
            </a:r>
            <a:r>
              <a:rPr lang="en-AU" dirty="0">
                <a:solidFill>
                  <a:srgbClr val="00B050"/>
                </a:solidFill>
              </a:rPr>
              <a:t>"Sorted popular car brands"</a:t>
            </a:r>
            <a:r>
              <a:rPr lang="en-AU" dirty="0"/>
              <a:t>)</a:t>
            </a:r>
          </a:p>
          <a:p>
            <a:r>
              <a:rPr lang="en-AU" dirty="0"/>
              <a:t>temporary = </a:t>
            </a:r>
            <a:r>
              <a:rPr lang="en-AU" dirty="0">
                <a:solidFill>
                  <a:srgbClr val="CC00CC"/>
                </a:solidFill>
              </a:rPr>
              <a:t>sorted</a:t>
            </a:r>
            <a:r>
              <a:rPr lang="en-AU" dirty="0"/>
              <a:t>(temporary, reverse=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True</a:t>
            </a:r>
            <a:r>
              <a:rPr lang="en-AU" dirty="0"/>
              <a:t>)</a:t>
            </a:r>
          </a:p>
          <a:p>
            <a:r>
              <a:rPr lang="en-AU" dirty="0">
                <a:solidFill>
                  <a:srgbClr val="CC00CC"/>
                </a:solidFill>
              </a:rPr>
              <a:t>print</a:t>
            </a:r>
            <a:r>
              <a:rPr lang="en-AU" dirty="0"/>
              <a:t>(temporary)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F23ACB-2E5F-2B2C-27A3-44214EA66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69" y="5207387"/>
            <a:ext cx="6093618" cy="1238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FF00FF"/>
              </a:buClr>
              <a:buSzPct val="25000"/>
            </a:pPr>
            <a:r>
              <a:rPr lang="en-US" sz="3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Difference between sort() and sorted()</a:t>
            </a:r>
            <a:endParaRPr lang="en-US" sz="5850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34449B-3C2C-BF1B-BF64-754B0B037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2693131"/>
              </p:ext>
            </p:extLst>
          </p:nvPr>
        </p:nvGraphicFramePr>
        <p:xfrm>
          <a:off x="609600" y="1536842"/>
          <a:ext cx="10972800" cy="2763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88968050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241563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1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 does in-place sorting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 returns sorted object without affecting the original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389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 returns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 returns the sorted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84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 method is applicable only to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 can be used for any </a:t>
                      </a:r>
                      <a:r>
                        <a:rPr lang="en-AU" sz="1800" dirty="0" err="1"/>
                        <a:t>iterable</a:t>
                      </a:r>
                      <a:r>
                        <a:rPr lang="en-AU" sz="1800" dirty="0"/>
                        <a:t> such as list, tuple, dictionary.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4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 is faster compared to sorted()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 is slow compared to sort()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0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Sort() is a method available on lists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Sorted() is a built-in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813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7D9E18-1333-C7F5-3FCD-4E2EE097B4B2}"/>
              </a:ext>
            </a:extLst>
          </p:cNvPr>
          <p:cNvSpPr txBox="1"/>
          <p:nvPr/>
        </p:nvSpPr>
        <p:spPr>
          <a:xfrm>
            <a:off x="537842" y="5428709"/>
            <a:ext cx="5558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C000"/>
                </a:solidFill>
              </a:rPr>
              <a:t>Information from: </a:t>
            </a:r>
            <a:r>
              <a:rPr lang="en-AU" dirty="0">
                <a:solidFill>
                  <a:schemeClr val="bg1"/>
                </a:solidFill>
              </a:rPr>
              <a:t>https://pythonsimplified.com/difference-between-sort-and-sorted-in-python/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CEDD97-69B1-79DF-D41B-EBD93EF19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1543"/>
              </p:ext>
            </p:extLst>
          </p:nvPr>
        </p:nvGraphicFramePr>
        <p:xfrm>
          <a:off x="609600" y="4408753"/>
          <a:ext cx="5517518" cy="949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1732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4915786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 err="1"/>
                        <a:t>my_list</a:t>
                      </a:r>
                      <a:r>
                        <a:rPr lang="en-AU" sz="1600" dirty="0"/>
                        <a:t> = [5, 4, 3, 2, 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 err="1"/>
                        <a:t>my_list.</a:t>
                      </a:r>
                      <a:r>
                        <a:rPr lang="en-AU" sz="1600" dirty="0" err="1">
                          <a:solidFill>
                            <a:srgbClr val="CC00CC"/>
                          </a:solidFill>
                        </a:rPr>
                        <a:t>sort</a:t>
                      </a:r>
                      <a:r>
                        <a:rPr lang="en-AU" sz="1600" dirty="0"/>
                        <a:t>()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AU" sz="1600" dirty="0">
                          <a:solidFill>
                            <a:schemeClr val="tx2"/>
                          </a:solidFill>
                        </a:rPr>
                        <a:t>[1, 2, 3, 4, 5]</a:t>
                      </a:r>
                      <a:endParaRPr lang="en-US" sz="1600" dirty="0">
                        <a:solidFill>
                          <a:schemeClr val="tx2"/>
                        </a:solidFill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F78BE8-1E7C-8CC0-0403-5A1D266EE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539721"/>
              </p:ext>
            </p:extLst>
          </p:nvPr>
        </p:nvGraphicFramePr>
        <p:xfrm>
          <a:off x="6177654" y="4427708"/>
          <a:ext cx="5404746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04992">
                  <a:extLst>
                    <a:ext uri="{9D8B030D-6E8A-4147-A177-3AD203B41FA5}">
                      <a16:colId xmlns:a16="http://schemas.microsoft.com/office/drawing/2014/main" val="3070222903"/>
                    </a:ext>
                  </a:extLst>
                </a:gridCol>
                <a:gridCol w="4599754">
                  <a:extLst>
                    <a:ext uri="{9D8B030D-6E8A-4147-A177-3AD203B41FA5}">
                      <a16:colId xmlns:a16="http://schemas.microsoft.com/office/drawing/2014/main" val="1327657295"/>
                    </a:ext>
                  </a:extLst>
                </a:gridCol>
              </a:tblGrid>
              <a:tr h="14875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 err="1"/>
                        <a:t>my_list</a:t>
                      </a:r>
                      <a:r>
                        <a:rPr lang="en-AU" sz="1600" dirty="0"/>
                        <a:t> = [5, 4, 3, 2, 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16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 err="1"/>
                        <a:t>sorted_list</a:t>
                      </a:r>
                      <a:r>
                        <a:rPr lang="en-AU" sz="1600" dirty="0"/>
                        <a:t> = sorted(</a:t>
                      </a:r>
                      <a:r>
                        <a:rPr lang="en-AU" sz="1600" dirty="0" err="1"/>
                        <a:t>my_list</a:t>
                      </a:r>
                      <a:r>
                        <a:rPr lang="en-AU" sz="1600" dirty="0"/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AU" sz="1600" dirty="0">
                          <a:solidFill>
                            <a:srgbClr val="CC00CC"/>
                          </a:solidFill>
                        </a:rPr>
                        <a:t>print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AU" sz="1600" dirty="0">
                          <a:solidFill>
                            <a:srgbClr val="00B050"/>
                          </a:solidFill>
                        </a:rPr>
                        <a:t>“</a:t>
                      </a:r>
                      <a:r>
                        <a:rPr lang="en-AU" sz="1600" dirty="0" err="1">
                          <a:solidFill>
                            <a:srgbClr val="00B050"/>
                          </a:solidFill>
                        </a:rPr>
                        <a:t>my_list</a:t>
                      </a:r>
                      <a:r>
                        <a:rPr lang="en-AU" sz="1600" dirty="0">
                          <a:solidFill>
                            <a:srgbClr val="00B050"/>
                          </a:solidFill>
                        </a:rPr>
                        <a:t>:”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AU" sz="160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AU" sz="1600" dirty="0" err="1">
                          <a:solidFill>
                            <a:schemeClr val="tx1"/>
                          </a:solidFill>
                        </a:rPr>
                        <a:t>my_list</a:t>
                      </a:r>
                      <a:r>
                        <a:rPr lang="en-AU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AU" sz="1600" dirty="0" err="1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my_list</a:t>
                      </a:r>
                      <a:r>
                        <a:rPr lang="en-AU" sz="16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: [5, 4, 3, 2, 1]</a:t>
                      </a:r>
                      <a:endParaRPr lang="en-US" sz="1600" dirty="0">
                        <a:solidFill>
                          <a:schemeClr val="tx2"/>
                        </a:solidFill>
                        <a:ea typeface="Courier New"/>
                        <a:cs typeface="Courier"/>
                        <a:sym typeface="Courier New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97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0504D"/>
                          </a:solidFill>
                          <a:ea typeface="Courier New"/>
                          <a:cs typeface="Courier"/>
                          <a:sym typeface="Courier New"/>
                        </a:rPr>
                        <a:t>&gt;&gt;&gt;</a:t>
                      </a: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dirty="0">
                        <a:solidFill>
                          <a:srgbClr val="C0504D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CC00CC"/>
                          </a:solidFill>
                          <a:ea typeface="Courier New"/>
                          <a:cs typeface="Courier"/>
                          <a:sym typeface="Courier New"/>
                        </a:rPr>
                        <a:t>print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a typeface="Courier New"/>
                          <a:cs typeface="Courier"/>
                          <a:sym typeface="Courier New"/>
                        </a:rPr>
                        <a:t>(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“</a:t>
                      </a:r>
                      <a:r>
                        <a:rPr lang="en-US" sz="1600" dirty="0" err="1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sorted_list</a:t>
                      </a:r>
                      <a:r>
                        <a:rPr lang="en-US" sz="1600" dirty="0">
                          <a:solidFill>
                            <a:srgbClr val="00B050"/>
                          </a:solidFill>
                          <a:ea typeface="Courier New"/>
                          <a:cs typeface="Courier"/>
                          <a:sym typeface="Courier New"/>
                        </a:rPr>
                        <a:t>”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a typeface="Courier New"/>
                          <a:cs typeface="Courier"/>
                          <a:sym typeface="Courier New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ea typeface="Courier New"/>
                          <a:cs typeface="Courier"/>
                          <a:sym typeface="Courier New"/>
                        </a:rPr>
                        <a:t>sorted_list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a typeface="Courier New"/>
                          <a:cs typeface="Courier"/>
                          <a:sym typeface="Courier New"/>
                        </a:rPr>
                        <a:t>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sorted_list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ea typeface="Courier New"/>
                          <a:cs typeface="Courier"/>
                          <a:sym typeface="Courier New"/>
                        </a:rPr>
                        <a:t> [1, 2, 3, 4, 5]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27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689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/>
        </p:nvSpPr>
        <p:spPr>
          <a:xfrm>
            <a:off x="254000" y="450767"/>
            <a:ext cx="11856720" cy="11874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54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top 10 most common words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AB087-6B2A-3940-8591-F7E3D101062A}"/>
              </a:ext>
            </a:extLst>
          </p:cNvPr>
          <p:cNvSpPr txBox="1"/>
          <p:nvPr/>
        </p:nvSpPr>
        <p:spPr>
          <a:xfrm>
            <a:off x="848948" y="1780034"/>
            <a:ext cx="60981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filehandle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 = </a:t>
            </a:r>
            <a:r>
              <a:rPr lang="en-AU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open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(</a:t>
            </a:r>
            <a:r>
              <a:rPr lang="en-AU" b="0" dirty="0">
                <a:solidFill>
                  <a:srgbClr val="00B050"/>
                </a:solidFill>
                <a:effectLst/>
                <a:latin typeface="Agave" panose="020B0509030604020203" pitchFamily="49" charset="0"/>
              </a:rPr>
              <a:t>'romeo.txt'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)</a:t>
            </a:r>
          </a:p>
          <a:p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counts = {}</a:t>
            </a:r>
          </a:p>
          <a:p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for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line </a:t>
            </a:r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in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filehandle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:</a:t>
            </a:r>
            <a:endParaRPr lang="en-AU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dirty="0">
                <a:solidFill>
                  <a:srgbClr val="EEFFFF"/>
                </a:solidFill>
                <a:latin typeface="Agave" panose="020B0509030604020203" pitchFamily="49" charset="0"/>
              </a:rPr>
              <a:t>	wo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rds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line</a:t>
            </a:r>
            <a:r>
              <a:rPr lang="en-AU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.</a:t>
            </a:r>
            <a:r>
              <a:rPr lang="en-AU" b="0" dirty="0" err="1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split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()</a:t>
            </a:r>
            <a:endParaRPr lang="en-AU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	for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word </a:t>
            </a:r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in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words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:</a:t>
            </a:r>
            <a:endParaRPr lang="en-AU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		counts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[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]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counts</a:t>
            </a:r>
            <a:r>
              <a:rPr lang="en-AU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.</a:t>
            </a:r>
            <a:r>
              <a:rPr lang="en-AU" b="0" dirty="0" err="1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get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,</a:t>
            </a:r>
            <a:r>
              <a:rPr lang="en-AU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F78C6C"/>
                </a:solidFill>
                <a:effectLst/>
                <a:latin typeface="Agave" panose="020B0509030604020203" pitchFamily="49" charset="0"/>
              </a:rPr>
              <a:t>0</a:t>
            </a:r>
            <a:r>
              <a:rPr lang="en-AU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) + </a:t>
            </a:r>
            <a:r>
              <a:rPr lang="en-AU" b="0" dirty="0">
                <a:solidFill>
                  <a:srgbClr val="F78C6C"/>
                </a:solidFill>
                <a:effectLst/>
                <a:latin typeface="Agave" panose="020B0509030604020203" pitchFamily="49" charset="0"/>
              </a:rPr>
              <a:t>1</a:t>
            </a:r>
          </a:p>
          <a:p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filehandle</a:t>
            </a:r>
            <a:r>
              <a:rPr lang="en-AU" dirty="0" err="1">
                <a:solidFill>
                  <a:schemeClr val="bg1"/>
                </a:solidFill>
                <a:latin typeface="Agave" panose="020B0509030604020203" pitchFamily="49" charset="0"/>
              </a:rPr>
              <a:t>.close</a:t>
            </a:r>
            <a:r>
              <a:rPr lang="en-AU" dirty="0">
                <a:solidFill>
                  <a:schemeClr val="bg1"/>
                </a:solidFill>
                <a:latin typeface="Agave" panose="020B0509030604020203" pitchFamily="49" charset="0"/>
              </a:rPr>
              <a:t>()</a:t>
            </a:r>
            <a:endParaRPr lang="en-AU" b="0" dirty="0">
              <a:solidFill>
                <a:schemeClr val="bg1"/>
              </a:solidFill>
              <a:effectLst/>
              <a:latin typeface="Agave" panose="020B0509030604020203" pitchFamily="49" charset="0"/>
            </a:endParaRPr>
          </a:p>
          <a:p>
            <a:b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</a:b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word_list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[]</a:t>
            </a:r>
            <a:endParaRPr lang="en-AU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for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key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,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value </a:t>
            </a:r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in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counts</a:t>
            </a:r>
            <a:r>
              <a:rPr lang="en-AU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.</a:t>
            </a:r>
            <a:r>
              <a:rPr lang="en-AU" b="0" dirty="0" err="1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items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():</a:t>
            </a:r>
          </a:p>
          <a:p>
            <a:pPr lvl="1"/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newtuple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= (value, key) </a:t>
            </a:r>
          </a:p>
          <a:p>
            <a:pPr lvl="1"/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word_list</a:t>
            </a:r>
            <a:r>
              <a:rPr lang="en-AU" b="0" dirty="0" err="1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.</a:t>
            </a:r>
            <a:r>
              <a:rPr lang="en-AU" b="0" dirty="0" err="1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append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</a:t>
            </a:r>
            <a:r>
              <a:rPr lang="en-AU" b="0" dirty="0" err="1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newtuple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)</a:t>
            </a:r>
          </a:p>
          <a:p>
            <a:b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</a:b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word_list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=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sorted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word_list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, reverse=True)</a:t>
            </a:r>
          </a:p>
          <a:p>
            <a:b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</a:br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for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val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,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key </a:t>
            </a:r>
            <a:r>
              <a:rPr lang="en-AU" b="0" i="1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in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 err="1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lst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[:</a:t>
            </a:r>
            <a:r>
              <a:rPr lang="en-AU" b="0" dirty="0">
                <a:solidFill>
                  <a:srgbClr val="F78C6C"/>
                </a:solidFill>
                <a:effectLst/>
                <a:latin typeface="Agave" panose="020B0509030604020203" pitchFamily="49" charset="0"/>
              </a:rPr>
              <a:t>10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]</a:t>
            </a:r>
            <a:r>
              <a:rPr lang="en-AU" b="0" dirty="0">
                <a:solidFill>
                  <a:srgbClr val="EEFFFF"/>
                </a:solidFill>
                <a:effectLst/>
                <a:latin typeface="Agave" panose="020B0509030604020203" pitchFamily="49" charset="0"/>
              </a:rPr>
              <a:t> </a:t>
            </a:r>
            <a:r>
              <a:rPr lang="en-AU" b="0" dirty="0">
                <a:solidFill>
                  <a:srgbClr val="89DDFF"/>
                </a:solidFill>
                <a:effectLst/>
                <a:latin typeface="Agave" panose="020B0509030604020203" pitchFamily="49" charset="0"/>
              </a:rPr>
              <a:t>:</a:t>
            </a:r>
            <a:endParaRPr lang="en-AU" b="0" dirty="0">
              <a:solidFill>
                <a:srgbClr val="EEFFFF"/>
              </a:solidFill>
              <a:effectLst/>
              <a:latin typeface="Agave" panose="020B0509030604020203" pitchFamily="49" charset="0"/>
            </a:endParaRPr>
          </a:p>
          <a:p>
            <a:r>
              <a:rPr lang="en-AU" b="0" dirty="0">
                <a:solidFill>
                  <a:srgbClr val="82AAFF"/>
                </a:solidFill>
                <a:effectLst/>
                <a:latin typeface="Agave" panose="020B0509030604020203" pitchFamily="49" charset="0"/>
              </a:rPr>
              <a:t>	print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(key, </a:t>
            </a:r>
            <a:r>
              <a:rPr lang="en-AU" b="0" dirty="0" err="1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val</a:t>
            </a:r>
            <a:r>
              <a:rPr lang="en-AU" b="0" dirty="0">
                <a:solidFill>
                  <a:schemeClr val="bg1"/>
                </a:solidFill>
                <a:effectLst/>
                <a:latin typeface="Agave" panose="020B0509030604020203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4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Even Shorter Version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1959487" y="5562637"/>
            <a:ext cx="8480024" cy="495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FFFF00"/>
              </a:buClr>
              <a:buSzPct val="25000"/>
            </a:pPr>
            <a:r>
              <a:rPr lang="en-US" sz="2250" u="sng">
                <a:solidFill>
                  <a:schemeClr val="hlink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http://</a:t>
            </a:r>
            <a:r>
              <a:rPr lang="en-US" sz="2250" u="sng" dirty="0">
                <a:solidFill>
                  <a:schemeClr val="hlink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wiki.python.org/moin/HowTo/Sorting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600075" y="2014538"/>
            <a:ext cx="11058525" cy="20288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700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c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= {'a':10, 'b':1, 'c':22}</a:t>
            </a:r>
          </a:p>
          <a:p>
            <a:pPr algn="ctr">
              <a:buClr>
                <a:srgbClr val="000000"/>
              </a:buClr>
            </a:pPr>
            <a:endParaRPr sz="2700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&gt;&gt;&gt;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print(</a:t>
            </a:r>
            <a:r>
              <a:rPr lang="en-US" sz="2700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sorted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700" dirty="0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[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(</a:t>
            </a:r>
            <a:r>
              <a:rPr lang="en-US" sz="2700" dirty="0" err="1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v,k</a:t>
            </a:r>
            <a:r>
              <a:rPr lang="en-US" sz="2700" dirty="0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for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 err="1">
                <a:solidFill>
                  <a:srgbClr val="FF7F00"/>
                </a:solidFill>
                <a:latin typeface="Courier"/>
                <a:ea typeface="Courier New"/>
                <a:cs typeface="Courier"/>
                <a:sym typeface="Courier New"/>
              </a:rPr>
              <a:t>k,v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in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</a:t>
            </a:r>
            <a:r>
              <a:rPr lang="en-US" sz="2700" dirty="0" err="1">
                <a:solidFill>
                  <a:srgbClr val="00FF00"/>
                </a:solidFill>
                <a:latin typeface="Courier"/>
                <a:ea typeface="Courier New"/>
                <a:cs typeface="Courier"/>
                <a:sym typeface="Courier New"/>
              </a:rPr>
              <a:t>c</a:t>
            </a:r>
            <a:r>
              <a:rPr lang="en-US" sz="2700" dirty="0" err="1">
                <a:solidFill>
                  <a:srgbClr val="FF00FF"/>
                </a:solidFill>
                <a:latin typeface="Courier"/>
                <a:ea typeface="Courier New"/>
                <a:cs typeface="Courier"/>
                <a:sym typeface="Courier New"/>
              </a:rPr>
              <a:t>.items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() </a:t>
            </a:r>
            <a:r>
              <a:rPr lang="en-US" sz="2700" dirty="0">
                <a:solidFill>
                  <a:srgbClr val="00FFFF"/>
                </a:solidFill>
                <a:latin typeface="Courier"/>
                <a:ea typeface="Courier New"/>
                <a:cs typeface="Courier"/>
                <a:sym typeface="Courier New"/>
              </a:rPr>
              <a:t>]</a:t>
            </a: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 ) </a:t>
            </a:r>
            <a:r>
              <a:rPr lang="en-US" sz="2700" dirty="0">
                <a:solidFill>
                  <a:srgbClr val="FFFF00"/>
                </a:solidFill>
                <a:latin typeface="Courier"/>
                <a:ea typeface="Courier New"/>
                <a:cs typeface="Courier"/>
                <a:sym typeface="Courier New"/>
              </a:rPr>
              <a:t>)</a:t>
            </a:r>
          </a:p>
          <a:p>
            <a:pPr algn="ctr">
              <a:buClr>
                <a:srgbClr val="000000"/>
              </a:buClr>
            </a:pPr>
            <a:endParaRPr sz="2700" dirty="0">
              <a:solidFill>
                <a:schemeClr val="lt1"/>
              </a:solidFill>
              <a:latin typeface="Courier"/>
              <a:ea typeface="Courier New"/>
              <a:cs typeface="Courier"/>
              <a:sym typeface="Courier New"/>
            </a:endParaRPr>
          </a:p>
          <a:p>
            <a:pPr>
              <a:buClr>
                <a:schemeClr val="lt1"/>
              </a:buClr>
              <a:buSzPct val="25000"/>
            </a:pPr>
            <a:r>
              <a:rPr lang="en-US" sz="2700" dirty="0">
                <a:solidFill>
                  <a:schemeClr val="lt1"/>
                </a:solidFill>
                <a:latin typeface="Courier"/>
                <a:ea typeface="Courier New"/>
                <a:cs typeface="Courier"/>
                <a:sym typeface="Courier New"/>
              </a:rPr>
              <a:t>[(1, 'b'), (10, 'a'), (22, 'c')]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356037" y="4469607"/>
            <a:ext cx="9686925" cy="914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rgbClr val="00FF00"/>
              </a:buClr>
              <a:buSzPct val="25000"/>
            </a:pPr>
            <a:r>
              <a:rPr lang="en-US" sz="285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List comprehension</a:t>
            </a:r>
            <a:r>
              <a:rPr lang="en-US" sz="285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creates a dynamic list.  </a:t>
            </a:r>
            <a:r>
              <a:rPr lang="en-US" sz="285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this case, we make a list of reversed tuples and then sort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>
            <a:spLocks noGrp="1"/>
          </p:cNvSpPr>
          <p:nvPr>
            <p:ph type="title"/>
          </p:nvPr>
        </p:nvSpPr>
        <p:spPr>
          <a:xfrm>
            <a:off x="866775" y="592282"/>
            <a:ext cx="9394825" cy="1312643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sz="57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266" name="Shape 266"/>
          <p:cNvSpPr txBox="1">
            <a:spLocks noGrp="1"/>
          </p:cNvSpPr>
          <p:nvPr>
            <p:ph type="body" idx="1"/>
          </p:nvPr>
        </p:nvSpPr>
        <p:spPr>
          <a:xfrm>
            <a:off x="1320650" y="1952626"/>
            <a:ext cx="9995125" cy="3368675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 syntax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Immutability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Comparability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</a:t>
            </a:r>
          </a:p>
        </p:txBody>
      </p:sp>
      <p:sp>
        <p:nvSpPr>
          <p:cNvPr id="267" name="Shape 267"/>
          <p:cNvSpPr txBox="1">
            <a:spLocks noGrp="1"/>
          </p:cNvSpPr>
          <p:nvPr>
            <p:ph type="body" idx="4294967295"/>
          </p:nvPr>
        </p:nvSpPr>
        <p:spPr>
          <a:xfrm>
            <a:off x="5806936" y="2258976"/>
            <a:ext cx="4783931" cy="2407438"/>
          </a:xfrm>
          <a:prstGeom prst="rect">
            <a:avLst/>
          </a:prstGeom>
          <a:noFill/>
          <a:ln>
            <a:noFill/>
          </a:ln>
        </p:spPr>
        <p:txBody>
          <a:bodyPr vert="horz" lIns="38100" tIns="38100" rIns="38100" bIns="38100" rtlCol="0" anchor="ctr" anchorCtr="0">
            <a:noAutofit/>
          </a:bodyPr>
          <a:lstStyle/>
          <a:p>
            <a:pPr marL="828675" indent="-457200">
              <a:spcBef>
                <a:spcPts val="0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Tuples in assignment statements</a:t>
            </a:r>
          </a:p>
          <a:p>
            <a:pPr marL="828675" indent="-457200">
              <a:spcBef>
                <a:spcPts val="1725"/>
              </a:spcBef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27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Sorting dictionaries by either key or value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381"/>
          <p:cNvSpPr txBox="1"/>
          <p:nvPr/>
        </p:nvSpPr>
        <p:spPr>
          <a:xfrm>
            <a:off x="866775" y="866779"/>
            <a:ext cx="10449000" cy="608625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ctr" anchorCtr="0">
            <a:noAutofit/>
          </a:bodyPr>
          <a:lstStyle/>
          <a:p>
            <a:pPr algn="ctr"/>
            <a:r>
              <a:rPr lang="en-US" sz="27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904576" y="1722098"/>
            <a:ext cx="5098274" cy="4364378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350" u="sng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350">
                <a:solidFill>
                  <a:srgbClr val="FFFFFF"/>
                </a:solidFill>
              </a:rPr>
              <a:t>) of the University of Michigan School of Information and </a:t>
            </a:r>
            <a:r>
              <a:rPr lang="en-US" sz="1350" u="sng">
                <a:solidFill>
                  <a:srgbClr val="FFFF00"/>
                </a:solidFill>
                <a:hlinkClick r:id="rId4"/>
              </a:rPr>
              <a:t>open.umich.edu</a:t>
            </a:r>
            <a:r>
              <a:rPr lang="en-US" sz="1350">
                <a:solidFill>
                  <a:srgbClr val="FFFFFF"/>
                </a:solidFill>
              </a:rPr>
              <a:t>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sz="1350">
              <a:solidFill>
                <a:srgbClr val="FFFFFF"/>
              </a:solidFill>
            </a:endParaRPr>
          </a:p>
          <a:p>
            <a:r>
              <a:rPr lang="en-US" sz="135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endParaRPr sz="1350">
              <a:solidFill>
                <a:srgbClr val="FFFFFF"/>
              </a:solidFill>
            </a:endParaRPr>
          </a:p>
          <a:p>
            <a:pPr>
              <a:buClr>
                <a:srgbClr val="000000"/>
              </a:buClr>
              <a:buSzPct val="61111"/>
            </a:pPr>
            <a:r>
              <a:rPr lang="en-US" sz="1350">
                <a:solidFill>
                  <a:srgbClr val="FFFFFF"/>
                </a:solidFill>
              </a:rPr>
              <a:t>… Insert new Contributors and Translators here</a:t>
            </a:r>
          </a:p>
          <a:p>
            <a:endParaRPr sz="1350">
              <a:solidFill>
                <a:srgbClr val="FFFFFF"/>
              </a:solidFill>
            </a:endParaRPr>
          </a:p>
        </p:txBody>
      </p:sp>
      <p:pic>
        <p:nvPicPr>
          <p:cNvPr id="383" name="Shape 3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8425" y="786791"/>
            <a:ext cx="768600" cy="7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Shape 38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23266" y="920441"/>
            <a:ext cx="1476449" cy="5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Shape 385"/>
          <p:cNvSpPr txBox="1"/>
          <p:nvPr/>
        </p:nvSpPr>
        <p:spPr>
          <a:xfrm>
            <a:off x="6528301" y="1819954"/>
            <a:ext cx="5098274" cy="4362962"/>
          </a:xfrm>
          <a:prstGeom prst="rect">
            <a:avLst/>
          </a:prstGeom>
          <a:noFill/>
          <a:ln>
            <a:noFill/>
          </a:ln>
        </p:spPr>
        <p:txBody>
          <a:bodyPr lIns="68569" tIns="68569" rIns="68569" bIns="68569" anchor="t" anchorCtr="0">
            <a:noAutofit/>
          </a:bodyPr>
          <a:lstStyle/>
          <a:p>
            <a:r>
              <a:rPr lang="en-US" sz="1350">
                <a:solidFill>
                  <a:srgbClr val="FFFFFF"/>
                </a:solidFill>
              </a:rPr>
              <a:t>...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AFE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-Presentation-HD-1920x1080-AJG-V2020.05.14.potx" id="{65AE90C9-1F4F-4671-A90D-218C982486A1}" vid="{C1F87A47-8314-4C75-8707-71F446DE83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5E654056D58A47AA1AB158F7447227" ma:contentTypeVersion="26" ma:contentTypeDescription="Create a new document." ma:contentTypeScope="" ma:versionID="00dde8707e0b1f212db18506d452eade">
  <xsd:schema xmlns:xsd="http://www.w3.org/2001/XMLSchema" xmlns:xs="http://www.w3.org/2001/XMLSchema" xmlns:p="http://schemas.microsoft.com/office/2006/metadata/properties" xmlns:ns2="a5d4b606-e216-4a12-b5e0-256bbcdf3e40" xmlns:ns3="d30896e8-62f2-4107-a799-a577dc6441e1" targetNamespace="http://schemas.microsoft.com/office/2006/metadata/properties" ma:root="true" ma:fieldsID="b6d28e1f007aac56b2172a8c31f7330a" ns2:_="" ns3:_="">
    <xsd:import namespace="a5d4b606-e216-4a12-b5e0-256bbcdf3e40"/>
    <xsd:import namespace="d30896e8-62f2-4107-a799-a577dc644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location" minOccurs="0"/>
                <xsd:element ref="ns2:cfca102b-1170-46ae-a99b-1c59cfff842bCountryOrRegion" minOccurs="0"/>
                <xsd:element ref="ns2:cfca102b-1170-46ae-a99b-1c59cfff842bState" minOccurs="0"/>
                <xsd:element ref="ns2:cfca102b-1170-46ae-a99b-1c59cfff842bCity" minOccurs="0"/>
                <xsd:element ref="ns2:cfca102b-1170-46ae-a99b-1c59cfff842bPostalCode" minOccurs="0"/>
                <xsd:element ref="ns2:cfca102b-1170-46ae-a99b-1c59cfff842bStreet" minOccurs="0"/>
                <xsd:element ref="ns2:cfca102b-1170-46ae-a99b-1c59cfff842bGeoLoc" minOccurs="0"/>
                <xsd:element ref="ns2:cfca102b-1170-46ae-a99b-1c59cfff842bDispNam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4b606-e216-4a12-b5e0-256bbcdf3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98972e7-4f0e-48c0-bb56-a9f22e25d3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ocation" ma:index="24" nillable="true" ma:displayName="location" ma:format="Dropdown" ma:internalName="location">
      <xsd:simpleType>
        <xsd:restriction base="dms:Unknown"/>
      </xsd:simpleType>
    </xsd:element>
    <xsd:element name="cfca102b-1170-46ae-a99b-1c59cfff842bCountryOrRegion" ma:index="25" nillable="true" ma:displayName="location: Country/Region" ma:internalName="CountryOrRegion" ma:readOnly="true">
      <xsd:simpleType>
        <xsd:restriction base="dms:Text"/>
      </xsd:simpleType>
    </xsd:element>
    <xsd:element name="cfca102b-1170-46ae-a99b-1c59cfff842bState" ma:index="26" nillable="true" ma:displayName="location: State" ma:internalName="State" ma:readOnly="true">
      <xsd:simpleType>
        <xsd:restriction base="dms:Text"/>
      </xsd:simpleType>
    </xsd:element>
    <xsd:element name="cfca102b-1170-46ae-a99b-1c59cfff842bCity" ma:index="27" nillable="true" ma:displayName="location: City" ma:internalName="City" ma:readOnly="true">
      <xsd:simpleType>
        <xsd:restriction base="dms:Text"/>
      </xsd:simpleType>
    </xsd:element>
    <xsd:element name="cfca102b-1170-46ae-a99b-1c59cfff842bPostalCode" ma:index="28" nillable="true" ma:displayName="location: Postal Code" ma:internalName="PostalCode" ma:readOnly="true">
      <xsd:simpleType>
        <xsd:restriction base="dms:Text"/>
      </xsd:simpleType>
    </xsd:element>
    <xsd:element name="cfca102b-1170-46ae-a99b-1c59cfff842bStreet" ma:index="29" nillable="true" ma:displayName="location: Street" ma:internalName="Street" ma:readOnly="true">
      <xsd:simpleType>
        <xsd:restriction base="dms:Text"/>
      </xsd:simpleType>
    </xsd:element>
    <xsd:element name="cfca102b-1170-46ae-a99b-1c59cfff842bGeoLoc" ma:index="30" nillable="true" ma:displayName="location: Coordinates" ma:internalName="GeoLoc" ma:readOnly="true">
      <xsd:simpleType>
        <xsd:restriction base="dms:Unknown"/>
      </xsd:simpleType>
    </xsd:element>
    <xsd:element name="cfca102b-1170-46ae-a99b-1c59cfff842bDispName" ma:index="31" nillable="true" ma:displayName="location: Name" ma:internalName="DispName" ma:readOnly="true">
      <xsd:simpleType>
        <xsd:restriction base="dms:Text"/>
      </xsd:simpleType>
    </xsd:element>
    <xsd:element name="MediaServiceObjectDetectorVersions" ma:index="3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0896e8-62f2-4107-a799-a577dc6441e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01c2627-f294-4c6a-aecd-cfab4a7b2211}" ma:internalName="TaxCatchAll" ma:showField="CatchAllData" ma:web="d30896e8-62f2-4107-a799-a577dc644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0896e8-62f2-4107-a799-a577dc6441e1" xsi:nil="true"/>
    <lcf76f155ced4ddcb4097134ff3c332f xmlns="a5d4b606-e216-4a12-b5e0-256bbcdf3e40">
      <Terms xmlns="http://schemas.microsoft.com/office/infopath/2007/PartnerControls"/>
    </lcf76f155ced4ddcb4097134ff3c332f>
    <location xmlns="a5d4b606-e216-4a12-b5e0-256bbcdf3e40" xsi:nil="true"/>
  </documentManagement>
</p:properties>
</file>

<file path=customXml/itemProps1.xml><?xml version="1.0" encoding="utf-8"?>
<ds:datastoreItem xmlns:ds="http://schemas.openxmlformats.org/officeDocument/2006/customXml" ds:itemID="{E046F073-9CF5-4D48-82BE-ACA31E3BC8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d4b606-e216-4a12-b5e0-256bbcdf3e40"/>
    <ds:schemaRef ds:uri="d30896e8-62f2-4107-a799-a577dc644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F79D9B-5A67-492D-BB4F-F3913BAD9421}">
  <ds:schemaRefs>
    <ds:schemaRef ds:uri="http://schemas.microsoft.com/office/2006/metadata/properties"/>
    <ds:schemaRef ds:uri="a5d4b606-e216-4a12-b5e0-256bbcdf3e40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d30896e8-62f2-4107-a799-a577dc6441e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NMT-Presentation-HD-1920x1080-AJG-V2020.05.25</Template>
  <TotalTime>13961</TotalTime>
  <Words>1727</Words>
  <Application>Microsoft Office PowerPoint</Application>
  <PresentationFormat>Widescreen</PresentationFormat>
  <Paragraphs>248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Agave</vt:lpstr>
      <vt:lpstr>Arial</vt:lpstr>
      <vt:lpstr>Arial</vt:lpstr>
      <vt:lpstr>Cabin</vt:lpstr>
      <vt:lpstr>Calibri</vt:lpstr>
      <vt:lpstr>Century Gothic</vt:lpstr>
      <vt:lpstr>Courier</vt:lpstr>
      <vt:lpstr>Courier New</vt:lpstr>
      <vt:lpstr>Office Theme</vt:lpstr>
      <vt:lpstr>Introductory Programming Techniques</vt:lpstr>
      <vt:lpstr>Tuples</vt:lpstr>
      <vt:lpstr>Tuples Are Like Lists</vt:lpstr>
      <vt:lpstr>But Tuples are “immutable”</vt:lpstr>
      <vt:lpstr>Things not to do With Tuples</vt:lpstr>
      <vt:lpstr>A Tale of Two Sequences</vt:lpstr>
      <vt:lpstr>Tuples are More Efficient</vt:lpstr>
      <vt:lpstr>Tuples and Assignment</vt:lpstr>
      <vt:lpstr>Tuples and Dictionaries</vt:lpstr>
      <vt:lpstr>Tuples are Comparable</vt:lpstr>
      <vt:lpstr>Sorting Lists of Tuples</vt:lpstr>
      <vt:lpstr>Using sorted()</vt:lpstr>
      <vt:lpstr>Sort by Values Instead of Key</vt:lpstr>
      <vt:lpstr>Difference between sort() and sorted()</vt:lpstr>
      <vt:lpstr>PowerPoint Presentation</vt:lpstr>
      <vt:lpstr>Even Shorter Version</vt:lpstr>
      <vt:lpstr>Summary</vt:lpstr>
      <vt:lpstr>PowerPoint Presentation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JetBrains CLI Scripts to Laragon</dc:title>
  <dc:subject>Powerpoint presentation template (G076C)</dc:subject>
  <dc:creator>Adrian Gould</dc:creator>
  <cp:keywords>HD 1920x1080 powerpoint presentation template</cp:keywords>
  <dc:description/>
  <cp:lastModifiedBy>Ingrid Aldum</cp:lastModifiedBy>
  <cp:revision>24</cp:revision>
  <cp:lastPrinted>2020-09-29T02:41:13Z</cp:lastPrinted>
  <dcterms:created xsi:type="dcterms:W3CDTF">2020-06-09T02:13:16Z</dcterms:created>
  <dcterms:modified xsi:type="dcterms:W3CDTF">2024-07-02T11:02:03Z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0x0101002E5E654056D58A47AA1AB158F7447227</vt:lpwstr>
  </property>
</Properties>
</file>