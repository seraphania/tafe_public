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257" r:id="rId5"/>
    <p:sldId id="373" r:id="rId6"/>
    <p:sldId id="375" r:id="rId7"/>
    <p:sldId id="408" r:id="rId8"/>
    <p:sldId id="410" r:id="rId9"/>
    <p:sldId id="409" r:id="rId10"/>
    <p:sldId id="379" r:id="rId11"/>
    <p:sldId id="383" r:id="rId12"/>
    <p:sldId id="417" r:id="rId13"/>
    <p:sldId id="392" r:id="rId14"/>
    <p:sldId id="393" r:id="rId15"/>
    <p:sldId id="418" r:id="rId16"/>
    <p:sldId id="419" r:id="rId17"/>
    <p:sldId id="420" r:id="rId18"/>
    <p:sldId id="301" r:id="rId19"/>
    <p:sldId id="421" r:id="rId20"/>
    <p:sldId id="411" r:id="rId21"/>
    <p:sldId id="412" r:id="rId22"/>
    <p:sldId id="401" r:id="rId23"/>
    <p:sldId id="407" r:id="rId24"/>
    <p:sldId id="405" r:id="rId25"/>
  </p:sldIdLst>
  <p:sldSz cx="12192000" cy="6858000"/>
  <p:notesSz cx="7104063" cy="10234613"/>
  <p:custDataLst>
    <p:tags r:id="rId2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ACB743C-D873-4233-9D28-B8C4BDC855B1}">
          <p14:sldIdLst>
            <p14:sldId id="257"/>
          </p14:sldIdLst>
        </p14:section>
        <p14:section name="Visual Impairment Material" id="{D20732B3-3FC9-2C47-A109-624B7D79C232}">
          <p14:sldIdLst/>
        </p14:section>
        <p14:section name="Conditions" id="{D0048A5D-DA8F-4E40-9938-D028A55BA92B}">
          <p14:sldIdLst>
            <p14:sldId id="373"/>
            <p14:sldId id="375"/>
            <p14:sldId id="408"/>
            <p14:sldId id="410"/>
            <p14:sldId id="409"/>
            <p14:sldId id="379"/>
            <p14:sldId id="383"/>
            <p14:sldId id="417"/>
            <p14:sldId id="392"/>
            <p14:sldId id="393"/>
            <p14:sldId id="418"/>
            <p14:sldId id="419"/>
            <p14:sldId id="420"/>
            <p14:sldId id="301"/>
            <p14:sldId id="421"/>
            <p14:sldId id="411"/>
            <p14:sldId id="412"/>
            <p14:sldId id="401"/>
          </p14:sldIdLst>
        </p14:section>
        <p14:section name="Optional" id="{2D6DEABB-A296-054B-9F65-0C599DC99C83}">
          <p14:sldIdLst>
            <p14:sldId id="407"/>
            <p14:sldId id="4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0B4"/>
    <a:srgbClr val="BFBFBF"/>
    <a:srgbClr val="00B050"/>
    <a:srgbClr val="CC00FF"/>
    <a:srgbClr val="FFC000"/>
    <a:srgbClr val="FFD966"/>
    <a:srgbClr val="D81C24"/>
    <a:srgbClr val="00DC65"/>
    <a:srgbClr val="FFFF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2462" autoAdjust="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7EA1514-F326-1840-B15D-D4720038598B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BA3E024E-F835-6D45-89C3-0E2F93EE79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57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ev/peps/pep-0008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ev/peps/pep-0008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dirty="0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acknowledgement page(s).</a:t>
            </a:r>
          </a:p>
        </p:txBody>
      </p:sp>
      <p:sp>
        <p:nvSpPr>
          <p:cNvPr id="240" name="Shape 24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3477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2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79" name="Shape 27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7985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701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261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3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25" name="Shape 32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3832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3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67" name="Shape 36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72876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3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67" name="Shape 36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3721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Shape 5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9" name="Shape 57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8567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Shape 5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87" name="Shape 58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57549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Shape 5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87" name="Shape 58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33745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Shape 5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87" name="Shape 58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98856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Shape 5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87" name="Shape 58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93672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Shape 6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AU" dirty="0">
                <a:hlinkClick r:id="rId3"/>
              </a:rPr>
              <a:t>PEP 8 -- Style Guide for Python Code | Python.org</a:t>
            </a:r>
            <a:endParaRPr lang="en-AU" dirty="0"/>
          </a:p>
          <a:p>
            <a:pPr lvl="0">
              <a:spcBef>
                <a:spcPts val="0"/>
              </a:spcBef>
              <a:buNone/>
            </a:pPr>
            <a:endParaRPr lang="en-AU" dirty="0"/>
          </a:p>
          <a:p>
            <a:pPr fontAlgn="base"/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catching exceptions, mention specific exceptions whenever possible instead of using a bare except: clause:</a:t>
            </a:r>
          </a:p>
          <a:p>
            <a:pPr fontAlgn="base"/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try: import </a:t>
            </a:r>
            <a:r>
              <a:rPr lang="en-A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platform_specific_module</a:t>
            </a:r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except </a:t>
            </a:r>
            <a:r>
              <a:rPr lang="en-A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ImportError</a:t>
            </a:r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A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platform_specific_module</a:t>
            </a:r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None A bare except: clause will catch </a:t>
            </a:r>
            <a:r>
              <a:rPr lang="en-A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SystemExit</a:t>
            </a:r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A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KeyboardInterrupt</a:t>
            </a:r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exceptions, making it harder to interrupt a program with Control-C, and can disguise other problems. If you want to catch all exceptions that signal program errors, use except Exception: (bare except is equivalent to except </a:t>
            </a:r>
            <a:r>
              <a:rPr lang="en-A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BaseException</a:t>
            </a:r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:).</a:t>
            </a:r>
          </a:p>
          <a:p>
            <a:pPr fontAlgn="base"/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good rule of thumb is to limit use of bare 'except' clauses to two cases:</a:t>
            </a:r>
          </a:p>
          <a:p>
            <a:pPr lvl="1" fontAlgn="base"/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exception handler will be printing out or logging the traceback; at least the user will be aware that an error has occurred.</a:t>
            </a:r>
          </a:p>
          <a:p>
            <a:pPr lvl="1" fontAlgn="base"/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code needs to do some </a:t>
            </a:r>
            <a:r>
              <a:rPr lang="en-A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cleanup</a:t>
            </a:r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work, but then lets the exception propagate upwards with raise. try...finally can be a better way to handle this case.</a:t>
            </a:r>
          </a:p>
          <a:p>
            <a:pPr lvl="0">
              <a:spcBef>
                <a:spcPts val="0"/>
              </a:spcBef>
              <a:buNone/>
            </a:pPr>
            <a:endParaRPr lang="en-AU" dirty="0"/>
          </a:p>
          <a:p>
            <a:pPr lvl="0">
              <a:spcBef>
                <a:spcPts val="0"/>
              </a:spcBef>
              <a:buNone/>
            </a:pPr>
            <a:r>
              <a:rPr lang="en-AU" dirty="0"/>
              <a:t>&lt;Lecturer Note:&gt; we’ll cover this in greater detail only in OO. But you may want to mention (especially to those doing a programming specialisation) that the exception is an object and that we can access methods in the object. Including printing the error or creating our own exceptions.</a:t>
            </a:r>
          </a:p>
          <a:p>
            <a:pPr lvl="0">
              <a:spcBef>
                <a:spcPts val="0"/>
              </a:spcBef>
              <a:buNone/>
            </a:pPr>
            <a:r>
              <a:rPr lang="en-AU" dirty="0"/>
              <a:t>I also like to tell students that in the beginning they are better off under using exceptions than overusing them. In this course we’ll use except to validate input is numeric (</a:t>
            </a:r>
            <a:r>
              <a:rPr lang="en-AU" dirty="0" err="1"/>
              <a:t>ValueError</a:t>
            </a:r>
            <a:r>
              <a:rPr lang="en-AU" dirty="0"/>
              <a:t>) and to handle files. </a:t>
            </a:r>
          </a:p>
          <a:p>
            <a:pPr lvl="0">
              <a:spcBef>
                <a:spcPts val="0"/>
              </a:spcBef>
              <a:buNone/>
            </a:pPr>
            <a:endParaRPr lang="en-AU" dirty="0"/>
          </a:p>
        </p:txBody>
      </p:sp>
      <p:sp>
        <p:nvSpPr>
          <p:cNvPr id="666" name="Shape 6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51168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Shape 6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AU" dirty="0">
                <a:hlinkClick r:id="rId3"/>
              </a:rPr>
              <a:t>PEP 8 -- Style Guide for Python Code | Python.org</a:t>
            </a:r>
            <a:endParaRPr lang="en-AU" dirty="0"/>
          </a:p>
          <a:p>
            <a:pPr lvl="0">
              <a:spcBef>
                <a:spcPts val="0"/>
              </a:spcBef>
              <a:buNone/>
            </a:pPr>
            <a:endParaRPr lang="en-AU" dirty="0"/>
          </a:p>
          <a:p>
            <a:pPr fontAlgn="base"/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catching exceptions, mention specific exceptions whenever possible instead of using a bare except: clause:</a:t>
            </a:r>
          </a:p>
          <a:p>
            <a:pPr fontAlgn="base"/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try: import </a:t>
            </a:r>
            <a:r>
              <a:rPr lang="en-A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platform_specific_module</a:t>
            </a:r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except </a:t>
            </a:r>
            <a:r>
              <a:rPr lang="en-A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ImportError</a:t>
            </a:r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A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platform_specific_module</a:t>
            </a:r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None A bare except: clause will catch </a:t>
            </a:r>
            <a:r>
              <a:rPr lang="en-A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SystemExit</a:t>
            </a:r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A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KeyboardInterrupt</a:t>
            </a:r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exceptions, making it harder to interrupt a program with Control-C, and can disguise other problems. If you want to catch all exceptions that signal program errors, use except Exception: (bare except is equivalent to except </a:t>
            </a:r>
            <a:r>
              <a:rPr lang="en-A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BaseException</a:t>
            </a:r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:).</a:t>
            </a:r>
          </a:p>
          <a:p>
            <a:pPr fontAlgn="base"/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good rule of thumb is to limit use of bare 'except' clauses to two cases:</a:t>
            </a:r>
          </a:p>
          <a:p>
            <a:pPr lvl="1" fontAlgn="base"/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exception handler will be printing out or logging the traceback; at least the user will be aware that an error has occurred.</a:t>
            </a:r>
          </a:p>
          <a:p>
            <a:pPr lvl="1" fontAlgn="base"/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code needs to do some </a:t>
            </a:r>
            <a:r>
              <a:rPr lang="en-A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cleanup</a:t>
            </a:r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work, but then lets the exception propagate upwards with raise. try...finally can be a better way to handle this case.</a:t>
            </a:r>
          </a:p>
          <a:p>
            <a:pPr lvl="0">
              <a:spcBef>
                <a:spcPts val="0"/>
              </a:spcBef>
              <a:buNone/>
            </a:pPr>
            <a:endParaRPr lang="en-AU" dirty="0"/>
          </a:p>
          <a:p>
            <a:pPr lvl="0">
              <a:spcBef>
                <a:spcPts val="0"/>
              </a:spcBef>
              <a:buNone/>
            </a:pPr>
            <a:r>
              <a:rPr lang="en-AU" dirty="0"/>
              <a:t>&lt;Lecturer Note:&gt; we’ll cover this in greater detail only in OO. But you may want to mention (especially to those doing a programming specialisation) that the exception is an object and that we can access methods in the object. Including printing the error or creating our own exceptions.</a:t>
            </a:r>
          </a:p>
          <a:p>
            <a:pPr lvl="0">
              <a:spcBef>
                <a:spcPts val="0"/>
              </a:spcBef>
              <a:buNone/>
            </a:pPr>
            <a:r>
              <a:rPr lang="en-AU" dirty="0"/>
              <a:t>I also like to tell students that in the beginning they are better off under using exceptions than overusing them. In this course we’ll use except to validate input is numeric (</a:t>
            </a:r>
            <a:r>
              <a:rPr lang="en-AU" dirty="0" err="1"/>
              <a:t>ValueError</a:t>
            </a:r>
            <a:r>
              <a:rPr lang="en-AU" dirty="0"/>
              <a:t>) and to handle files. </a:t>
            </a:r>
          </a:p>
          <a:p>
            <a:pPr lvl="0">
              <a:spcBef>
                <a:spcPts val="0"/>
              </a:spcBef>
              <a:buNone/>
            </a:pPr>
            <a:endParaRPr lang="en-AU" dirty="0"/>
          </a:p>
        </p:txBody>
      </p:sp>
      <p:sp>
        <p:nvSpPr>
          <p:cNvPr id="666" name="Shape 6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02312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6292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Shape 6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86" name="Shape 68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24119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7485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54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Shape 5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6138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 userDrawn="1"/>
        </p:nvSpPr>
        <p:spPr>
          <a:xfrm>
            <a:off x="920424" y="691642"/>
            <a:ext cx="10360351" cy="5616575"/>
          </a:xfrm>
          <a:prstGeom prst="roundRect">
            <a:avLst>
              <a:gd name="adj" fmla="val 766"/>
            </a:avLst>
          </a:prstGeom>
          <a:solidFill>
            <a:srgbClr val="D81C24">
              <a:alpha val="14902"/>
            </a:srgbClr>
          </a:solidFill>
          <a:ln>
            <a:solidFill>
              <a:srgbClr val="D8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00" dirty="0">
              <a:latin typeface="+mj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51133" y="1293778"/>
            <a:ext cx="10084038" cy="1396829"/>
          </a:xfrm>
          <a:prstGeom prst="rect">
            <a:avLst/>
          </a:prstGeom>
          <a:noFill/>
        </p:spPr>
        <p:txBody>
          <a:bodyPr anchor="t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AU" noProof="0"/>
              <a:t>Session/Presentation Title</a:t>
            </a:r>
          </a:p>
        </p:txBody>
      </p:sp>
      <p:sp>
        <p:nvSpPr>
          <p:cNvPr id="10" name="Table Placeholder 9"/>
          <p:cNvSpPr>
            <a:spLocks noGrp="1"/>
          </p:cNvSpPr>
          <p:nvPr>
            <p:ph type="tbl" sz="quarter" idx="13" hasCustomPrompt="1"/>
          </p:nvPr>
        </p:nvSpPr>
        <p:spPr>
          <a:xfrm>
            <a:off x="1051131" y="4572000"/>
            <a:ext cx="10084039" cy="1610037"/>
          </a:xfrm>
          <a:noFill/>
        </p:spPr>
        <p:txBody>
          <a:bodyPr anchor="t">
            <a:normAutofit/>
          </a:bodyPr>
          <a:lstStyle>
            <a:lvl1pPr marL="0" indent="0">
              <a:buNone/>
              <a:defRPr sz="14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AU" dirty="0"/>
              <a:t>Replace this with a table of units – 2 columns – National ID and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1051132" y="819761"/>
            <a:ext cx="10084039" cy="341659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AU"/>
              <a:t>Week/Session 00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51130" y="4119576"/>
            <a:ext cx="10084038" cy="360698"/>
          </a:xfrm>
          <a:noFill/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AU" sz="1600" b="0" dirty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noProof="0"/>
              <a:t>Cluster Name</a:t>
            </a:r>
            <a:endParaRPr lang="en-AU"/>
          </a:p>
        </p:txBody>
      </p:sp>
      <p:sp>
        <p:nvSpPr>
          <p:cNvPr id="9" name="TextBox 8"/>
          <p:cNvSpPr txBox="1"/>
          <p:nvPr userDrawn="1"/>
        </p:nvSpPr>
        <p:spPr>
          <a:xfrm>
            <a:off x="1051132" y="2852738"/>
            <a:ext cx="1939896" cy="5723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indent="0">
              <a:spcBef>
                <a:spcPct val="20000"/>
              </a:spcBef>
              <a:buFont typeface="Arial"/>
              <a:buNone/>
              <a:defRPr sz="2800" baseline="0">
                <a:solidFill>
                  <a:schemeClr val="bg1">
                    <a:lumMod val="75000"/>
                  </a:schemeClr>
                </a:solidFill>
              </a:defRPr>
            </a:lvl1pPr>
            <a:lvl2pPr indent="0" algn="ctr">
              <a:spcBef>
                <a:spcPct val="20000"/>
              </a:spcBef>
              <a:buFont typeface="Arial"/>
              <a:buNone/>
              <a:defRPr sz="2800" baseline="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/>
              <a:buNone/>
              <a:defRPr sz="2400" baseline="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/>
              <a:buNone/>
              <a:defRPr sz="2000" baseline="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/>
              <a:buNone/>
              <a:defRPr sz="2000" baseline="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z="20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Presented by: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2991027" y="2862841"/>
            <a:ext cx="8144143" cy="562200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3200" b="1" noProof="0">
                <a:solidFill>
                  <a:schemeClr val="bg1">
                    <a:lumMod val="95000"/>
                  </a:schemeClr>
                </a:solidFill>
              </a:rPr>
              <a:t>Given &amp; Last Name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7" hasCustomPrompt="1"/>
          </p:nvPr>
        </p:nvSpPr>
        <p:spPr>
          <a:xfrm>
            <a:off x="1050925" y="3516767"/>
            <a:ext cx="10083800" cy="602809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AU" sz="2000" dirty="0" smtClean="0">
                <a:latin typeface="+mj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3200" b="1">
                <a:solidFill>
                  <a:schemeClr val="bg1">
                    <a:lumMod val="85000"/>
                  </a:schemeClr>
                </a:solidFill>
              </a:rPr>
              <a:t>Course ID and Title</a:t>
            </a:r>
          </a:p>
        </p:txBody>
      </p:sp>
    </p:spTree>
    <p:extLst>
      <p:ext uri="{BB962C8B-B14F-4D97-AF65-F5344CB8AC3E}">
        <p14:creationId xmlns:p14="http://schemas.microsoft.com/office/powerpoint/2010/main" val="4190069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574" userDrawn="1">
          <p15:clr>
            <a:srgbClr val="FBAE40"/>
          </p15:clr>
        </p15:guide>
        <p15:guide id="4" pos="7106" userDrawn="1">
          <p15:clr>
            <a:srgbClr val="FBAE40"/>
          </p15:clr>
        </p15:guide>
        <p15:guide id="5" orient="horz" pos="43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  <p15:guide id="7" orient="horz" pos="179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64753"/>
            <a:ext cx="10363200" cy="1560862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able Placeholder 9"/>
          <p:cNvSpPr>
            <a:spLocks noGrp="1"/>
          </p:cNvSpPr>
          <p:nvPr>
            <p:ph type="tbl" sz="quarter" idx="13" hasCustomPrompt="1"/>
          </p:nvPr>
        </p:nvSpPr>
        <p:spPr>
          <a:xfrm>
            <a:off x="911468" y="4870093"/>
            <a:ext cx="10363200" cy="1241057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AU" dirty="0"/>
              <a:t>Replace this with a table of units – 2 columns – National ID and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917332" y="4229096"/>
            <a:ext cx="10366132" cy="528637"/>
          </a:xfrm>
        </p:spPr>
        <p:txBody>
          <a:bodyPr>
            <a:normAutofit/>
          </a:bodyPr>
          <a:lstStyle>
            <a:lvl1pPr marL="0" indent="0" algn="l">
              <a:buNone/>
              <a:defRPr sz="2400" b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AU"/>
              <a:t>Week/Session 00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2918188"/>
            <a:ext cx="10360268" cy="598488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AU"/>
              <a:t>Lecture 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17332" y="3610147"/>
            <a:ext cx="10366132" cy="506589"/>
          </a:xfrm>
        </p:spPr>
        <p:txBody>
          <a:bodyPr anchor="ctr">
            <a:noAutofit/>
          </a:bodyPr>
          <a:lstStyle>
            <a:lvl1pPr marL="0" indent="0">
              <a:buNone/>
              <a:defRPr sz="200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AU"/>
              <a:t>Lecturer:	</a:t>
            </a:r>
            <a:r>
              <a:rPr lang="en-AU" err="1"/>
              <a:t>Given_Name</a:t>
            </a:r>
            <a:r>
              <a:rPr lang="en-AU"/>
              <a:t> </a:t>
            </a:r>
            <a:r>
              <a:rPr lang="en-AU" err="1"/>
              <a:t>Family_Name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290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lterna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399" y="3886200"/>
            <a:ext cx="10363199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68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109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94618"/>
            <a:ext cx="10972800" cy="219169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FB0483-D927-6C4B-9F8E-0CBFBED89EA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4182975"/>
            <a:ext cx="10972800" cy="2191699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2527477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AU" noProof="0" smtClean="0"/>
              <a:t>2/05/2024</a:t>
            </a:fld>
            <a:endParaRPr lang="en-A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AU" noProof="0" smtClean="0"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1471725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406903"/>
            <a:ext cx="8514522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906713"/>
            <a:ext cx="851452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7D5DACE-FF0F-2D46-93D3-295ECF1DA8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812656" y="2900636"/>
            <a:ext cx="1769744" cy="2868342"/>
          </a:xfrm>
          <a:prstGeom prst="roundRect">
            <a:avLst>
              <a:gd name="adj" fmla="val 4112"/>
            </a:avLst>
          </a:prstGeom>
          <a:blipFill>
            <a:blip r:embed="rId2"/>
            <a:stretch>
              <a:fillRect l="16" r="16"/>
            </a:stretch>
          </a:blipFill>
          <a:ln w="12700" cap="rnd">
            <a:solidFill>
              <a:srgbClr val="D8262E">
                <a:alpha val="50000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70644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9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65600" y="1600202"/>
            <a:ext cx="7416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B08A67E-3ED8-7842-9A36-FDA51ABEB2A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1" y="1600203"/>
            <a:ext cx="2792484" cy="4525963"/>
          </a:xfrm>
          <a:prstGeom prst="roundRect">
            <a:avLst>
              <a:gd name="adj" fmla="val 3374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4302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379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58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73062"/>
            <a:ext cx="7212496" cy="49118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9126EA6-A663-AD41-9474-BAFD5F86078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16528" y="973063"/>
            <a:ext cx="3030587" cy="4911873"/>
          </a:xfrm>
          <a:prstGeom prst="roundRect">
            <a:avLst>
              <a:gd name="adj" fmla="val 3523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895897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098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9126EA6-A663-AD41-9474-BAFD5F8607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" y="918741"/>
            <a:ext cx="10972800" cy="4948123"/>
          </a:xfrm>
          <a:prstGeom prst="roundRect">
            <a:avLst>
              <a:gd name="adj" fmla="val 1876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1824688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D779252-2DB5-164E-B413-9653D35CC4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51813" y="973063"/>
            <a:ext cx="3030587" cy="4911873"/>
          </a:xfrm>
          <a:prstGeom prst="roundRect">
            <a:avLst>
              <a:gd name="adj" fmla="val 4419"/>
            </a:avLst>
          </a:prstGeom>
          <a:blipFill>
            <a:blip r:embed="rId2">
              <a:alphaModFix/>
            </a:blip>
            <a:stretch>
              <a:fillRect l="16" r="1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FC5ADCF-7EA1-3644-9B75-D84582085E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71513"/>
            <a:ext cx="7416800" cy="5665787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40789277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93776"/>
            <a:ext cx="4011084" cy="94132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93776"/>
            <a:ext cx="6815667" cy="56323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99615"/>
            <a:ext cx="4011084" cy="46265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291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Click icon to add picture</a:t>
            </a:r>
            <a:endParaRPr lang="en-AU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3857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387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6989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 txBox="1">
            <a:spLocks noGrp="1"/>
          </p:cNvSpPr>
          <p:nvPr>
            <p:ph type="title"/>
          </p:nvPr>
        </p:nvSpPr>
        <p:spPr>
          <a:xfrm>
            <a:off x="609600" y="576072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3429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6858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0287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3716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06" name="Shape 206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56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561975" lvl="0" indent="-106871" algn="l" rtl="0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781050" lvl="1" indent="-106871" algn="l" rtl="0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000125" lvl="2" indent="-106871" algn="l" rtl="0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228725" lvl="3" indent="-106871" algn="l" rtl="0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447800" lvl="4" indent="-106871" algn="l" rtl="0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1790700" lvl="5" indent="-106871" algn="l" rtl="0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133600" lvl="6" indent="-106871" algn="l" rtl="0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2476500" lvl="7" indent="-106871" algn="l" rtl="0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2819400" lvl="8" indent="-106871" algn="l" rtl="0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9995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94617"/>
            <a:ext cx="10972800" cy="45634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82040"/>
            <a:ext cx="28448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6F489C6-6277-454E-AECF-6C3872A9450F}" type="datetimeFigureOut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82040"/>
            <a:ext cx="38608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82040"/>
            <a:ext cx="28448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741F46F4-8938-5C4A-A3E0-434D3C3588F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Placeholder 14">
            <a:extLst>
              <a:ext uri="{FF2B5EF4-FFF2-40B4-BE49-F238E27FC236}">
                <a16:creationId xmlns:a16="http://schemas.microsoft.com/office/drawing/2014/main" id="{ED1A118C-2DC5-9B4D-B303-C0863344B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77254"/>
            <a:ext cx="10972799" cy="1248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7663B-B156-A7EF-7BCC-7B0EA3F35AB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ctr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70132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6" r:id="rId2"/>
    <p:sldLayoutId id="2147483649" r:id="rId3"/>
    <p:sldLayoutId id="2147483650" r:id="rId4"/>
    <p:sldLayoutId id="2147483665" r:id="rId5"/>
    <p:sldLayoutId id="2147483651" r:id="rId6"/>
    <p:sldLayoutId id="2147483661" r:id="rId7"/>
    <p:sldLayoutId id="2147483652" r:id="rId8"/>
    <p:sldLayoutId id="2147483662" r:id="rId9"/>
    <p:sldLayoutId id="2147483653" r:id="rId10"/>
    <p:sldLayoutId id="2147483654" r:id="rId11"/>
    <p:sldLayoutId id="2147483663" r:id="rId12"/>
    <p:sldLayoutId id="2147483655" r:id="rId13"/>
    <p:sldLayoutId id="2147483664" r:id="rId14"/>
    <p:sldLayoutId id="2147483660" r:id="rId15"/>
    <p:sldLayoutId id="2147483656" r:id="rId16"/>
    <p:sldLayoutId id="2147483657" r:id="rId17"/>
    <p:sldLayoutId id="2147483658" r:id="rId18"/>
    <p:sldLayoutId id="2147483659" r:id="rId19"/>
    <p:sldLayoutId id="2147483668" r:id="rId20"/>
  </p:sldLayoutIdLst>
  <p:txStyles>
    <p:titleStyle>
      <a:lvl1pPr algn="l" defTabSz="457200" rtl="0" eaLnBrk="1" latinLnBrk="0" hangingPunct="1">
        <a:spcBef>
          <a:spcPct val="0"/>
        </a:spcBef>
        <a:buNone/>
        <a:defRPr sz="4200" b="1" i="0" kern="1200" spc="50" baseline="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www.pythonlearn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r-chuck.com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Introductory Programming Techniques</a:t>
            </a:r>
            <a:br>
              <a:rPr lang="en-US" dirty="0"/>
            </a:br>
            <a:endParaRPr lang="en-AU" dirty="0"/>
          </a:p>
        </p:txBody>
      </p:sp>
      <p:sp>
        <p:nvSpPr>
          <p:cNvPr id="40" name="Text Placeholder 39"/>
          <p:cNvSpPr>
            <a:spLocks noGrp="1"/>
          </p:cNvSpPr>
          <p:nvPr>
            <p:ph type="body" sz="quarter" idx="15"/>
          </p:nvPr>
        </p:nvSpPr>
        <p:spPr>
          <a:xfrm>
            <a:off x="923196" y="2127127"/>
            <a:ext cx="10360268" cy="598488"/>
          </a:xfrm>
        </p:spPr>
        <p:txBody>
          <a:bodyPr/>
          <a:lstStyle/>
          <a:p>
            <a:r>
              <a:rPr lang="en-AU" dirty="0"/>
              <a:t>North Metropolitan TAFE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492A2F-F9DA-F792-8BD4-9776BD8CF4B9}"/>
              </a:ext>
            </a:extLst>
          </p:cNvPr>
          <p:cNvSpPr txBox="1"/>
          <p:nvPr/>
        </p:nvSpPr>
        <p:spPr>
          <a:xfrm>
            <a:off x="923196" y="3625797"/>
            <a:ext cx="60975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Courses:</a:t>
            </a:r>
          </a:p>
          <a:p>
            <a:pPr algn="l"/>
            <a: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  <a:t>Certificate III in Information Technology</a:t>
            </a:r>
            <a:b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</a:br>
            <a: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  <a:t>Certificate IV in IT (Programming)</a:t>
            </a:r>
            <a:b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</a:br>
            <a: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  <a:t>Certificate IV in IT (Networking)</a:t>
            </a:r>
            <a:b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</a:br>
            <a: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  <a:t>Certificate IV in IT (Cybersecurity)</a:t>
            </a:r>
            <a:b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</a:br>
            <a: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  <a:t>Certificate IV in IT (Web)</a:t>
            </a:r>
          </a:p>
        </p:txBody>
      </p:sp>
    </p:spTree>
    <p:extLst>
      <p:ext uri="{BB962C8B-B14F-4D97-AF65-F5344CB8AC3E}">
        <p14:creationId xmlns:p14="http://schemas.microsoft.com/office/powerpoint/2010/main" val="913344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b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00FF"/>
              </a:buClr>
              <a:buSzPct val="25000"/>
            </a:pPr>
            <a:r>
              <a:rPr lang="en-US" sz="57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Conditional Execution</a:t>
            </a:r>
          </a:p>
        </p:txBody>
      </p:sp>
      <p:sp>
        <p:nvSpPr>
          <p:cNvPr id="243" name="Shape 24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t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ct val="25000"/>
              <a:buNone/>
            </a:pP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Chapter 3</a:t>
            </a:r>
          </a:p>
        </p:txBody>
      </p:sp>
      <p:sp>
        <p:nvSpPr>
          <p:cNvPr id="244" name="Shape 244"/>
          <p:cNvSpPr txBox="1"/>
          <p:nvPr/>
        </p:nvSpPr>
        <p:spPr>
          <a:xfrm>
            <a:off x="3061087" y="5384736"/>
            <a:ext cx="6024150" cy="7620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rgbClr val="FFFF00"/>
              </a:buClr>
              <a:buSzPct val="25000"/>
            </a:pPr>
            <a:r>
              <a:rPr lang="en-US" sz="240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for Everybody</a:t>
            </a:r>
          </a:p>
          <a:p>
            <a:pPr algn="ctr">
              <a:buClr>
                <a:srgbClr val="FFFF00"/>
              </a:buClr>
              <a:buSzPct val="25000"/>
            </a:pPr>
            <a:r>
              <a:rPr lang="en-US" sz="2400" u="sng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www.py4e.com</a:t>
            </a:r>
          </a:p>
        </p:txBody>
      </p:sp>
      <p:pic>
        <p:nvPicPr>
          <p:cNvPr id="245" name="Shape 2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50497" y="5612960"/>
            <a:ext cx="1476449" cy="50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Shape 20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2475" y="5479310"/>
            <a:ext cx="768600" cy="76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28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>
              <a:buClr>
                <a:srgbClr val="00FF00"/>
              </a:buClr>
              <a:buSzPct val="25000"/>
            </a:pPr>
            <a:r>
              <a:rPr lang="en-US" sz="57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Comparison Operators</a:t>
            </a:r>
          </a:p>
        </p:txBody>
      </p:sp>
      <p:sp>
        <p:nvSpPr>
          <p:cNvPr id="282" name="Shape 282"/>
          <p:cNvSpPr txBox="1">
            <a:spLocks noGrp="1"/>
          </p:cNvSpPr>
          <p:nvPr>
            <p:ph type="body" idx="1"/>
          </p:nvPr>
        </p:nvSpPr>
        <p:spPr>
          <a:xfrm>
            <a:off x="866775" y="1952626"/>
            <a:ext cx="4833235" cy="3869014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indent="-259271">
              <a:spcBef>
                <a:spcPts val="0"/>
              </a:spcBef>
              <a:buClr>
                <a:srgbClr val="FFFF00"/>
              </a:buClr>
              <a:buSzPct val="100000"/>
            </a:pPr>
            <a:r>
              <a:rPr lang="en-US" sz="210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Boolean expressions </a:t>
            </a:r>
            <a:r>
              <a:rPr lang="en-US" sz="21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ask a question and produce a Yes or No result which we use to control program flow</a:t>
            </a:r>
          </a:p>
          <a:p>
            <a:pPr indent="-259271">
              <a:buClr>
                <a:srgbClr val="FFFF00"/>
              </a:buClr>
              <a:buSzPct val="100000"/>
            </a:pPr>
            <a:r>
              <a:rPr lang="en-US" sz="210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Boolean expressions</a:t>
            </a:r>
            <a:r>
              <a:rPr lang="en-US" sz="21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using </a:t>
            </a:r>
            <a:r>
              <a:rPr lang="en-US" sz="2100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comparison operators</a:t>
            </a:r>
            <a:r>
              <a:rPr lang="en-US" sz="21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evaluate to True / False or Yes / No</a:t>
            </a:r>
          </a:p>
          <a:p>
            <a:pPr indent="-259271">
              <a:buClr>
                <a:srgbClr val="FFFFFF"/>
              </a:buClr>
              <a:buSzPct val="100000"/>
            </a:pPr>
            <a:r>
              <a:rPr lang="en-US" sz="21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Comparison operators look at variables but do not change the variables</a:t>
            </a:r>
          </a:p>
        </p:txBody>
      </p:sp>
      <p:sp>
        <p:nvSpPr>
          <p:cNvPr id="284" name="Shape 284"/>
          <p:cNvSpPr txBox="1"/>
          <p:nvPr/>
        </p:nvSpPr>
        <p:spPr>
          <a:xfrm>
            <a:off x="6330332" y="5197408"/>
            <a:ext cx="5095673" cy="3849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Remember:  </a:t>
            </a:r>
            <a:r>
              <a:rPr lang="en-US" sz="225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2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=</a:t>
            </a:r>
            <a:r>
              <a:rPr lang="en-US" sz="225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2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used for assignment.</a:t>
            </a:r>
          </a:p>
        </p:txBody>
      </p:sp>
      <p:graphicFrame>
        <p:nvGraphicFramePr>
          <p:cNvPr id="285" name="Shape 285"/>
          <p:cNvGraphicFramePr/>
          <p:nvPr/>
        </p:nvGraphicFramePr>
        <p:xfrm>
          <a:off x="6330332" y="1897693"/>
          <a:ext cx="5329138" cy="290845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07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15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569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5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Python</a:t>
                      </a: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500" b="0" i="0" u="none" dirty="0">
                          <a:solidFill>
                            <a:srgbClr val="FFFF00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Meaning</a:t>
                      </a: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>
                        <a:alpha val="4941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&lt;</a:t>
                      </a: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 dirty="0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Less than</a:t>
                      </a: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95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&lt;=</a:t>
                      </a: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 dirty="0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Less than or Equal to</a:t>
                      </a: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95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 == </a:t>
                      </a: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 dirty="0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Equal to</a:t>
                      </a: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&gt;=</a:t>
                      </a: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 dirty="0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Greater than or Equal to</a:t>
                      </a: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95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&gt;</a:t>
                      </a: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 dirty="0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Greater than</a:t>
                      </a: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!=</a:t>
                      </a: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 dirty="0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Not equal</a:t>
                      </a: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2745828-C85D-B093-3E47-D19A07332F77}"/>
              </a:ext>
            </a:extLst>
          </p:cNvPr>
          <p:cNvSpPr/>
          <p:nvPr/>
        </p:nvSpPr>
        <p:spPr>
          <a:xfrm>
            <a:off x="5525898" y="4542637"/>
            <a:ext cx="2956561" cy="123136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1DECF4-3E07-53AD-61AC-A2B3781B6FC7}"/>
              </a:ext>
            </a:extLst>
          </p:cNvPr>
          <p:cNvSpPr/>
          <p:nvPr/>
        </p:nvSpPr>
        <p:spPr>
          <a:xfrm>
            <a:off x="5525899" y="3079625"/>
            <a:ext cx="2956561" cy="123136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1BF17D-EE53-C3B3-2836-D58CAB622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One-Way Decisions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93A808-941C-B0EB-8D2C-E81DB29ACF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67"/>
          <a:stretch/>
        </p:blipFill>
        <p:spPr>
          <a:xfrm>
            <a:off x="609600" y="3009900"/>
            <a:ext cx="4191585" cy="126620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9CBBAD9-38EE-A9CA-E4E2-1479AE690E07}"/>
              </a:ext>
            </a:extLst>
          </p:cNvPr>
          <p:cNvSpPr/>
          <p:nvPr/>
        </p:nvSpPr>
        <p:spPr>
          <a:xfrm>
            <a:off x="5525899" y="1627304"/>
            <a:ext cx="2956561" cy="123136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A932BB-3D71-4F27-CAEE-E8551245C3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87" t="14413" r="10160"/>
          <a:stretch/>
        </p:blipFill>
        <p:spPr>
          <a:xfrm>
            <a:off x="5636390" y="1714933"/>
            <a:ext cx="2846070" cy="10517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3E8A49-A2FF-CA42-5C82-FC94F462811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25"/>
          <a:stretch/>
        </p:blipFill>
        <p:spPr>
          <a:xfrm>
            <a:off x="5618609" y="3311277"/>
            <a:ext cx="2780421" cy="7049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B0663F6-39CF-67ED-9DC4-1E9B2276AD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7623" y="4808203"/>
            <a:ext cx="2753109" cy="666843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0C0130F-A5E3-77A2-AF42-5ED05C25E70B}"/>
              </a:ext>
            </a:extLst>
          </p:cNvPr>
          <p:cNvGrpSpPr/>
          <p:nvPr/>
        </p:nvGrpSpPr>
        <p:grpSpPr>
          <a:xfrm>
            <a:off x="8761542" y="4646022"/>
            <a:ext cx="1198880" cy="1003205"/>
            <a:chOff x="9259253" y="4526703"/>
            <a:chExt cx="1198880" cy="100320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0EAE52D-1381-B3DE-97AF-B393429440F5}"/>
                </a:ext>
              </a:extLst>
            </p:cNvPr>
            <p:cNvSpPr/>
            <p:nvPr/>
          </p:nvSpPr>
          <p:spPr>
            <a:xfrm>
              <a:off x="9259253" y="4526703"/>
              <a:ext cx="1198880" cy="1003205"/>
            </a:xfrm>
            <a:prstGeom prst="rect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1026" name="Picture 2" descr="See the source image">
              <a:extLst>
                <a:ext uri="{FF2B5EF4-FFF2-40B4-BE49-F238E27FC236}">
                  <a16:creationId xmlns:a16="http://schemas.microsoft.com/office/drawing/2014/main" id="{BA9EFFBE-9394-572C-A341-A5EE1D1886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15146" y="4688884"/>
              <a:ext cx="917893" cy="7574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837DAA7-BA99-6547-9D61-08FA1DDFB0C7}"/>
              </a:ext>
            </a:extLst>
          </p:cNvPr>
          <p:cNvGrpSpPr/>
          <p:nvPr/>
        </p:nvGrpSpPr>
        <p:grpSpPr>
          <a:xfrm>
            <a:off x="8753887" y="1700002"/>
            <a:ext cx="1198880" cy="1029164"/>
            <a:chOff x="9201392" y="1659182"/>
            <a:chExt cx="1198880" cy="102916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76B137F-B8C1-21B8-6E6A-209E63CCE419}"/>
                </a:ext>
              </a:extLst>
            </p:cNvPr>
            <p:cNvSpPr/>
            <p:nvPr/>
          </p:nvSpPr>
          <p:spPr>
            <a:xfrm>
              <a:off x="9201392" y="1685141"/>
              <a:ext cx="1198880" cy="1003205"/>
            </a:xfrm>
            <a:prstGeom prst="rect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1032" name="Picture 8" descr="See the source image">
              <a:extLst>
                <a:ext uri="{FF2B5EF4-FFF2-40B4-BE49-F238E27FC236}">
                  <a16:creationId xmlns:a16="http://schemas.microsoft.com/office/drawing/2014/main" id="{A2299408-28B9-6201-1C68-907EA47438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23715" y="1659182"/>
              <a:ext cx="950935" cy="10252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14FD885-986D-A6EE-292D-7C02C92C8F48}"/>
              </a:ext>
            </a:extLst>
          </p:cNvPr>
          <p:cNvGrpSpPr/>
          <p:nvPr/>
        </p:nvGrpSpPr>
        <p:grpSpPr>
          <a:xfrm>
            <a:off x="8761542" y="3161441"/>
            <a:ext cx="1198880" cy="1004620"/>
            <a:chOff x="9259253" y="3044901"/>
            <a:chExt cx="1198880" cy="100462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E4C832A-1800-A8E9-F436-5E78FA0D5E8D}"/>
                </a:ext>
              </a:extLst>
            </p:cNvPr>
            <p:cNvSpPr/>
            <p:nvPr/>
          </p:nvSpPr>
          <p:spPr>
            <a:xfrm>
              <a:off x="9259253" y="3044901"/>
              <a:ext cx="1198880" cy="1003205"/>
            </a:xfrm>
            <a:prstGeom prst="rect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1034" name="Picture 10" descr="See the source image">
              <a:extLst>
                <a:ext uri="{FF2B5EF4-FFF2-40B4-BE49-F238E27FC236}">
                  <a16:creationId xmlns:a16="http://schemas.microsoft.com/office/drawing/2014/main" id="{B278307C-4646-57F8-7A7C-4261F0941EB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625"/>
            <a:stretch/>
          </p:blipFill>
          <p:spPr bwMode="auto">
            <a:xfrm>
              <a:off x="9428442" y="3053212"/>
              <a:ext cx="845192" cy="9963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F0ED9E4D-4251-7516-5360-EAF3AB85D1F5}"/>
              </a:ext>
            </a:extLst>
          </p:cNvPr>
          <p:cNvSpPr/>
          <p:nvPr/>
        </p:nvSpPr>
        <p:spPr>
          <a:xfrm>
            <a:off x="609599" y="3375660"/>
            <a:ext cx="1806477" cy="198120"/>
          </a:xfrm>
          <a:prstGeom prst="rect">
            <a:avLst/>
          </a:prstGeom>
          <a:solidFill>
            <a:srgbClr val="FFC000">
              <a:alpha val="23137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2122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0CBFD4-4AFD-98B2-ACD3-C21A47A2D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258" y="2523998"/>
            <a:ext cx="4401164" cy="181000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D1CCDF0-6D3A-9097-AB45-AC83B92C0241}"/>
              </a:ext>
            </a:extLst>
          </p:cNvPr>
          <p:cNvSpPr/>
          <p:nvPr/>
        </p:nvSpPr>
        <p:spPr>
          <a:xfrm>
            <a:off x="6630649" y="2857646"/>
            <a:ext cx="3534353" cy="11528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913164-D3E0-BF9F-F2F7-0F7BC69ABCE6}"/>
              </a:ext>
            </a:extLst>
          </p:cNvPr>
          <p:cNvSpPr/>
          <p:nvPr/>
        </p:nvSpPr>
        <p:spPr>
          <a:xfrm>
            <a:off x="6630649" y="1581757"/>
            <a:ext cx="3534353" cy="11528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3ED78A-57F7-6ADF-DFFB-2E39F7467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Two-way Decisions</a:t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F343AD-EA4B-D11B-17AE-7D67D9EBA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718" y="1658075"/>
            <a:ext cx="2819794" cy="10002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976A84-4916-8B46-97AF-C2870D9B89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3718" y="2909815"/>
            <a:ext cx="2734057" cy="103837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5708DBD-478E-5400-3CAD-A2B1E1D95FD8}"/>
              </a:ext>
            </a:extLst>
          </p:cNvPr>
          <p:cNvSpPr/>
          <p:nvPr/>
        </p:nvSpPr>
        <p:spPr>
          <a:xfrm>
            <a:off x="6630649" y="4224086"/>
            <a:ext cx="3534353" cy="141535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824A8B-0442-7EAE-7764-432845863981}"/>
              </a:ext>
            </a:extLst>
          </p:cNvPr>
          <p:cNvSpPr/>
          <p:nvPr/>
        </p:nvSpPr>
        <p:spPr>
          <a:xfrm>
            <a:off x="5270782" y="2692500"/>
            <a:ext cx="716903" cy="233905"/>
          </a:xfrm>
          <a:prstGeom prst="rect">
            <a:avLst/>
          </a:prstGeom>
          <a:solidFill>
            <a:srgbClr val="FFC000">
              <a:alpha val="23137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87B793-8D72-56A1-2101-A8E45F579284}"/>
              </a:ext>
            </a:extLst>
          </p:cNvPr>
          <p:cNvSpPr/>
          <p:nvPr/>
        </p:nvSpPr>
        <p:spPr>
          <a:xfrm>
            <a:off x="1675433" y="3473566"/>
            <a:ext cx="558802" cy="225136"/>
          </a:xfrm>
          <a:prstGeom prst="rect">
            <a:avLst/>
          </a:prstGeom>
          <a:solidFill>
            <a:srgbClr val="FFC000">
              <a:alpha val="23137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46C86F-2F78-3779-3171-240AAFB889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3718" y="4323122"/>
            <a:ext cx="2695951" cy="990738"/>
          </a:xfrm>
          <a:prstGeom prst="rect">
            <a:avLst/>
          </a:prstGeom>
        </p:spPr>
      </p:pic>
      <p:pic>
        <p:nvPicPr>
          <p:cNvPr id="2054" name="Picture 6" descr="See the source image">
            <a:extLst>
              <a:ext uri="{FF2B5EF4-FFF2-40B4-BE49-F238E27FC236}">
                <a16:creationId xmlns:a16="http://schemas.microsoft.com/office/drawing/2014/main" id="{CA97E83E-07D7-BFEE-04F9-26438144E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931" b="93303" l="5000" r="95714">
                        <a14:foregroundMark x1="5119" y1="58661" x2="5119" y2="58661"/>
                        <a14:foregroundMark x1="31667" y1="46651" x2="31667" y2="46651"/>
                        <a14:foregroundMark x1="27976" y1="48845" x2="27976" y2="48845"/>
                        <a14:foregroundMark x1="32619" y1="51155" x2="32619" y2="51155"/>
                        <a14:foregroundMark x1="58214" y1="48037" x2="58214" y2="48037"/>
                        <a14:foregroundMark x1="47262" y1="50231" x2="47262" y2="50231"/>
                        <a14:foregroundMark x1="95833" y1="34642" x2="95833" y2="34642"/>
                        <a14:foregroundMark x1="39405" y1="93303" x2="39405" y2="93303"/>
                        <a14:foregroundMark x1="51429" y1="49769" x2="51429" y2="49769"/>
                        <a14:foregroundMark x1="56429" y1="44919" x2="56429" y2="44919"/>
                        <a14:foregroundMark x1="53214" y1="48037" x2="53214" y2="48037"/>
                        <a14:foregroundMark x1="59167" y1="50231" x2="59167" y2="50231"/>
                        <a14:foregroundMark x1="57381" y1="51155" x2="57381" y2="51155"/>
                        <a14:foregroundMark x1="56429" y1="51155" x2="56429" y2="51155"/>
                        <a14:foregroundMark x1="47738" y1="50693" x2="47738" y2="50693"/>
                        <a14:foregroundMark x1="50476" y1="51963" x2="50476" y2="51963"/>
                        <a14:foregroundMark x1="30714" y1="44457" x2="30714" y2="44457"/>
                        <a14:foregroundMark x1="30714" y1="44457" x2="30714" y2="44457"/>
                        <a14:foregroundMark x1="24762" y1="49769" x2="24762" y2="49769"/>
                        <a14:foregroundMark x1="27976" y1="56928" x2="27976" y2="56928"/>
                        <a14:foregroundMark x1="32619" y1="57390" x2="32619" y2="57390"/>
                        <a14:foregroundMark x1="32619" y1="52887" x2="32619" y2="52887"/>
                        <a14:foregroundMark x1="32619" y1="48499" x2="32619" y2="48499"/>
                        <a14:foregroundMark x1="31667" y1="51963" x2="31667" y2="51963"/>
                        <a14:foregroundMark x1="53690" y1="43072" x2="53690" y2="43072"/>
                        <a14:foregroundMark x1="51071" y1="42610" x2="51071" y2="42610"/>
                        <a14:foregroundMark x1="51071" y1="42610" x2="53214" y2="42379"/>
                        <a14:foregroundMark x1="57976" y1="53349" x2="57738" y2="56813"/>
                        <a14:foregroundMark x1="53333" y1="59238" x2="55714" y2="60855"/>
                        <a14:foregroundMark x1="27976" y1="44919" x2="22857" y2="53811"/>
                        <a14:foregroundMark x1="22857" y1="53811" x2="28333" y2="44919"/>
                        <a14:foregroundMark x1="28333" y1="44919" x2="23690" y2="54157"/>
                        <a14:foregroundMark x1="23690" y1="54157" x2="26548" y2="45266"/>
                        <a14:foregroundMark x1="26548" y1="45266" x2="23571" y2="51155"/>
                        <a14:foregroundMark x1="23095" y1="55427" x2="25595" y2="64896"/>
                        <a14:foregroundMark x1="25595" y1="64896" x2="25476" y2="55427"/>
                        <a14:foregroundMark x1="25476" y1="55427" x2="32976" y2="52194"/>
                        <a14:foregroundMark x1="32976" y1="52194" x2="28452" y2="59353"/>
                        <a14:foregroundMark x1="28452" y1="59353" x2="29524" y2="56928"/>
                        <a14:foregroundMark x1="46667" y1="49654" x2="48571" y2="50577"/>
                        <a14:foregroundMark x1="82262" y1="13626" x2="82262" y2="13626"/>
                        <a14:foregroundMark x1="83452" y1="14896" x2="83452" y2="14896"/>
                        <a14:foregroundMark x1="87262" y1="12125" x2="87262" y2="12125"/>
                        <a14:foregroundMark x1="85952" y1="10277" x2="85952" y2="102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0470" y="4882567"/>
            <a:ext cx="704533" cy="726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2384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D1CCDF0-6D3A-9097-AB45-AC83B92C0241}"/>
              </a:ext>
            </a:extLst>
          </p:cNvPr>
          <p:cNvSpPr/>
          <p:nvPr/>
        </p:nvSpPr>
        <p:spPr>
          <a:xfrm>
            <a:off x="6630650" y="2857646"/>
            <a:ext cx="4464090" cy="11528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913164-D3E0-BF9F-F2F7-0F7BC69ABCE6}"/>
              </a:ext>
            </a:extLst>
          </p:cNvPr>
          <p:cNvSpPr/>
          <p:nvPr/>
        </p:nvSpPr>
        <p:spPr>
          <a:xfrm>
            <a:off x="6630650" y="1581757"/>
            <a:ext cx="4464090" cy="11528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3ED78A-57F7-6ADF-DFFB-2E39F7467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Multi-way Decisions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A5088C-1748-B116-947A-EC63AB935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66788"/>
            <a:ext cx="5563376" cy="23244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F343AD-EA4B-D11B-17AE-7D67D9EBA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718" y="1658075"/>
            <a:ext cx="2819794" cy="10002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976A84-4916-8B46-97AF-C2870D9B8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718" y="2909815"/>
            <a:ext cx="2734057" cy="103837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5708DBD-478E-5400-3CAD-A2B1E1D95FD8}"/>
              </a:ext>
            </a:extLst>
          </p:cNvPr>
          <p:cNvSpPr/>
          <p:nvPr/>
        </p:nvSpPr>
        <p:spPr>
          <a:xfrm>
            <a:off x="6630650" y="4224086"/>
            <a:ext cx="4464090" cy="11528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A7D8B3-8D19-9BD5-6B6B-14B7E9E2502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01"/>
          <a:stretch/>
        </p:blipFill>
        <p:spPr>
          <a:xfrm>
            <a:off x="6756400" y="4350140"/>
            <a:ext cx="4284326" cy="91452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3DB338E-9C44-9EF7-0FD0-69E0E4CD827F}"/>
              </a:ext>
            </a:extLst>
          </p:cNvPr>
          <p:cNvSpPr/>
          <p:nvPr/>
        </p:nvSpPr>
        <p:spPr>
          <a:xfrm>
            <a:off x="609599" y="3234344"/>
            <a:ext cx="1974625" cy="225136"/>
          </a:xfrm>
          <a:prstGeom prst="rect">
            <a:avLst/>
          </a:prstGeom>
          <a:solidFill>
            <a:srgbClr val="FFC000">
              <a:alpha val="23137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87B793-8D72-56A1-2101-A8E45F579284}"/>
              </a:ext>
            </a:extLst>
          </p:cNvPr>
          <p:cNvSpPr/>
          <p:nvPr/>
        </p:nvSpPr>
        <p:spPr>
          <a:xfrm>
            <a:off x="609599" y="3797185"/>
            <a:ext cx="558802" cy="225136"/>
          </a:xfrm>
          <a:prstGeom prst="rect">
            <a:avLst/>
          </a:prstGeom>
          <a:solidFill>
            <a:srgbClr val="FFC000">
              <a:alpha val="23137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5407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3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>
              <a:buClr>
                <a:srgbClr val="FF0000"/>
              </a:buClr>
              <a:buSzPct val="25000"/>
            </a:pPr>
            <a:r>
              <a:rPr lang="en-US" sz="57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Warning:</a:t>
            </a:r>
            <a:r>
              <a:rPr lang="en-US" sz="570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57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Turn </a:t>
            </a:r>
            <a:r>
              <a:rPr lang="en-US" sz="5700" u="sng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Off</a:t>
            </a:r>
            <a:r>
              <a:rPr lang="en-US" sz="57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Tabs!!</a:t>
            </a:r>
          </a:p>
        </p:txBody>
      </p:sp>
      <p:sp>
        <p:nvSpPr>
          <p:cNvPr id="328" name="Shape 328"/>
          <p:cNvSpPr txBox="1">
            <a:spLocks noGrp="1"/>
          </p:cNvSpPr>
          <p:nvPr>
            <p:ph type="body" idx="1"/>
          </p:nvPr>
        </p:nvSpPr>
        <p:spPr>
          <a:xfrm>
            <a:off x="866775" y="1952626"/>
            <a:ext cx="10641666" cy="4230126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indent="-259271">
              <a:spcBef>
                <a:spcPts val="0"/>
              </a:spcBef>
              <a:buSzPct val="100000"/>
            </a:pPr>
            <a:r>
              <a:rPr lang="en-US" sz="2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Atom automatically uses spaces for files with ".</a:t>
            </a:r>
            <a:r>
              <a:rPr lang="en-US" sz="2400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</a:t>
            </a:r>
            <a:r>
              <a:rPr lang="en-US" sz="2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" extension (nice!)</a:t>
            </a:r>
          </a:p>
          <a:p>
            <a:pPr indent="-259271">
              <a:spcBef>
                <a:spcPts val="0"/>
              </a:spcBef>
              <a:buSzPct val="100000"/>
            </a:pPr>
            <a:endParaRPr lang="en-US" sz="2400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indent="-259271">
              <a:spcBef>
                <a:spcPts val="0"/>
              </a:spcBef>
              <a:buSzPct val="100000"/>
            </a:pPr>
            <a:r>
              <a:rPr lang="en-US" sz="2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Most text editors can turn </a:t>
            </a:r>
            <a:r>
              <a:rPr lang="en-US" sz="2400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tabs</a:t>
            </a:r>
            <a:r>
              <a:rPr lang="en-US" sz="2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into </a:t>
            </a:r>
            <a:r>
              <a:rPr lang="en-US" sz="240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spaces</a:t>
            </a:r>
            <a:r>
              <a:rPr lang="en-US" sz="2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 make sure to enable this feature</a:t>
            </a:r>
          </a:p>
          <a:p>
            <a:pPr marL="521780" lvl="1" indent="0">
              <a:buSzPct val="100000"/>
              <a:buNone/>
            </a:pPr>
            <a:r>
              <a:rPr lang="en-US" sz="2400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  NotePad</a:t>
            </a:r>
            <a:r>
              <a:rPr lang="en-US" sz="2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++:  Settings -&gt; Preferences -&gt; Language Menu/</a:t>
            </a:r>
            <a:r>
              <a:rPr lang="en-US" sz="2400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Tab</a:t>
            </a:r>
            <a:r>
              <a:rPr lang="en-US" sz="2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Settings</a:t>
            </a:r>
          </a:p>
          <a:p>
            <a:pPr marL="521780" lvl="1" indent="0">
              <a:buSzPct val="100000"/>
              <a:buNone/>
            </a:pPr>
            <a:r>
              <a:rPr lang="en-US" sz="2400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  TextWrangler</a:t>
            </a:r>
            <a:r>
              <a:rPr lang="en-US" sz="2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  </a:t>
            </a:r>
            <a:r>
              <a:rPr lang="en-US" sz="2400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TextWrangler</a:t>
            </a:r>
            <a:r>
              <a:rPr lang="en-US" sz="2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-&gt; Preferences -&gt; Editor Defaults</a:t>
            </a:r>
          </a:p>
          <a:p>
            <a:pPr indent="-259271">
              <a:buSzPct val="100000"/>
            </a:pPr>
            <a:r>
              <a:rPr lang="en-US" sz="2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cares a *lot* about how far a line is </a:t>
            </a:r>
            <a:r>
              <a:rPr lang="en-US" sz="24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indented</a:t>
            </a:r>
            <a:r>
              <a:rPr lang="en-US" sz="2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  If you mix </a:t>
            </a:r>
            <a:r>
              <a:rPr lang="en-US" sz="2400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tabs</a:t>
            </a:r>
            <a:r>
              <a:rPr lang="en-US" sz="2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</a:t>
            </a:r>
            <a:r>
              <a:rPr lang="en-US" sz="240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spaces</a:t>
            </a:r>
            <a:r>
              <a:rPr lang="en-US" sz="2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, you may get </a:t>
            </a:r>
            <a:r>
              <a:rPr lang="en-US" sz="2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400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indentation errors</a:t>
            </a:r>
            <a:r>
              <a:rPr lang="en-US" sz="2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even if everything looks fine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/>
          <p:nvPr/>
        </p:nvSpPr>
        <p:spPr>
          <a:xfrm>
            <a:off x="694588" y="1786229"/>
            <a:ext cx="6331363" cy="49038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>
              <a:buClr>
                <a:schemeClr val="lt1"/>
              </a:buClr>
              <a:buSzPct val="25000"/>
            </a:pPr>
            <a:r>
              <a:rPr lang="en-US" sz="225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Scenario: 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The program ask if it is hot and if you have a TAFE lecture.  </a:t>
            </a:r>
          </a:p>
          <a:p>
            <a:pPr>
              <a:buClr>
                <a:schemeClr val="lt1"/>
              </a:buClr>
              <a:buSzPct val="25000"/>
            </a:pPr>
            <a:endParaRPr lang="en-US" sz="2250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On hot days with TAFE lectures, display a message that you cannot go swimming or surfing. </a:t>
            </a:r>
          </a:p>
          <a:p>
            <a:pPr>
              <a:buClr>
                <a:schemeClr val="lt1"/>
              </a:buClr>
              <a:buSzPct val="25000"/>
            </a:pPr>
            <a:endParaRPr lang="en-US" sz="2250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On hot days without classes; displayed a message that you can go to the beach. </a:t>
            </a:r>
          </a:p>
          <a:p>
            <a:pPr>
              <a:buClr>
                <a:schemeClr val="lt1"/>
              </a:buClr>
              <a:buSzPct val="25000"/>
            </a:pPr>
            <a:endParaRPr lang="en-US" sz="2250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No message is displayed if it is not hot.</a:t>
            </a:r>
          </a:p>
        </p:txBody>
      </p:sp>
      <p:sp>
        <p:nvSpPr>
          <p:cNvPr id="388" name="Shape 388"/>
          <p:cNvSpPr txBox="1"/>
          <p:nvPr/>
        </p:nvSpPr>
        <p:spPr>
          <a:xfrm>
            <a:off x="0" y="517162"/>
            <a:ext cx="12191999" cy="1625963"/>
          </a:xfrm>
          <a:prstGeom prst="rect">
            <a:avLst/>
          </a:prstGeom>
          <a:noFill/>
          <a:ln>
            <a:noFill/>
          </a:ln>
        </p:spPr>
        <p:txBody>
          <a:bodyPr lIns="28575" tIns="28575" rIns="28575" bIns="28575" anchor="ctr" anchorCtr="0">
            <a:noAutofit/>
          </a:bodyPr>
          <a:lstStyle/>
          <a:p>
            <a:pPr algn="ctr">
              <a:buClr>
                <a:srgbClr val="FFFF00"/>
              </a:buClr>
              <a:buSzPct val="25000"/>
            </a:pPr>
            <a:r>
              <a:rPr lang="en-US" sz="495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Nested decisions</a:t>
            </a:r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D600CAB5-20CD-A48A-FA65-447CFB6B7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087" y="1923564"/>
            <a:ext cx="2771775" cy="4629150"/>
          </a:xfrm>
          <a:prstGeom prst="rect">
            <a:avLst/>
          </a:prstGeom>
          <a:ln w="76200">
            <a:solidFill>
              <a:schemeClr val="bg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Shape 388"/>
          <p:cNvSpPr txBox="1"/>
          <p:nvPr/>
        </p:nvSpPr>
        <p:spPr>
          <a:xfrm>
            <a:off x="0" y="517162"/>
            <a:ext cx="12191999" cy="1625963"/>
          </a:xfrm>
          <a:prstGeom prst="rect">
            <a:avLst/>
          </a:prstGeom>
          <a:noFill/>
          <a:ln>
            <a:noFill/>
          </a:ln>
        </p:spPr>
        <p:txBody>
          <a:bodyPr lIns="28575" tIns="28575" rIns="28575" bIns="28575" anchor="ctr" anchorCtr="0">
            <a:noAutofit/>
          </a:bodyPr>
          <a:lstStyle/>
          <a:p>
            <a:pPr algn="ctr">
              <a:buClr>
                <a:srgbClr val="FFFF00"/>
              </a:buClr>
              <a:buSzPct val="25000"/>
            </a:pPr>
            <a:r>
              <a:rPr lang="en-US" sz="495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Nested decisions solution</a:t>
            </a:r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ED6836D5-32EC-0BD3-5B09-342C85C66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25572"/>
              </p:ext>
            </p:extLst>
          </p:nvPr>
        </p:nvGraphicFramePr>
        <p:xfrm>
          <a:off x="329681" y="2335053"/>
          <a:ext cx="11532636" cy="39048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966344">
                  <a:extLst>
                    <a:ext uri="{9D8B030D-6E8A-4147-A177-3AD203B41FA5}">
                      <a16:colId xmlns:a16="http://schemas.microsoft.com/office/drawing/2014/main" val="2416500479"/>
                    </a:ext>
                  </a:extLst>
                </a:gridCol>
                <a:gridCol w="5566292">
                  <a:extLst>
                    <a:ext uri="{9D8B030D-6E8A-4147-A177-3AD203B41FA5}">
                      <a16:colId xmlns:a16="http://schemas.microsoft.com/office/drawing/2014/main" val="3465533501"/>
                    </a:ext>
                  </a:extLst>
                </a:gridCol>
              </a:tblGrid>
              <a:tr h="29808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125604"/>
                  </a:ext>
                </a:extLst>
              </a:tr>
              <a:tr h="353912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741571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581C5C0D-01C4-4C97-D5C6-7FFAE625C7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2" r="-1" b="6646"/>
          <a:stretch/>
        </p:blipFill>
        <p:spPr>
          <a:xfrm>
            <a:off x="6904652" y="2765340"/>
            <a:ext cx="4487877" cy="32638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D1CC36-935A-46C7-893E-7B80A9B29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80" y="2833604"/>
            <a:ext cx="4363059" cy="142512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2E9C829-19F2-8DEB-2272-4AB102A899A9}"/>
              </a:ext>
            </a:extLst>
          </p:cNvPr>
          <p:cNvSpPr/>
          <p:nvPr/>
        </p:nvSpPr>
        <p:spPr>
          <a:xfrm>
            <a:off x="673947" y="3234267"/>
            <a:ext cx="1418357" cy="155464"/>
          </a:xfrm>
          <a:prstGeom prst="rect">
            <a:avLst/>
          </a:prstGeom>
          <a:solidFill>
            <a:srgbClr val="FFC000">
              <a:alpha val="23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A32F42-BAFB-7051-1F14-5C32C34E3052}"/>
              </a:ext>
            </a:extLst>
          </p:cNvPr>
          <p:cNvSpPr/>
          <p:nvPr/>
        </p:nvSpPr>
        <p:spPr>
          <a:xfrm>
            <a:off x="912707" y="3389731"/>
            <a:ext cx="1706880" cy="191928"/>
          </a:xfrm>
          <a:prstGeom prst="rect">
            <a:avLst/>
          </a:prstGeom>
          <a:solidFill>
            <a:srgbClr val="FFC000">
              <a:alpha val="23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0758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Shape 581"/>
          <p:cNvSpPr txBox="1">
            <a:spLocks noGrp="1"/>
          </p:cNvSpPr>
          <p:nvPr>
            <p:ph type="title"/>
          </p:nvPr>
        </p:nvSpPr>
        <p:spPr>
          <a:xfrm>
            <a:off x="866776" y="559191"/>
            <a:ext cx="9908381" cy="1345734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FF00"/>
              </a:buClr>
              <a:buSzPct val="25000"/>
            </a:pPr>
            <a:r>
              <a:rPr lang="en-US" sz="57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Multi-way Puzzles</a:t>
            </a:r>
          </a:p>
        </p:txBody>
      </p:sp>
      <p:sp>
        <p:nvSpPr>
          <p:cNvPr id="582" name="Shape 582"/>
          <p:cNvSpPr txBox="1"/>
          <p:nvPr/>
        </p:nvSpPr>
        <p:spPr>
          <a:xfrm>
            <a:off x="6371036" y="2561403"/>
            <a:ext cx="4808024" cy="30348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rgbClr val="FFFF00"/>
              </a:buClr>
              <a:buSzPct val="25000"/>
            </a:pPr>
            <a:r>
              <a:rPr lang="en-US" sz="225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if number &lt; 2: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225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    print('Below 2')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sz="2250" dirty="0" err="1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225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 number &lt; 20: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225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    print('Below 20')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sz="2250" dirty="0" err="1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225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 number &lt; 10: 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225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    print('Below 10')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sz="225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else: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225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    print('Something else')</a:t>
            </a:r>
          </a:p>
        </p:txBody>
      </p:sp>
      <p:sp>
        <p:nvSpPr>
          <p:cNvPr id="583" name="Shape 583"/>
          <p:cNvSpPr txBox="1"/>
          <p:nvPr/>
        </p:nvSpPr>
        <p:spPr>
          <a:xfrm>
            <a:off x="904827" y="2561403"/>
            <a:ext cx="4916139" cy="2415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rgbClr val="FFFF00"/>
              </a:buClr>
              <a:buSzPct val="25000"/>
            </a:pPr>
            <a:r>
              <a:rPr lang="en-US" sz="225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if number &lt; 2: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225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    print('Below 2')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sz="2250" dirty="0" err="1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225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 number &gt;= 2: 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225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    print('Two or more')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sz="225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else: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225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    print('Something else'</a:t>
            </a:r>
            <a:r>
              <a:rPr lang="en-US" sz="2250" b="1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584" name="Shape 584"/>
          <p:cNvSpPr txBox="1"/>
          <p:nvPr/>
        </p:nvSpPr>
        <p:spPr>
          <a:xfrm>
            <a:off x="866776" y="1835122"/>
            <a:ext cx="9151558" cy="7262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chemeClr val="lt1"/>
              </a:buClr>
              <a:buSzPct val="25000"/>
            </a:pPr>
            <a:r>
              <a:rPr lang="en-US" sz="27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Which will never print regardless of the value for number?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Shape 58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>
              <a:buClr>
                <a:schemeClr val="lt1"/>
              </a:buClr>
              <a:buSzPct val="25000"/>
            </a:pPr>
            <a:r>
              <a:rPr lang="en-US" sz="57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try / except Structure</a:t>
            </a:r>
          </a:p>
        </p:txBody>
      </p:sp>
      <p:sp>
        <p:nvSpPr>
          <p:cNvPr id="590" name="Shape 590"/>
          <p:cNvSpPr txBox="1">
            <a:spLocks noGrp="1"/>
          </p:cNvSpPr>
          <p:nvPr>
            <p:ph type="body" idx="1"/>
          </p:nvPr>
        </p:nvSpPr>
        <p:spPr>
          <a:xfrm>
            <a:off x="866775" y="1952626"/>
            <a:ext cx="10449000" cy="3409137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indent="-400050">
              <a:spcBef>
                <a:spcPts val="0"/>
              </a:spcBef>
              <a:buSzPct val="171000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surround a dangerous section of code with </a:t>
            </a:r>
            <a:r>
              <a:rPr lang="en-US" sz="270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try</a:t>
            </a: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</a:t>
            </a:r>
            <a:r>
              <a:rPr lang="en-US" sz="2700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except</a:t>
            </a:r>
          </a:p>
          <a:p>
            <a:pPr indent="-400050">
              <a:buSzPct val="171000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the code in the </a:t>
            </a:r>
            <a:r>
              <a:rPr lang="en-US" sz="270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try</a:t>
            </a: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works - the </a:t>
            </a:r>
            <a:r>
              <a:rPr lang="en-US" sz="2700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except</a:t>
            </a: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skipped</a:t>
            </a:r>
          </a:p>
          <a:p>
            <a:pPr indent="-400050">
              <a:buSzPct val="171000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the code in the </a:t>
            </a:r>
            <a:r>
              <a:rPr lang="en-US" sz="270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try</a:t>
            </a: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fails - it jumps to the </a:t>
            </a:r>
            <a:r>
              <a:rPr lang="en-US" sz="2700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except</a:t>
            </a: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Shape 58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>
              <a:buClr>
                <a:schemeClr val="lt1"/>
              </a:buClr>
              <a:buSzPct val="25000"/>
            </a:pPr>
            <a:r>
              <a:rPr lang="en-US" sz="57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try / except Structure</a:t>
            </a:r>
          </a:p>
        </p:txBody>
      </p:sp>
      <p:sp>
        <p:nvSpPr>
          <p:cNvPr id="590" name="Shape 590"/>
          <p:cNvSpPr txBox="1">
            <a:spLocks noGrp="1"/>
          </p:cNvSpPr>
          <p:nvPr>
            <p:ph type="body" idx="1"/>
          </p:nvPr>
        </p:nvSpPr>
        <p:spPr>
          <a:xfrm>
            <a:off x="416470" y="1658073"/>
            <a:ext cx="10449000" cy="3409137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t" anchorCtr="0">
            <a:noAutofit/>
          </a:bodyPr>
          <a:lstStyle/>
          <a:p>
            <a:pPr marL="161925" indent="0">
              <a:spcBef>
                <a:spcPts val="0"/>
              </a:spcBef>
              <a:buSzPct val="171000"/>
              <a:buNone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When do we need a try / except structure?</a:t>
            </a:r>
          </a:p>
          <a:p>
            <a:pPr marL="161925" indent="0">
              <a:spcBef>
                <a:spcPts val="0"/>
              </a:spcBef>
              <a:buSzPct val="171000"/>
              <a:buNone/>
            </a:pPr>
            <a:endParaRPr lang="en-US" sz="2700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158513-523A-DCD9-52CC-29B76CC1E6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7301" b="2552"/>
          <a:stretch/>
        </p:blipFill>
        <p:spPr>
          <a:xfrm>
            <a:off x="4982308" y="3519206"/>
            <a:ext cx="6793222" cy="31528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46AD75-41C3-2117-4559-3F8DC12B5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200104"/>
            <a:ext cx="5582429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219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Shape 58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>
              <a:buClr>
                <a:schemeClr val="lt1"/>
              </a:buClr>
              <a:buSzPct val="25000"/>
            </a:pPr>
            <a:r>
              <a:rPr lang="en-US" sz="57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try / except Structure</a:t>
            </a:r>
          </a:p>
        </p:txBody>
      </p:sp>
      <p:sp>
        <p:nvSpPr>
          <p:cNvPr id="590" name="Shape 590"/>
          <p:cNvSpPr txBox="1">
            <a:spLocks noGrp="1"/>
          </p:cNvSpPr>
          <p:nvPr>
            <p:ph type="body" idx="1"/>
          </p:nvPr>
        </p:nvSpPr>
        <p:spPr>
          <a:xfrm>
            <a:off x="845411" y="3465791"/>
            <a:ext cx="10449000" cy="3409137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t" anchorCtr="0">
            <a:noAutofit/>
          </a:bodyPr>
          <a:lstStyle/>
          <a:p>
            <a:pPr marL="455104" indent="0">
              <a:buClr>
                <a:srgbClr val="FF0000"/>
              </a:buClr>
              <a:buSzPct val="25000"/>
              <a:buNone/>
            </a:pPr>
            <a:r>
              <a:rPr lang="en-US" sz="27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program stops here</a:t>
            </a:r>
          </a:p>
          <a:p>
            <a:pPr marL="161925" indent="0">
              <a:spcBef>
                <a:spcPts val="0"/>
              </a:spcBef>
              <a:buSzPct val="171000"/>
              <a:buNone/>
            </a:pPr>
            <a:endParaRPr lang="en-US" sz="2700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158513-523A-DCD9-52CC-29B76CC1E6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0026" b="2552"/>
          <a:stretch/>
        </p:blipFill>
        <p:spPr>
          <a:xfrm>
            <a:off x="845411" y="1687640"/>
            <a:ext cx="6793222" cy="14721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6C50BE-20A2-A727-63B6-3E5951D2E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1982" y="3574152"/>
            <a:ext cx="5582429" cy="122889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0FF6CC4-6E20-BBF4-3F40-01BF5321B9EE}"/>
              </a:ext>
            </a:extLst>
          </p:cNvPr>
          <p:cNvSpPr/>
          <p:nvPr/>
        </p:nvSpPr>
        <p:spPr>
          <a:xfrm>
            <a:off x="4480560" y="2590800"/>
            <a:ext cx="680720" cy="162560"/>
          </a:xfrm>
          <a:prstGeom prst="rect">
            <a:avLst/>
          </a:prstGeom>
          <a:solidFill>
            <a:srgbClr val="FFC000">
              <a:alpha val="23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C2CD40-85E1-5BB2-925C-C601025B9C73}"/>
              </a:ext>
            </a:extLst>
          </p:cNvPr>
          <p:cNvCxnSpPr/>
          <p:nvPr/>
        </p:nvCxnSpPr>
        <p:spPr>
          <a:xfrm>
            <a:off x="5039360" y="3738880"/>
            <a:ext cx="672622" cy="132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763370A-899D-22A2-A59A-2102A4EC47CE}"/>
              </a:ext>
            </a:extLst>
          </p:cNvPr>
          <p:cNvSpPr/>
          <p:nvPr/>
        </p:nvSpPr>
        <p:spPr>
          <a:xfrm>
            <a:off x="5711982" y="4023360"/>
            <a:ext cx="5582429" cy="779688"/>
          </a:xfrm>
          <a:prstGeom prst="rect">
            <a:avLst/>
          </a:prstGeom>
          <a:solidFill>
            <a:srgbClr val="FFC000">
              <a:alpha val="23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2266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Shape 58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>
              <a:buClr>
                <a:schemeClr val="lt1"/>
              </a:buClr>
              <a:buSzPct val="25000"/>
            </a:pPr>
            <a:r>
              <a:rPr lang="en-US" sz="57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try / except Structure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71432CE-AD9D-EEA3-83C7-3F85B93D9E7A}"/>
              </a:ext>
            </a:extLst>
          </p:cNvPr>
          <p:cNvGrpSpPr/>
          <p:nvPr/>
        </p:nvGrpSpPr>
        <p:grpSpPr>
          <a:xfrm>
            <a:off x="457201" y="1737360"/>
            <a:ext cx="5283200" cy="2225040"/>
            <a:chOff x="457200" y="1737360"/>
            <a:chExt cx="5562109" cy="229902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7FDF4C8-2C56-7199-2F35-48175ADA0A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4" t="1092" r="-1"/>
            <a:stretch/>
          </p:blipFill>
          <p:spPr>
            <a:xfrm>
              <a:off x="457200" y="1737360"/>
              <a:ext cx="5562109" cy="229902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D0857CF-9B5D-964D-369F-1B5A9064923E}"/>
                </a:ext>
              </a:extLst>
            </p:cNvPr>
            <p:cNvSpPr/>
            <p:nvPr/>
          </p:nvSpPr>
          <p:spPr>
            <a:xfrm>
              <a:off x="701040" y="1940560"/>
              <a:ext cx="436880" cy="203200"/>
            </a:xfrm>
            <a:prstGeom prst="rect">
              <a:avLst/>
            </a:prstGeom>
            <a:solidFill>
              <a:srgbClr val="FFC000">
                <a:alpha val="23000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66BE23E-1FA6-0262-91D5-A5AC8A6A52CD}"/>
                </a:ext>
              </a:extLst>
            </p:cNvPr>
            <p:cNvSpPr/>
            <p:nvPr/>
          </p:nvSpPr>
          <p:spPr>
            <a:xfrm>
              <a:off x="701040" y="2306320"/>
              <a:ext cx="731520" cy="203200"/>
            </a:xfrm>
            <a:prstGeom prst="rect">
              <a:avLst/>
            </a:prstGeom>
            <a:solidFill>
              <a:srgbClr val="FFC000">
                <a:alpha val="23000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2" name="Shape 636">
            <a:extLst>
              <a:ext uri="{FF2B5EF4-FFF2-40B4-BE49-F238E27FC236}">
                <a16:creationId xmlns:a16="http://schemas.microsoft.com/office/drawing/2014/main" id="{9424083A-FC76-86DE-0AC1-1F84AC6BAF9B}"/>
              </a:ext>
            </a:extLst>
          </p:cNvPr>
          <p:cNvSpPr txBox="1"/>
          <p:nvPr/>
        </p:nvSpPr>
        <p:spPr>
          <a:xfrm>
            <a:off x="6566059" y="2621280"/>
            <a:ext cx="4538821" cy="248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>
              <a:buClr>
                <a:srgbClr val="FF0000"/>
              </a:buClr>
              <a:buSzPct val="25000"/>
            </a:pPr>
            <a:r>
              <a:rPr lang="en-US" sz="22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When the </a:t>
            </a:r>
            <a:r>
              <a:rPr lang="en-US" sz="2250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try: </a:t>
            </a:r>
            <a:r>
              <a:rPr lang="en-US" sz="22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clause, line 2 fails - it drops into the </a:t>
            </a:r>
            <a:r>
              <a:rPr lang="en-US" sz="2250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except: </a:t>
            </a:r>
            <a:r>
              <a:rPr lang="en-US" sz="22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clause, line 4 and the program continues.</a:t>
            </a:r>
          </a:p>
          <a:p>
            <a:pPr>
              <a:buClr>
                <a:srgbClr val="FF0000"/>
              </a:buClr>
              <a:buSzPct val="25000"/>
            </a:pPr>
            <a:endParaRPr lang="en-US" sz="22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>
              <a:buClr>
                <a:srgbClr val="FF0000"/>
              </a:buClr>
              <a:buSzPct val="25000"/>
            </a:pPr>
            <a:r>
              <a:rPr lang="en-US" sz="22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the </a:t>
            </a:r>
            <a:r>
              <a:rPr lang="en-US" sz="2250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try: </a:t>
            </a:r>
            <a:r>
              <a:rPr lang="en-US" sz="22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clause succeeds - it skips the </a:t>
            </a:r>
            <a:r>
              <a:rPr lang="en-US" sz="2250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except: </a:t>
            </a:r>
            <a:r>
              <a:rPr lang="en-US" sz="22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clause and the program continues at line 7.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FFA7FEA-95CC-5204-24C4-717E1BB3A9F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7522" r="31307"/>
          <a:stretch/>
        </p:blipFill>
        <p:spPr>
          <a:xfrm>
            <a:off x="457202" y="4119729"/>
            <a:ext cx="5283200" cy="262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024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Shape 66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ct val="25000"/>
            </a:pPr>
            <a:r>
              <a:rPr lang="en-US" sz="57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Sample try / except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B1AD9F1-70F4-FF99-8869-5C047AD60AB0}"/>
              </a:ext>
            </a:extLst>
          </p:cNvPr>
          <p:cNvGrpSpPr/>
          <p:nvPr/>
        </p:nvGrpSpPr>
        <p:grpSpPr>
          <a:xfrm>
            <a:off x="1818641" y="1941085"/>
            <a:ext cx="5283200" cy="2225040"/>
            <a:chOff x="457200" y="1737360"/>
            <a:chExt cx="5562109" cy="229902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6E9F97D-6C9C-36F6-2526-C3FED07CB4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4" t="1092" r="-1"/>
            <a:stretch/>
          </p:blipFill>
          <p:spPr>
            <a:xfrm>
              <a:off x="457200" y="1737360"/>
              <a:ext cx="5562109" cy="229902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481FA57-0AB0-CF44-F159-EF01356A9205}"/>
                </a:ext>
              </a:extLst>
            </p:cNvPr>
            <p:cNvSpPr/>
            <p:nvPr/>
          </p:nvSpPr>
          <p:spPr>
            <a:xfrm>
              <a:off x="701040" y="1940560"/>
              <a:ext cx="436880" cy="203200"/>
            </a:xfrm>
            <a:prstGeom prst="rect">
              <a:avLst/>
            </a:prstGeom>
            <a:solidFill>
              <a:srgbClr val="FFC000">
                <a:alpha val="23000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77AD360-A0E0-195F-1771-7B2ABA1CA3BC}"/>
                </a:ext>
              </a:extLst>
            </p:cNvPr>
            <p:cNvSpPr/>
            <p:nvPr/>
          </p:nvSpPr>
          <p:spPr>
            <a:xfrm>
              <a:off x="701040" y="2306320"/>
              <a:ext cx="731520" cy="203200"/>
            </a:xfrm>
            <a:prstGeom prst="rect">
              <a:avLst/>
            </a:prstGeom>
            <a:solidFill>
              <a:srgbClr val="FFC000">
                <a:alpha val="23000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67F6E8D-A217-6C42-B520-9318A47264F1}"/>
              </a:ext>
            </a:extLst>
          </p:cNvPr>
          <p:cNvSpPr txBox="1"/>
          <p:nvPr/>
        </p:nvSpPr>
        <p:spPr>
          <a:xfrm>
            <a:off x="4372341" y="3181600"/>
            <a:ext cx="5045979" cy="3070071"/>
          </a:xfrm>
          <a:prstGeom prst="rect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🛑 Warning</a:t>
            </a:r>
          </a:p>
          <a:p>
            <a:pPr algn="ctr"/>
            <a:endParaRPr lang="en-US" b="1" dirty="0"/>
          </a:p>
          <a:p>
            <a:r>
              <a:rPr lang="en-US" dirty="0"/>
              <a:t>This is called a </a:t>
            </a:r>
            <a:r>
              <a:rPr lang="en-US" b="1" dirty="0"/>
              <a:t>bare</a:t>
            </a:r>
            <a:r>
              <a:rPr lang="en-US" dirty="0"/>
              <a:t> or naked </a:t>
            </a:r>
            <a:r>
              <a:rPr lang="en-US" i="1" dirty="0"/>
              <a:t>except</a:t>
            </a:r>
            <a:r>
              <a:rPr lang="en-US" dirty="0"/>
              <a:t> clause. </a:t>
            </a:r>
          </a:p>
          <a:p>
            <a:endParaRPr lang="en-US" dirty="0"/>
          </a:p>
          <a:p>
            <a:r>
              <a:rPr lang="en-US" dirty="0"/>
              <a:t>It will catch every and all errors. It is usually a poor practice to program this way.</a:t>
            </a:r>
          </a:p>
          <a:p>
            <a:endParaRPr lang="en-US" dirty="0"/>
          </a:p>
          <a:p>
            <a:r>
              <a:rPr lang="en-US" dirty="0"/>
              <a:t>We are not covering how to  handle specific types of exceptions; we just want you to keep in mind that this is </a:t>
            </a:r>
            <a:r>
              <a:rPr lang="en-US" b="1" dirty="0"/>
              <a:t>not</a:t>
            </a:r>
            <a:r>
              <a:rPr lang="en-US" dirty="0"/>
              <a:t> a best practice.</a:t>
            </a:r>
            <a:endParaRPr lang="en-US" sz="1350" dirty="0"/>
          </a:p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234187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Shape 66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ct val="25000"/>
            </a:pPr>
            <a:r>
              <a:rPr lang="en-US" sz="57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PEP8 Standard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D7E3642-5015-B9F2-A3FE-C999F3F8B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4124130"/>
            <a:ext cx="7880179" cy="1040979"/>
          </a:xfrm>
        </p:spPr>
        <p:txBody>
          <a:bodyPr/>
          <a:lstStyle/>
          <a:p>
            <a:pPr marL="0" indent="0">
              <a:buNone/>
            </a:pPr>
            <a:r>
              <a:rPr lang="en-AU" sz="1800" dirty="0">
                <a:solidFill>
                  <a:schemeClr val="bg1"/>
                </a:solidFill>
                <a:latin typeface="Courier New" panose="02070309020205020404" pitchFamily="49" charset="0"/>
              </a:rPr>
              <a:t>*Please note variable names are not following PEP8 standard, they should be descriptive</a:t>
            </a:r>
            <a:endParaRPr lang="en-AU" dirty="0">
              <a:solidFill>
                <a:schemeClr val="bg1"/>
              </a:solidFill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C953FD3-CDE0-337D-FC49-27D1DD37D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133650"/>
              </p:ext>
            </p:extLst>
          </p:nvPr>
        </p:nvGraphicFramePr>
        <p:xfrm>
          <a:off x="609599" y="1757097"/>
          <a:ext cx="7078825" cy="2219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393233">
                  <a:extLst>
                    <a:ext uri="{9D8B030D-6E8A-4147-A177-3AD203B41FA5}">
                      <a16:colId xmlns:a16="http://schemas.microsoft.com/office/drawing/2014/main" val="1212663107"/>
                    </a:ext>
                  </a:extLst>
                </a:gridCol>
                <a:gridCol w="3685592">
                  <a:extLst>
                    <a:ext uri="{9D8B030D-6E8A-4147-A177-3AD203B41FA5}">
                      <a16:colId xmlns:a16="http://schemas.microsoft.com/office/drawing/2014/main" val="8057760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/>
                        <a:t>Correct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Wrong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975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</a:rPr>
                        <a:t>counter = counter + 1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</a:rPr>
                        <a:t>counter=counter+1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415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</a:rPr>
                        <a:t>submitted += 1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</a:rPr>
                        <a:t>submitted +=1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769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</a:rPr>
                        <a:t>x = </a:t>
                      </a:r>
                      <a:r>
                        <a:rPr lang="en-AU" sz="18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Times New Roman" panose="02020603050405020304" pitchFamily="18" charset="0"/>
                        </a:rPr>
                        <a:t>x</a:t>
                      </a:r>
                      <a:r>
                        <a:rPr lang="en-AU" sz="18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</a:rPr>
                        <a:t>*2 – 1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</a:rPr>
                        <a:t>x = x * 2 – 1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1177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</a:rPr>
                        <a:t>hypot2 = x*x + y*y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</a:rPr>
                        <a:t>hypot2 = x * x + y * y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928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</a:rPr>
                        <a:t>c = (</a:t>
                      </a:r>
                      <a:r>
                        <a:rPr lang="en-AU" sz="180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</a:rPr>
                        <a:t>a+b</a:t>
                      </a:r>
                      <a:r>
                        <a:rPr lang="en-AU" sz="18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</a:rPr>
                        <a:t>) * (a-b)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</a:rPr>
                        <a:t>c = (a + b) * (a - b)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18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72015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B119F-F8C2-5A70-C606-60F636A1A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6072"/>
            <a:ext cx="11582400" cy="1024128"/>
          </a:xfrm>
        </p:spPr>
        <p:txBody>
          <a:bodyPr/>
          <a:lstStyle/>
          <a:p>
            <a:pPr marL="898525"/>
            <a:r>
              <a:rPr lang="en-AU" dirty="0">
                <a:solidFill>
                  <a:srgbClr val="FFD966"/>
                </a:solidFill>
              </a:rPr>
              <a:t>Caesar cipher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6AE1F9-9ABC-D0BD-837C-EB922655E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99924" y="5570618"/>
            <a:ext cx="7499231" cy="119079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AU" sz="1400" b="1" dirty="0"/>
              <a:t>Tips: </a:t>
            </a:r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AU" sz="1400" dirty="0"/>
              <a:t>if </a:t>
            </a:r>
            <a:r>
              <a:rPr lang="en-AU" sz="1400" dirty="0" err="1">
                <a:solidFill>
                  <a:srgbClr val="FFC000"/>
                </a:solidFill>
              </a:rPr>
              <a:t>variable.isalpha</a:t>
            </a:r>
            <a:r>
              <a:rPr lang="en-AU" sz="1400" dirty="0">
                <a:solidFill>
                  <a:srgbClr val="FFC000"/>
                </a:solidFill>
              </a:rPr>
              <a:t>(): </a:t>
            </a:r>
            <a:r>
              <a:rPr lang="en-AU" sz="1400" dirty="0"/>
              <a:t>can be used to check if a character is either a-z or A-Z</a:t>
            </a:r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AU" sz="1400" dirty="0"/>
              <a:t>quit() stops the program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7BF4FF2-2013-1F88-5D58-939117EBE7AB}"/>
              </a:ext>
            </a:extLst>
          </p:cNvPr>
          <p:cNvGrpSpPr/>
          <p:nvPr/>
        </p:nvGrpSpPr>
        <p:grpSpPr>
          <a:xfrm>
            <a:off x="0" y="0"/>
            <a:ext cx="3916680" cy="6858000"/>
            <a:chOff x="6309360" y="0"/>
            <a:chExt cx="3916680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BC6F744-67CF-BAD9-6A3A-865E73337C40}"/>
                </a:ext>
              </a:extLst>
            </p:cNvPr>
            <p:cNvSpPr/>
            <p:nvPr/>
          </p:nvSpPr>
          <p:spPr>
            <a:xfrm>
              <a:off x="6309360" y="0"/>
              <a:ext cx="3916680" cy="685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4" name="Picture 3" descr="Diagram&#10;&#10;Description automatically generated">
              <a:extLst>
                <a:ext uri="{FF2B5EF4-FFF2-40B4-BE49-F238E27FC236}">
                  <a16:creationId xmlns:a16="http://schemas.microsoft.com/office/drawing/2014/main" id="{F073DFDB-200A-69B4-5EBB-9E61540A4C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56057" y="185737"/>
              <a:ext cx="3438525" cy="6486525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8FC47D06-AD5C-51A0-FC9F-6EDE7A17A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823" y="1404665"/>
            <a:ext cx="5401429" cy="11717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A9375C-FF93-C3A0-61EB-3BDE8A82F0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349" y="2745463"/>
            <a:ext cx="5382376" cy="11907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9EA956-C739-9AC3-64F5-844934183D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4349" y="4081830"/>
            <a:ext cx="5430008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687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1A766-064A-1FB0-1A86-0F2D86CA1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D966"/>
                </a:solidFill>
              </a:rPr>
              <a:t>Caesar cipher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D74987-7ABA-8811-C03A-CF6AF625C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084" y="1362075"/>
            <a:ext cx="5467832" cy="51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290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Shape 688"/>
          <p:cNvSpPr txBox="1">
            <a:spLocks noGrp="1"/>
          </p:cNvSpPr>
          <p:nvPr>
            <p:ph type="title"/>
          </p:nvPr>
        </p:nvSpPr>
        <p:spPr>
          <a:xfrm>
            <a:off x="866775" y="559191"/>
            <a:ext cx="9944100" cy="1345734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>
              <a:buClr>
                <a:srgbClr val="FF7F00"/>
              </a:buClr>
              <a:buSzPct val="25000"/>
            </a:pPr>
            <a:r>
              <a:rPr lang="en-US" sz="57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Summary</a:t>
            </a:r>
          </a:p>
        </p:txBody>
      </p:sp>
      <p:sp>
        <p:nvSpPr>
          <p:cNvPr id="689" name="Shape 689"/>
          <p:cNvSpPr txBox="1">
            <a:spLocks noGrp="1"/>
          </p:cNvSpPr>
          <p:nvPr>
            <p:ph type="body" idx="1"/>
          </p:nvPr>
        </p:nvSpPr>
        <p:spPr>
          <a:xfrm>
            <a:off x="866775" y="2208794"/>
            <a:ext cx="10449000" cy="3529233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t" anchorCtr="0">
            <a:noAutofit/>
          </a:bodyPr>
          <a:lstStyle/>
          <a:p>
            <a:pPr marL="514350" indent="-328422">
              <a:lnSpc>
                <a:spcPct val="80000"/>
              </a:lnSpc>
              <a:spcBef>
                <a:spcPts val="0"/>
              </a:spcBef>
              <a:buSzPct val="100000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Comparison operators  </a:t>
            </a:r>
            <a:b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2700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==   &lt;=   &gt;=   &gt;   </a:t>
            </a:r>
            <a:r>
              <a:rPr lang="en-US" sz="270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&lt;   !=</a:t>
            </a:r>
            <a:endParaRPr lang="en-US" sz="2700" dirty="0">
              <a:solidFill>
                <a:srgbClr val="00FF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514350" indent="-328422">
              <a:lnSpc>
                <a:spcPct val="80000"/>
              </a:lnSpc>
              <a:buSzPct val="100000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Indentation</a:t>
            </a:r>
          </a:p>
          <a:p>
            <a:pPr marL="514350" indent="-328422">
              <a:lnSpc>
                <a:spcPct val="80000"/>
              </a:lnSpc>
              <a:buSzPct val="100000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One-way Decisions</a:t>
            </a:r>
          </a:p>
          <a:p>
            <a:pPr marL="514350" indent="-328422">
              <a:lnSpc>
                <a:spcPct val="80000"/>
              </a:lnSpc>
              <a:buSzPct val="100000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Two-way decisions:</a:t>
            </a:r>
            <a:b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270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if:</a:t>
            </a: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and  </a:t>
            </a:r>
            <a:r>
              <a:rPr lang="en-US" sz="270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else:</a:t>
            </a:r>
          </a:p>
        </p:txBody>
      </p:sp>
      <p:sp>
        <p:nvSpPr>
          <p:cNvPr id="690" name="Shape 690"/>
          <p:cNvSpPr txBox="1">
            <a:spLocks noGrp="1"/>
          </p:cNvSpPr>
          <p:nvPr>
            <p:ph type="body" idx="4294967295"/>
          </p:nvPr>
        </p:nvSpPr>
        <p:spPr>
          <a:xfrm>
            <a:off x="5975768" y="2208794"/>
            <a:ext cx="5250305" cy="3587145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t" anchorCtr="0">
            <a:noAutofit/>
          </a:bodyPr>
          <a:lstStyle/>
          <a:p>
            <a:pPr marL="514350" indent="-328422">
              <a:lnSpc>
                <a:spcPct val="80000"/>
              </a:lnSpc>
              <a:spcBef>
                <a:spcPts val="0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Nested Decisions</a:t>
            </a:r>
          </a:p>
          <a:p>
            <a:pPr marL="514350" indent="-328422">
              <a:lnSpc>
                <a:spcPct val="80000"/>
              </a:lnSpc>
              <a:spcBef>
                <a:spcPts val="2625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Multi-way decisions using </a:t>
            </a:r>
            <a:r>
              <a:rPr lang="en-US" sz="2700" dirty="0" err="1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elif</a:t>
            </a:r>
            <a:endParaRPr lang="en-US" sz="2700" dirty="0">
              <a:solidFill>
                <a:srgbClr val="00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514350" indent="-328422">
              <a:lnSpc>
                <a:spcPct val="80000"/>
              </a:lnSpc>
              <a:spcBef>
                <a:spcPts val="2625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70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try</a:t>
            </a: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/ </a:t>
            </a:r>
            <a:r>
              <a:rPr lang="en-US" sz="2700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except</a:t>
            </a: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compensate </a:t>
            </a:r>
            <a:r>
              <a:rPr lang="en-US" sz="27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 errors</a:t>
            </a:r>
            <a:endParaRPr lang="en-US" sz="2700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B2D7E-F447-1D4F-8F1D-782902D79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Exercises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24B82-013D-B042-A681-2202E9FCB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55613" indent="0">
              <a:buNone/>
            </a:pPr>
            <a:r>
              <a:rPr lang="en-US" dirty="0"/>
              <a:t>Write a program that prompts for a number and converts it from Celsius to Fahrenheit and check that it works</a:t>
            </a:r>
          </a:p>
          <a:p>
            <a:pPr marL="455613" indent="0">
              <a:buNone/>
            </a:pPr>
            <a:r>
              <a:rPr lang="en-US" dirty="0"/>
              <a:t>Extension:</a:t>
            </a:r>
          </a:p>
          <a:p>
            <a:pPr marL="1076325" lvl="1" indent="-538163"/>
            <a:r>
              <a:rPr lang="en-US" dirty="0"/>
              <a:t>Also prompt for unit and convert C&lt;-&gt;F</a:t>
            </a:r>
          </a:p>
          <a:p>
            <a:pPr marL="1076325" lvl="1" indent="-538163"/>
            <a:r>
              <a:rPr lang="en-US" dirty="0"/>
              <a:t>Check that input can be converted into a float, and if it can’t end the program with a friendly message</a:t>
            </a:r>
          </a:p>
        </p:txBody>
      </p:sp>
    </p:spTree>
    <p:extLst>
      <p:ext uri="{BB962C8B-B14F-4D97-AF65-F5344CB8AC3E}">
        <p14:creationId xmlns:p14="http://schemas.microsoft.com/office/powerpoint/2010/main" val="193519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Shape 548"/>
          <p:cNvSpPr txBox="1">
            <a:spLocks noGrp="1"/>
          </p:cNvSpPr>
          <p:nvPr>
            <p:ph type="title"/>
          </p:nvPr>
        </p:nvSpPr>
        <p:spPr>
          <a:xfrm>
            <a:off x="1219200" y="509322"/>
            <a:ext cx="10972800" cy="1003205"/>
          </a:xfrm>
          <a:prstGeom prst="rect">
            <a:avLst/>
          </a:prstGeom>
        </p:spPr>
        <p:txBody>
          <a:bodyPr vert="horz" lIns="68569" tIns="68569" rIns="68569" bIns="68569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2700" dirty="0">
                <a:solidFill>
                  <a:srgbClr val="FFFF00"/>
                </a:solidFill>
              </a:rPr>
              <a:t>Acknowledgements / Contributions</a:t>
            </a:r>
          </a:p>
        </p:txBody>
      </p:sp>
      <p:sp>
        <p:nvSpPr>
          <p:cNvPr id="549" name="Shape 549"/>
          <p:cNvSpPr txBox="1"/>
          <p:nvPr/>
        </p:nvSpPr>
        <p:spPr>
          <a:xfrm>
            <a:off x="866776" y="1628553"/>
            <a:ext cx="5098274" cy="4457923"/>
          </a:xfrm>
          <a:prstGeom prst="rect">
            <a:avLst/>
          </a:prstGeom>
          <a:noFill/>
          <a:ln>
            <a:noFill/>
          </a:ln>
        </p:spPr>
        <p:txBody>
          <a:bodyPr lIns="68569" tIns="68569" rIns="68569" bIns="68569" anchor="t" anchorCtr="0">
            <a:noAutofit/>
          </a:bodyPr>
          <a:lstStyle/>
          <a:p>
            <a:r>
              <a:rPr lang="en-US" sz="1350" dirty="0">
                <a:solidFill>
                  <a:srgbClr val="FFFFFF"/>
                </a:solidFill>
              </a:rPr>
              <a:t>These slides are Copyright 2010-  Charles R. Severance (</a:t>
            </a:r>
            <a:r>
              <a:rPr lang="en-US" sz="1350" u="sng" dirty="0">
                <a:solidFill>
                  <a:srgbClr val="FFFF00"/>
                </a:solidFill>
                <a:hlinkClick r:id="rId3"/>
              </a:rPr>
              <a:t>www.dr-chuck.com</a:t>
            </a:r>
            <a:r>
              <a:rPr lang="en-US" sz="1350" dirty="0">
                <a:solidFill>
                  <a:srgbClr val="FFFFFF"/>
                </a:solidFill>
              </a:rPr>
              <a:t>) of the University of Michigan School of Information and 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</a:p>
          <a:p>
            <a:endParaRPr sz="1350" dirty="0">
              <a:solidFill>
                <a:srgbClr val="FFFFFF"/>
              </a:solidFill>
            </a:endParaRPr>
          </a:p>
          <a:p>
            <a:r>
              <a:rPr lang="en-US" sz="1350" dirty="0">
                <a:solidFill>
                  <a:srgbClr val="FFFFFF"/>
                </a:solidFill>
              </a:rPr>
              <a:t>Initial Development: Charles Severance, University of Michigan School of Information</a:t>
            </a:r>
          </a:p>
          <a:p>
            <a:endParaRPr sz="1350" dirty="0">
              <a:solidFill>
                <a:srgbClr val="FFFFFF"/>
              </a:solidFill>
            </a:endParaRPr>
          </a:p>
          <a:p>
            <a:pPr>
              <a:buClr>
                <a:schemeClr val="dk2"/>
              </a:buClr>
              <a:buSzPct val="61111"/>
            </a:pPr>
            <a:r>
              <a:rPr lang="en-US" sz="1350" dirty="0">
                <a:solidFill>
                  <a:schemeClr val="lt1"/>
                </a:solidFill>
              </a:rPr>
              <a:t>… Insert new Contributors and Translators here</a:t>
            </a:r>
          </a:p>
          <a:p>
            <a:endParaRPr sz="1350" dirty="0">
              <a:solidFill>
                <a:srgbClr val="FFFFFF"/>
              </a:solidFill>
            </a:endParaRPr>
          </a:p>
        </p:txBody>
      </p:sp>
      <p:pic>
        <p:nvPicPr>
          <p:cNvPr id="550" name="Shape 5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425" y="743927"/>
            <a:ext cx="768600" cy="76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Shape 5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23266" y="877577"/>
            <a:ext cx="1476449" cy="501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47283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SMS Availabilities&amp;#x0D;&amp;#x0A;Overview&amp;quot;&quot;/&gt;&lt;property id=&quot;20307&quot; value=&quot;256&quot;/&gt;&lt;/object&gt;&lt;object type=&quot;3&quot; unique_id=&quot;10005&quot;&gt;&lt;property id=&quot;20148&quot; value=&quot;5&quot;/&gt;&lt;property id=&quot;20300&quot; value=&quot;Slide 2&quot;/&gt;&lt;property id=&quot;20307&quot; value=&quot;257&quot;/&gt;&lt;/object&gt;&lt;object type=&quot;3&quot; unique_id=&quot;10006&quot;&gt;&lt;property id=&quot;20148&quot; value=&quot;5&quot;/&gt;&lt;property id=&quot;20300&quot; value=&quot;Slide 3 - &amp;quot;&amp;#x0D;&amp;#x0A;Course Availabilities&amp;quot;&quot;/&gt;&lt;property id=&quot;20307&quot; value=&quot;261&quot;/&gt;&lt;/object&gt;&lt;object type=&quot;3&quot; unique_id=&quot;10007&quot;&gt;&lt;property id=&quot;20148&quot; value=&quot;5&quot;/&gt;&lt;property id=&quot;20300&quot; value=&quot;Slide 4 - &amp;quot;Intake Calendars&amp;quot;&quot;/&gt;&lt;property id=&quot;20307&quot; value=&quot;264&quot;/&gt;&lt;/object&gt;&lt;object type=&quot;3&quot; unique_id=&quot;10008&quot;&gt;&lt;property id=&quot;20148&quot; value=&quot;5&quot;/&gt;&lt;property id=&quot;20300&quot; value=&quot;Slide 5 - &amp;quot;&amp;#x0D;&amp;#x0A;Unit Availabilities&amp;quot;&quot;/&gt;&lt;property id=&quot;20307&quot; value=&quot;259&quot;/&gt;&lt;/object&gt;&lt;object type=&quot;3&quot; unique_id=&quot;10009&quot;&gt;&lt;property id=&quot;20148&quot; value=&quot;5&quot;/&gt;&lt;property id=&quot;20300&quot; value=&quot;Slide 6 - &amp;quot;&amp;#x0D;&amp;#x0A;Unit Availabilities&amp;quot;&quot;/&gt;&lt;property id=&quot;20307&quot; value=&quot;260&quot;/&gt;&lt;/object&gt;&lt;object type=&quot;3&quot; unique_id=&quot;10010&quot;&gt;&lt;property id=&quot;20148&quot; value=&quot;5&quot;/&gt;&lt;property id=&quot;20300&quot; value=&quot;Slide 7 - &amp;quot;Enrolment Calendars&amp;quot;&quot;/&gt;&lt;property id=&quot;20307&quot; value=&quot;265&quot;/&gt;&lt;/object&gt;&lt;object type=&quot;3&quot; unique_id=&quot;10011&quot;&gt;&lt;property id=&quot;20148&quot; value=&quot;5&quot;/&gt;&lt;property id=&quot;20300&quot; value=&quot;Slide 8 - &amp;quot;Business Guidelines&amp;quot;&quot;/&gt;&lt;property id=&quot;20307&quot; value=&quot;268&quot;/&gt;&lt;/object&gt;&lt;object type=&quot;3&quot; unique_id=&quot;10012&quot;&gt;&lt;property id=&quot;20148&quot; value=&quot;5&quot;/&gt;&lt;property id=&quot;20300&quot; value=&quot;Slide 9 - &amp;quot;Business Guidelines&amp;quot;&quot;/&gt;&lt;property id=&quot;20307&quot; value=&quot;269&quot;/&gt;&lt;/object&gt;&lt;object type=&quot;3&quot; unique_id=&quot;10013&quot;&gt;&lt;property id=&quot;20148&quot; value=&quot;5&quot;/&gt;&lt;property id=&quot;20300&quot; value=&quot;Slide 10 - &amp;quot;Business Considerations&amp;quot;&quot;/&gt;&lt;property id=&quot;20307&quot; value=&quot;262&quot;/&gt;&lt;/object&gt;&lt;object type=&quot;3&quot; unique_id=&quot;10014&quot;&gt;&lt;property id=&quot;20148&quot; value=&quot;5&quot;/&gt;&lt;property id=&quot;20300&quot; value=&quot;Slide 11 - &amp;quot;Availabilities tasks&amp;quot;&quot;/&gt;&lt;property id=&quot;20307&quot; value=&quot;266&quot;/&gt;&lt;/object&gt;&lt;object type=&quot;3&quot; unique_id=&quot;10015&quot;&gt;&lt;property id=&quot;20148&quot; value=&quot;5&quot;/&gt;&lt;property id=&quot;20300&quot; value=&quot;Slide 12 - &amp;quot;Availabilities Template&amp;quot;&quot;/&gt;&lt;property id=&quot;20307&quot; value=&quot;267&quot;/&gt;&lt;/object&gt;&lt;object type=&quot;3&quot; unique_id=&quot;10016&quot;&gt;&lt;property id=&quot;20148&quot; value=&quot;5&quot;/&gt;&lt;property id=&quot;20300&quot; value=&quot;Slide 13 - &amp;quot;Timetabling&amp;quot;&quot;/&gt;&lt;property id=&quot;20307&quot; value=&quot;263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AFE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MT-Presentation-HD-1920x1080-AJG-V2020.05.14.potx" id="{65AE90C9-1F4F-4671-A90D-218C982486A1}" vid="{C1F87A47-8314-4C75-8707-71F446DE83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5E654056D58A47AA1AB158F7447227" ma:contentTypeVersion="26" ma:contentTypeDescription="Create a new document." ma:contentTypeScope="" ma:versionID="00dde8707e0b1f212db18506d452eade">
  <xsd:schema xmlns:xsd="http://www.w3.org/2001/XMLSchema" xmlns:xs="http://www.w3.org/2001/XMLSchema" xmlns:p="http://schemas.microsoft.com/office/2006/metadata/properties" xmlns:ns2="a5d4b606-e216-4a12-b5e0-256bbcdf3e40" xmlns:ns3="d30896e8-62f2-4107-a799-a577dc6441e1" targetNamespace="http://schemas.microsoft.com/office/2006/metadata/properties" ma:root="true" ma:fieldsID="b6d28e1f007aac56b2172a8c31f7330a" ns2:_="" ns3:_="">
    <xsd:import namespace="a5d4b606-e216-4a12-b5e0-256bbcdf3e40"/>
    <xsd:import namespace="d30896e8-62f2-4107-a799-a577dc6441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location" minOccurs="0"/>
                <xsd:element ref="ns2:cfca102b-1170-46ae-a99b-1c59cfff842bCountryOrRegion" minOccurs="0"/>
                <xsd:element ref="ns2:cfca102b-1170-46ae-a99b-1c59cfff842bState" minOccurs="0"/>
                <xsd:element ref="ns2:cfca102b-1170-46ae-a99b-1c59cfff842bCity" minOccurs="0"/>
                <xsd:element ref="ns2:cfca102b-1170-46ae-a99b-1c59cfff842bPostalCode" minOccurs="0"/>
                <xsd:element ref="ns2:cfca102b-1170-46ae-a99b-1c59cfff842bStreet" minOccurs="0"/>
                <xsd:element ref="ns2:cfca102b-1170-46ae-a99b-1c59cfff842bGeoLoc" minOccurs="0"/>
                <xsd:element ref="ns2:cfca102b-1170-46ae-a99b-1c59cfff842bDispNam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d4b606-e216-4a12-b5e0-256bbcdf3e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98972e7-4f0e-48c0-bb56-a9f22e25d3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location" ma:index="24" nillable="true" ma:displayName="location" ma:format="Dropdown" ma:internalName="location">
      <xsd:simpleType>
        <xsd:restriction base="dms:Unknown"/>
      </xsd:simpleType>
    </xsd:element>
    <xsd:element name="cfca102b-1170-46ae-a99b-1c59cfff842bCountryOrRegion" ma:index="25" nillable="true" ma:displayName="location: Country/Region" ma:internalName="CountryOrRegion" ma:readOnly="true">
      <xsd:simpleType>
        <xsd:restriction base="dms:Text"/>
      </xsd:simpleType>
    </xsd:element>
    <xsd:element name="cfca102b-1170-46ae-a99b-1c59cfff842bState" ma:index="26" nillable="true" ma:displayName="location: State" ma:internalName="State" ma:readOnly="true">
      <xsd:simpleType>
        <xsd:restriction base="dms:Text"/>
      </xsd:simpleType>
    </xsd:element>
    <xsd:element name="cfca102b-1170-46ae-a99b-1c59cfff842bCity" ma:index="27" nillable="true" ma:displayName="location: City" ma:internalName="City" ma:readOnly="true">
      <xsd:simpleType>
        <xsd:restriction base="dms:Text"/>
      </xsd:simpleType>
    </xsd:element>
    <xsd:element name="cfca102b-1170-46ae-a99b-1c59cfff842bPostalCode" ma:index="28" nillable="true" ma:displayName="location: Postal Code" ma:internalName="PostalCode" ma:readOnly="true">
      <xsd:simpleType>
        <xsd:restriction base="dms:Text"/>
      </xsd:simpleType>
    </xsd:element>
    <xsd:element name="cfca102b-1170-46ae-a99b-1c59cfff842bStreet" ma:index="29" nillable="true" ma:displayName="location: Street" ma:internalName="Street" ma:readOnly="true">
      <xsd:simpleType>
        <xsd:restriction base="dms:Text"/>
      </xsd:simpleType>
    </xsd:element>
    <xsd:element name="cfca102b-1170-46ae-a99b-1c59cfff842bGeoLoc" ma:index="30" nillable="true" ma:displayName="location: Coordinates" ma:internalName="GeoLoc" ma:readOnly="true">
      <xsd:simpleType>
        <xsd:restriction base="dms:Unknown"/>
      </xsd:simpleType>
    </xsd:element>
    <xsd:element name="cfca102b-1170-46ae-a99b-1c59cfff842bDispName" ma:index="31" nillable="true" ma:displayName="location: Name" ma:internalName="DispName" ma:readOnly="true">
      <xsd:simpleType>
        <xsd:restriction base="dms:Text"/>
      </xsd:simpleType>
    </xsd:element>
    <xsd:element name="MediaServiceObjectDetectorVersions" ma:index="3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0896e8-62f2-4107-a799-a577dc6441e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901c2627-f294-4c6a-aecd-cfab4a7b2211}" ma:internalName="TaxCatchAll" ma:showField="CatchAllData" ma:web="d30896e8-62f2-4107-a799-a577dc6441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30896e8-62f2-4107-a799-a577dc6441e1" xsi:nil="true"/>
    <lcf76f155ced4ddcb4097134ff3c332f xmlns="a5d4b606-e216-4a12-b5e0-256bbcdf3e40">
      <Terms xmlns="http://schemas.microsoft.com/office/infopath/2007/PartnerControls"/>
    </lcf76f155ced4ddcb4097134ff3c332f>
    <location xmlns="a5d4b606-e216-4a12-b5e0-256bbcdf3e40" xsi:nil="true"/>
    <SharedWithUsers xmlns="d30896e8-62f2-4107-a799-a577dc6441e1">
      <UserInfo>
        <DisplayName/>
        <AccountId xsi:nil="true"/>
        <AccountType/>
      </UserInfo>
    </SharedWithUsers>
    <MediaLengthInSeconds xmlns="a5d4b606-e216-4a12-b5e0-256bbcdf3e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E347B0-045A-4C54-9DC9-6F8555C15712}"/>
</file>

<file path=customXml/itemProps2.xml><?xml version="1.0" encoding="utf-8"?>
<ds:datastoreItem xmlns:ds="http://schemas.openxmlformats.org/officeDocument/2006/customXml" ds:itemID="{D6F79D9B-5A67-492D-BB4F-F3913BAD9421}">
  <ds:schemaRefs>
    <ds:schemaRef ds:uri="http://schemas.microsoft.com/office/2006/metadata/properties"/>
    <ds:schemaRef ds:uri="a5d4b606-e216-4a12-b5e0-256bbcdf3e40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d30896e8-62f2-4107-a799-a577dc6441e1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93B4755-80B4-4FE9-9650-4C80064448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NMT-Presentation-HD-1920x1080-AJG-V2020.05.25</Template>
  <TotalTime>5973</TotalTime>
  <Words>1479</Words>
  <Application>Microsoft Office PowerPoint</Application>
  <PresentationFormat>Widescreen</PresentationFormat>
  <Paragraphs>148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Arial</vt:lpstr>
      <vt:lpstr>Cabin</vt:lpstr>
      <vt:lpstr>Calibri</vt:lpstr>
      <vt:lpstr>Century Gothic</vt:lpstr>
      <vt:lpstr>Courier</vt:lpstr>
      <vt:lpstr>Courier New</vt:lpstr>
      <vt:lpstr>Office Theme</vt:lpstr>
      <vt:lpstr>Introductory Programming Techniques </vt:lpstr>
      <vt:lpstr>Conditional Execution</vt:lpstr>
      <vt:lpstr>Comparison Operators</vt:lpstr>
      <vt:lpstr>One-Way Decisions</vt:lpstr>
      <vt:lpstr>Two-way Decisions</vt:lpstr>
      <vt:lpstr>Multi-way Decisions</vt:lpstr>
      <vt:lpstr>Warning: Turn Off Tabs!!</vt:lpstr>
      <vt:lpstr>PowerPoint Presentation</vt:lpstr>
      <vt:lpstr>PowerPoint Presentation</vt:lpstr>
      <vt:lpstr>Multi-way Puzzles</vt:lpstr>
      <vt:lpstr>The try / except Structure</vt:lpstr>
      <vt:lpstr>The try / except Structure</vt:lpstr>
      <vt:lpstr>The try / except Structure</vt:lpstr>
      <vt:lpstr>The try / except Structure</vt:lpstr>
      <vt:lpstr>Sample try / except</vt:lpstr>
      <vt:lpstr>PEP8 Standard</vt:lpstr>
      <vt:lpstr>Caesar cipher</vt:lpstr>
      <vt:lpstr>Caesar cipher </vt:lpstr>
      <vt:lpstr>Summary</vt:lpstr>
      <vt:lpstr>Additional Exercises</vt:lpstr>
      <vt:lpstr>Acknowledgements / Contributions</vt:lpstr>
    </vt:vector>
  </TitlesOfParts>
  <Manager/>
  <Company>North Metro TAFE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Adding JetBrains CLI Scripts to Laragon</dc:title>
  <dc:subject>Powerpoint presentation template (G076C)</dc:subject>
  <dc:creator>Adrian Gould</dc:creator>
  <cp:keywords>HD 1920x1080 powerpoint presentation template</cp:keywords>
  <dc:description/>
  <cp:lastModifiedBy>Ingrid Aldum</cp:lastModifiedBy>
  <cp:revision>37</cp:revision>
  <cp:lastPrinted>2020-09-29T02:41:13Z</cp:lastPrinted>
  <dcterms:created xsi:type="dcterms:W3CDTF">2020-06-09T02:13:16Z</dcterms:created>
  <dcterms:modified xsi:type="dcterms:W3CDTF">2024-05-02T03:42:09Z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0x0101002E5E654056D58A47AA1AB158F7447227</vt:lpwstr>
  </property>
  <property fmtid="{D5CDD505-2E9C-101B-9397-08002B2CF9AE}" pid="3" name="MSIP_Label_f3ac7e5b-5da2-46c7-8677-8a6b50f7d886_Enabled">
    <vt:lpwstr>true</vt:lpwstr>
  </property>
  <property fmtid="{D5CDD505-2E9C-101B-9397-08002B2CF9AE}" pid="4" name="MSIP_Label_f3ac7e5b-5da2-46c7-8677-8a6b50f7d886_SetDate">
    <vt:lpwstr>2022-07-01T03:07:39Z</vt:lpwstr>
  </property>
  <property fmtid="{D5CDD505-2E9C-101B-9397-08002B2CF9AE}" pid="5" name="MSIP_Label_f3ac7e5b-5da2-46c7-8677-8a6b50f7d886_Method">
    <vt:lpwstr>Privileged</vt:lpwstr>
  </property>
  <property fmtid="{D5CDD505-2E9C-101B-9397-08002B2CF9AE}" pid="6" name="MSIP_Label_f3ac7e5b-5da2-46c7-8677-8a6b50f7d886_Name">
    <vt:lpwstr>Official</vt:lpwstr>
  </property>
  <property fmtid="{D5CDD505-2E9C-101B-9397-08002B2CF9AE}" pid="7" name="MSIP_Label_f3ac7e5b-5da2-46c7-8677-8a6b50f7d886_SiteId">
    <vt:lpwstr>218881e8-07ad-4142-87d7-f6b90d17009b</vt:lpwstr>
  </property>
  <property fmtid="{D5CDD505-2E9C-101B-9397-08002B2CF9AE}" pid="8" name="MSIP_Label_f3ac7e5b-5da2-46c7-8677-8a6b50f7d886_ActionId">
    <vt:lpwstr>0e8d94fb-c5c8-4f32-9ce4-c544b7f743e7</vt:lpwstr>
  </property>
  <property fmtid="{D5CDD505-2E9C-101B-9397-08002B2CF9AE}" pid="9" name="MSIP_Label_f3ac7e5b-5da2-46c7-8677-8a6b50f7d886_ContentBits">
    <vt:lpwstr>1</vt:lpwstr>
  </property>
  <property fmtid="{D5CDD505-2E9C-101B-9397-08002B2CF9AE}" pid="10" name="ClassificationContentMarkingHeaderLocations">
    <vt:lpwstr>Office Theme:7</vt:lpwstr>
  </property>
  <property fmtid="{D5CDD505-2E9C-101B-9397-08002B2CF9AE}" pid="11" name="ClassificationContentMarkingHeaderText">
    <vt:lpwstr>OFFICIAL</vt:lpwstr>
  </property>
  <property fmtid="{D5CDD505-2E9C-101B-9397-08002B2CF9AE}" pid="12" name="Order">
    <vt:r8>8171200</vt:r8>
  </property>
  <property fmtid="{D5CDD505-2E9C-101B-9397-08002B2CF9AE}" pid="13" name="_SourceUrl">
    <vt:lpwstr/>
  </property>
  <property fmtid="{D5CDD505-2E9C-101B-9397-08002B2CF9AE}" pid="14" name="_SharedFileIndex">
    <vt:lpwstr/>
  </property>
  <property fmtid="{D5CDD505-2E9C-101B-9397-08002B2CF9AE}" pid="15" name="ComplianceAssetId">
    <vt:lpwstr/>
  </property>
  <property fmtid="{D5CDD505-2E9C-101B-9397-08002B2CF9AE}" pid="16" name="_ExtendedDescription">
    <vt:lpwstr/>
  </property>
  <property fmtid="{D5CDD505-2E9C-101B-9397-08002B2CF9AE}" pid="17" name="TriggerFlowInfo">
    <vt:lpwstr/>
  </property>
</Properties>
</file>