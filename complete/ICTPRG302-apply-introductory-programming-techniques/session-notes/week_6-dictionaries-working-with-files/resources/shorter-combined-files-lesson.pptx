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8"/>
  </p:notesMasterIdLst>
  <p:sldIdLst>
    <p:sldId id="257" r:id="rId5"/>
    <p:sldId id="406" r:id="rId6"/>
    <p:sldId id="467" r:id="rId7"/>
    <p:sldId id="258" r:id="rId8"/>
    <p:sldId id="259" r:id="rId9"/>
    <p:sldId id="262" r:id="rId10"/>
    <p:sldId id="265" r:id="rId11"/>
    <p:sldId id="266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1" r:id="rId24"/>
    <p:sldId id="423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424" r:id="rId33"/>
    <p:sldId id="291" r:id="rId34"/>
    <p:sldId id="466" r:id="rId35"/>
    <p:sldId id="293" r:id="rId36"/>
    <p:sldId id="425" r:id="rId37"/>
    <p:sldId id="426" r:id="rId38"/>
    <p:sldId id="443" r:id="rId39"/>
    <p:sldId id="427" r:id="rId40"/>
    <p:sldId id="428" r:id="rId41"/>
    <p:sldId id="292" r:id="rId42"/>
    <p:sldId id="431" r:id="rId43"/>
    <p:sldId id="432" r:id="rId44"/>
    <p:sldId id="433" r:id="rId45"/>
    <p:sldId id="434" r:id="rId46"/>
    <p:sldId id="435" r:id="rId47"/>
    <p:sldId id="436" r:id="rId48"/>
    <p:sldId id="437" r:id="rId49"/>
    <p:sldId id="438" r:id="rId50"/>
    <p:sldId id="439" r:id="rId51"/>
    <p:sldId id="440" r:id="rId52"/>
    <p:sldId id="441" r:id="rId53"/>
    <p:sldId id="442" r:id="rId54"/>
    <p:sldId id="468" r:id="rId55"/>
    <p:sldId id="465" r:id="rId56"/>
    <p:sldId id="405" r:id="rId57"/>
  </p:sldIdLst>
  <p:sldSz cx="12192000" cy="6858000"/>
  <p:notesSz cx="7104063" cy="10234613"/>
  <p:custDataLst>
    <p:tags r:id="rId5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ACB743C-D873-4233-9D28-B8C4BDC855B1}">
          <p14:sldIdLst>
            <p14:sldId id="257"/>
            <p14:sldId id="406"/>
            <p14:sldId id="467"/>
          </p14:sldIdLst>
        </p14:section>
        <p14:section name="Reading Files (basic)" id="{279663DA-E0A3-EE46-9CED-7D709538ACAC}">
          <p14:sldIdLst>
            <p14:sldId id="258"/>
            <p14:sldId id="259"/>
            <p14:sldId id="262"/>
            <p14:sldId id="265"/>
            <p14:sldId id="266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1"/>
            <p14:sldId id="423"/>
            <p14:sldId id="283"/>
            <p14:sldId id="284"/>
            <p14:sldId id="285"/>
            <p14:sldId id="286"/>
            <p14:sldId id="287"/>
            <p14:sldId id="288"/>
            <p14:sldId id="289"/>
            <p14:sldId id="424"/>
            <p14:sldId id="291"/>
            <p14:sldId id="466"/>
            <p14:sldId id="293"/>
            <p14:sldId id="425"/>
          </p14:sldIdLst>
        </p14:section>
        <p14:section name="Writing files (basic)" id="{EA7BE787-30FE-5346-8F04-B940848D5459}">
          <p14:sldIdLst>
            <p14:sldId id="426"/>
            <p14:sldId id="443"/>
            <p14:sldId id="427"/>
            <p14:sldId id="428"/>
            <p14:sldId id="292"/>
            <p14:sldId id="431"/>
            <p14:sldId id="432"/>
            <p14:sldId id="433"/>
            <p14:sldId id="434"/>
            <p14:sldId id="435"/>
            <p14:sldId id="436"/>
            <p14:sldId id="437"/>
            <p14:sldId id="438"/>
            <p14:sldId id="439"/>
            <p14:sldId id="440"/>
            <p14:sldId id="441"/>
            <p14:sldId id="442"/>
            <p14:sldId id="468"/>
          </p14:sldIdLst>
        </p14:section>
        <p14:section name="py4e core session" id="{F12E2524-F4EC-E34B-B072-8B8C5DBB7C0E}">
          <p14:sldIdLst>
            <p14:sldId id="465"/>
            <p14:sldId id="4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4F81BD"/>
    <a:srgbClr val="D81C24"/>
    <a:srgbClr val="D9272E"/>
    <a:srgbClr val="9BBB59"/>
    <a:srgbClr val="00DC65"/>
    <a:srgbClr val="000000"/>
    <a:srgbClr val="D8262E"/>
    <a:srgbClr val="D22F27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3"/>
    <p:restoredTop sz="95238" autoAdjust="0"/>
  </p:normalViewPr>
  <p:slideViewPr>
    <p:cSldViewPr snapToGrid="0">
      <p:cViewPr varScale="1">
        <p:scale>
          <a:sx n="122" d="100"/>
          <a:sy n="122" d="100"/>
        </p:scale>
        <p:origin x="1008" y="1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gs" Target="tags/tag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7EA1514-F326-1840-B15D-D4720038598B}" type="datetimeFigureOut">
              <a:rPr lang="en-US" smtClean="0"/>
              <a:t>8/24/23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BA3E024E-F835-6D45-89C3-0E2F93EE79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57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hotos/files-ddr-archive-1633406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hotos/files-ddr-archive-1633406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1454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7ff8d3232c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7ff8d3232c_0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1748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6dfea785a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6dfea785ac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ff8d3232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7ff8d3232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https://pixabay.com/photos/files-ddr-archive-1633406/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6dfea785a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6dfea785a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sz="1000" u="sng">
                <a:solidFill>
                  <a:srgbClr val="3197A8"/>
                </a:solidFill>
                <a:latin typeface="Quicksand"/>
                <a:ea typeface="Quicksand"/>
                <a:cs typeface="Quicksand"/>
                <a:sym typeface="Quicksa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https://pixabay.com/photos/files-ddr-archive-1633406/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7ff8d3232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7ff8d3232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7ff8d3232c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7ff8d3232c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7ff8d3232c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7ff8d3232c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7ff8d3232c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7ff8d3232c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f8d3232c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f8d3232c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7ff8d3232c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7ff8d3232c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7ff8d3232c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7ff8d3232c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7ff8d3232c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7ff8d3232c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7ff8d3232c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7ff8d3232c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7ff8d3232c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7ff8d3232c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7ff8d3232c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7ff8d3232c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7ff8d3232c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7ff8d3232c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7ff8d3232c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7ff8d3232c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7ff8d3232c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7ff8d3232c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7ff8d3232c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7ff8d3232c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ff8d3232c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ff8d3232c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7ff8d3232c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7ff8d3232c_0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7ff8d3232c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7ff8d3232c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7ff8d3232c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7ff8d3232c_0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7ff8d3232c_0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7ff8d3232c_0_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7ff8d3232c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7ff8d3232c_0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7ff8d3232c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7ff8d3232c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7ff8d3232c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7ff8d3232c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7ff8d3232c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7ff8d3232c_0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7ff8d3232c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7ff8d3232c_0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40458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845c40b1d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845c40b1d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845c40b1d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845c40b1d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0083243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6dfea785a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6dfea785a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6dfea785a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6dfea785a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2253498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76d4f89b19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76d4f89b19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76d4f89b1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76d4f89b19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7ff8d3232c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7ff8d3232c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6dfea785a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6dfea785ac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6dfea785a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6dfea785a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76d4f89b19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76d4f89b19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76d4f89b19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76d4f89b19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76d4f89b1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76d4f89b1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76d4f89b19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76d4f89b19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76d4f89b19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76d4f89b19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6d4f89b19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6d4f89b19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76d4f89b19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76d4f89b19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76d4f89b19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76d4f89b19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76d4f89b19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76d4f89b19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76d4f89b19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76d4f89b19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7ff8d3232c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7ff8d3232c_0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257202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36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69" name="Shape 3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00938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Shape 54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Shape 54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6138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 userDrawn="1"/>
        </p:nvSpPr>
        <p:spPr>
          <a:xfrm>
            <a:off x="920424" y="691642"/>
            <a:ext cx="10360351" cy="5616575"/>
          </a:xfrm>
          <a:prstGeom prst="roundRect">
            <a:avLst>
              <a:gd name="adj" fmla="val 766"/>
            </a:avLst>
          </a:prstGeom>
          <a:solidFill>
            <a:srgbClr val="D81C24">
              <a:alpha val="14902"/>
            </a:srgbClr>
          </a:solidFill>
          <a:ln>
            <a:solidFill>
              <a:srgbClr val="D8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00" dirty="0">
              <a:latin typeface="+mj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8/24/23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51133" y="1293778"/>
            <a:ext cx="10084038" cy="1396829"/>
          </a:xfrm>
          <a:prstGeom prst="rect">
            <a:avLst/>
          </a:prstGeom>
          <a:noFill/>
        </p:spPr>
        <p:txBody>
          <a:bodyPr anchor="t"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AU" noProof="0"/>
              <a:t>Session/Presentation Title</a:t>
            </a:r>
          </a:p>
        </p:txBody>
      </p:sp>
      <p:sp>
        <p:nvSpPr>
          <p:cNvPr id="10" name="Table Placeholder 9"/>
          <p:cNvSpPr>
            <a:spLocks noGrp="1"/>
          </p:cNvSpPr>
          <p:nvPr>
            <p:ph type="tbl" sz="quarter" idx="13" hasCustomPrompt="1"/>
          </p:nvPr>
        </p:nvSpPr>
        <p:spPr>
          <a:xfrm>
            <a:off x="1051131" y="4572000"/>
            <a:ext cx="10084039" cy="1610037"/>
          </a:xfrm>
          <a:noFill/>
        </p:spPr>
        <p:txBody>
          <a:bodyPr anchor="t">
            <a:normAutofit/>
          </a:bodyPr>
          <a:lstStyle>
            <a:lvl1pPr marL="0" indent="0">
              <a:buNone/>
              <a:defRPr sz="140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AU" dirty="0"/>
              <a:t>Replace this with a table of units – 2 columns – National ID and 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1051132" y="819761"/>
            <a:ext cx="10084039" cy="341659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AU"/>
              <a:t>Week/Session 00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051130" y="4119576"/>
            <a:ext cx="10084038" cy="360698"/>
          </a:xfrm>
          <a:noFill/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AU" sz="1600" b="0" dirty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noProof="0"/>
              <a:t>Cluster Name</a:t>
            </a:r>
            <a:endParaRPr lang="en-AU"/>
          </a:p>
        </p:txBody>
      </p:sp>
      <p:sp>
        <p:nvSpPr>
          <p:cNvPr id="9" name="TextBox 8"/>
          <p:cNvSpPr txBox="1"/>
          <p:nvPr userDrawn="1"/>
        </p:nvSpPr>
        <p:spPr>
          <a:xfrm>
            <a:off x="1051132" y="2852738"/>
            <a:ext cx="1939896" cy="5723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indent="0">
              <a:spcBef>
                <a:spcPct val="20000"/>
              </a:spcBef>
              <a:buFont typeface="Arial"/>
              <a:buNone/>
              <a:defRPr sz="2800" baseline="0">
                <a:solidFill>
                  <a:schemeClr val="bg1">
                    <a:lumMod val="75000"/>
                  </a:schemeClr>
                </a:solidFill>
              </a:defRPr>
            </a:lvl1pPr>
            <a:lvl2pPr indent="0" algn="ctr">
              <a:spcBef>
                <a:spcPct val="20000"/>
              </a:spcBef>
              <a:buFont typeface="Arial"/>
              <a:buNone/>
              <a:defRPr sz="2800" baseline="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/>
              <a:buNone/>
              <a:defRPr sz="2400" baseline="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/>
              <a:buNone/>
              <a:defRPr sz="2000" baseline="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/>
              <a:buNone/>
              <a:defRPr sz="2000" baseline="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sz="20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Presented by: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2991027" y="2862841"/>
            <a:ext cx="8144143" cy="562200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3200" b="1" noProof="0">
                <a:solidFill>
                  <a:schemeClr val="bg1">
                    <a:lumMod val="95000"/>
                  </a:schemeClr>
                </a:solidFill>
              </a:rPr>
              <a:t>Given &amp; Last Name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7" hasCustomPrompt="1"/>
          </p:nvPr>
        </p:nvSpPr>
        <p:spPr>
          <a:xfrm>
            <a:off x="1050925" y="3516767"/>
            <a:ext cx="10083800" cy="602809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AU" sz="2000" dirty="0" smtClean="0">
                <a:latin typeface="+mj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3200" b="1">
                <a:solidFill>
                  <a:schemeClr val="bg1">
                    <a:lumMod val="85000"/>
                  </a:schemeClr>
                </a:solidFill>
              </a:rPr>
              <a:t>Course ID and Title</a:t>
            </a:r>
          </a:p>
        </p:txBody>
      </p:sp>
    </p:spTree>
    <p:extLst>
      <p:ext uri="{BB962C8B-B14F-4D97-AF65-F5344CB8AC3E}">
        <p14:creationId xmlns:p14="http://schemas.microsoft.com/office/powerpoint/2010/main" val="4190069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574" userDrawn="1">
          <p15:clr>
            <a:srgbClr val="FBAE40"/>
          </p15:clr>
        </p15:guide>
        <p15:guide id="4" pos="7106" userDrawn="1">
          <p15:clr>
            <a:srgbClr val="FBAE40"/>
          </p15:clr>
        </p15:guide>
        <p15:guide id="5" orient="horz" pos="436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  <p15:guide id="7" orient="horz" pos="179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64753"/>
            <a:ext cx="10363200" cy="1560862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8/24/23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able Placeholder 9"/>
          <p:cNvSpPr>
            <a:spLocks noGrp="1"/>
          </p:cNvSpPr>
          <p:nvPr>
            <p:ph type="tbl" sz="quarter" idx="13" hasCustomPrompt="1"/>
          </p:nvPr>
        </p:nvSpPr>
        <p:spPr>
          <a:xfrm>
            <a:off x="911468" y="4870093"/>
            <a:ext cx="10363200" cy="1241057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AU" dirty="0"/>
              <a:t>Replace this with a table of units – 2 columns – National ID and 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917332" y="4229096"/>
            <a:ext cx="10366132" cy="528637"/>
          </a:xfrm>
        </p:spPr>
        <p:txBody>
          <a:bodyPr>
            <a:normAutofit/>
          </a:bodyPr>
          <a:lstStyle>
            <a:lvl1pPr marL="0" indent="0" algn="l">
              <a:buNone/>
              <a:defRPr sz="2400" b="1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AU"/>
              <a:t>Week/Session 00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2918188"/>
            <a:ext cx="10360268" cy="598488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AU"/>
              <a:t>Lecture 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17332" y="3610147"/>
            <a:ext cx="10366132" cy="506589"/>
          </a:xfrm>
        </p:spPr>
        <p:txBody>
          <a:bodyPr anchor="ctr">
            <a:noAutofit/>
          </a:bodyPr>
          <a:lstStyle>
            <a:lvl1pPr marL="0" indent="0">
              <a:buNone/>
              <a:defRPr sz="200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AU"/>
              <a:t>Lecturer:	</a:t>
            </a:r>
            <a:r>
              <a:rPr lang="en-AU" err="1"/>
              <a:t>Given_Name</a:t>
            </a:r>
            <a:r>
              <a:rPr lang="en-AU"/>
              <a:t> </a:t>
            </a:r>
            <a:r>
              <a:rPr lang="en-AU" err="1"/>
              <a:t>Family_Name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290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lternat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399" y="3886200"/>
            <a:ext cx="10363199" cy="1752600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8/24/23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68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8/24/23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109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94618"/>
            <a:ext cx="10972800" cy="219169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8/24/23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FB0483-D927-6C4B-9F8E-0CBFBED89EA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4182975"/>
            <a:ext cx="10972800" cy="2191699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2527477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AU" noProof="0" smtClean="0"/>
              <a:t>24/8/2023</a:t>
            </a:fld>
            <a:endParaRPr lang="en-A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AU" noProof="0" smtClean="0"/>
              <a:t>‹#›</a:t>
            </a:fld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1471725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406903"/>
            <a:ext cx="8514522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906713"/>
            <a:ext cx="851452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8/24/23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F7D5DACE-FF0F-2D46-93D3-295ECF1DA8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812656" y="2900636"/>
            <a:ext cx="1769744" cy="2868342"/>
          </a:xfrm>
          <a:prstGeom prst="roundRect">
            <a:avLst>
              <a:gd name="adj" fmla="val 4112"/>
            </a:avLst>
          </a:prstGeom>
          <a:blipFill>
            <a:blip r:embed="rId2"/>
            <a:stretch>
              <a:fillRect l="16" r="16"/>
            </a:stretch>
          </a:blipFill>
          <a:ln w="12700" cap="rnd">
            <a:solidFill>
              <a:srgbClr val="D8262E">
                <a:alpha val="50000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70644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8/24/23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699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65600" y="1600202"/>
            <a:ext cx="7416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8/24/23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B08A67E-3ED8-7842-9A36-FDA51ABEB2A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1" y="1600203"/>
            <a:ext cx="2792484" cy="4525963"/>
          </a:xfrm>
          <a:prstGeom prst="roundRect">
            <a:avLst>
              <a:gd name="adj" fmla="val 3374"/>
            </a:avLst>
          </a:prstGeom>
          <a:blipFill>
            <a:blip r:embed="rId2"/>
            <a:stretch>
              <a:fillRect l="16" r="16"/>
            </a:stretch>
          </a:blipFill>
          <a:ln>
            <a:solidFill>
              <a:srgbClr val="D8262E">
                <a:alpha val="50196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4302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8/24/23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379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8/24/23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584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73062"/>
            <a:ext cx="7212496" cy="49118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8/24/23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C9126EA6-A663-AD41-9474-BAFD5F86078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16528" y="973063"/>
            <a:ext cx="3030587" cy="4911873"/>
          </a:xfrm>
          <a:prstGeom prst="roundRect">
            <a:avLst>
              <a:gd name="adj" fmla="val 3523"/>
            </a:avLst>
          </a:prstGeom>
          <a:blipFill>
            <a:blip r:embed="rId2"/>
            <a:stretch>
              <a:fillRect l="16" r="16"/>
            </a:stretch>
          </a:blipFill>
          <a:ln>
            <a:solidFill>
              <a:srgbClr val="D8262E">
                <a:alpha val="50196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895897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8/24/23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0986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8/24/23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9126EA6-A663-AD41-9474-BAFD5F8607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" y="918741"/>
            <a:ext cx="10972800" cy="4948123"/>
          </a:xfrm>
          <a:prstGeom prst="roundRect">
            <a:avLst>
              <a:gd name="adj" fmla="val 1876"/>
            </a:avLst>
          </a:prstGeom>
          <a:blipFill>
            <a:blip r:embed="rId2"/>
            <a:stretch>
              <a:fillRect l="16" r="16"/>
            </a:stretch>
          </a:blipFill>
          <a:ln>
            <a:solidFill>
              <a:srgbClr val="D8262E">
                <a:alpha val="50196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1824688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8/24/23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D779252-2DB5-164E-B413-9653D35CC4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51813" y="973063"/>
            <a:ext cx="3030587" cy="4911873"/>
          </a:xfrm>
          <a:prstGeom prst="roundRect">
            <a:avLst>
              <a:gd name="adj" fmla="val 4419"/>
            </a:avLst>
          </a:prstGeom>
          <a:blipFill>
            <a:blip r:embed="rId2">
              <a:alphaModFix/>
            </a:blip>
            <a:stretch>
              <a:fillRect l="16" r="1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FC5ADCF-7EA1-3644-9B75-D84582085E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671513"/>
            <a:ext cx="7416800" cy="5665787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40789277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93776"/>
            <a:ext cx="4011084" cy="94132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93776"/>
            <a:ext cx="6815667" cy="56323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99615"/>
            <a:ext cx="4011084" cy="46265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8/24/23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291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Click icon to add picture</a:t>
            </a:r>
            <a:endParaRPr lang="en-AU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8/24/23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3857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8/24/23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387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8/24/23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6989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 txBox="1">
            <a:spLocks noGrp="1"/>
          </p:cNvSpPr>
          <p:nvPr>
            <p:ph type="title"/>
          </p:nvPr>
        </p:nvSpPr>
        <p:spPr>
          <a:xfrm>
            <a:off x="609600" y="576072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3429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6858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0287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3716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206" name="Shape 206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56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561975" lvl="0" indent="-106871" algn="l" rtl="0">
              <a:spcBef>
                <a:spcPts val="2625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781050" lvl="1" indent="-106871" algn="l" rtl="0">
              <a:spcBef>
                <a:spcPts val="2625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000125" lvl="2" indent="-106871" algn="l" rtl="0">
              <a:spcBef>
                <a:spcPts val="2625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228725" lvl="3" indent="-106871" algn="l" rtl="0">
              <a:spcBef>
                <a:spcPts val="2625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447800" lvl="4" indent="-106871" algn="l" rtl="0">
              <a:spcBef>
                <a:spcPts val="2625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1790700" lvl="5" indent="-106871" algn="l" rtl="0">
              <a:spcBef>
                <a:spcPts val="2625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133600" lvl="6" indent="-106871" algn="l" rtl="0">
              <a:spcBef>
                <a:spcPts val="2625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2476500" lvl="7" indent="-106871" algn="l" rtl="0">
              <a:spcBef>
                <a:spcPts val="2625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2819400" lvl="8" indent="-106871" algn="l" rtl="0">
              <a:spcBef>
                <a:spcPts val="2625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99955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ives / Questions / Lists">
  <p:cSld name="Objectives / Questions / List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414533" y="1356967"/>
            <a:ext cx="11362800" cy="508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414533" y="414533"/>
            <a:ext cx="11362800" cy="94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11776267" y="6439067"/>
            <a:ext cx="415600" cy="4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067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1pPr>
            <a:lvl2pPr lvl="1" rtl="0">
              <a:buNone/>
              <a:defRPr sz="1067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2pPr>
            <a:lvl3pPr lvl="2" rtl="0">
              <a:buNone/>
              <a:defRPr sz="1067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3pPr>
            <a:lvl4pPr lvl="3" rtl="0">
              <a:buNone/>
              <a:defRPr sz="1067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4pPr>
            <a:lvl5pPr lvl="4" rtl="0">
              <a:buNone/>
              <a:defRPr sz="1067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5pPr>
            <a:lvl6pPr lvl="5" rtl="0">
              <a:buNone/>
              <a:defRPr sz="1067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6pPr>
            <a:lvl7pPr lvl="6" rtl="0">
              <a:buNone/>
              <a:defRPr sz="1067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7pPr>
            <a:lvl8pPr lvl="7" rtl="0">
              <a:buNone/>
              <a:defRPr sz="1067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8pPr>
            <a:lvl9pPr lvl="8" rtl="0">
              <a:buNone/>
              <a:defRPr sz="1067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9pPr>
          </a:lstStyle>
          <a:p>
            <a:pPr algn="ctr"/>
            <a:fld id="{00000000-1234-1234-1234-123412341234}" type="slidenum">
              <a:rPr lang="en-GB" smtClean="0"/>
              <a:pPr algn="ctr"/>
              <a:t>‹#›</a:t>
            </a:fld>
            <a:endParaRPr lang="en-GB"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2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909480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or Images side by side">
  <p:cSld name="Text or Images side by s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414533" y="1560165"/>
            <a:ext cx="5462000" cy="487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1776267" y="6439067"/>
            <a:ext cx="415600" cy="4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067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1pPr>
            <a:lvl2pPr lvl="1" rtl="0">
              <a:buNone/>
              <a:defRPr sz="1067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2pPr>
            <a:lvl3pPr lvl="2" rtl="0">
              <a:buNone/>
              <a:defRPr sz="1067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3pPr>
            <a:lvl4pPr lvl="3" rtl="0">
              <a:buNone/>
              <a:defRPr sz="1067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4pPr>
            <a:lvl5pPr lvl="4" rtl="0">
              <a:buNone/>
              <a:defRPr sz="1067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5pPr>
            <a:lvl6pPr lvl="5" rtl="0">
              <a:buNone/>
              <a:defRPr sz="1067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6pPr>
            <a:lvl7pPr lvl="6" rtl="0">
              <a:buNone/>
              <a:defRPr sz="1067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7pPr>
            <a:lvl8pPr lvl="7" rtl="0">
              <a:buNone/>
              <a:defRPr sz="1067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8pPr>
            <a:lvl9pPr lvl="8" rtl="0">
              <a:buNone/>
              <a:defRPr sz="1067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9pPr>
          </a:lstStyle>
          <a:p>
            <a:pPr algn="ctr"/>
            <a:fld id="{00000000-1234-1234-1234-123412341234}" type="slidenum">
              <a:rPr lang="en-GB" smtClean="0"/>
              <a:pPr algn="ctr"/>
              <a:t>‹#›</a:t>
            </a:fld>
            <a:endParaRPr lang="en-GB"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6315467" y="1560133"/>
            <a:ext cx="5462000" cy="487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23502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94617"/>
            <a:ext cx="10972800" cy="45634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82040"/>
            <a:ext cx="28448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6F489C6-6277-454E-AECF-6C3872A9450F}" type="datetimeFigureOut">
              <a:rPr lang="en-US" smtClean="0"/>
              <a:pPr/>
              <a:t>8/24/23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82040"/>
            <a:ext cx="38608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82040"/>
            <a:ext cx="28448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741F46F4-8938-5C4A-A3E0-434D3C3588F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Placeholder 14">
            <a:extLst>
              <a:ext uri="{FF2B5EF4-FFF2-40B4-BE49-F238E27FC236}">
                <a16:creationId xmlns:a16="http://schemas.microsoft.com/office/drawing/2014/main" id="{ED1A118C-2DC5-9B4D-B303-C0863344B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77254"/>
            <a:ext cx="10972799" cy="1248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701323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6" r:id="rId2"/>
    <p:sldLayoutId id="2147483649" r:id="rId3"/>
    <p:sldLayoutId id="2147483650" r:id="rId4"/>
    <p:sldLayoutId id="2147483665" r:id="rId5"/>
    <p:sldLayoutId id="2147483651" r:id="rId6"/>
    <p:sldLayoutId id="2147483661" r:id="rId7"/>
    <p:sldLayoutId id="2147483652" r:id="rId8"/>
    <p:sldLayoutId id="2147483662" r:id="rId9"/>
    <p:sldLayoutId id="2147483653" r:id="rId10"/>
    <p:sldLayoutId id="2147483654" r:id="rId11"/>
    <p:sldLayoutId id="2147483663" r:id="rId12"/>
    <p:sldLayoutId id="2147483655" r:id="rId13"/>
    <p:sldLayoutId id="2147483664" r:id="rId14"/>
    <p:sldLayoutId id="2147483660" r:id="rId15"/>
    <p:sldLayoutId id="2147483656" r:id="rId16"/>
    <p:sldLayoutId id="2147483657" r:id="rId17"/>
    <p:sldLayoutId id="2147483658" r:id="rId18"/>
    <p:sldLayoutId id="2147483659" r:id="rId19"/>
    <p:sldLayoutId id="2147483668" r:id="rId20"/>
    <p:sldLayoutId id="2147483669" r:id="rId21"/>
    <p:sldLayoutId id="2147483670" r:id="rId22"/>
  </p:sldLayoutIdLst>
  <p:txStyles>
    <p:titleStyle>
      <a:lvl1pPr algn="l" defTabSz="457200" rtl="0" eaLnBrk="1" latinLnBrk="0" hangingPunct="1">
        <a:spcBef>
          <a:spcPct val="0"/>
        </a:spcBef>
        <a:buNone/>
        <a:defRPr sz="4200" b="1" i="0" kern="1200" spc="50" baseline="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2.xml"/><Relationship Id="rId4" Type="http://schemas.microsoft.com/office/2007/relationships/hdphoto" Target="../media/hdphoto1.wdp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r-chuck.com/" TargetMode="Externa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png"/><Relationship Id="rId4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Introductory Programming Techniques</a:t>
            </a:r>
            <a:br>
              <a:rPr lang="en-US" dirty="0"/>
            </a:br>
            <a:endParaRPr lang="en-AU" dirty="0"/>
          </a:p>
        </p:txBody>
      </p:sp>
      <p:sp>
        <p:nvSpPr>
          <p:cNvPr id="40" name="Text Placeholder 39"/>
          <p:cNvSpPr>
            <a:spLocks noGrp="1"/>
          </p:cNvSpPr>
          <p:nvPr>
            <p:ph type="body" sz="quarter" idx="15"/>
          </p:nvPr>
        </p:nvSpPr>
        <p:spPr>
          <a:xfrm>
            <a:off x="923196" y="2127127"/>
            <a:ext cx="10360268" cy="598488"/>
          </a:xfrm>
        </p:spPr>
        <p:txBody>
          <a:bodyPr/>
          <a:lstStyle/>
          <a:p>
            <a:r>
              <a:rPr lang="en-AU" dirty="0"/>
              <a:t>North Metropolitan TAFE – Joondalup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B7FEDC-D992-724A-A409-0B70E13A9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08536" y="2725615"/>
            <a:ext cx="10366132" cy="506589"/>
          </a:xfrm>
        </p:spPr>
        <p:txBody>
          <a:bodyPr/>
          <a:lstStyle/>
          <a:p>
            <a:r>
              <a:rPr lang="en-US" dirty="0"/>
              <a:t>Semester 2 - 2023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021E65-9009-7E34-E577-5FCAAEA73601}"/>
              </a:ext>
            </a:extLst>
          </p:cNvPr>
          <p:cNvSpPr txBox="1"/>
          <p:nvPr/>
        </p:nvSpPr>
        <p:spPr>
          <a:xfrm>
            <a:off x="923196" y="3625797"/>
            <a:ext cx="609361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Courses:</a:t>
            </a:r>
          </a:p>
          <a:p>
            <a:pPr algn="l"/>
            <a: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  <a:t>Certificate III in Information Technology</a:t>
            </a:r>
            <a:b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</a:br>
            <a: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  <a:t>Certificate IV in IT (Programming)</a:t>
            </a:r>
            <a:b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</a:br>
            <a: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  <a:t>Certificate IV in IT (Networking)</a:t>
            </a:r>
            <a:b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</a:br>
            <a: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  <a:t>Certificate IV in IT (Cybersecurity)</a:t>
            </a:r>
            <a:b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</a:br>
            <a: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  <a:t>Certificate IV in IT (Web)</a:t>
            </a:r>
          </a:p>
        </p:txBody>
      </p:sp>
    </p:spTree>
    <p:extLst>
      <p:ext uri="{BB962C8B-B14F-4D97-AF65-F5344CB8AC3E}">
        <p14:creationId xmlns:p14="http://schemas.microsoft.com/office/powerpoint/2010/main" val="913344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EBBAA-E6BC-384B-AB83-C7769FCD00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3F5D09-10BA-2E45-941F-1527DC6F44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7332" y="4692736"/>
            <a:ext cx="10366132" cy="528637"/>
          </a:xfrm>
        </p:spPr>
        <p:txBody>
          <a:bodyPr/>
          <a:lstStyle/>
          <a:p>
            <a:r>
              <a:rPr lang="en-US" dirty="0"/>
              <a:t>Session 6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20CB9C-1131-7448-A5E3-D1244AB140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2918188"/>
            <a:ext cx="10360268" cy="1241056"/>
          </a:xfrm>
        </p:spPr>
        <p:txBody>
          <a:bodyPr/>
          <a:lstStyle/>
          <a:p>
            <a:pPr marL="514350" indent="-514350">
              <a:buAutoNum type="arabicParenBoth"/>
            </a:pPr>
            <a:r>
              <a:rPr lang="en-US" dirty="0"/>
              <a:t>Extending and Reusing Python Functionality </a:t>
            </a:r>
          </a:p>
          <a:p>
            <a:pPr marL="514350" indent="-514350">
              <a:buAutoNum type="arabicParenBoth"/>
            </a:pPr>
            <a:r>
              <a:rPr lang="en-US" dirty="0"/>
              <a:t>Reading and writing from Files</a:t>
            </a:r>
          </a:p>
          <a:p>
            <a:pPr marL="514350" indent="-514350">
              <a:buAutoNum type="arabicParenBoth"/>
            </a:pP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91EF932-988E-134E-89C9-F7DC805580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7332" y="4073787"/>
            <a:ext cx="10366132" cy="506589"/>
          </a:xfrm>
        </p:spPr>
        <p:txBody>
          <a:bodyPr/>
          <a:lstStyle/>
          <a:p>
            <a:r>
              <a:rPr lang="en-US" dirty="0"/>
              <a:t>Lecturer: John Robertson</a:t>
            </a:r>
          </a:p>
        </p:txBody>
      </p:sp>
    </p:spTree>
    <p:extLst>
      <p:ext uri="{BB962C8B-B14F-4D97-AF65-F5344CB8AC3E}">
        <p14:creationId xmlns:p14="http://schemas.microsoft.com/office/powerpoint/2010/main" val="4277119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4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Challenge 1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392" name="Google Shape;392;p44"/>
          <p:cNvSpPr txBox="1">
            <a:spLocks noGrp="1"/>
          </p:cNvSpPr>
          <p:nvPr>
            <p:ph type="body" idx="2"/>
          </p:nvPr>
        </p:nvSpPr>
        <p:spPr>
          <a:xfrm>
            <a:off x="2348436" y="2348182"/>
            <a:ext cx="8182929" cy="216163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AU" dirty="0"/>
              <a:t>Download the starter code on Blackboard</a:t>
            </a:r>
          </a:p>
          <a:p>
            <a:pPr marL="0" indent="0">
              <a:buNone/>
            </a:pPr>
            <a:endParaRPr lang="en-AU" dirty="0"/>
          </a:p>
          <a:p>
            <a:pPr marL="457200" indent="-457200"/>
            <a:r>
              <a:rPr lang="en-AU" dirty="0"/>
              <a:t>String manipulation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393" name="Google Shape;393;p44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3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70216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1247899" y="2150459"/>
            <a:ext cx="9780501" cy="333665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GB" b="1" dirty="0"/>
              <a:t>You will:</a:t>
            </a:r>
            <a:endParaRPr b="1" dirty="0"/>
          </a:p>
          <a:p>
            <a:pPr>
              <a:spcBef>
                <a:spcPts val="1333"/>
              </a:spcBef>
            </a:pPr>
            <a:r>
              <a:rPr lang="en-GB" dirty="0"/>
              <a:t>Determine the purpose of external data files</a:t>
            </a:r>
            <a:endParaRPr dirty="0"/>
          </a:p>
          <a:p>
            <a:pPr>
              <a:spcBef>
                <a:spcPts val="1333"/>
              </a:spcBef>
            </a:pPr>
            <a:r>
              <a:rPr lang="en-GB" dirty="0"/>
              <a:t>Read data from an external text file</a:t>
            </a:r>
            <a:endParaRPr dirty="0"/>
          </a:p>
        </p:txBody>
      </p:sp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400800" y="899688"/>
            <a:ext cx="11362800" cy="94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GB" dirty="0"/>
              <a:t>Reading text files</a:t>
            </a:r>
            <a:endParaRPr b="1" dirty="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6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11776267" y="6439067"/>
            <a:ext cx="415600" cy="41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fld id="{00000000-1234-1234-1234-123412341234}" type="slidenum">
              <a:rPr lang="en-GB"/>
              <a:pPr algn="ctr"/>
              <a:t>4</a:t>
            </a:fld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2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Objectives</a:t>
            </a:r>
            <a:endParaRPr/>
          </a:p>
        </p:txBody>
      </p:sp>
      <p:pic>
        <p:nvPicPr>
          <p:cNvPr id="68" name="Google Shape;6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8400" y="486400"/>
            <a:ext cx="558800" cy="5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body" idx="1"/>
          </p:nvPr>
        </p:nvSpPr>
        <p:spPr>
          <a:xfrm>
            <a:off x="414533" y="1560165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457200" indent="-457200"/>
            <a:r>
              <a:rPr lang="en-GB" dirty="0"/>
              <a:t>A </a:t>
            </a:r>
            <a:r>
              <a:rPr lang="en-GB" b="1" dirty="0"/>
              <a:t>file </a:t>
            </a:r>
            <a:r>
              <a:rPr lang="en-GB" dirty="0"/>
              <a:t>is a term used to describe </a:t>
            </a:r>
            <a:r>
              <a:rPr lang="en-GB" b="1" dirty="0"/>
              <a:t>data </a:t>
            </a:r>
            <a:r>
              <a:rPr lang="en-GB" dirty="0"/>
              <a:t>that is held in </a:t>
            </a:r>
            <a:r>
              <a:rPr lang="en-GB" b="1" dirty="0"/>
              <a:t>storage </a:t>
            </a:r>
            <a:r>
              <a:rPr lang="en-GB" dirty="0"/>
              <a:t>on a computer. </a:t>
            </a:r>
          </a:p>
          <a:p>
            <a:pPr marL="457200" indent="-457200"/>
            <a:endParaRPr lang="en-GB" dirty="0"/>
          </a:p>
          <a:p>
            <a:pPr marL="457200" indent="-457200"/>
            <a:r>
              <a:rPr lang="en-GB" dirty="0"/>
              <a:t>They can often be used by </a:t>
            </a:r>
            <a:r>
              <a:rPr lang="en-GB" b="1" dirty="0"/>
              <a:t>other programs</a:t>
            </a:r>
            <a:r>
              <a:rPr lang="en-GB" dirty="0"/>
              <a:t> for different purposes.</a:t>
            </a:r>
            <a:endParaRPr dirty="0"/>
          </a:p>
        </p:txBody>
      </p:sp>
      <p:sp>
        <p:nvSpPr>
          <p:cNvPr id="74" name="Google Shape;74;p12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GB"/>
              <a:t>Files</a:t>
            </a:r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1</a:t>
            </a:r>
            <a:endParaRPr/>
          </a:p>
        </p:txBody>
      </p:sp>
      <p:pic>
        <p:nvPicPr>
          <p:cNvPr id="76" name="Google Shape;7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0505" y="1719067"/>
            <a:ext cx="5023097" cy="3767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414533" y="1560165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GB" dirty="0"/>
              <a:t>How do we keep any data generated once your code has been terminated?</a:t>
            </a:r>
            <a:endParaRPr dirty="0"/>
          </a:p>
          <a:p>
            <a:pPr marL="0" indent="0">
              <a:spcBef>
                <a:spcPts val="2133"/>
              </a:spcBef>
              <a:buNone/>
            </a:pPr>
            <a:r>
              <a:rPr lang="en-GB" dirty="0"/>
              <a:t>How do we save program data to an </a:t>
            </a:r>
            <a:r>
              <a:rPr lang="en-GB" b="1" dirty="0"/>
              <a:t>external file?</a:t>
            </a:r>
            <a:endParaRPr dirty="0"/>
          </a:p>
          <a:p>
            <a:pPr marL="0" indent="0">
              <a:spcBef>
                <a:spcPts val="2133"/>
              </a:spcBef>
              <a:buNone/>
            </a:pPr>
            <a:endParaRPr dirty="0"/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endParaRPr dirty="0"/>
          </a:p>
        </p:txBody>
      </p:sp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GB"/>
              <a:t>File handling</a:t>
            </a:r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1</a:t>
            </a:r>
            <a:endParaRPr/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0505" y="1719067"/>
            <a:ext cx="5023097" cy="3767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>
            <a:spLocks noGrp="1"/>
          </p:cNvSpPr>
          <p:nvPr>
            <p:ph type="body" idx="1"/>
          </p:nvPr>
        </p:nvSpPr>
        <p:spPr>
          <a:xfrm>
            <a:off x="414533" y="1560165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GB" dirty="0">
                <a:solidFill>
                  <a:srgbClr val="FFFFFF"/>
                </a:solidFill>
                <a:highlight>
                  <a:srgbClr val="D81C24"/>
                </a:highlight>
              </a:rPr>
              <a:t>Question</a:t>
            </a:r>
            <a:r>
              <a:rPr lang="en-GB" dirty="0">
                <a:solidFill>
                  <a:srgbClr val="FFFFFF"/>
                </a:solidFill>
                <a:highlight>
                  <a:schemeClr val="dk1"/>
                </a:highlight>
              </a:rPr>
              <a:t> </a:t>
            </a:r>
            <a:r>
              <a:rPr lang="en-GB" dirty="0">
                <a:solidFill>
                  <a:schemeClr val="accent1"/>
                </a:solidFill>
              </a:rPr>
              <a:t>.</a:t>
            </a:r>
            <a:endParaRPr dirty="0">
              <a:solidFill>
                <a:schemeClr val="accent1"/>
              </a:solidFill>
            </a:endParaRPr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r>
              <a:rPr lang="en-GB" dirty="0"/>
              <a:t>Can you think of examples of when file-handling techniques might be used?</a:t>
            </a:r>
            <a:endParaRPr dirty="0"/>
          </a:p>
        </p:txBody>
      </p:sp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GB"/>
              <a:t>File handling</a:t>
            </a:r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 dirty="0"/>
              <a:t>Activity 1</a:t>
            </a:r>
            <a:endParaRPr dirty="0"/>
          </a:p>
        </p:txBody>
      </p:sp>
      <p:sp>
        <p:nvSpPr>
          <p:cNvPr id="124" name="Google Shape;124;p18"/>
          <p:cNvSpPr txBox="1">
            <a:spLocks noGrp="1"/>
          </p:cNvSpPr>
          <p:nvPr>
            <p:ph type="body" idx="2"/>
          </p:nvPr>
        </p:nvSpPr>
        <p:spPr>
          <a:xfrm>
            <a:off x="6315467" y="1560133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endParaRPr/>
          </a:p>
          <a:p>
            <a:pPr>
              <a:spcBef>
                <a:spcPts val="2133"/>
              </a:spcBef>
            </a:pPr>
            <a:r>
              <a:rPr lang="en-GB"/>
              <a:t>Game progress</a:t>
            </a:r>
            <a:endParaRPr/>
          </a:p>
          <a:p>
            <a:r>
              <a:rPr lang="en-GB"/>
              <a:t>Test scores</a:t>
            </a:r>
            <a:endParaRPr/>
          </a:p>
          <a:p>
            <a:r>
              <a:rPr lang="en-GB"/>
              <a:t>Player names</a:t>
            </a:r>
            <a:endParaRPr/>
          </a:p>
          <a:p>
            <a:r>
              <a:rPr lang="en-GB"/>
              <a:t>Restaurant orders</a:t>
            </a:r>
            <a:endParaRPr/>
          </a:p>
          <a:p>
            <a:r>
              <a:rPr lang="en-GB"/>
              <a:t>Stock levels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>
            <a:spLocks noGrp="1"/>
          </p:cNvSpPr>
          <p:nvPr>
            <p:ph type="body" idx="1"/>
          </p:nvPr>
        </p:nvSpPr>
        <p:spPr>
          <a:xfrm>
            <a:off x="414533" y="1560165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GB" dirty="0"/>
              <a:t>The key </a:t>
            </a:r>
            <a:r>
              <a:rPr lang="en-GB" b="1" dirty="0"/>
              <a:t>file-handling techniques</a:t>
            </a:r>
            <a:r>
              <a:rPr lang="en-GB" dirty="0"/>
              <a:t> that you need to be able to use are:</a:t>
            </a:r>
            <a:endParaRPr dirty="0"/>
          </a:p>
          <a:p>
            <a:pPr>
              <a:spcBef>
                <a:spcPts val="2133"/>
              </a:spcBef>
            </a:pPr>
            <a:r>
              <a:rPr lang="en-GB" dirty="0"/>
              <a:t>Open</a:t>
            </a:r>
            <a:endParaRPr dirty="0"/>
          </a:p>
          <a:p>
            <a:r>
              <a:rPr lang="en-GB" dirty="0"/>
              <a:t>Read</a:t>
            </a:r>
            <a:endParaRPr dirty="0"/>
          </a:p>
          <a:p>
            <a:r>
              <a:rPr lang="en-GB" dirty="0"/>
              <a:t>Close</a:t>
            </a:r>
            <a:endParaRPr dirty="0"/>
          </a:p>
          <a:p>
            <a:r>
              <a:rPr lang="en-GB" dirty="0"/>
              <a:t>Write</a:t>
            </a:r>
            <a:endParaRPr dirty="0"/>
          </a:p>
          <a:p>
            <a:r>
              <a:rPr lang="en-GB" dirty="0"/>
              <a:t>Append</a:t>
            </a:r>
            <a:endParaRPr dirty="0"/>
          </a:p>
        </p:txBody>
      </p:sp>
      <p:sp>
        <p:nvSpPr>
          <p:cNvPr id="130" name="Google Shape;130;p19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GB"/>
              <a:t>File handling in Python</a:t>
            </a:r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2</a:t>
            </a:r>
            <a:endParaRPr/>
          </a:p>
        </p:txBody>
      </p:sp>
      <p:pic>
        <p:nvPicPr>
          <p:cNvPr id="3" name="Picture 2" descr="A black background with white letters&#10;&#10;Description automatically generated">
            <a:extLst>
              <a:ext uri="{FF2B5EF4-FFF2-40B4-BE49-F238E27FC236}">
                <a16:creationId xmlns:a16="http://schemas.microsoft.com/office/drawing/2014/main" id="{B1263D28-E42B-D858-038E-B2C96269F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533" y="1954923"/>
            <a:ext cx="6021248" cy="31012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GB"/>
              <a:t>Open a text file</a:t>
            </a:r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2</a:t>
            </a:r>
            <a:endParaRPr/>
          </a:p>
        </p:txBody>
      </p:sp>
      <p:sp>
        <p:nvSpPr>
          <p:cNvPr id="154" name="Google Shape;154;p22"/>
          <p:cNvSpPr txBox="1">
            <a:spLocks noGrp="1"/>
          </p:cNvSpPr>
          <p:nvPr>
            <p:ph type="body" idx="2"/>
          </p:nvPr>
        </p:nvSpPr>
        <p:spPr>
          <a:xfrm>
            <a:off x="6315467" y="1560133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/>
              <a:t>Here is an instruction that will </a:t>
            </a:r>
            <a:r>
              <a:rPr lang="en-GB" b="1"/>
              <a:t>open </a:t>
            </a:r>
            <a:r>
              <a:rPr lang="en-GB"/>
              <a:t>a </a:t>
            </a:r>
            <a:r>
              <a:rPr lang="en-GB" b="1"/>
              <a:t>text file</a:t>
            </a:r>
            <a:r>
              <a:rPr lang="en-GB"/>
              <a:t> in </a:t>
            </a:r>
            <a:r>
              <a:rPr lang="en-GB" b="1"/>
              <a:t>read </a:t>
            </a:r>
            <a:r>
              <a:rPr lang="en-GB"/>
              <a:t>mode. </a:t>
            </a: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3B8B6D-24AE-654D-BEFF-3134956DE5BD}"/>
              </a:ext>
            </a:extLst>
          </p:cNvPr>
          <p:cNvSpPr txBox="1"/>
          <p:nvPr/>
        </p:nvSpPr>
        <p:spPr>
          <a:xfrm>
            <a:off x="730876" y="1753603"/>
            <a:ext cx="60981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file </a:t>
            </a:r>
            <a:r>
              <a:rPr lang="en-AU" sz="2400" b="0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=</a:t>
            </a:r>
            <a:r>
              <a:rPr lang="en-AU" sz="2400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 </a:t>
            </a:r>
            <a:r>
              <a:rPr lang="en-AU" sz="2400" b="0" dirty="0">
                <a:solidFill>
                  <a:srgbClr val="82AAFF"/>
                </a:solidFill>
                <a:effectLst/>
                <a:latin typeface="Agave" panose="020B0509030604020203" pitchFamily="49" charset="0"/>
              </a:rPr>
              <a:t>open</a:t>
            </a:r>
            <a:r>
              <a:rPr lang="en-AU" sz="2400" b="0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("</a:t>
            </a:r>
            <a:r>
              <a:rPr lang="en-AU" sz="2400" b="0" dirty="0" err="1">
                <a:solidFill>
                  <a:srgbClr val="C3E88D"/>
                </a:solidFill>
                <a:effectLst/>
                <a:latin typeface="Agave" panose="020B0509030604020203" pitchFamily="49" charset="0"/>
              </a:rPr>
              <a:t>quick.txt</a:t>
            </a:r>
            <a:r>
              <a:rPr lang="en-AU" sz="2400" b="0" dirty="0" err="1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","</a:t>
            </a:r>
            <a:r>
              <a:rPr lang="en-AU" sz="2400" b="0" dirty="0" err="1">
                <a:solidFill>
                  <a:srgbClr val="C3E88D"/>
                </a:solidFill>
                <a:effectLst/>
                <a:latin typeface="Agave" panose="020B0509030604020203" pitchFamily="49" charset="0"/>
              </a:rPr>
              <a:t>r</a:t>
            </a:r>
            <a:r>
              <a:rPr lang="en-AU" sz="2400" b="0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")</a:t>
            </a:r>
            <a:endParaRPr lang="en-AU" sz="2400" b="0" dirty="0">
              <a:solidFill>
                <a:srgbClr val="EEFFFF"/>
              </a:solidFill>
              <a:effectLst/>
              <a:latin typeface="Agave" panose="020B0509030604020203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>
            <a:spLocks noGrp="1"/>
          </p:cNvSpPr>
          <p:nvPr>
            <p:ph type="body" idx="1"/>
          </p:nvPr>
        </p:nvSpPr>
        <p:spPr>
          <a:xfrm>
            <a:off x="414533" y="1560165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file = open("</a:t>
            </a:r>
            <a:r>
              <a:rPr lang="en-GB" sz="1867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quick.txt","r</a:t>
            </a: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")</a:t>
            </a:r>
            <a:endParaRPr sz="1867" dirty="0">
              <a:solidFill>
                <a:schemeClr val="bg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0" name="Google Shape;160;p23"/>
          <p:cNvSpPr/>
          <p:nvPr/>
        </p:nvSpPr>
        <p:spPr>
          <a:xfrm>
            <a:off x="499967" y="1669700"/>
            <a:ext cx="660400" cy="282800"/>
          </a:xfrm>
          <a:prstGeom prst="roundRect">
            <a:avLst>
              <a:gd name="adj" fmla="val 16667"/>
            </a:avLst>
          </a:prstGeom>
          <a:solidFill>
            <a:srgbClr val="FFC000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61" name="Google Shape;161;p23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GB"/>
              <a:t>Open a text file</a:t>
            </a:r>
            <a:endParaRPr/>
          </a:p>
        </p:txBody>
      </p:sp>
      <p:sp>
        <p:nvSpPr>
          <p:cNvPr id="162" name="Google Shape;162;p23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2</a:t>
            </a:r>
            <a:endParaRPr/>
          </a:p>
        </p:txBody>
      </p:sp>
      <p:sp>
        <p:nvSpPr>
          <p:cNvPr id="163" name="Google Shape;163;p23"/>
          <p:cNvSpPr txBox="1">
            <a:spLocks noGrp="1"/>
          </p:cNvSpPr>
          <p:nvPr>
            <p:ph type="body" idx="2"/>
          </p:nvPr>
        </p:nvSpPr>
        <p:spPr>
          <a:xfrm>
            <a:off x="6315467" y="1560133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/>
              <a:t>Here is an instruction that will </a:t>
            </a:r>
            <a:r>
              <a:rPr lang="en-GB" b="1"/>
              <a:t>open </a:t>
            </a:r>
            <a:r>
              <a:rPr lang="en-GB"/>
              <a:t>a </a:t>
            </a:r>
            <a:r>
              <a:rPr lang="en-GB" b="1"/>
              <a:t>text file</a:t>
            </a:r>
            <a:r>
              <a:rPr lang="en-GB"/>
              <a:t> in </a:t>
            </a:r>
            <a:r>
              <a:rPr lang="en-GB" b="1"/>
              <a:t>read </a:t>
            </a:r>
            <a:r>
              <a:rPr lang="en-GB"/>
              <a:t>mode. </a:t>
            </a:r>
            <a:endParaRPr/>
          </a:p>
        </p:txBody>
      </p:sp>
      <p:sp>
        <p:nvSpPr>
          <p:cNvPr id="164" name="Google Shape;164;p23"/>
          <p:cNvSpPr txBox="1"/>
          <p:nvPr/>
        </p:nvSpPr>
        <p:spPr>
          <a:xfrm>
            <a:off x="384633" y="3334933"/>
            <a:ext cx="3929790" cy="2099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2133"/>
              </a:spcAft>
            </a:pPr>
            <a:r>
              <a:rPr lang="en-GB" sz="2400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Creates an </a:t>
            </a:r>
            <a:r>
              <a:rPr lang="en-GB" sz="2400" b="1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identifier </a:t>
            </a:r>
            <a:r>
              <a:rPr lang="en-GB" sz="2400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(also called a handle)</a:t>
            </a:r>
            <a:r>
              <a:rPr lang="en-GB" sz="2400" b="1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GB" sz="2400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for the file that is to be accessed.</a:t>
            </a:r>
            <a:endParaRPr sz="2400" dirty="0">
              <a:solidFill>
                <a:srgbClr val="FFC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165" name="Google Shape;165;p23"/>
          <p:cNvCxnSpPr>
            <a:cxnSpLocks/>
            <a:stCxn id="164" idx="0"/>
            <a:endCxn id="160" idx="2"/>
          </p:cNvCxnSpPr>
          <p:nvPr/>
        </p:nvCxnSpPr>
        <p:spPr>
          <a:xfrm rot="16200000" flipV="1">
            <a:off x="898632" y="1884036"/>
            <a:ext cx="1382433" cy="1519361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FFC000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>
            <a:spLocks noGrp="1"/>
          </p:cNvSpPr>
          <p:nvPr>
            <p:ph type="body" idx="1"/>
          </p:nvPr>
        </p:nvSpPr>
        <p:spPr>
          <a:xfrm>
            <a:off x="414533" y="1560165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file = open("</a:t>
            </a:r>
            <a:r>
              <a:rPr lang="en-GB" sz="1867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quick.txt","r</a:t>
            </a: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")</a:t>
            </a:r>
            <a:endParaRPr sz="1867" dirty="0">
              <a:solidFill>
                <a:schemeClr val="bg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1515967" y="1679133"/>
            <a:ext cx="729200" cy="282800"/>
          </a:xfrm>
          <a:prstGeom prst="roundRect">
            <a:avLst>
              <a:gd name="adj" fmla="val 16667"/>
            </a:avLst>
          </a:prstGeom>
          <a:solidFill>
            <a:srgbClr val="FFC000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72" name="Google Shape;172;p24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GB"/>
              <a:t>Open a text file</a:t>
            </a:r>
            <a:endParaRPr/>
          </a:p>
        </p:txBody>
      </p:sp>
      <p:sp>
        <p:nvSpPr>
          <p:cNvPr id="173" name="Google Shape;173;p24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2</a:t>
            </a:r>
            <a:endParaRPr/>
          </a:p>
        </p:txBody>
      </p:sp>
      <p:sp>
        <p:nvSpPr>
          <p:cNvPr id="174" name="Google Shape;174;p24"/>
          <p:cNvSpPr txBox="1">
            <a:spLocks noGrp="1"/>
          </p:cNvSpPr>
          <p:nvPr>
            <p:ph type="body" idx="2"/>
          </p:nvPr>
        </p:nvSpPr>
        <p:spPr>
          <a:xfrm>
            <a:off x="6315467" y="1560133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/>
              <a:t>Here is an instruction that will </a:t>
            </a:r>
            <a:r>
              <a:rPr lang="en-GB" b="1"/>
              <a:t>open </a:t>
            </a:r>
            <a:r>
              <a:rPr lang="en-GB"/>
              <a:t>a </a:t>
            </a:r>
            <a:r>
              <a:rPr lang="en-GB" b="1"/>
              <a:t>text file</a:t>
            </a:r>
            <a:r>
              <a:rPr lang="en-GB"/>
              <a:t> in </a:t>
            </a:r>
            <a:r>
              <a:rPr lang="en-GB" b="1"/>
              <a:t>read </a:t>
            </a:r>
            <a:r>
              <a:rPr lang="en-GB"/>
              <a:t>mode. </a:t>
            </a:r>
            <a:endParaRPr/>
          </a:p>
        </p:txBody>
      </p:sp>
      <p:sp>
        <p:nvSpPr>
          <p:cNvPr id="175" name="Google Shape;175;p24"/>
          <p:cNvSpPr txBox="1"/>
          <p:nvPr/>
        </p:nvSpPr>
        <p:spPr>
          <a:xfrm>
            <a:off x="384633" y="3334933"/>
            <a:ext cx="2700000" cy="13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2133"/>
              </a:spcAft>
            </a:pPr>
            <a:r>
              <a:rPr lang="en-GB" sz="2400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Calls a </a:t>
            </a:r>
            <a:r>
              <a:rPr lang="en-GB" sz="2400" b="1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function </a:t>
            </a:r>
            <a:r>
              <a:rPr lang="en-GB" sz="2400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that </a:t>
            </a:r>
            <a:r>
              <a:rPr lang="en-GB" sz="2400" b="1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returns </a:t>
            </a:r>
            <a:r>
              <a:rPr lang="en-GB" sz="2400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a </a:t>
            </a:r>
            <a:r>
              <a:rPr lang="en-GB" sz="2400" b="1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file object</a:t>
            </a:r>
            <a:r>
              <a:rPr lang="en-GB" sz="2400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sz="2400" dirty="0">
              <a:solidFill>
                <a:srgbClr val="FFC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176" name="Google Shape;176;p24"/>
          <p:cNvCxnSpPr>
            <a:stCxn id="175" idx="0"/>
            <a:endCxn id="171" idx="2"/>
          </p:cNvCxnSpPr>
          <p:nvPr/>
        </p:nvCxnSpPr>
        <p:spPr>
          <a:xfrm rot="-5400000">
            <a:off x="1121033" y="2575333"/>
            <a:ext cx="1373200" cy="146000"/>
          </a:xfrm>
          <a:prstGeom prst="curvedConnector3">
            <a:avLst>
              <a:gd name="adj1" fmla="val 49993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77" name="Google Shape;177;p24"/>
          <p:cNvSpPr/>
          <p:nvPr/>
        </p:nvSpPr>
        <p:spPr>
          <a:xfrm>
            <a:off x="4373867" y="1679133"/>
            <a:ext cx="134800" cy="282800"/>
          </a:xfrm>
          <a:prstGeom prst="roundRect">
            <a:avLst>
              <a:gd name="adj" fmla="val 16667"/>
            </a:avLst>
          </a:prstGeom>
          <a:solidFill>
            <a:srgbClr val="5B5BA5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414533" y="1560165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file = open("</a:t>
            </a:r>
            <a:r>
              <a:rPr lang="en-GB" sz="1867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quick.txt","r</a:t>
            </a: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")</a:t>
            </a:r>
            <a:endParaRPr sz="1867" dirty="0">
              <a:solidFill>
                <a:schemeClr val="bg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3" name="Google Shape;183;p25"/>
          <p:cNvSpPr/>
          <p:nvPr/>
        </p:nvSpPr>
        <p:spPr>
          <a:xfrm>
            <a:off x="2227167" y="1679133"/>
            <a:ext cx="1584000" cy="282800"/>
          </a:xfrm>
          <a:prstGeom prst="roundRect">
            <a:avLst>
              <a:gd name="adj" fmla="val 16667"/>
            </a:avLst>
          </a:prstGeom>
          <a:solidFill>
            <a:srgbClr val="FFC000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184" name="Google Shape;184;p25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GB"/>
              <a:t>Open a text file</a:t>
            </a:r>
            <a:endParaRPr/>
          </a:p>
        </p:txBody>
      </p:sp>
      <p:sp>
        <p:nvSpPr>
          <p:cNvPr id="185" name="Google Shape;185;p25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2</a:t>
            </a:r>
            <a:endParaRPr/>
          </a:p>
        </p:txBody>
      </p:sp>
      <p:sp>
        <p:nvSpPr>
          <p:cNvPr id="186" name="Google Shape;186;p25"/>
          <p:cNvSpPr txBox="1">
            <a:spLocks noGrp="1"/>
          </p:cNvSpPr>
          <p:nvPr>
            <p:ph type="body" idx="2"/>
          </p:nvPr>
        </p:nvSpPr>
        <p:spPr>
          <a:xfrm>
            <a:off x="6315467" y="1560133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/>
              <a:t>Here is an instruction that will </a:t>
            </a:r>
            <a:r>
              <a:rPr lang="en-GB" b="1"/>
              <a:t>open </a:t>
            </a:r>
            <a:r>
              <a:rPr lang="en-GB"/>
              <a:t>a </a:t>
            </a:r>
            <a:r>
              <a:rPr lang="en-GB" b="1"/>
              <a:t>text file</a:t>
            </a:r>
            <a:r>
              <a:rPr lang="en-GB"/>
              <a:t> in </a:t>
            </a:r>
            <a:r>
              <a:rPr lang="en-GB" b="1"/>
              <a:t>read </a:t>
            </a:r>
            <a:r>
              <a:rPr lang="en-GB"/>
              <a:t>mode. </a:t>
            </a:r>
            <a:endParaRPr/>
          </a:p>
        </p:txBody>
      </p:sp>
      <p:sp>
        <p:nvSpPr>
          <p:cNvPr id="187" name="Google Shape;187;p25"/>
          <p:cNvSpPr txBox="1"/>
          <p:nvPr/>
        </p:nvSpPr>
        <p:spPr>
          <a:xfrm>
            <a:off x="384633" y="3334933"/>
            <a:ext cx="2700000" cy="13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2133"/>
              </a:spcAft>
            </a:pPr>
            <a:r>
              <a:rPr lang="en-GB" sz="2400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The first </a:t>
            </a:r>
            <a:r>
              <a:rPr lang="en-GB" sz="2400" b="1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argument</a:t>
            </a:r>
            <a:r>
              <a:rPr lang="en-GB" sz="2400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 is the name of the </a:t>
            </a:r>
            <a:r>
              <a:rPr lang="en-GB" sz="2400" b="1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text file </a:t>
            </a:r>
            <a:r>
              <a:rPr lang="en-GB" sz="2400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to be opened. </a:t>
            </a:r>
            <a:endParaRPr sz="2400" dirty="0">
              <a:solidFill>
                <a:srgbClr val="FFC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188" name="Google Shape;188;p25"/>
          <p:cNvCxnSpPr>
            <a:stCxn id="187" idx="0"/>
            <a:endCxn id="183" idx="2"/>
          </p:cNvCxnSpPr>
          <p:nvPr/>
        </p:nvCxnSpPr>
        <p:spPr>
          <a:xfrm rot="-5400000">
            <a:off x="1690433" y="2006333"/>
            <a:ext cx="1372800" cy="1284400"/>
          </a:xfrm>
          <a:prstGeom prst="curvedConnector3">
            <a:avLst>
              <a:gd name="adj1" fmla="val 50007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>
            <a:spLocks noGrp="1"/>
          </p:cNvSpPr>
          <p:nvPr>
            <p:ph type="body" idx="1"/>
          </p:nvPr>
        </p:nvSpPr>
        <p:spPr>
          <a:xfrm>
            <a:off x="414533" y="1560165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file = open("</a:t>
            </a:r>
            <a:r>
              <a:rPr lang="en-GB" sz="1867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quick.txt","r</a:t>
            </a: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")</a:t>
            </a:r>
            <a:endParaRPr sz="1867" dirty="0">
              <a:solidFill>
                <a:schemeClr val="bg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3978667" y="1679133"/>
            <a:ext cx="395200" cy="282800"/>
          </a:xfrm>
          <a:prstGeom prst="roundRect">
            <a:avLst>
              <a:gd name="adj" fmla="val 16667"/>
            </a:avLst>
          </a:prstGeom>
          <a:solidFill>
            <a:srgbClr val="FFC000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95" name="Google Shape;195;p26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GB"/>
              <a:t>Open a text file</a:t>
            </a:r>
            <a:endParaRPr/>
          </a:p>
        </p:txBody>
      </p:sp>
      <p:sp>
        <p:nvSpPr>
          <p:cNvPr id="196" name="Google Shape;196;p26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2</a:t>
            </a:r>
            <a:endParaRPr/>
          </a:p>
        </p:txBody>
      </p:sp>
      <p:sp>
        <p:nvSpPr>
          <p:cNvPr id="197" name="Google Shape;197;p26"/>
          <p:cNvSpPr txBox="1">
            <a:spLocks noGrp="1"/>
          </p:cNvSpPr>
          <p:nvPr>
            <p:ph type="body" idx="2"/>
          </p:nvPr>
        </p:nvSpPr>
        <p:spPr>
          <a:xfrm>
            <a:off x="6315467" y="1560133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/>
              <a:t>Here is an instruction that will </a:t>
            </a:r>
            <a:r>
              <a:rPr lang="en-GB" b="1"/>
              <a:t>open </a:t>
            </a:r>
            <a:r>
              <a:rPr lang="en-GB"/>
              <a:t>a </a:t>
            </a:r>
            <a:r>
              <a:rPr lang="en-GB" b="1"/>
              <a:t>text file</a:t>
            </a:r>
            <a:r>
              <a:rPr lang="en-GB"/>
              <a:t> in </a:t>
            </a:r>
            <a:r>
              <a:rPr lang="en-GB" b="1"/>
              <a:t>read </a:t>
            </a:r>
            <a:r>
              <a:rPr lang="en-GB"/>
              <a:t>mode. </a:t>
            </a:r>
            <a:endParaRPr/>
          </a:p>
        </p:txBody>
      </p:sp>
      <p:sp>
        <p:nvSpPr>
          <p:cNvPr id="198" name="Google Shape;198;p26"/>
          <p:cNvSpPr txBox="1"/>
          <p:nvPr/>
        </p:nvSpPr>
        <p:spPr>
          <a:xfrm>
            <a:off x="384633" y="3334933"/>
            <a:ext cx="2700000" cy="21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2133"/>
              </a:spcAft>
            </a:pPr>
            <a:r>
              <a:rPr lang="en-GB" sz="2400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The second </a:t>
            </a:r>
            <a:r>
              <a:rPr lang="en-GB" sz="2400" b="1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argument</a:t>
            </a:r>
            <a:r>
              <a:rPr lang="en-GB" sz="2400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 is the </a:t>
            </a:r>
            <a:r>
              <a:rPr lang="en-GB" sz="2400" b="1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mode</a:t>
            </a:r>
            <a:r>
              <a:rPr lang="en-GB" sz="2400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 that the file will be opened.</a:t>
            </a:r>
            <a:endParaRPr sz="2400" dirty="0">
              <a:solidFill>
                <a:srgbClr val="FFC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199" name="Google Shape;199;p26"/>
          <p:cNvCxnSpPr>
            <a:stCxn id="198" idx="0"/>
            <a:endCxn id="194" idx="2"/>
          </p:cNvCxnSpPr>
          <p:nvPr/>
        </p:nvCxnSpPr>
        <p:spPr>
          <a:xfrm rot="-5400000">
            <a:off x="2269033" y="1427733"/>
            <a:ext cx="1372800" cy="2441600"/>
          </a:xfrm>
          <a:prstGeom prst="curvedConnector3">
            <a:avLst>
              <a:gd name="adj1" fmla="val 50007"/>
            </a:avLst>
          </a:prstGeom>
          <a:noFill/>
          <a:ln w="9525" cap="flat" cmpd="sng">
            <a:solidFill>
              <a:srgbClr val="FFC000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>
            <a:spLocks noGrp="1"/>
          </p:cNvSpPr>
          <p:nvPr>
            <p:ph type="body" idx="1"/>
          </p:nvPr>
        </p:nvSpPr>
        <p:spPr>
          <a:xfrm>
            <a:off x="414533" y="1560167"/>
            <a:ext cx="5462000" cy="243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file = open("</a:t>
            </a:r>
            <a:r>
              <a:rPr lang="en-GB" sz="1867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quick.txt","r</a:t>
            </a: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")</a:t>
            </a:r>
            <a:endParaRPr sz="1867" dirty="0">
              <a:solidFill>
                <a:schemeClr val="bg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5" name="Google Shape;205;p27"/>
          <p:cNvSpPr/>
          <p:nvPr/>
        </p:nvSpPr>
        <p:spPr>
          <a:xfrm>
            <a:off x="3978667" y="1679133"/>
            <a:ext cx="395200" cy="282800"/>
          </a:xfrm>
          <a:prstGeom prst="roundRect">
            <a:avLst>
              <a:gd name="adj" fmla="val 16667"/>
            </a:avLst>
          </a:prstGeom>
          <a:solidFill>
            <a:srgbClr val="FFC000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06" name="Google Shape;206;p27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GB" dirty="0"/>
              <a:t>Open a text file: modes</a:t>
            </a:r>
            <a:endParaRPr dirty="0"/>
          </a:p>
        </p:txBody>
      </p:sp>
      <p:sp>
        <p:nvSpPr>
          <p:cNvPr id="207" name="Google Shape;207;p27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2</a:t>
            </a:r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body" idx="2"/>
          </p:nvPr>
        </p:nvSpPr>
        <p:spPr>
          <a:xfrm>
            <a:off x="6315467" y="1560133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GB" sz="2800" dirty="0"/>
              <a:t>There are </a:t>
            </a:r>
            <a:r>
              <a:rPr lang="en-GB" sz="2800" b="1" dirty="0"/>
              <a:t>four </a:t>
            </a:r>
            <a:r>
              <a:rPr lang="en-GB" sz="2800" dirty="0"/>
              <a:t>modes for opening a file:</a:t>
            </a:r>
            <a:endParaRPr sz="2800" dirty="0"/>
          </a:p>
          <a:p>
            <a:pPr marL="0" indent="0">
              <a:spcBef>
                <a:spcPts val="2133"/>
              </a:spcBef>
              <a:buNone/>
            </a:pPr>
            <a:r>
              <a:rPr lang="en-GB" sz="2800" dirty="0">
                <a:latin typeface="Roboto Mono"/>
                <a:ea typeface="Roboto Mono"/>
                <a:cs typeface="Roboto Mono"/>
                <a:sym typeface="Roboto Mono"/>
              </a:rPr>
              <a:t>r</a:t>
            </a:r>
            <a:r>
              <a:rPr lang="en-GB" sz="2800" dirty="0"/>
              <a:t>	for only reading files</a:t>
            </a:r>
            <a:endParaRPr sz="2800" dirty="0"/>
          </a:p>
          <a:p>
            <a:pPr marL="0" indent="0">
              <a:spcBef>
                <a:spcPts val="2133"/>
              </a:spcBef>
              <a:buNone/>
            </a:pPr>
            <a:r>
              <a:rPr lang="en-GB" sz="2800" dirty="0">
                <a:latin typeface="Roboto Mono"/>
                <a:ea typeface="Roboto Mono"/>
                <a:cs typeface="Roboto Mono"/>
                <a:sym typeface="Roboto Mono"/>
              </a:rPr>
              <a:t>w</a:t>
            </a:r>
            <a:r>
              <a:rPr lang="en-GB" sz="2800" dirty="0"/>
              <a:t>	for only writing to files</a:t>
            </a:r>
            <a:endParaRPr sz="2800" dirty="0"/>
          </a:p>
          <a:p>
            <a:pPr marL="0" indent="0">
              <a:spcBef>
                <a:spcPts val="2133"/>
              </a:spcBef>
              <a:buNone/>
            </a:pPr>
            <a:r>
              <a:rPr lang="en-GB" sz="2800" dirty="0"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en-GB" sz="2800" dirty="0"/>
              <a:t>	for adding to an existing file</a:t>
            </a:r>
            <a:endParaRPr sz="2800" dirty="0"/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r>
              <a:rPr lang="en-GB" sz="2800" dirty="0">
                <a:latin typeface="Roboto Mono"/>
                <a:ea typeface="Roboto Mono"/>
                <a:cs typeface="Roboto Mono"/>
                <a:sym typeface="Roboto Mono"/>
              </a:rPr>
              <a:t>r+</a:t>
            </a:r>
            <a:r>
              <a:rPr lang="en-GB" sz="2800" dirty="0"/>
              <a:t>	for reading and writing files</a:t>
            </a:r>
            <a:endParaRPr sz="2800" dirty="0"/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2"/>
          </p:nvPr>
        </p:nvSpPr>
        <p:spPr>
          <a:xfrm>
            <a:off x="414533" y="4096800"/>
            <a:ext cx="5066400" cy="138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0">
              <a:spcAft>
                <a:spcPts val="2133"/>
              </a:spcAft>
              <a:buNone/>
            </a:pPr>
            <a:r>
              <a:rPr lang="en-GB" sz="1867" dirty="0"/>
              <a:t>Opening a file in </a:t>
            </a:r>
            <a:r>
              <a:rPr lang="en-GB" sz="1867" dirty="0">
                <a:latin typeface="Roboto Mono"/>
                <a:ea typeface="Roboto Mono"/>
                <a:cs typeface="Roboto Mono"/>
                <a:sym typeface="Roboto Mono"/>
              </a:rPr>
              <a:t>write</a:t>
            </a:r>
            <a:r>
              <a:rPr lang="en-GB" sz="1867" dirty="0"/>
              <a:t> mode will erase any existing file with the same name. </a:t>
            </a:r>
            <a:endParaRPr sz="1867" dirty="0"/>
          </a:p>
        </p:txBody>
      </p:sp>
      <p:pic>
        <p:nvPicPr>
          <p:cNvPr id="210" name="Google Shape;210;p27"/>
          <p:cNvPicPr preferRelativeResize="0"/>
          <p:nvPr/>
        </p:nvPicPr>
        <p:blipFill>
          <a:blip r:embed="rId3">
            <a:alphaModFix/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14533" y="4267396"/>
            <a:ext cx="495300" cy="5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GB"/>
              <a:t>Read a text file</a:t>
            </a:r>
            <a:endParaRPr/>
          </a:p>
        </p:txBody>
      </p:sp>
      <p:sp>
        <p:nvSpPr>
          <p:cNvPr id="217" name="Google Shape;217;p28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2</a:t>
            </a:r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body" idx="2"/>
          </p:nvPr>
        </p:nvSpPr>
        <p:spPr>
          <a:xfrm>
            <a:off x="6315467" y="1560133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/>
              <a:t>Once a file has been </a:t>
            </a:r>
            <a:r>
              <a:rPr lang="en-GB" b="1"/>
              <a:t>opened</a:t>
            </a:r>
            <a:r>
              <a:rPr lang="en-GB"/>
              <a:t>, it can then be </a:t>
            </a:r>
            <a:r>
              <a:rPr lang="en-GB" b="1"/>
              <a:t>read</a:t>
            </a:r>
            <a:r>
              <a:rPr lang="en-GB"/>
              <a:t>. </a:t>
            </a: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CFF2C1-61AE-3641-8975-E0E9D3AE950B}"/>
              </a:ext>
            </a:extLst>
          </p:cNvPr>
          <p:cNvSpPr txBox="1"/>
          <p:nvPr/>
        </p:nvSpPr>
        <p:spPr>
          <a:xfrm>
            <a:off x="405422" y="1756772"/>
            <a:ext cx="60981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file </a:t>
            </a:r>
            <a:r>
              <a:rPr lang="en-AU" sz="2800" b="0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=</a:t>
            </a:r>
            <a:r>
              <a:rPr lang="en-AU" sz="2800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 </a:t>
            </a:r>
            <a:r>
              <a:rPr lang="en-AU" sz="2800" b="0" dirty="0">
                <a:solidFill>
                  <a:srgbClr val="82AAFF"/>
                </a:solidFill>
                <a:effectLst/>
                <a:latin typeface="Agave" panose="020B0509030604020203" pitchFamily="49" charset="0"/>
              </a:rPr>
              <a:t>open</a:t>
            </a:r>
            <a:r>
              <a:rPr lang="en-AU" sz="2800" b="0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("</a:t>
            </a:r>
            <a:r>
              <a:rPr lang="en-AU" sz="2800" b="0" dirty="0" err="1">
                <a:solidFill>
                  <a:srgbClr val="C3E88D"/>
                </a:solidFill>
                <a:effectLst/>
                <a:latin typeface="Agave" panose="020B0509030604020203" pitchFamily="49" charset="0"/>
              </a:rPr>
              <a:t>quick.txt</a:t>
            </a:r>
            <a:r>
              <a:rPr lang="en-AU" sz="2800" b="0" dirty="0" err="1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","</a:t>
            </a:r>
            <a:r>
              <a:rPr lang="en-AU" sz="2800" b="0" dirty="0" err="1">
                <a:solidFill>
                  <a:srgbClr val="C3E88D"/>
                </a:solidFill>
                <a:effectLst/>
                <a:latin typeface="Agave" panose="020B0509030604020203" pitchFamily="49" charset="0"/>
              </a:rPr>
              <a:t>r</a:t>
            </a:r>
            <a:r>
              <a:rPr lang="en-AU" sz="2800" b="0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")</a:t>
            </a:r>
            <a:endParaRPr lang="en-AU" sz="2800" b="0" dirty="0">
              <a:solidFill>
                <a:srgbClr val="EEFFFF"/>
              </a:solidFill>
              <a:effectLst/>
              <a:latin typeface="Agave" panose="020B0509030604020203" pitchFamily="49" charset="0"/>
            </a:endParaRPr>
          </a:p>
          <a:p>
            <a:r>
              <a:rPr lang="en-AU" sz="2800" b="0" dirty="0" err="1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quicktext</a:t>
            </a:r>
            <a:r>
              <a:rPr lang="en-AU" sz="2800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 </a:t>
            </a:r>
            <a:r>
              <a:rPr lang="en-AU" sz="2800" b="0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=</a:t>
            </a:r>
            <a:r>
              <a:rPr lang="en-AU" sz="2800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 </a:t>
            </a:r>
            <a:r>
              <a:rPr lang="en-AU" sz="2800" b="0" dirty="0" err="1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file</a:t>
            </a:r>
            <a:r>
              <a:rPr lang="en-AU" sz="2800" b="0" dirty="0" err="1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.</a:t>
            </a:r>
            <a:r>
              <a:rPr lang="en-AU" sz="2800" b="0" dirty="0" err="1">
                <a:solidFill>
                  <a:srgbClr val="82AAFF"/>
                </a:solidFill>
                <a:effectLst/>
                <a:latin typeface="Agave" panose="020B0509030604020203" pitchFamily="49" charset="0"/>
              </a:rPr>
              <a:t>read</a:t>
            </a:r>
            <a:r>
              <a:rPr lang="en-AU" sz="2800" b="0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()</a:t>
            </a:r>
            <a:endParaRPr lang="en-AU" sz="2800" b="0" dirty="0">
              <a:solidFill>
                <a:srgbClr val="EEFFFF"/>
              </a:solidFill>
              <a:effectLst/>
              <a:latin typeface="Agave" panose="020B0509030604020203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 txBox="1">
            <a:spLocks noGrp="1"/>
          </p:cNvSpPr>
          <p:nvPr>
            <p:ph type="body" idx="1"/>
          </p:nvPr>
        </p:nvSpPr>
        <p:spPr>
          <a:xfrm>
            <a:off x="414533" y="1560167"/>
            <a:ext cx="5462000" cy="243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file = open("</a:t>
            </a:r>
            <a:r>
              <a:rPr lang="en-GB" sz="1867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quick.txt","r</a:t>
            </a: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")</a:t>
            </a:r>
            <a:endParaRPr sz="1867" dirty="0">
              <a:solidFill>
                <a:schemeClr val="bg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r>
              <a:rPr lang="en-GB" sz="1867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quicktext</a:t>
            </a: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-GB" sz="1867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file.read</a:t>
            </a: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1867" dirty="0">
              <a:solidFill>
                <a:schemeClr val="bg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4" name="Google Shape;224;p29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GB"/>
              <a:t>Read a text file</a:t>
            </a:r>
            <a:endParaRPr/>
          </a:p>
        </p:txBody>
      </p:sp>
      <p:sp>
        <p:nvSpPr>
          <p:cNvPr id="225" name="Google Shape;225;p29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2</a:t>
            </a:r>
            <a:endParaRPr/>
          </a:p>
        </p:txBody>
      </p:sp>
      <p:sp>
        <p:nvSpPr>
          <p:cNvPr id="226" name="Google Shape;226;p29"/>
          <p:cNvSpPr txBox="1">
            <a:spLocks noGrp="1"/>
          </p:cNvSpPr>
          <p:nvPr>
            <p:ph type="body" idx="2"/>
          </p:nvPr>
        </p:nvSpPr>
        <p:spPr>
          <a:xfrm>
            <a:off x="6315467" y="1560133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/>
              <a:t>Once a file has been </a:t>
            </a:r>
            <a:r>
              <a:rPr lang="en-GB" b="1"/>
              <a:t>opened</a:t>
            </a:r>
            <a:r>
              <a:rPr lang="en-GB"/>
              <a:t>, it can then be </a:t>
            </a:r>
            <a:r>
              <a:rPr lang="en-GB" b="1"/>
              <a:t>read</a:t>
            </a:r>
            <a:r>
              <a:rPr lang="en-GB"/>
              <a:t>. </a:t>
            </a:r>
            <a:endParaRPr/>
          </a:p>
        </p:txBody>
      </p:sp>
      <p:sp>
        <p:nvSpPr>
          <p:cNvPr id="227" name="Google Shape;227;p29"/>
          <p:cNvSpPr/>
          <p:nvPr/>
        </p:nvSpPr>
        <p:spPr>
          <a:xfrm>
            <a:off x="488367" y="2282867"/>
            <a:ext cx="1398400" cy="282800"/>
          </a:xfrm>
          <a:prstGeom prst="roundRect">
            <a:avLst>
              <a:gd name="adj" fmla="val 16667"/>
            </a:avLst>
          </a:prstGeom>
          <a:solidFill>
            <a:srgbClr val="FFC000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28" name="Google Shape;228;p29"/>
          <p:cNvSpPr txBox="1"/>
          <p:nvPr/>
        </p:nvSpPr>
        <p:spPr>
          <a:xfrm>
            <a:off x="384633" y="3334933"/>
            <a:ext cx="2700000" cy="21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2133"/>
              </a:spcAft>
            </a:pPr>
            <a:r>
              <a:rPr lang="en-GB" sz="2400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Creates a </a:t>
            </a:r>
            <a:r>
              <a:rPr lang="en-GB" sz="2400" b="1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variable</a:t>
            </a:r>
            <a:r>
              <a:rPr lang="en-GB" sz="2400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 that will hold the contents of the text file. </a:t>
            </a:r>
            <a:endParaRPr sz="2400" dirty="0">
              <a:solidFill>
                <a:srgbClr val="FFC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229" name="Google Shape;229;p29"/>
          <p:cNvCxnSpPr>
            <a:stCxn id="228" idx="0"/>
            <a:endCxn id="227" idx="2"/>
          </p:cNvCxnSpPr>
          <p:nvPr/>
        </p:nvCxnSpPr>
        <p:spPr>
          <a:xfrm rot="5400000" flipH="1">
            <a:off x="1076433" y="2676733"/>
            <a:ext cx="769200" cy="547200"/>
          </a:xfrm>
          <a:prstGeom prst="curvedConnector3">
            <a:avLst>
              <a:gd name="adj1" fmla="val 50004"/>
            </a:avLst>
          </a:prstGeom>
          <a:noFill/>
          <a:ln w="9525" cap="flat" cmpd="sng">
            <a:solidFill>
              <a:srgbClr val="FFC000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 txBox="1">
            <a:spLocks noGrp="1"/>
          </p:cNvSpPr>
          <p:nvPr>
            <p:ph type="body" idx="1"/>
          </p:nvPr>
        </p:nvSpPr>
        <p:spPr>
          <a:xfrm>
            <a:off x="414533" y="1560167"/>
            <a:ext cx="5462000" cy="243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file = open("</a:t>
            </a:r>
            <a:r>
              <a:rPr lang="en-GB" sz="1867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quick.txt","r</a:t>
            </a: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")</a:t>
            </a:r>
            <a:endParaRPr sz="1867" dirty="0">
              <a:solidFill>
                <a:schemeClr val="bg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r>
              <a:rPr lang="en-GB" sz="1867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quicktext</a:t>
            </a: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-GB" sz="1867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file.read</a:t>
            </a: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1867" dirty="0">
              <a:solidFill>
                <a:schemeClr val="bg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5" name="Google Shape;235;p30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GB"/>
              <a:t>Read a text file</a:t>
            </a:r>
            <a:endParaRPr/>
          </a:p>
        </p:txBody>
      </p:sp>
      <p:sp>
        <p:nvSpPr>
          <p:cNvPr id="236" name="Google Shape;236;p30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2</a:t>
            </a:r>
            <a:endParaRPr/>
          </a:p>
        </p:txBody>
      </p:sp>
      <p:sp>
        <p:nvSpPr>
          <p:cNvPr id="237" name="Google Shape;237;p30"/>
          <p:cNvSpPr txBox="1">
            <a:spLocks noGrp="1"/>
          </p:cNvSpPr>
          <p:nvPr>
            <p:ph type="body" idx="2"/>
          </p:nvPr>
        </p:nvSpPr>
        <p:spPr>
          <a:xfrm>
            <a:off x="6315467" y="1560133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/>
              <a:t>Once a file has been </a:t>
            </a:r>
            <a:r>
              <a:rPr lang="en-GB" b="1"/>
              <a:t>opened</a:t>
            </a:r>
            <a:r>
              <a:rPr lang="en-GB"/>
              <a:t>, it can then be </a:t>
            </a:r>
            <a:r>
              <a:rPr lang="en-GB" b="1"/>
              <a:t>read</a:t>
            </a:r>
            <a:r>
              <a:rPr lang="en-GB"/>
              <a:t>. </a:t>
            </a:r>
            <a:endParaRPr/>
          </a:p>
        </p:txBody>
      </p:sp>
      <p:sp>
        <p:nvSpPr>
          <p:cNvPr id="238" name="Google Shape;238;p30"/>
          <p:cNvSpPr/>
          <p:nvPr/>
        </p:nvSpPr>
        <p:spPr>
          <a:xfrm>
            <a:off x="2216833" y="2282933"/>
            <a:ext cx="632000" cy="282800"/>
          </a:xfrm>
          <a:prstGeom prst="roundRect">
            <a:avLst>
              <a:gd name="adj" fmla="val 16667"/>
            </a:avLst>
          </a:prstGeom>
          <a:solidFill>
            <a:srgbClr val="FFC000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39" name="Google Shape;239;p30"/>
          <p:cNvSpPr txBox="1"/>
          <p:nvPr/>
        </p:nvSpPr>
        <p:spPr>
          <a:xfrm>
            <a:off x="384633" y="3334933"/>
            <a:ext cx="2700000" cy="21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2133"/>
              </a:spcAft>
            </a:pPr>
            <a:r>
              <a:rPr lang="en-GB" sz="2400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Is the </a:t>
            </a:r>
            <a:r>
              <a:rPr lang="en-GB" sz="2400" b="1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identifier </a:t>
            </a:r>
            <a:r>
              <a:rPr lang="en-GB" sz="2400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for the </a:t>
            </a:r>
            <a:r>
              <a:rPr lang="en-GB" sz="2400" b="1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text file </a:t>
            </a:r>
            <a:r>
              <a:rPr lang="en-GB" sz="2400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that has been </a:t>
            </a:r>
            <a:r>
              <a:rPr lang="en-GB" sz="2400" b="1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opened</a:t>
            </a:r>
            <a:r>
              <a:rPr lang="en-GB" sz="2400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. </a:t>
            </a:r>
            <a:endParaRPr sz="2400" dirty="0">
              <a:solidFill>
                <a:srgbClr val="FFC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240" name="Google Shape;240;p30"/>
          <p:cNvCxnSpPr>
            <a:stCxn id="239" idx="0"/>
            <a:endCxn id="238" idx="2"/>
          </p:cNvCxnSpPr>
          <p:nvPr/>
        </p:nvCxnSpPr>
        <p:spPr>
          <a:xfrm rot="-5400000">
            <a:off x="1749033" y="2551333"/>
            <a:ext cx="769200" cy="7980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FFC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41" name="Google Shape;241;p30"/>
          <p:cNvSpPr/>
          <p:nvPr/>
        </p:nvSpPr>
        <p:spPr>
          <a:xfrm>
            <a:off x="523933" y="1665433"/>
            <a:ext cx="632000" cy="282800"/>
          </a:xfrm>
          <a:prstGeom prst="roundRect">
            <a:avLst>
              <a:gd name="adj" fmla="val 16667"/>
            </a:avLst>
          </a:prstGeom>
          <a:solidFill>
            <a:srgbClr val="FFC000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 txBox="1">
            <a:spLocks noGrp="1"/>
          </p:cNvSpPr>
          <p:nvPr>
            <p:ph type="body" idx="1"/>
          </p:nvPr>
        </p:nvSpPr>
        <p:spPr>
          <a:xfrm>
            <a:off x="414533" y="1560167"/>
            <a:ext cx="5462000" cy="243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file = open("</a:t>
            </a:r>
            <a:r>
              <a:rPr lang="en-GB" sz="1867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quick.txt","r</a:t>
            </a: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")</a:t>
            </a:r>
            <a:endParaRPr sz="1867" dirty="0">
              <a:solidFill>
                <a:schemeClr val="bg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r>
              <a:rPr lang="en-GB" sz="1867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quicktext</a:t>
            </a: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-GB" sz="1867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file.read</a:t>
            </a: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1867" dirty="0">
              <a:solidFill>
                <a:schemeClr val="bg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7" name="Google Shape;247;p31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GB"/>
              <a:t>Read a text file</a:t>
            </a:r>
            <a:endParaRPr/>
          </a:p>
        </p:txBody>
      </p:sp>
      <p:sp>
        <p:nvSpPr>
          <p:cNvPr id="248" name="Google Shape;248;p31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2</a:t>
            </a:r>
            <a:endParaRPr/>
          </a:p>
        </p:txBody>
      </p:sp>
      <p:sp>
        <p:nvSpPr>
          <p:cNvPr id="249" name="Google Shape;249;p31"/>
          <p:cNvSpPr txBox="1">
            <a:spLocks noGrp="1"/>
          </p:cNvSpPr>
          <p:nvPr>
            <p:ph type="body" idx="2"/>
          </p:nvPr>
        </p:nvSpPr>
        <p:spPr>
          <a:xfrm>
            <a:off x="6315467" y="1560133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/>
              <a:t>Once a file has been </a:t>
            </a:r>
            <a:r>
              <a:rPr lang="en-GB" b="1"/>
              <a:t>opened</a:t>
            </a:r>
            <a:r>
              <a:rPr lang="en-GB"/>
              <a:t>, it can then be </a:t>
            </a:r>
            <a:r>
              <a:rPr lang="en-GB" b="1"/>
              <a:t>read</a:t>
            </a:r>
            <a:r>
              <a:rPr lang="en-GB"/>
              <a:t>. </a:t>
            </a:r>
            <a:endParaRPr/>
          </a:p>
        </p:txBody>
      </p:sp>
      <p:sp>
        <p:nvSpPr>
          <p:cNvPr id="250" name="Google Shape;250;p31"/>
          <p:cNvSpPr/>
          <p:nvPr/>
        </p:nvSpPr>
        <p:spPr>
          <a:xfrm>
            <a:off x="2953791" y="2270054"/>
            <a:ext cx="864000" cy="282800"/>
          </a:xfrm>
          <a:prstGeom prst="roundRect">
            <a:avLst>
              <a:gd name="adj" fmla="val 16667"/>
            </a:avLst>
          </a:prstGeom>
          <a:solidFill>
            <a:srgbClr val="FFC000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51" name="Google Shape;251;p31"/>
          <p:cNvSpPr txBox="1"/>
          <p:nvPr/>
        </p:nvSpPr>
        <p:spPr>
          <a:xfrm>
            <a:off x="384633" y="3334933"/>
            <a:ext cx="2700000" cy="21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2133"/>
              </a:spcAft>
            </a:pPr>
            <a:r>
              <a:rPr lang="en-GB" sz="2400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Is a </a:t>
            </a:r>
            <a:r>
              <a:rPr lang="en-GB" sz="2400" b="1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method</a:t>
            </a:r>
            <a:r>
              <a:rPr lang="en-GB" sz="2400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 that is used to </a:t>
            </a:r>
            <a:r>
              <a:rPr lang="en-GB" sz="2400" b="1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read </a:t>
            </a:r>
            <a:r>
              <a:rPr lang="en-GB" sz="2400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the contents of the </a:t>
            </a:r>
            <a:r>
              <a:rPr lang="en-GB" sz="2400" b="1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text file</a:t>
            </a:r>
            <a:r>
              <a:rPr lang="en-GB" sz="2400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rPr>
              <a:t>. </a:t>
            </a:r>
            <a:endParaRPr sz="2400" dirty="0">
              <a:solidFill>
                <a:srgbClr val="FFC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252" name="Google Shape;252;p31"/>
          <p:cNvCxnSpPr>
            <a:stCxn id="251" idx="0"/>
            <a:endCxn id="250" idx="2"/>
          </p:cNvCxnSpPr>
          <p:nvPr/>
        </p:nvCxnSpPr>
        <p:spPr>
          <a:xfrm rot="5400000" flipH="1" flipV="1">
            <a:off x="2169173" y="2118315"/>
            <a:ext cx="782079" cy="1651158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FFC000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>
            <a:spLocks noGrp="1"/>
          </p:cNvSpPr>
          <p:nvPr>
            <p:ph type="body" idx="1"/>
          </p:nvPr>
        </p:nvSpPr>
        <p:spPr>
          <a:xfrm>
            <a:off x="386350" y="1814733"/>
            <a:ext cx="5462000" cy="243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file = open("</a:t>
            </a:r>
            <a:r>
              <a:rPr lang="en-GB" sz="1867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quick.txt","r</a:t>
            </a: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")</a:t>
            </a:r>
            <a:endParaRPr sz="1867" dirty="0">
              <a:solidFill>
                <a:schemeClr val="bg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r>
              <a:rPr lang="en-GB" sz="1867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quicktext</a:t>
            </a: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-GB" sz="1867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file.read</a:t>
            </a: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1867" dirty="0">
              <a:solidFill>
                <a:schemeClr val="bg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8" name="Google Shape;258;p32"/>
          <p:cNvSpPr txBox="1">
            <a:spLocks noGrp="1"/>
          </p:cNvSpPr>
          <p:nvPr>
            <p:ph type="title"/>
          </p:nvPr>
        </p:nvSpPr>
        <p:spPr>
          <a:xfrm>
            <a:off x="365893" y="668314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GB" dirty="0"/>
              <a:t>Read a text file</a:t>
            </a:r>
            <a:endParaRPr dirty="0"/>
          </a:p>
        </p:txBody>
      </p:sp>
      <p:sp>
        <p:nvSpPr>
          <p:cNvPr id="259" name="Google Shape;259;p32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2</a:t>
            </a:r>
            <a:endParaRPr/>
          </a:p>
        </p:txBody>
      </p:sp>
      <p:sp>
        <p:nvSpPr>
          <p:cNvPr id="260" name="Google Shape;260;p32"/>
          <p:cNvSpPr txBox="1">
            <a:spLocks noGrp="1"/>
          </p:cNvSpPr>
          <p:nvPr>
            <p:ph type="body" idx="2"/>
          </p:nvPr>
        </p:nvSpPr>
        <p:spPr>
          <a:xfrm>
            <a:off x="6315467" y="1560133"/>
            <a:ext cx="5462000" cy="18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dirty="0"/>
              <a:t>The text file </a:t>
            </a:r>
            <a:r>
              <a:rPr lang="en-GB" b="1" dirty="0"/>
              <a:t>must</a:t>
            </a:r>
            <a:r>
              <a:rPr lang="en-GB" dirty="0"/>
              <a:t> be saved in the same location as your Python file for the program to work. </a:t>
            </a:r>
            <a:endParaRPr dirty="0"/>
          </a:p>
        </p:txBody>
      </p:sp>
      <p:pic>
        <p:nvPicPr>
          <p:cNvPr id="261" name="Google Shape;261;p32"/>
          <p:cNvPicPr preferRelativeResize="0"/>
          <p:nvPr/>
        </p:nvPicPr>
        <p:blipFill>
          <a:blip r:embed="rId3">
            <a:alphaModFix/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848351" y="1719051"/>
            <a:ext cx="4953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2"/>
          <p:cNvSpPr txBox="1">
            <a:spLocks noGrp="1"/>
          </p:cNvSpPr>
          <p:nvPr>
            <p:ph type="body" idx="2"/>
          </p:nvPr>
        </p:nvSpPr>
        <p:spPr>
          <a:xfrm>
            <a:off x="6343651" y="3868190"/>
            <a:ext cx="5462000" cy="186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dirty="0"/>
              <a:t>You </a:t>
            </a:r>
            <a:r>
              <a:rPr lang="en-GB" b="1" dirty="0"/>
              <a:t>must not</a:t>
            </a:r>
            <a:r>
              <a:rPr lang="en-GB" dirty="0"/>
              <a:t> use the same variable name as the </a:t>
            </a:r>
            <a:r>
              <a:rPr lang="en-GB" b="1" dirty="0"/>
              <a:t>file identifier</a:t>
            </a:r>
            <a:r>
              <a:rPr lang="en-GB" dirty="0"/>
              <a:t> in your program.</a:t>
            </a:r>
            <a:endParaRPr dirty="0"/>
          </a:p>
        </p:txBody>
      </p:sp>
      <p:pic>
        <p:nvPicPr>
          <p:cNvPr id="263" name="Google Shape;263;p32"/>
          <p:cNvPicPr preferRelativeResize="0"/>
          <p:nvPr/>
        </p:nvPicPr>
        <p:blipFill>
          <a:blip r:embed="rId3">
            <a:alphaModFix/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820167" y="4061291"/>
            <a:ext cx="4953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2"/>
          <p:cNvSpPr/>
          <p:nvPr/>
        </p:nvSpPr>
        <p:spPr>
          <a:xfrm>
            <a:off x="489633" y="2282933"/>
            <a:ext cx="1397200" cy="282800"/>
          </a:xfrm>
          <a:prstGeom prst="roundRect">
            <a:avLst>
              <a:gd name="adj" fmla="val 16667"/>
            </a:avLst>
          </a:prstGeom>
          <a:solidFill>
            <a:srgbClr val="FFC000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65" name="Google Shape;265;p32"/>
          <p:cNvSpPr/>
          <p:nvPr/>
        </p:nvSpPr>
        <p:spPr>
          <a:xfrm>
            <a:off x="489633" y="1673333"/>
            <a:ext cx="661200" cy="282800"/>
          </a:xfrm>
          <a:prstGeom prst="roundRect">
            <a:avLst>
              <a:gd name="adj" fmla="val 16667"/>
            </a:avLst>
          </a:prstGeom>
          <a:solidFill>
            <a:srgbClr val="FFC000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4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Reading lines from a text file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279" name="Google Shape;279;p34"/>
          <p:cNvSpPr txBox="1">
            <a:spLocks noGrp="1"/>
          </p:cNvSpPr>
          <p:nvPr>
            <p:ph type="body" idx="2"/>
          </p:nvPr>
        </p:nvSpPr>
        <p:spPr>
          <a:xfrm>
            <a:off x="6315467" y="1560133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GB" dirty="0"/>
              <a:t>The </a:t>
            </a:r>
            <a:r>
              <a:rPr lang="en-GB" dirty="0" err="1">
                <a:latin typeface="Roboto Mono"/>
                <a:ea typeface="Roboto Mono"/>
                <a:cs typeface="Roboto Mono"/>
                <a:sym typeface="Roboto Mono"/>
              </a:rPr>
              <a:t>readline</a:t>
            </a:r>
            <a:r>
              <a:rPr lang="en-GB" dirty="0"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en-GB" dirty="0"/>
              <a:t> method is used to read a single line.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method will return the line with </a:t>
            </a:r>
            <a:r>
              <a:rPr lang="en-GB" dirty="0">
                <a:latin typeface="Roboto Mono"/>
                <a:ea typeface="Roboto Mono"/>
                <a:cs typeface="Roboto Mono"/>
                <a:sym typeface="Roboto Mono"/>
              </a:rPr>
              <a:t>\n</a:t>
            </a:r>
            <a:r>
              <a:rPr lang="en-GB" dirty="0"/>
              <a:t> at the end of the string, adding a new line. </a:t>
            </a:r>
            <a:endParaRPr dirty="0"/>
          </a:p>
        </p:txBody>
      </p:sp>
      <p:sp>
        <p:nvSpPr>
          <p:cNvPr id="280" name="Google Shape;280;p34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3</a:t>
            </a:r>
            <a:endParaRPr/>
          </a:p>
        </p:txBody>
      </p:sp>
      <p:graphicFrame>
        <p:nvGraphicFramePr>
          <p:cNvPr id="281" name="Google Shape;281;p34"/>
          <p:cNvGraphicFramePr/>
          <p:nvPr/>
        </p:nvGraphicFramePr>
        <p:xfrm>
          <a:off x="414534" y="1560167"/>
          <a:ext cx="5469700" cy="90085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08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file = open("quick.txt","r")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print(file.readline())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2" name="Google Shape;282;p34"/>
          <p:cNvSpPr/>
          <p:nvPr/>
        </p:nvSpPr>
        <p:spPr>
          <a:xfrm>
            <a:off x="2179100" y="2113133"/>
            <a:ext cx="1462000" cy="282800"/>
          </a:xfrm>
          <a:prstGeom prst="roundRect">
            <a:avLst>
              <a:gd name="adj" fmla="val 16667"/>
            </a:avLst>
          </a:prstGeom>
          <a:solidFill>
            <a:srgbClr val="5B5BA5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aphicFrame>
        <p:nvGraphicFramePr>
          <p:cNvPr id="283" name="Google Shape;283;p34"/>
          <p:cNvGraphicFramePr/>
          <p:nvPr/>
        </p:nvGraphicFramePr>
        <p:xfrm>
          <a:off x="414533" y="3272700"/>
          <a:ext cx="5462000" cy="99127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9127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&gt;&gt;&gt; 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4" name="Google Shape;284;p34"/>
          <p:cNvSpPr/>
          <p:nvPr/>
        </p:nvSpPr>
        <p:spPr>
          <a:xfrm>
            <a:off x="910733" y="3635067"/>
            <a:ext cx="258800" cy="282800"/>
          </a:xfrm>
          <a:prstGeom prst="roundRect">
            <a:avLst>
              <a:gd name="adj" fmla="val 16667"/>
            </a:avLst>
          </a:prstGeom>
          <a:solidFill>
            <a:srgbClr val="5B5BA5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285" name="Google Shape;285;p34"/>
          <p:cNvCxnSpPr>
            <a:stCxn id="279" idx="1"/>
            <a:endCxn id="284" idx="3"/>
          </p:cNvCxnSpPr>
          <p:nvPr/>
        </p:nvCxnSpPr>
        <p:spPr>
          <a:xfrm rot="10800000">
            <a:off x="1169467" y="3776333"/>
            <a:ext cx="5146000" cy="223200"/>
          </a:xfrm>
          <a:prstGeom prst="curvedConnector3">
            <a:avLst>
              <a:gd name="adj1" fmla="val 49999"/>
            </a:avLst>
          </a:prstGeom>
          <a:noFill/>
          <a:ln w="38100" cap="flat" cmpd="sng">
            <a:solidFill>
              <a:srgbClr val="D9272E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Reading lines from a text file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291" name="Google Shape;291;p35"/>
          <p:cNvSpPr txBox="1">
            <a:spLocks noGrp="1"/>
          </p:cNvSpPr>
          <p:nvPr>
            <p:ph type="body" idx="2"/>
          </p:nvPr>
        </p:nvSpPr>
        <p:spPr>
          <a:xfrm>
            <a:off x="6315467" y="1560133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/>
              <a:t>Each time the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readline()</a:t>
            </a:r>
            <a:r>
              <a:rPr lang="en-GB"/>
              <a:t> method is called, the next line in the text file will be returned. </a:t>
            </a:r>
            <a:endParaRPr/>
          </a:p>
        </p:txBody>
      </p:sp>
      <p:sp>
        <p:nvSpPr>
          <p:cNvPr id="292" name="Google Shape;292;p35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3</a:t>
            </a:r>
            <a:endParaRPr/>
          </a:p>
        </p:txBody>
      </p:sp>
      <p:graphicFrame>
        <p:nvGraphicFramePr>
          <p:cNvPr id="293" name="Google Shape;293;p35"/>
          <p:cNvGraphicFramePr/>
          <p:nvPr/>
        </p:nvGraphicFramePr>
        <p:xfrm>
          <a:off x="414534" y="1560167"/>
          <a:ext cx="5469700" cy="114469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46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file = open("quick.txt","r")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print(file.readline())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print(file.readline())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4" name="Google Shape;294;p35"/>
          <p:cNvGraphicFramePr/>
          <p:nvPr/>
        </p:nvGraphicFramePr>
        <p:xfrm>
          <a:off x="414533" y="3272700"/>
          <a:ext cx="5462000" cy="155210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5210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quick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&gt;&gt;&gt; 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5" name="Google Shape;295;p35"/>
          <p:cNvSpPr/>
          <p:nvPr/>
        </p:nvSpPr>
        <p:spPr>
          <a:xfrm>
            <a:off x="878833" y="2358400"/>
            <a:ext cx="2818800" cy="282800"/>
          </a:xfrm>
          <a:prstGeom prst="roundRect">
            <a:avLst>
              <a:gd name="adj" fmla="val 16667"/>
            </a:avLst>
          </a:prstGeom>
          <a:solidFill>
            <a:srgbClr val="5B5BA5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96" name="Google Shape;296;p35"/>
          <p:cNvSpPr/>
          <p:nvPr/>
        </p:nvSpPr>
        <p:spPr>
          <a:xfrm>
            <a:off x="878833" y="3914467"/>
            <a:ext cx="2818800" cy="571600"/>
          </a:xfrm>
          <a:prstGeom prst="roundRect">
            <a:avLst>
              <a:gd name="adj" fmla="val 16667"/>
            </a:avLst>
          </a:prstGeom>
          <a:solidFill>
            <a:srgbClr val="5B5BA5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Reading lines from a text file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302" name="Google Shape;302;p36"/>
          <p:cNvSpPr txBox="1">
            <a:spLocks noGrp="1"/>
          </p:cNvSpPr>
          <p:nvPr>
            <p:ph type="body" idx="2"/>
          </p:nvPr>
        </p:nvSpPr>
        <p:spPr>
          <a:xfrm>
            <a:off x="6315467" y="1560133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GB" dirty="0"/>
              <a:t>You can also </a:t>
            </a:r>
            <a:r>
              <a:rPr lang="en-GB" b="1" dirty="0"/>
              <a:t>iterate </a:t>
            </a:r>
            <a:r>
              <a:rPr lang="en-GB" dirty="0"/>
              <a:t>over a </a:t>
            </a:r>
            <a:r>
              <a:rPr lang="en-GB" b="1" dirty="0"/>
              <a:t>text file</a:t>
            </a:r>
            <a:r>
              <a:rPr lang="en-GB" dirty="0"/>
              <a:t> using a </a:t>
            </a:r>
            <a:r>
              <a:rPr lang="en-GB" b="1" dirty="0"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GB" b="1" dirty="0"/>
              <a:t> loop</a:t>
            </a:r>
            <a:r>
              <a:rPr lang="en-GB" dirty="0"/>
              <a:t>.</a:t>
            </a:r>
            <a:endParaRPr dirty="0"/>
          </a:p>
          <a:p>
            <a:pPr marL="0" indent="0">
              <a:spcBef>
                <a:spcPts val="2133"/>
              </a:spcBef>
              <a:buNone/>
            </a:pPr>
            <a:r>
              <a:rPr lang="en-GB" b="1" dirty="0">
                <a:solidFill>
                  <a:srgbClr val="FFC000"/>
                </a:solidFill>
              </a:rPr>
              <a:t>Question</a:t>
            </a:r>
            <a:endParaRPr b="1" dirty="0">
              <a:solidFill>
                <a:srgbClr val="FFC000"/>
              </a:solidFill>
            </a:endParaRPr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r>
              <a:rPr lang="en-GB" dirty="0"/>
              <a:t>What do you think the output will be when this program is executed?</a:t>
            </a:r>
            <a:endParaRPr dirty="0"/>
          </a:p>
        </p:txBody>
      </p:sp>
      <p:sp>
        <p:nvSpPr>
          <p:cNvPr id="303" name="Google Shape;303;p36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3</a:t>
            </a:r>
            <a:endParaRPr/>
          </a:p>
        </p:txBody>
      </p:sp>
      <p:graphicFrame>
        <p:nvGraphicFramePr>
          <p:cNvPr id="304" name="Google Shape;304;p36"/>
          <p:cNvGraphicFramePr/>
          <p:nvPr>
            <p:extLst>
              <p:ext uri="{D42A27DB-BD31-4B8C-83A1-F6EECF244321}">
                <p14:modId xmlns:p14="http://schemas.microsoft.com/office/powerpoint/2010/main" val="871897956"/>
              </p:ext>
            </p:extLst>
          </p:nvPr>
        </p:nvGraphicFramePr>
        <p:xfrm>
          <a:off x="414533" y="1675353"/>
          <a:ext cx="5469700" cy="114469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46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file = open("</a:t>
                      </a: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quick.txt","r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")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for line in file: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  print(line)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5" name="Google Shape;305;p36"/>
          <p:cNvSpPr/>
          <p:nvPr/>
        </p:nvSpPr>
        <p:spPr>
          <a:xfrm>
            <a:off x="1397667" y="2112700"/>
            <a:ext cx="583200" cy="270000"/>
          </a:xfrm>
          <a:prstGeom prst="roundRect">
            <a:avLst>
              <a:gd name="adj" fmla="val 16667"/>
            </a:avLst>
          </a:prstGeom>
          <a:solidFill>
            <a:srgbClr val="5B5BA5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06" name="Google Shape;306;p36"/>
          <p:cNvSpPr/>
          <p:nvPr/>
        </p:nvSpPr>
        <p:spPr>
          <a:xfrm>
            <a:off x="2385367" y="2112700"/>
            <a:ext cx="520000" cy="270000"/>
          </a:xfrm>
          <a:prstGeom prst="roundRect">
            <a:avLst>
              <a:gd name="adj" fmla="val 16667"/>
            </a:avLst>
          </a:prstGeom>
          <a:solidFill>
            <a:srgbClr val="5B5BA5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7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Reading lines from a text file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312" name="Google Shape;312;p37"/>
          <p:cNvSpPr txBox="1">
            <a:spLocks noGrp="1"/>
          </p:cNvSpPr>
          <p:nvPr>
            <p:ph type="body" idx="2"/>
          </p:nvPr>
        </p:nvSpPr>
        <p:spPr>
          <a:xfrm>
            <a:off x="6315467" y="1560133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FFC000"/>
                </a:solidFill>
              </a:rPr>
              <a:t>Answer</a:t>
            </a:r>
            <a:endParaRPr dirty="0">
              <a:solidFill>
                <a:schemeClr val="accent3"/>
              </a:solidFill>
            </a:endParaRPr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r>
              <a:rPr lang="en-GB" dirty="0"/>
              <a:t>For every line in the text file, it will print the line, along with a line space. </a:t>
            </a:r>
            <a:endParaRPr dirty="0"/>
          </a:p>
        </p:txBody>
      </p:sp>
      <p:sp>
        <p:nvSpPr>
          <p:cNvPr id="313" name="Google Shape;313;p37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3</a:t>
            </a:r>
            <a:endParaRPr/>
          </a:p>
        </p:txBody>
      </p:sp>
      <p:graphicFrame>
        <p:nvGraphicFramePr>
          <p:cNvPr id="314" name="Google Shape;314;p37"/>
          <p:cNvGraphicFramePr/>
          <p:nvPr>
            <p:extLst>
              <p:ext uri="{D42A27DB-BD31-4B8C-83A1-F6EECF244321}">
                <p14:modId xmlns:p14="http://schemas.microsoft.com/office/powerpoint/2010/main" val="2071375091"/>
              </p:ext>
            </p:extLst>
          </p:nvPr>
        </p:nvGraphicFramePr>
        <p:xfrm>
          <a:off x="750865" y="1560133"/>
          <a:ext cx="5019314" cy="455845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00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9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664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quick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brown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fox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jumps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over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the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lazy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dog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&gt;&gt;&gt;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8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Reading lines from a text file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320" name="Google Shape;320;p38"/>
          <p:cNvSpPr txBox="1">
            <a:spLocks noGrp="1"/>
          </p:cNvSpPr>
          <p:nvPr>
            <p:ph type="body" idx="2"/>
          </p:nvPr>
        </p:nvSpPr>
        <p:spPr>
          <a:xfrm>
            <a:off x="6315467" y="1560133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dirty="0"/>
              <a:t>To remove the extra line space, the </a:t>
            </a:r>
            <a:r>
              <a:rPr lang="en-GB" dirty="0">
                <a:latin typeface="Roboto Mono"/>
                <a:ea typeface="Roboto Mono"/>
                <a:cs typeface="Roboto Mono"/>
                <a:sym typeface="Roboto Mono"/>
              </a:rPr>
              <a:t>strip()</a:t>
            </a:r>
            <a:r>
              <a:rPr lang="en-GB" dirty="0"/>
              <a:t> method can be used. </a:t>
            </a:r>
            <a:endParaRPr dirty="0"/>
          </a:p>
        </p:txBody>
      </p:sp>
      <p:sp>
        <p:nvSpPr>
          <p:cNvPr id="321" name="Google Shape;321;p38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3</a:t>
            </a:r>
            <a:endParaRPr/>
          </a:p>
        </p:txBody>
      </p:sp>
      <p:graphicFrame>
        <p:nvGraphicFramePr>
          <p:cNvPr id="322" name="Google Shape;322;p38"/>
          <p:cNvGraphicFramePr/>
          <p:nvPr>
            <p:extLst>
              <p:ext uri="{D42A27DB-BD31-4B8C-83A1-F6EECF244321}">
                <p14:modId xmlns:p14="http://schemas.microsoft.com/office/powerpoint/2010/main" val="1491093570"/>
              </p:ext>
            </p:extLst>
          </p:nvPr>
        </p:nvGraphicFramePr>
        <p:xfrm>
          <a:off x="589034" y="1560133"/>
          <a:ext cx="5103397" cy="114469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06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6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46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file = open("</a:t>
                      </a: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quick.txt","r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")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for line in file: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  print(</a:t>
                      </a: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line.strip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())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3" name="Google Shape;323;p38"/>
          <p:cNvSpPr/>
          <p:nvPr/>
        </p:nvSpPr>
        <p:spPr>
          <a:xfrm>
            <a:off x="2658933" y="2377200"/>
            <a:ext cx="963600" cy="232000"/>
          </a:xfrm>
          <a:prstGeom prst="roundRect">
            <a:avLst>
              <a:gd name="adj" fmla="val 16667"/>
            </a:avLst>
          </a:prstGeom>
          <a:solidFill>
            <a:srgbClr val="5B5BA5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aphicFrame>
        <p:nvGraphicFramePr>
          <p:cNvPr id="324" name="Google Shape;324;p38"/>
          <p:cNvGraphicFramePr/>
          <p:nvPr>
            <p:extLst>
              <p:ext uri="{D42A27DB-BD31-4B8C-83A1-F6EECF244321}">
                <p14:modId xmlns:p14="http://schemas.microsoft.com/office/powerpoint/2010/main" val="3236994625"/>
              </p:ext>
            </p:extLst>
          </p:nvPr>
        </p:nvGraphicFramePr>
        <p:xfrm>
          <a:off x="589033" y="3251679"/>
          <a:ext cx="5103398" cy="295418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0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6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418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quick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brown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fox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jumps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over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the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lazy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dog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&gt;&gt;&gt; 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9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Reading lines from a text file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330" name="Google Shape;330;p39"/>
          <p:cNvSpPr txBox="1">
            <a:spLocks noGrp="1"/>
          </p:cNvSpPr>
          <p:nvPr>
            <p:ph type="body" idx="2"/>
          </p:nvPr>
        </p:nvSpPr>
        <p:spPr>
          <a:xfrm>
            <a:off x="6315467" y="1560133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GB" dirty="0"/>
              <a:t>Another tool for reading lines is the </a:t>
            </a:r>
            <a:r>
              <a:rPr lang="en-GB" dirty="0" err="1">
                <a:latin typeface="Roboto Mono"/>
                <a:ea typeface="Roboto Mono"/>
                <a:cs typeface="Roboto Mono"/>
                <a:sym typeface="Roboto Mono"/>
              </a:rPr>
              <a:t>readlines</a:t>
            </a:r>
            <a:r>
              <a:rPr lang="en-GB" dirty="0"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en-GB" dirty="0"/>
              <a:t> method. </a:t>
            </a:r>
            <a:endParaRPr dirty="0"/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r>
              <a:rPr lang="en-GB" dirty="0"/>
              <a:t>You can use this to place each </a:t>
            </a:r>
            <a:r>
              <a:rPr lang="en-GB" b="1" dirty="0"/>
              <a:t>line </a:t>
            </a:r>
            <a:r>
              <a:rPr lang="en-GB" dirty="0"/>
              <a:t>of the </a:t>
            </a:r>
            <a:r>
              <a:rPr lang="en-GB" b="1" dirty="0"/>
              <a:t>text file</a:t>
            </a:r>
            <a:r>
              <a:rPr lang="en-GB" dirty="0"/>
              <a:t> as an item in a </a:t>
            </a:r>
            <a:r>
              <a:rPr lang="en-GB" b="1" dirty="0"/>
              <a:t>list</a:t>
            </a:r>
            <a:r>
              <a:rPr lang="en-GB" dirty="0"/>
              <a:t>. </a:t>
            </a:r>
            <a:endParaRPr dirty="0"/>
          </a:p>
        </p:txBody>
      </p:sp>
      <p:sp>
        <p:nvSpPr>
          <p:cNvPr id="331" name="Google Shape;331;p39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3</a:t>
            </a:r>
            <a:endParaRPr/>
          </a:p>
        </p:txBody>
      </p:sp>
      <p:graphicFrame>
        <p:nvGraphicFramePr>
          <p:cNvPr id="332" name="Google Shape;332;p39"/>
          <p:cNvGraphicFramePr/>
          <p:nvPr>
            <p:extLst>
              <p:ext uri="{D42A27DB-BD31-4B8C-83A1-F6EECF244321}">
                <p14:modId xmlns:p14="http://schemas.microsoft.com/office/powerpoint/2010/main" val="994362651"/>
              </p:ext>
            </p:extLst>
          </p:nvPr>
        </p:nvGraphicFramePr>
        <p:xfrm>
          <a:off x="624739" y="1793970"/>
          <a:ext cx="5103397" cy="13885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06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6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85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file = open("</a:t>
                      </a: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quick.txt","r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")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quicklist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= </a:t>
                      </a: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file.readlines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()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print(</a:t>
                      </a: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quicklist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)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3" name="Google Shape;333;p39"/>
          <p:cNvSpPr/>
          <p:nvPr/>
        </p:nvSpPr>
        <p:spPr>
          <a:xfrm>
            <a:off x="2911280" y="2121272"/>
            <a:ext cx="1481200" cy="282800"/>
          </a:xfrm>
          <a:prstGeom prst="roundRect">
            <a:avLst>
              <a:gd name="adj" fmla="val 16667"/>
            </a:avLst>
          </a:prstGeom>
          <a:solidFill>
            <a:srgbClr val="FFC000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aphicFrame>
        <p:nvGraphicFramePr>
          <p:cNvPr id="334" name="Google Shape;334;p39"/>
          <p:cNvGraphicFramePr/>
          <p:nvPr>
            <p:extLst>
              <p:ext uri="{D42A27DB-BD31-4B8C-83A1-F6EECF244321}">
                <p14:modId xmlns:p14="http://schemas.microsoft.com/office/powerpoint/2010/main" val="1899742024"/>
              </p:ext>
            </p:extLst>
          </p:nvPr>
        </p:nvGraphicFramePr>
        <p:xfrm>
          <a:off x="624740" y="3619541"/>
          <a:ext cx="5103397" cy="127169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0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60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716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['A\n', 'quick\n', 'brown\n', 'fox\n', 'jumps\n', 'over\n', 'the\n', 'lazy\n', 'dog']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&gt;&gt;&gt; 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0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GB" dirty="0">
                <a:solidFill>
                  <a:srgbClr val="FFC000"/>
                </a:solidFill>
              </a:rPr>
              <a:t>Reading lines from a text file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340" name="Google Shape;340;p40"/>
          <p:cNvSpPr txBox="1">
            <a:spLocks noGrp="1"/>
          </p:cNvSpPr>
          <p:nvPr>
            <p:ph type="body" idx="2"/>
          </p:nvPr>
        </p:nvSpPr>
        <p:spPr>
          <a:xfrm>
            <a:off x="6315467" y="1560133"/>
            <a:ext cx="5462000" cy="137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/>
              <a:t>The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\n</a:t>
            </a:r>
            <a:r>
              <a:rPr lang="en-GB"/>
              <a:t> becomes more apparent when you see the data in this way. </a:t>
            </a:r>
            <a:endParaRPr/>
          </a:p>
        </p:txBody>
      </p:sp>
      <p:sp>
        <p:nvSpPr>
          <p:cNvPr id="341" name="Google Shape;341;p40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3</a:t>
            </a:r>
            <a:endParaRPr/>
          </a:p>
        </p:txBody>
      </p:sp>
      <p:graphicFrame>
        <p:nvGraphicFramePr>
          <p:cNvPr id="342" name="Google Shape;342;p40"/>
          <p:cNvGraphicFramePr/>
          <p:nvPr/>
        </p:nvGraphicFramePr>
        <p:xfrm>
          <a:off x="414534" y="1560167"/>
          <a:ext cx="5469700" cy="13885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85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file = open("quick.txt","r")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quicklist = file.readlines()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print(quicklist)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3" name="Google Shape;343;p40"/>
          <p:cNvGraphicFramePr/>
          <p:nvPr/>
        </p:nvGraphicFramePr>
        <p:xfrm>
          <a:off x="414533" y="3272700"/>
          <a:ext cx="5462000" cy="127169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716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['A\n', 'quick\n', 'brown\n', 'fox\n', 'jumps\n', 'over\n', 'the\n', 'lazy\n', 'dog']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&gt;&gt;&gt; 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4" name="Google Shape;344;p40"/>
          <p:cNvSpPr txBox="1">
            <a:spLocks noGrp="1"/>
          </p:cNvSpPr>
          <p:nvPr>
            <p:ph type="body" idx="2"/>
          </p:nvPr>
        </p:nvSpPr>
        <p:spPr>
          <a:xfrm>
            <a:off x="2607733" y="4798400"/>
            <a:ext cx="3268800" cy="137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/>
              <a:t>Note that </a:t>
            </a:r>
            <a:r>
              <a:rPr lang="en-GB" sz="1867">
                <a:latin typeface="Roboto Mono"/>
                <a:ea typeface="Roboto Mono"/>
                <a:cs typeface="Roboto Mono"/>
                <a:sym typeface="Roboto Mono"/>
              </a:rPr>
              <a:t>\n</a:t>
            </a:r>
            <a:r>
              <a:rPr lang="en-GB" sz="1867"/>
              <a:t> is not added to the final line in the text file.  </a:t>
            </a:r>
            <a:endParaRPr sz="1867"/>
          </a:p>
        </p:txBody>
      </p:sp>
      <p:pic>
        <p:nvPicPr>
          <p:cNvPr id="345" name="Google Shape;345;p40"/>
          <p:cNvPicPr preferRelativeResize="0"/>
          <p:nvPr/>
        </p:nvPicPr>
        <p:blipFill>
          <a:blip r:embed="rId3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96383" y="4923323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0"/>
          <p:cNvSpPr/>
          <p:nvPr/>
        </p:nvSpPr>
        <p:spPr>
          <a:xfrm>
            <a:off x="933900" y="3899033"/>
            <a:ext cx="622800" cy="282800"/>
          </a:xfrm>
          <a:prstGeom prst="roundRect">
            <a:avLst>
              <a:gd name="adj" fmla="val 16667"/>
            </a:avLst>
          </a:prstGeom>
          <a:solidFill>
            <a:srgbClr val="5B5BA5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347" name="Google Shape;347;p40"/>
          <p:cNvCxnSpPr>
            <a:stCxn id="344" idx="0"/>
            <a:endCxn id="346" idx="3"/>
          </p:cNvCxnSpPr>
          <p:nvPr/>
        </p:nvCxnSpPr>
        <p:spPr>
          <a:xfrm rot="5400000" flipH="1">
            <a:off x="2520333" y="3076600"/>
            <a:ext cx="758000" cy="2685600"/>
          </a:xfrm>
          <a:prstGeom prst="curvedConnector2">
            <a:avLst/>
          </a:prstGeom>
          <a:noFill/>
          <a:ln w="9525" cap="flat" cmpd="sng">
            <a:solidFill>
              <a:srgbClr val="D9272E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1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Reading lines from a text file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353" name="Google Shape;353;p41"/>
          <p:cNvSpPr txBox="1">
            <a:spLocks noGrp="1"/>
          </p:cNvSpPr>
          <p:nvPr>
            <p:ph type="body" idx="2"/>
          </p:nvPr>
        </p:nvSpPr>
        <p:spPr>
          <a:xfrm>
            <a:off x="6315467" y="1560133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dirty="0"/>
              <a:t>If you want to </a:t>
            </a:r>
            <a:r>
              <a:rPr lang="en-GB" b="1" dirty="0"/>
              <a:t>populate </a:t>
            </a:r>
            <a:r>
              <a:rPr lang="en-GB" dirty="0"/>
              <a:t>a </a:t>
            </a:r>
            <a:r>
              <a:rPr lang="en-GB" b="1" dirty="0"/>
              <a:t>list </a:t>
            </a:r>
            <a:r>
              <a:rPr lang="en-GB" dirty="0"/>
              <a:t>with lines from a </a:t>
            </a:r>
            <a:r>
              <a:rPr lang="en-GB" b="1" dirty="0"/>
              <a:t>text file</a:t>
            </a:r>
            <a:r>
              <a:rPr lang="en-GB" dirty="0"/>
              <a:t> but you </a:t>
            </a:r>
            <a:r>
              <a:rPr lang="en-GB" b="1" dirty="0"/>
              <a:t>don’t</a:t>
            </a:r>
            <a:r>
              <a:rPr lang="en-GB" dirty="0"/>
              <a:t> want </a:t>
            </a:r>
            <a:r>
              <a:rPr lang="en-GB" dirty="0">
                <a:latin typeface="Roboto Mono"/>
                <a:ea typeface="Roboto Mono"/>
                <a:cs typeface="Roboto Mono"/>
                <a:sym typeface="Roboto Mono"/>
              </a:rPr>
              <a:t>\n</a:t>
            </a:r>
            <a:r>
              <a:rPr lang="en-GB" dirty="0"/>
              <a:t> included in the list, </a:t>
            </a:r>
          </a:p>
          <a:p>
            <a:pPr marL="0" indent="0">
              <a:spcAft>
                <a:spcPts val="2133"/>
              </a:spcAft>
              <a:buNone/>
            </a:pPr>
            <a:r>
              <a:rPr lang="en-GB" dirty="0"/>
              <a:t>you can write a </a:t>
            </a:r>
            <a:r>
              <a:rPr lang="en-GB" b="1" dirty="0"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GB" b="1" dirty="0"/>
              <a:t> loop</a:t>
            </a:r>
            <a:r>
              <a:rPr lang="en-GB" dirty="0"/>
              <a:t> to populate the list instead.</a:t>
            </a:r>
          </a:p>
        </p:txBody>
      </p:sp>
      <p:sp>
        <p:nvSpPr>
          <p:cNvPr id="354" name="Google Shape;354;p41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3</a:t>
            </a:r>
            <a:endParaRPr/>
          </a:p>
        </p:txBody>
      </p:sp>
      <p:graphicFrame>
        <p:nvGraphicFramePr>
          <p:cNvPr id="355" name="Google Shape;355;p41"/>
          <p:cNvGraphicFramePr/>
          <p:nvPr/>
        </p:nvGraphicFramePr>
        <p:xfrm>
          <a:off x="414534" y="1560167"/>
          <a:ext cx="5469700" cy="212005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00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file = open("quick.txt","r")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quicklist = []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for line in file: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  quicklist.append(line.strip())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print(quicklist)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6" name="Google Shape;356;p41"/>
          <p:cNvSpPr/>
          <p:nvPr/>
        </p:nvSpPr>
        <p:spPr>
          <a:xfrm>
            <a:off x="907133" y="2112700"/>
            <a:ext cx="1790800" cy="270000"/>
          </a:xfrm>
          <a:prstGeom prst="roundRect">
            <a:avLst>
              <a:gd name="adj" fmla="val 16667"/>
            </a:avLst>
          </a:prstGeom>
          <a:solidFill>
            <a:srgbClr val="FFC000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57" name="Google Shape;357;p41"/>
          <p:cNvSpPr/>
          <p:nvPr/>
        </p:nvSpPr>
        <p:spPr>
          <a:xfrm>
            <a:off x="1376000" y="2848500"/>
            <a:ext cx="3765200" cy="270000"/>
          </a:xfrm>
          <a:prstGeom prst="roundRect">
            <a:avLst>
              <a:gd name="adj" fmla="val 16667"/>
            </a:avLst>
          </a:prstGeom>
          <a:solidFill>
            <a:srgbClr val="FFC000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aphicFrame>
        <p:nvGraphicFramePr>
          <p:cNvPr id="358" name="Google Shape;358;p41"/>
          <p:cNvGraphicFramePr/>
          <p:nvPr/>
        </p:nvGraphicFramePr>
        <p:xfrm>
          <a:off x="414533" y="4085500"/>
          <a:ext cx="5462000" cy="99127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9127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['A', 'quick', 'brown', 'fox', 'jumps', 'over', 'the', 'lazy', 'dog']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&gt;&gt;&gt; 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2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Default data type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364" name="Google Shape;364;p42"/>
          <p:cNvSpPr txBox="1">
            <a:spLocks noGrp="1"/>
          </p:cNvSpPr>
          <p:nvPr>
            <p:ph type="body" idx="2"/>
          </p:nvPr>
        </p:nvSpPr>
        <p:spPr>
          <a:xfrm>
            <a:off x="7024267" y="1560133"/>
            <a:ext cx="47532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dirty="0"/>
              <a:t>When the data is copied from a text file, it will automatically be held using the </a:t>
            </a:r>
            <a:r>
              <a:rPr lang="en-GB" b="1" dirty="0"/>
              <a:t>string </a:t>
            </a:r>
            <a:r>
              <a:rPr lang="en-GB" dirty="0"/>
              <a:t>data type. </a:t>
            </a:r>
            <a:endParaRPr dirty="0"/>
          </a:p>
        </p:txBody>
      </p:sp>
      <p:graphicFrame>
        <p:nvGraphicFramePr>
          <p:cNvPr id="366" name="Google Shape;366;p42"/>
          <p:cNvGraphicFramePr/>
          <p:nvPr/>
        </p:nvGraphicFramePr>
        <p:xfrm>
          <a:off x="414533" y="1560167"/>
          <a:ext cx="6056800" cy="212005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00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file = open("numbers.txt","r")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numberlist = []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for line in file: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  numberlist.append(line.strip())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print(numberlist)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7" name="Google Shape;367;p42"/>
          <p:cNvGraphicFramePr/>
          <p:nvPr/>
        </p:nvGraphicFramePr>
        <p:xfrm>
          <a:off x="414534" y="4085500"/>
          <a:ext cx="6098733" cy="99127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6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9127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['1', '2', '3', '4', '5', '6', '7', '8', '9', '10']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&gt;&gt;&gt;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8" name="Google Shape;368;p42"/>
          <p:cNvSpPr txBox="1">
            <a:spLocks noGrp="1"/>
          </p:cNvSpPr>
          <p:nvPr>
            <p:ph type="body" idx="2"/>
          </p:nvPr>
        </p:nvSpPr>
        <p:spPr>
          <a:xfrm>
            <a:off x="2607734" y="5156553"/>
            <a:ext cx="3268800" cy="137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 dirty="0"/>
              <a:t>Note the </a:t>
            </a:r>
            <a:r>
              <a:rPr lang="en-GB" sz="1867" dirty="0">
                <a:latin typeface="Roboto Mono"/>
                <a:ea typeface="Roboto Mono"/>
                <a:cs typeface="Roboto Mono"/>
                <a:sym typeface="Roboto Mono"/>
              </a:rPr>
              <a:t>''</a:t>
            </a:r>
            <a:r>
              <a:rPr lang="en-GB" sz="1867" dirty="0"/>
              <a:t> around each number in the list. </a:t>
            </a:r>
            <a:endParaRPr sz="1867" dirty="0"/>
          </a:p>
        </p:txBody>
      </p:sp>
      <p:pic>
        <p:nvPicPr>
          <p:cNvPr id="369" name="Google Shape;369;p42"/>
          <p:cNvPicPr preferRelativeResize="0"/>
          <p:nvPr/>
        </p:nvPicPr>
        <p:blipFill>
          <a:blip r:embed="rId3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79418" y="526649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42"/>
          <p:cNvSpPr/>
          <p:nvPr/>
        </p:nvSpPr>
        <p:spPr>
          <a:xfrm>
            <a:off x="1556500" y="4445367"/>
            <a:ext cx="571600" cy="231200"/>
          </a:xfrm>
          <a:prstGeom prst="roundRect">
            <a:avLst>
              <a:gd name="adj" fmla="val 16667"/>
            </a:avLst>
          </a:prstGeom>
          <a:solidFill>
            <a:srgbClr val="FFC000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371" name="Google Shape;371;p42"/>
          <p:cNvCxnSpPr>
            <a:stCxn id="368" idx="0"/>
            <a:endCxn id="370" idx="3"/>
          </p:cNvCxnSpPr>
          <p:nvPr/>
        </p:nvCxnSpPr>
        <p:spPr>
          <a:xfrm rot="16200000" flipV="1">
            <a:off x="2887324" y="3801743"/>
            <a:ext cx="595586" cy="2114034"/>
          </a:xfrm>
          <a:prstGeom prst="curvedConnector2">
            <a:avLst/>
          </a:prstGeom>
          <a:noFill/>
          <a:ln w="19050" cap="flat" cmpd="sng">
            <a:solidFill>
              <a:srgbClr val="D9272E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3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Default data type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377" name="Google Shape;377;p43"/>
          <p:cNvSpPr txBox="1">
            <a:spLocks noGrp="1"/>
          </p:cNvSpPr>
          <p:nvPr>
            <p:ph type="body" idx="2"/>
          </p:nvPr>
        </p:nvSpPr>
        <p:spPr>
          <a:xfrm>
            <a:off x="7024267" y="1560133"/>
            <a:ext cx="47532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GB"/>
              <a:t>To change the </a:t>
            </a:r>
            <a:r>
              <a:rPr lang="en-GB" b="1"/>
              <a:t>data type</a:t>
            </a:r>
            <a:r>
              <a:rPr lang="en-GB"/>
              <a:t>, you will need to use </a:t>
            </a:r>
            <a:r>
              <a:rPr lang="en-GB" b="1"/>
              <a:t>casting</a:t>
            </a:r>
            <a:r>
              <a:rPr lang="en-GB"/>
              <a:t>.</a:t>
            </a:r>
            <a:endParaRPr/>
          </a:p>
          <a:p>
            <a:pPr marL="0" indent="0">
              <a:spcBef>
                <a:spcPts val="2133"/>
              </a:spcBef>
              <a:buNone/>
            </a:pPr>
            <a:r>
              <a:rPr lang="en-GB"/>
              <a:t>This data should be held as an </a:t>
            </a:r>
            <a:r>
              <a:rPr lang="en-GB" b="1"/>
              <a:t>integer </a:t>
            </a:r>
            <a:r>
              <a:rPr lang="en-GB"/>
              <a:t>so you can cast it as an integer as you populate the list. </a:t>
            </a:r>
            <a:endParaRPr/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endParaRPr/>
          </a:p>
        </p:txBody>
      </p:sp>
      <p:graphicFrame>
        <p:nvGraphicFramePr>
          <p:cNvPr id="379" name="Google Shape;379;p43"/>
          <p:cNvGraphicFramePr/>
          <p:nvPr/>
        </p:nvGraphicFramePr>
        <p:xfrm>
          <a:off x="414533" y="1560167"/>
          <a:ext cx="6056800" cy="212005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00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file = open("numbers.txt","r")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numberlist = []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for line in file: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  numberlist.append(int(line.strip()))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print(numberlist)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0" name="Google Shape;380;p43"/>
          <p:cNvGraphicFramePr/>
          <p:nvPr/>
        </p:nvGraphicFramePr>
        <p:xfrm>
          <a:off x="414534" y="4085500"/>
          <a:ext cx="6098733" cy="71086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6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086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[1, 2, 3, 4, 5, 6, 7, 8, 9, 10]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&gt;&gt;&gt;</a:t>
                      </a:r>
                      <a:endParaRPr sz="16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1" name="Google Shape;381;p43"/>
          <p:cNvSpPr txBox="1">
            <a:spLocks noGrp="1"/>
          </p:cNvSpPr>
          <p:nvPr>
            <p:ph type="body" idx="2"/>
          </p:nvPr>
        </p:nvSpPr>
        <p:spPr>
          <a:xfrm>
            <a:off x="2607734" y="5062933"/>
            <a:ext cx="3268800" cy="137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 dirty="0"/>
              <a:t>Note that there are no longer quotes around each number. </a:t>
            </a:r>
            <a:endParaRPr sz="1867" dirty="0"/>
          </a:p>
        </p:txBody>
      </p:sp>
      <p:pic>
        <p:nvPicPr>
          <p:cNvPr id="382" name="Google Shape;382;p43"/>
          <p:cNvPicPr preferRelativeResize="0"/>
          <p:nvPr/>
        </p:nvPicPr>
        <p:blipFill>
          <a:blip r:embed="rId3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036234" y="5156518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3"/>
          <p:cNvSpPr/>
          <p:nvPr/>
        </p:nvSpPr>
        <p:spPr>
          <a:xfrm>
            <a:off x="1094267" y="4171800"/>
            <a:ext cx="3565600" cy="231200"/>
          </a:xfrm>
          <a:prstGeom prst="roundRect">
            <a:avLst>
              <a:gd name="adj" fmla="val 16667"/>
            </a:avLst>
          </a:prstGeom>
          <a:solidFill>
            <a:srgbClr val="FFC000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384" name="Google Shape;384;p43"/>
          <p:cNvCxnSpPr>
            <a:stCxn id="381" idx="0"/>
            <a:endCxn id="383" idx="2"/>
          </p:cNvCxnSpPr>
          <p:nvPr/>
        </p:nvCxnSpPr>
        <p:spPr>
          <a:xfrm rot="16200000" flipV="1">
            <a:off x="3229635" y="4050433"/>
            <a:ext cx="659933" cy="1365067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D9272E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85" name="Google Shape;385;p43"/>
          <p:cNvSpPr/>
          <p:nvPr/>
        </p:nvSpPr>
        <p:spPr>
          <a:xfrm>
            <a:off x="3655800" y="2865700"/>
            <a:ext cx="504400" cy="231200"/>
          </a:xfrm>
          <a:prstGeom prst="roundRect">
            <a:avLst>
              <a:gd name="adj" fmla="val 16667"/>
            </a:avLst>
          </a:prstGeom>
          <a:solidFill>
            <a:srgbClr val="FFC000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86" name="Google Shape;386;p43"/>
          <p:cNvSpPr/>
          <p:nvPr/>
        </p:nvSpPr>
        <p:spPr>
          <a:xfrm>
            <a:off x="5624333" y="2865700"/>
            <a:ext cx="120400" cy="231200"/>
          </a:xfrm>
          <a:prstGeom prst="roundRect">
            <a:avLst>
              <a:gd name="adj" fmla="val 16667"/>
            </a:avLst>
          </a:prstGeom>
          <a:solidFill>
            <a:srgbClr val="FFC000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4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Closing a file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392" name="Google Shape;392;p44"/>
          <p:cNvSpPr txBox="1">
            <a:spLocks noGrp="1"/>
          </p:cNvSpPr>
          <p:nvPr>
            <p:ph type="body" idx="2"/>
          </p:nvPr>
        </p:nvSpPr>
        <p:spPr>
          <a:xfrm>
            <a:off x="414533" y="1560133"/>
            <a:ext cx="11362934" cy="216163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GB" dirty="0"/>
              <a:t>Once you have performed all the tasks that you need to with a file, it is important to </a:t>
            </a:r>
            <a:r>
              <a:rPr lang="en-GB" b="1" dirty="0"/>
              <a:t>close</a:t>
            </a:r>
            <a:r>
              <a:rPr lang="en-GB" dirty="0"/>
              <a:t> it. </a:t>
            </a:r>
            <a:endParaRPr dirty="0"/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r>
              <a:rPr lang="en-GB" dirty="0"/>
              <a:t>This will free up system resources and protect the data. </a:t>
            </a:r>
            <a:endParaRPr dirty="0"/>
          </a:p>
        </p:txBody>
      </p:sp>
      <p:sp>
        <p:nvSpPr>
          <p:cNvPr id="393" name="Google Shape;393;p44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3</a:t>
            </a:r>
            <a:endParaRPr/>
          </a:p>
        </p:txBody>
      </p:sp>
      <p:graphicFrame>
        <p:nvGraphicFramePr>
          <p:cNvPr id="394" name="Google Shape;394;p44"/>
          <p:cNvGraphicFramePr/>
          <p:nvPr>
            <p:extLst>
              <p:ext uri="{D42A27DB-BD31-4B8C-83A1-F6EECF244321}">
                <p14:modId xmlns:p14="http://schemas.microsoft.com/office/powerpoint/2010/main" val="2088959107"/>
              </p:ext>
            </p:extLst>
          </p:nvPr>
        </p:nvGraphicFramePr>
        <p:xfrm>
          <a:off x="414533" y="3896933"/>
          <a:ext cx="5469700" cy="187621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621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sz="160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file = open("</a:t>
                      </a: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quick.txt","r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")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quicktext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= </a:t>
                      </a: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file.read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()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file.close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()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print(</a:t>
                      </a: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quicktext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)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5" name="Google Shape;395;p44"/>
          <p:cNvSpPr/>
          <p:nvPr/>
        </p:nvSpPr>
        <p:spPr>
          <a:xfrm>
            <a:off x="856206" y="4957701"/>
            <a:ext cx="1520000" cy="270000"/>
          </a:xfrm>
          <a:prstGeom prst="roundRect">
            <a:avLst>
              <a:gd name="adj" fmla="val 16667"/>
            </a:avLst>
          </a:prstGeom>
          <a:solidFill>
            <a:srgbClr val="FFC000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4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Challenge 2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392" name="Google Shape;392;p44"/>
          <p:cNvSpPr txBox="1">
            <a:spLocks noGrp="1"/>
          </p:cNvSpPr>
          <p:nvPr>
            <p:ph type="body" idx="2"/>
          </p:nvPr>
        </p:nvSpPr>
        <p:spPr>
          <a:xfrm>
            <a:off x="2190781" y="1654499"/>
            <a:ext cx="8182929" cy="216163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AU" dirty="0"/>
              <a:t>Download the started code for challenge 2 on blackboard</a:t>
            </a:r>
          </a:p>
          <a:p>
            <a:pPr marL="0" indent="0">
              <a:buNone/>
            </a:pPr>
            <a:endParaRPr lang="en-AU" dirty="0"/>
          </a:p>
          <a:p>
            <a:pPr marL="457200" indent="-457200"/>
            <a:r>
              <a:rPr lang="en-AU" dirty="0"/>
              <a:t>Read a file</a:t>
            </a:r>
          </a:p>
          <a:p>
            <a:pPr marL="457200" indent="-457200"/>
            <a:r>
              <a:rPr lang="en-AU" dirty="0"/>
              <a:t>Count the lines</a:t>
            </a:r>
          </a:p>
          <a:p>
            <a:pPr marL="457200" indent="-457200"/>
            <a:r>
              <a:rPr lang="en-AU" dirty="0"/>
              <a:t>Counts the words</a:t>
            </a:r>
          </a:p>
          <a:p>
            <a:pPr marL="457200" indent="-457200"/>
            <a:endParaRPr dirty="0"/>
          </a:p>
        </p:txBody>
      </p:sp>
      <p:sp>
        <p:nvSpPr>
          <p:cNvPr id="393" name="Google Shape;393;p44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3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341569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6"/>
          <p:cNvSpPr txBox="1">
            <a:spLocks noGrp="1"/>
          </p:cNvSpPr>
          <p:nvPr>
            <p:ph type="body" idx="1"/>
          </p:nvPr>
        </p:nvSpPr>
        <p:spPr>
          <a:xfrm>
            <a:off x="414533" y="1560167"/>
            <a:ext cx="2113600" cy="51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 dirty="0" err="1">
                <a:latin typeface="Roboto Mono"/>
                <a:ea typeface="Roboto Mono"/>
                <a:cs typeface="Roboto Mono"/>
                <a:sym typeface="Roboto Mono"/>
              </a:rPr>
              <a:t>readline</a:t>
            </a:r>
            <a:r>
              <a:rPr lang="en-GB" sz="1867" dirty="0"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1867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09" name="Google Shape;409;p46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GB"/>
              <a:t>Match the method to the description</a:t>
            </a:r>
            <a:endParaRPr/>
          </a:p>
        </p:txBody>
      </p:sp>
      <p:sp>
        <p:nvSpPr>
          <p:cNvPr id="410" name="Google Shape;410;p46"/>
          <p:cNvSpPr txBox="1">
            <a:spLocks noGrp="1"/>
          </p:cNvSpPr>
          <p:nvPr>
            <p:ph type="body" idx="2"/>
          </p:nvPr>
        </p:nvSpPr>
        <p:spPr>
          <a:xfrm>
            <a:off x="6315467" y="4335651"/>
            <a:ext cx="5462000" cy="51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/>
              <a:t>Reads a single line from the text file</a:t>
            </a:r>
            <a:endParaRPr sz="1867"/>
          </a:p>
        </p:txBody>
      </p:sp>
      <p:sp>
        <p:nvSpPr>
          <p:cNvPr id="411" name="Google Shape;411;p46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Plenary</a:t>
            </a:r>
            <a:endParaRPr/>
          </a:p>
        </p:txBody>
      </p:sp>
      <p:sp>
        <p:nvSpPr>
          <p:cNvPr id="412" name="Google Shape;412;p46"/>
          <p:cNvSpPr txBox="1">
            <a:spLocks noGrp="1"/>
          </p:cNvSpPr>
          <p:nvPr>
            <p:ph type="body" idx="1"/>
          </p:nvPr>
        </p:nvSpPr>
        <p:spPr>
          <a:xfrm>
            <a:off x="414533" y="2461433"/>
            <a:ext cx="2113600" cy="51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>
                <a:latin typeface="Roboto Mono"/>
                <a:ea typeface="Roboto Mono"/>
                <a:cs typeface="Roboto Mono"/>
                <a:sym typeface="Roboto Mono"/>
              </a:rPr>
              <a:t>readlines()</a:t>
            </a:r>
            <a:endParaRPr sz="1867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13" name="Google Shape;413;p46"/>
          <p:cNvSpPr txBox="1">
            <a:spLocks noGrp="1"/>
          </p:cNvSpPr>
          <p:nvPr>
            <p:ph type="body" idx="1"/>
          </p:nvPr>
        </p:nvSpPr>
        <p:spPr>
          <a:xfrm>
            <a:off x="414533" y="3362700"/>
            <a:ext cx="2113600" cy="51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 dirty="0">
                <a:latin typeface="Roboto Mono"/>
                <a:ea typeface="Roboto Mono"/>
                <a:cs typeface="Roboto Mono"/>
                <a:sym typeface="Roboto Mono"/>
              </a:rPr>
              <a:t>strip()</a:t>
            </a:r>
            <a:endParaRPr sz="1867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14" name="Google Shape;414;p46"/>
          <p:cNvSpPr txBox="1">
            <a:spLocks noGrp="1"/>
          </p:cNvSpPr>
          <p:nvPr>
            <p:ph type="body" idx="1"/>
          </p:nvPr>
        </p:nvSpPr>
        <p:spPr>
          <a:xfrm>
            <a:off x="414533" y="4263967"/>
            <a:ext cx="2113600" cy="51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>
                <a:latin typeface="Roboto Mono"/>
                <a:ea typeface="Roboto Mono"/>
                <a:cs typeface="Roboto Mono"/>
                <a:sym typeface="Roboto Mono"/>
              </a:rPr>
              <a:t>read()</a:t>
            </a:r>
            <a:endParaRPr sz="1867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15" name="Google Shape;415;p46"/>
          <p:cNvSpPr txBox="1">
            <a:spLocks noGrp="1"/>
          </p:cNvSpPr>
          <p:nvPr>
            <p:ph type="body" idx="1"/>
          </p:nvPr>
        </p:nvSpPr>
        <p:spPr>
          <a:xfrm>
            <a:off x="467567" y="5165233"/>
            <a:ext cx="2113600" cy="51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>
                <a:latin typeface="Roboto Mono"/>
                <a:ea typeface="Roboto Mono"/>
                <a:cs typeface="Roboto Mono"/>
                <a:sym typeface="Roboto Mono"/>
              </a:rPr>
              <a:t>close()</a:t>
            </a:r>
            <a:endParaRPr sz="1867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16" name="Google Shape;416;p46"/>
          <p:cNvSpPr txBox="1">
            <a:spLocks noGrp="1"/>
          </p:cNvSpPr>
          <p:nvPr>
            <p:ph type="body" idx="2"/>
          </p:nvPr>
        </p:nvSpPr>
        <p:spPr>
          <a:xfrm>
            <a:off x="6315467" y="5177184"/>
            <a:ext cx="5462000" cy="51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/>
              <a:t>Reads all of the lines and places them into a list</a:t>
            </a:r>
            <a:endParaRPr sz="1867"/>
          </a:p>
        </p:txBody>
      </p:sp>
      <p:sp>
        <p:nvSpPr>
          <p:cNvPr id="417" name="Google Shape;417;p46"/>
          <p:cNvSpPr txBox="1">
            <a:spLocks noGrp="1"/>
          </p:cNvSpPr>
          <p:nvPr>
            <p:ph type="body" idx="2"/>
          </p:nvPr>
        </p:nvSpPr>
        <p:spPr>
          <a:xfrm>
            <a:off x="6315467" y="1651584"/>
            <a:ext cx="5462000" cy="51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 dirty="0"/>
              <a:t>Removes the </a:t>
            </a:r>
            <a:r>
              <a:rPr lang="en-GB" sz="1867" dirty="0">
                <a:latin typeface="Roboto Mono"/>
                <a:ea typeface="Roboto Mono"/>
                <a:cs typeface="Roboto Mono"/>
                <a:sym typeface="Roboto Mono"/>
              </a:rPr>
              <a:t>\n</a:t>
            </a:r>
            <a:r>
              <a:rPr lang="en-GB" sz="1867" dirty="0"/>
              <a:t> from the end of the string</a:t>
            </a:r>
            <a:endParaRPr sz="1867" dirty="0"/>
          </a:p>
        </p:txBody>
      </p:sp>
      <p:sp>
        <p:nvSpPr>
          <p:cNvPr id="418" name="Google Shape;418;p46"/>
          <p:cNvSpPr txBox="1">
            <a:spLocks noGrp="1"/>
          </p:cNvSpPr>
          <p:nvPr>
            <p:ph type="body" idx="2"/>
          </p:nvPr>
        </p:nvSpPr>
        <p:spPr>
          <a:xfrm>
            <a:off x="6315467" y="3399600"/>
            <a:ext cx="5462000" cy="51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 dirty="0"/>
              <a:t>Reads the entire text file</a:t>
            </a:r>
            <a:endParaRPr sz="1867" dirty="0"/>
          </a:p>
        </p:txBody>
      </p:sp>
      <p:sp>
        <p:nvSpPr>
          <p:cNvPr id="419" name="Google Shape;419;p46"/>
          <p:cNvSpPr txBox="1">
            <a:spLocks noGrp="1"/>
          </p:cNvSpPr>
          <p:nvPr>
            <p:ph type="body" idx="2"/>
          </p:nvPr>
        </p:nvSpPr>
        <p:spPr>
          <a:xfrm>
            <a:off x="6315467" y="2398384"/>
            <a:ext cx="5462000" cy="799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 dirty="0"/>
              <a:t>To be used when you are finished accessing the text file </a:t>
            </a:r>
            <a:endParaRPr sz="1867" dirty="0"/>
          </a:p>
        </p:txBody>
      </p:sp>
      <p:cxnSp>
        <p:nvCxnSpPr>
          <p:cNvPr id="420" name="Google Shape;420;p46"/>
          <p:cNvCxnSpPr>
            <a:stCxn id="408" idx="3"/>
            <a:endCxn id="410" idx="1"/>
          </p:cNvCxnSpPr>
          <p:nvPr/>
        </p:nvCxnSpPr>
        <p:spPr>
          <a:xfrm>
            <a:off x="2528133" y="1817767"/>
            <a:ext cx="3787200" cy="2775600"/>
          </a:xfrm>
          <a:prstGeom prst="curvedConnector3">
            <a:avLst>
              <a:gd name="adj1" fmla="val 5000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21" name="Google Shape;421;p46"/>
          <p:cNvCxnSpPr>
            <a:stCxn id="412" idx="3"/>
            <a:endCxn id="416" idx="1"/>
          </p:cNvCxnSpPr>
          <p:nvPr/>
        </p:nvCxnSpPr>
        <p:spPr>
          <a:xfrm>
            <a:off x="2528133" y="2719033"/>
            <a:ext cx="3787200" cy="2715600"/>
          </a:xfrm>
          <a:prstGeom prst="curvedConnector3">
            <a:avLst>
              <a:gd name="adj1" fmla="val 5000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22" name="Google Shape;422;p46"/>
          <p:cNvCxnSpPr>
            <a:stCxn id="413" idx="3"/>
            <a:endCxn id="417" idx="1"/>
          </p:cNvCxnSpPr>
          <p:nvPr/>
        </p:nvCxnSpPr>
        <p:spPr>
          <a:xfrm rot="10800000" flipH="1">
            <a:off x="2528133" y="1909100"/>
            <a:ext cx="3787200" cy="1711200"/>
          </a:xfrm>
          <a:prstGeom prst="curvedConnector3">
            <a:avLst>
              <a:gd name="adj1" fmla="val 5000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23" name="Google Shape;423;p46"/>
          <p:cNvCxnSpPr>
            <a:stCxn id="414" idx="3"/>
            <a:endCxn id="418" idx="1"/>
          </p:cNvCxnSpPr>
          <p:nvPr/>
        </p:nvCxnSpPr>
        <p:spPr>
          <a:xfrm rot="10800000" flipH="1">
            <a:off x="2528133" y="3657167"/>
            <a:ext cx="3787200" cy="864400"/>
          </a:xfrm>
          <a:prstGeom prst="curvedConnector3">
            <a:avLst>
              <a:gd name="adj1" fmla="val 5000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24" name="Google Shape;424;p46"/>
          <p:cNvCxnSpPr>
            <a:stCxn id="415" idx="3"/>
            <a:endCxn id="419" idx="1"/>
          </p:cNvCxnSpPr>
          <p:nvPr/>
        </p:nvCxnSpPr>
        <p:spPr>
          <a:xfrm rot="10800000" flipH="1">
            <a:off x="2581167" y="2798033"/>
            <a:ext cx="3734400" cy="2624800"/>
          </a:xfrm>
          <a:prstGeom prst="curvedConnector3">
            <a:avLst>
              <a:gd name="adj1" fmla="val 4999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6"/>
          <p:cNvSpPr txBox="1">
            <a:spLocks noGrp="1"/>
          </p:cNvSpPr>
          <p:nvPr>
            <p:ph type="body" idx="1"/>
          </p:nvPr>
        </p:nvSpPr>
        <p:spPr>
          <a:xfrm>
            <a:off x="414533" y="1560167"/>
            <a:ext cx="2113600" cy="515200"/>
          </a:xfrm>
          <a:prstGeom prst="rect">
            <a:avLst/>
          </a:prstGeom>
          <a:ln>
            <a:solidFill>
              <a:srgbClr val="D9272E"/>
            </a:solidFill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>
                <a:latin typeface="Roboto Mono"/>
                <a:ea typeface="Roboto Mono"/>
                <a:cs typeface="Roboto Mono"/>
                <a:sym typeface="Roboto Mono"/>
              </a:rPr>
              <a:t>readline()</a:t>
            </a:r>
            <a:endParaRPr sz="1867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09" name="Google Shape;409;p46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GB"/>
              <a:t>Match the method to the description</a:t>
            </a:r>
            <a:endParaRPr/>
          </a:p>
        </p:txBody>
      </p:sp>
      <p:sp>
        <p:nvSpPr>
          <p:cNvPr id="410" name="Google Shape;410;p46"/>
          <p:cNvSpPr txBox="1">
            <a:spLocks noGrp="1"/>
          </p:cNvSpPr>
          <p:nvPr>
            <p:ph type="body" idx="2"/>
          </p:nvPr>
        </p:nvSpPr>
        <p:spPr>
          <a:xfrm>
            <a:off x="6315467" y="4335651"/>
            <a:ext cx="5462000" cy="515200"/>
          </a:xfrm>
          <a:prstGeom prst="rect">
            <a:avLst/>
          </a:prstGeom>
          <a:ln>
            <a:solidFill>
              <a:srgbClr val="D9272E"/>
            </a:solidFill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/>
              <a:t>Reads a single line from the text file</a:t>
            </a:r>
            <a:endParaRPr sz="1867"/>
          </a:p>
        </p:txBody>
      </p:sp>
      <p:sp>
        <p:nvSpPr>
          <p:cNvPr id="412" name="Google Shape;412;p46"/>
          <p:cNvSpPr txBox="1">
            <a:spLocks noGrp="1"/>
          </p:cNvSpPr>
          <p:nvPr>
            <p:ph type="body" idx="1"/>
          </p:nvPr>
        </p:nvSpPr>
        <p:spPr>
          <a:xfrm>
            <a:off x="414533" y="2461433"/>
            <a:ext cx="2113600" cy="515200"/>
          </a:xfrm>
          <a:prstGeom prst="rect">
            <a:avLst/>
          </a:prstGeom>
          <a:ln>
            <a:solidFill>
              <a:srgbClr val="D9272E"/>
            </a:solidFill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>
                <a:latin typeface="Roboto Mono"/>
                <a:ea typeface="Roboto Mono"/>
                <a:cs typeface="Roboto Mono"/>
                <a:sym typeface="Roboto Mono"/>
              </a:rPr>
              <a:t>readlines()</a:t>
            </a:r>
            <a:endParaRPr sz="1867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13" name="Google Shape;413;p46"/>
          <p:cNvSpPr txBox="1">
            <a:spLocks noGrp="1"/>
          </p:cNvSpPr>
          <p:nvPr>
            <p:ph type="body" idx="1"/>
          </p:nvPr>
        </p:nvSpPr>
        <p:spPr>
          <a:xfrm>
            <a:off x="414533" y="3362700"/>
            <a:ext cx="2113600" cy="515200"/>
          </a:xfrm>
          <a:prstGeom prst="rect">
            <a:avLst/>
          </a:prstGeom>
          <a:ln>
            <a:solidFill>
              <a:srgbClr val="D9272E"/>
            </a:solidFill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>
                <a:latin typeface="Roboto Mono"/>
                <a:ea typeface="Roboto Mono"/>
                <a:cs typeface="Roboto Mono"/>
                <a:sym typeface="Roboto Mono"/>
              </a:rPr>
              <a:t>strip()</a:t>
            </a:r>
            <a:endParaRPr sz="1867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14" name="Google Shape;414;p46"/>
          <p:cNvSpPr txBox="1">
            <a:spLocks noGrp="1"/>
          </p:cNvSpPr>
          <p:nvPr>
            <p:ph type="body" idx="1"/>
          </p:nvPr>
        </p:nvSpPr>
        <p:spPr>
          <a:xfrm>
            <a:off x="414533" y="4263967"/>
            <a:ext cx="2113600" cy="515200"/>
          </a:xfrm>
          <a:prstGeom prst="rect">
            <a:avLst/>
          </a:prstGeom>
          <a:ln>
            <a:solidFill>
              <a:srgbClr val="D9272E"/>
            </a:solidFill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>
                <a:latin typeface="Roboto Mono"/>
                <a:ea typeface="Roboto Mono"/>
                <a:cs typeface="Roboto Mono"/>
                <a:sym typeface="Roboto Mono"/>
              </a:rPr>
              <a:t>read()</a:t>
            </a:r>
            <a:endParaRPr sz="1867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15" name="Google Shape;415;p46"/>
          <p:cNvSpPr txBox="1">
            <a:spLocks noGrp="1"/>
          </p:cNvSpPr>
          <p:nvPr>
            <p:ph type="body" idx="1"/>
          </p:nvPr>
        </p:nvSpPr>
        <p:spPr>
          <a:xfrm>
            <a:off x="467567" y="5165233"/>
            <a:ext cx="2113600" cy="515200"/>
          </a:xfrm>
          <a:prstGeom prst="rect">
            <a:avLst/>
          </a:prstGeom>
          <a:ln>
            <a:solidFill>
              <a:srgbClr val="D9272E"/>
            </a:solidFill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>
                <a:latin typeface="Roboto Mono"/>
                <a:ea typeface="Roboto Mono"/>
                <a:cs typeface="Roboto Mono"/>
                <a:sym typeface="Roboto Mono"/>
              </a:rPr>
              <a:t>close()</a:t>
            </a:r>
            <a:endParaRPr sz="1867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16" name="Google Shape;416;p46"/>
          <p:cNvSpPr txBox="1">
            <a:spLocks noGrp="1"/>
          </p:cNvSpPr>
          <p:nvPr>
            <p:ph type="body" idx="2"/>
          </p:nvPr>
        </p:nvSpPr>
        <p:spPr>
          <a:xfrm>
            <a:off x="6315467" y="5177184"/>
            <a:ext cx="5462000" cy="515200"/>
          </a:xfrm>
          <a:prstGeom prst="rect">
            <a:avLst/>
          </a:prstGeom>
          <a:ln>
            <a:solidFill>
              <a:srgbClr val="D9272E"/>
            </a:solidFill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/>
              <a:t>Reads all of the lines and places them into a list</a:t>
            </a:r>
            <a:endParaRPr sz="1867"/>
          </a:p>
        </p:txBody>
      </p:sp>
      <p:sp>
        <p:nvSpPr>
          <p:cNvPr id="417" name="Google Shape;417;p46"/>
          <p:cNvSpPr txBox="1">
            <a:spLocks noGrp="1"/>
          </p:cNvSpPr>
          <p:nvPr>
            <p:ph type="body" idx="2"/>
          </p:nvPr>
        </p:nvSpPr>
        <p:spPr>
          <a:xfrm>
            <a:off x="6315467" y="1651584"/>
            <a:ext cx="5462000" cy="515200"/>
          </a:xfrm>
          <a:prstGeom prst="rect">
            <a:avLst/>
          </a:prstGeom>
          <a:ln>
            <a:solidFill>
              <a:srgbClr val="D9272E"/>
            </a:solidFill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/>
              <a:t>Removes the </a:t>
            </a:r>
            <a:r>
              <a:rPr lang="en-GB" sz="1867">
                <a:latin typeface="Roboto Mono"/>
                <a:ea typeface="Roboto Mono"/>
                <a:cs typeface="Roboto Mono"/>
                <a:sym typeface="Roboto Mono"/>
              </a:rPr>
              <a:t>\n</a:t>
            </a:r>
            <a:r>
              <a:rPr lang="en-GB" sz="1867"/>
              <a:t> from the end of the string</a:t>
            </a:r>
            <a:endParaRPr sz="1867"/>
          </a:p>
        </p:txBody>
      </p:sp>
      <p:sp>
        <p:nvSpPr>
          <p:cNvPr id="418" name="Google Shape;418;p46"/>
          <p:cNvSpPr txBox="1">
            <a:spLocks noGrp="1"/>
          </p:cNvSpPr>
          <p:nvPr>
            <p:ph type="body" idx="2"/>
          </p:nvPr>
        </p:nvSpPr>
        <p:spPr>
          <a:xfrm>
            <a:off x="6315467" y="3399600"/>
            <a:ext cx="5462000" cy="515200"/>
          </a:xfrm>
          <a:prstGeom prst="rect">
            <a:avLst/>
          </a:prstGeom>
          <a:ln>
            <a:solidFill>
              <a:srgbClr val="D9272E"/>
            </a:solidFill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/>
              <a:t>Reads the entire text file</a:t>
            </a:r>
            <a:endParaRPr sz="1867"/>
          </a:p>
        </p:txBody>
      </p:sp>
      <p:sp>
        <p:nvSpPr>
          <p:cNvPr id="419" name="Google Shape;419;p46"/>
          <p:cNvSpPr txBox="1">
            <a:spLocks noGrp="1"/>
          </p:cNvSpPr>
          <p:nvPr>
            <p:ph type="body" idx="2"/>
          </p:nvPr>
        </p:nvSpPr>
        <p:spPr>
          <a:xfrm>
            <a:off x="6315467" y="2398384"/>
            <a:ext cx="5462000" cy="799200"/>
          </a:xfrm>
          <a:prstGeom prst="rect">
            <a:avLst/>
          </a:prstGeom>
          <a:ln>
            <a:solidFill>
              <a:srgbClr val="D9272E"/>
            </a:solidFill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/>
              <a:t>To be used when you are finished accessing the text file </a:t>
            </a:r>
            <a:endParaRPr sz="1867"/>
          </a:p>
        </p:txBody>
      </p:sp>
      <p:cxnSp>
        <p:nvCxnSpPr>
          <p:cNvPr id="420" name="Google Shape;420;p46"/>
          <p:cNvCxnSpPr>
            <a:stCxn id="408" idx="3"/>
            <a:endCxn id="410" idx="1"/>
          </p:cNvCxnSpPr>
          <p:nvPr/>
        </p:nvCxnSpPr>
        <p:spPr>
          <a:xfrm>
            <a:off x="2528133" y="1817767"/>
            <a:ext cx="3787200" cy="2775600"/>
          </a:xfrm>
          <a:prstGeom prst="curvedConnector3">
            <a:avLst>
              <a:gd name="adj1" fmla="val 50002"/>
            </a:avLst>
          </a:prstGeom>
          <a:noFill/>
          <a:ln w="9525" cap="flat" cmpd="sng">
            <a:solidFill>
              <a:srgbClr val="D9272E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21" name="Google Shape;421;p46"/>
          <p:cNvCxnSpPr>
            <a:stCxn id="412" idx="3"/>
            <a:endCxn id="416" idx="1"/>
          </p:cNvCxnSpPr>
          <p:nvPr/>
        </p:nvCxnSpPr>
        <p:spPr>
          <a:xfrm>
            <a:off x="2528133" y="2719033"/>
            <a:ext cx="3787200" cy="2715600"/>
          </a:xfrm>
          <a:prstGeom prst="curvedConnector3">
            <a:avLst>
              <a:gd name="adj1" fmla="val 50002"/>
            </a:avLst>
          </a:prstGeom>
          <a:noFill/>
          <a:ln w="9525" cap="flat" cmpd="sng">
            <a:solidFill>
              <a:srgbClr val="D9272E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22" name="Google Shape;422;p46"/>
          <p:cNvCxnSpPr>
            <a:stCxn id="413" idx="3"/>
            <a:endCxn id="417" idx="1"/>
          </p:cNvCxnSpPr>
          <p:nvPr/>
        </p:nvCxnSpPr>
        <p:spPr>
          <a:xfrm rot="10800000" flipH="1">
            <a:off x="2528133" y="1909100"/>
            <a:ext cx="3787200" cy="1711200"/>
          </a:xfrm>
          <a:prstGeom prst="curvedConnector3">
            <a:avLst>
              <a:gd name="adj1" fmla="val 50002"/>
            </a:avLst>
          </a:prstGeom>
          <a:noFill/>
          <a:ln w="9525" cap="flat" cmpd="sng">
            <a:solidFill>
              <a:srgbClr val="D9272E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23" name="Google Shape;423;p46"/>
          <p:cNvCxnSpPr>
            <a:stCxn id="414" idx="3"/>
            <a:endCxn id="418" idx="1"/>
          </p:cNvCxnSpPr>
          <p:nvPr/>
        </p:nvCxnSpPr>
        <p:spPr>
          <a:xfrm rot="10800000" flipH="1">
            <a:off x="2528133" y="3657167"/>
            <a:ext cx="3787200" cy="864400"/>
          </a:xfrm>
          <a:prstGeom prst="curvedConnector3">
            <a:avLst>
              <a:gd name="adj1" fmla="val 50002"/>
            </a:avLst>
          </a:prstGeom>
          <a:noFill/>
          <a:ln w="9525" cap="flat" cmpd="sng">
            <a:solidFill>
              <a:srgbClr val="D9272E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24" name="Google Shape;424;p46"/>
          <p:cNvCxnSpPr>
            <a:stCxn id="415" idx="3"/>
            <a:endCxn id="419" idx="1"/>
          </p:cNvCxnSpPr>
          <p:nvPr/>
        </p:nvCxnSpPr>
        <p:spPr>
          <a:xfrm rot="10800000" flipH="1">
            <a:off x="2581167" y="2798033"/>
            <a:ext cx="3734400" cy="2624800"/>
          </a:xfrm>
          <a:prstGeom prst="curvedConnector3">
            <a:avLst>
              <a:gd name="adj1" fmla="val 49999"/>
            </a:avLst>
          </a:prstGeom>
          <a:noFill/>
          <a:ln w="9525" cap="flat" cmpd="sng">
            <a:solidFill>
              <a:srgbClr val="D9272E"/>
            </a:solidFill>
            <a:prstDash val="solid"/>
            <a:round/>
            <a:headEnd type="none" w="med" len="med"/>
            <a:tailEnd type="stealth" w="med" len="med"/>
          </a:ln>
        </p:spPr>
      </p:cxnSp>
    </p:spTree>
    <p:extLst>
      <p:ext uri="{BB962C8B-B14F-4D97-AF65-F5344CB8AC3E}">
        <p14:creationId xmlns:p14="http://schemas.microsoft.com/office/powerpoint/2010/main" val="915973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Make a prediction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57" name="Google Shape;57;p10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Starter activity</a:t>
            </a:r>
            <a:endParaRPr/>
          </a:p>
        </p:txBody>
      </p:sp>
      <p:graphicFrame>
        <p:nvGraphicFramePr>
          <p:cNvPr id="58" name="Google Shape;58;p10"/>
          <p:cNvGraphicFramePr/>
          <p:nvPr>
            <p:extLst>
              <p:ext uri="{D42A27DB-BD31-4B8C-83A1-F6EECF244321}">
                <p14:modId xmlns:p14="http://schemas.microsoft.com/office/powerpoint/2010/main" val="949508771"/>
              </p:ext>
            </p:extLst>
          </p:nvPr>
        </p:nvGraphicFramePr>
        <p:xfrm>
          <a:off x="724165" y="1560135"/>
          <a:ext cx="5468700" cy="165455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5455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600" dirty="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600" dirty="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600" dirty="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600" dirty="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600" dirty="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600" dirty="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file = open("quick.txt", "r")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quicktext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= </a:t>
                      </a: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file.readline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()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file.close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()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quicktext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= </a:t>
                      </a: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file.readlines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()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print(</a:t>
                      </a: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quicktext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)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" name="Google Shape;59;p10"/>
          <p:cNvSpPr txBox="1"/>
          <p:nvPr/>
        </p:nvSpPr>
        <p:spPr>
          <a:xfrm>
            <a:off x="609599" y="3417891"/>
            <a:ext cx="11166533" cy="4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72000" bIns="121900" anchor="t" anchorCtr="0">
            <a:noAutofit/>
          </a:bodyPr>
          <a:lstStyle/>
          <a:p>
            <a:pPr>
              <a:lnSpc>
                <a:spcPct val="114000"/>
              </a:lnSpc>
            </a:pPr>
            <a:r>
              <a:rPr lang="en-GB" sz="2400" b="1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 Question:</a:t>
            </a:r>
            <a:endParaRPr sz="2400" b="1" dirty="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>
              <a:lnSpc>
                <a:spcPct val="112000"/>
              </a:lnSpc>
              <a:spcBef>
                <a:spcPts val="800"/>
              </a:spcBef>
              <a:buClr>
                <a:schemeClr val="bg1"/>
              </a:buClr>
            </a:pPr>
            <a:r>
              <a:rPr lang="en-GB" sz="2400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What will be the output of </a:t>
            </a:r>
            <a:r>
              <a:rPr lang="en-GB" sz="2400" dirty="0">
                <a:solidFill>
                  <a:srgbClr val="FF33CC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GB" sz="2400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, when this program is executed?</a:t>
            </a:r>
            <a:endParaRPr sz="2400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09585" indent="-423323">
              <a:lnSpc>
                <a:spcPct val="112000"/>
              </a:lnSpc>
              <a:spcBef>
                <a:spcPts val="1600"/>
              </a:spcBef>
              <a:buClr>
                <a:schemeClr val="bg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The first line from the text file will print</a:t>
            </a:r>
            <a:endParaRPr sz="2400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09585" indent="-423323">
              <a:lnSpc>
                <a:spcPct val="112000"/>
              </a:lnSpc>
              <a:buClr>
                <a:schemeClr val="bg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A list will be printed that contains each line from the text file as an item</a:t>
            </a:r>
            <a:endParaRPr sz="2400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09585" indent="-423323">
              <a:lnSpc>
                <a:spcPct val="112000"/>
              </a:lnSpc>
              <a:buClr>
                <a:schemeClr val="bg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The whole text will be printed with the first line repeated</a:t>
            </a:r>
            <a:endParaRPr sz="2400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09585" indent="-423323">
              <a:lnSpc>
                <a:spcPct val="112000"/>
              </a:lnSpc>
              <a:buClr>
                <a:schemeClr val="bg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An error will occur</a:t>
            </a:r>
            <a:endParaRPr sz="2400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2" name="Google Shape;62;p10"/>
          <p:cNvSpPr/>
          <p:nvPr/>
        </p:nvSpPr>
        <p:spPr>
          <a:xfrm>
            <a:off x="-487294" y="5638907"/>
            <a:ext cx="240000" cy="24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GB" sz="1333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4</a:t>
            </a:r>
            <a:endParaRPr sz="1333" dirty="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63" name="Google Shape;63;p10"/>
          <p:cNvGrpSpPr/>
          <p:nvPr/>
        </p:nvGrpSpPr>
        <p:grpSpPr>
          <a:xfrm>
            <a:off x="-745255" y="5614907"/>
            <a:ext cx="520535" cy="306067"/>
            <a:chOff x="5235174" y="3982085"/>
            <a:chExt cx="390401" cy="229550"/>
          </a:xfrm>
        </p:grpSpPr>
        <p:sp>
          <p:nvSpPr>
            <p:cNvPr id="64" name="Google Shape;64;p10"/>
            <p:cNvSpPr/>
            <p:nvPr/>
          </p:nvSpPr>
          <p:spPr>
            <a:xfrm>
              <a:off x="5409575" y="3995635"/>
              <a:ext cx="216000" cy="216000"/>
            </a:xfrm>
            <a:prstGeom prst="ellipse">
              <a:avLst/>
            </a:prstGeom>
            <a:noFill/>
            <a:ln w="9525" cap="flat" cmpd="sng">
              <a:solidFill>
                <a:srgbClr val="5B5B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endParaRPr sz="1333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5" name="Google Shape;65;p10"/>
            <p:cNvSpPr/>
            <p:nvPr/>
          </p:nvSpPr>
          <p:spPr>
            <a:xfrm>
              <a:off x="5235174" y="3982085"/>
              <a:ext cx="216000" cy="216000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r>
                <a:rPr lang="en-GB" sz="1333" dirty="0">
                  <a:solidFill>
                    <a:srgbClr val="5B5BA5"/>
                  </a:solidFill>
                  <a:latin typeface="Quicksand"/>
                  <a:ea typeface="Quicksand"/>
                  <a:cs typeface="Quicksand"/>
                  <a:sym typeface="Quicksand"/>
                </a:rPr>
                <a:t>▹</a:t>
              </a:r>
              <a:endParaRPr sz="1333" dirty="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Make a prediction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57" name="Google Shape;57;p10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Starter activity</a:t>
            </a:r>
            <a:endParaRPr/>
          </a:p>
        </p:txBody>
      </p:sp>
      <p:graphicFrame>
        <p:nvGraphicFramePr>
          <p:cNvPr id="58" name="Google Shape;58;p10"/>
          <p:cNvGraphicFramePr/>
          <p:nvPr>
            <p:extLst>
              <p:ext uri="{D42A27DB-BD31-4B8C-83A1-F6EECF244321}">
                <p14:modId xmlns:p14="http://schemas.microsoft.com/office/powerpoint/2010/main" val="3123547965"/>
              </p:ext>
            </p:extLst>
          </p:nvPr>
        </p:nvGraphicFramePr>
        <p:xfrm>
          <a:off x="414534" y="1560134"/>
          <a:ext cx="5468700" cy="174027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027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600" dirty="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600" dirty="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600" dirty="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600" dirty="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600" dirty="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600" dirty="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file = open("quick.txt", "r")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quicktext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= </a:t>
                      </a: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file.readline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()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file.close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()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quicktext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= </a:t>
                      </a: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file.readlines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()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print(</a:t>
                      </a: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quicktext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)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" name="Google Shape;59;p10"/>
          <p:cNvSpPr txBox="1"/>
          <p:nvPr/>
        </p:nvSpPr>
        <p:spPr>
          <a:xfrm>
            <a:off x="338825" y="3370080"/>
            <a:ext cx="10915455" cy="29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72000" bIns="121900" anchor="t" anchorCtr="0">
            <a:noAutofit/>
          </a:bodyPr>
          <a:lstStyle/>
          <a:p>
            <a:pPr>
              <a:lnSpc>
                <a:spcPct val="114000"/>
              </a:lnSpc>
            </a:pPr>
            <a:r>
              <a:rPr lang="en-GB" sz="2400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 Question</a:t>
            </a:r>
            <a:endParaRPr sz="2400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>
              <a:lnSpc>
                <a:spcPct val="112000"/>
              </a:lnSpc>
              <a:spcBef>
                <a:spcPts val="800"/>
              </a:spcBef>
            </a:pPr>
            <a:r>
              <a:rPr lang="en-GB" sz="2400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What will be the output of </a:t>
            </a:r>
            <a:r>
              <a:rPr lang="en-GB" sz="2400" dirty="0">
                <a:solidFill>
                  <a:srgbClr val="FF33CC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GB" sz="2400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, when this program is executed?</a:t>
            </a:r>
            <a:endParaRPr sz="2400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43462" indent="-457200">
              <a:lnSpc>
                <a:spcPct val="112000"/>
              </a:lnSpc>
              <a:spcBef>
                <a:spcPts val="1600"/>
              </a:spcBef>
              <a:buClr>
                <a:schemeClr val="bg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The first line from the text file will print</a:t>
            </a:r>
            <a:endParaRPr sz="2400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43462" indent="-457200">
              <a:lnSpc>
                <a:spcPct val="112000"/>
              </a:lnSpc>
              <a:buClr>
                <a:schemeClr val="bg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A list will be printed that contains each line from the text file as an item</a:t>
            </a:r>
            <a:endParaRPr sz="2400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43462" indent="-457200">
              <a:lnSpc>
                <a:spcPct val="112000"/>
              </a:lnSpc>
              <a:buClr>
                <a:schemeClr val="bg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The whole text will be printed with the first line repeated</a:t>
            </a:r>
            <a:endParaRPr sz="2400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43462" indent="-457200">
              <a:lnSpc>
                <a:spcPct val="112000"/>
              </a:lnSpc>
              <a:buClr>
                <a:schemeClr val="bg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An error will occur</a:t>
            </a:r>
            <a:endParaRPr sz="2400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2" name="Google Shape;62;p10"/>
          <p:cNvSpPr/>
          <p:nvPr/>
        </p:nvSpPr>
        <p:spPr>
          <a:xfrm>
            <a:off x="542640" y="5974540"/>
            <a:ext cx="240000" cy="24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GB" sz="1333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4</a:t>
            </a:r>
            <a:endParaRPr sz="1333" dirty="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63" name="Google Shape;63;p10"/>
          <p:cNvGrpSpPr/>
          <p:nvPr/>
        </p:nvGrpSpPr>
        <p:grpSpPr>
          <a:xfrm>
            <a:off x="272265" y="5931346"/>
            <a:ext cx="520535" cy="306067"/>
            <a:chOff x="5235174" y="3982085"/>
            <a:chExt cx="390401" cy="229550"/>
          </a:xfrm>
        </p:grpSpPr>
        <p:sp>
          <p:nvSpPr>
            <p:cNvPr id="64" name="Google Shape;64;p10"/>
            <p:cNvSpPr/>
            <p:nvPr/>
          </p:nvSpPr>
          <p:spPr>
            <a:xfrm>
              <a:off x="5409575" y="3995635"/>
              <a:ext cx="216000" cy="216000"/>
            </a:xfrm>
            <a:prstGeom prst="ellipse">
              <a:avLst/>
            </a:prstGeom>
            <a:noFill/>
            <a:ln w="952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endParaRPr sz="1333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5" name="Google Shape;65;p10"/>
            <p:cNvSpPr/>
            <p:nvPr/>
          </p:nvSpPr>
          <p:spPr>
            <a:xfrm>
              <a:off x="5235174" y="3982085"/>
              <a:ext cx="216000" cy="216000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r>
                <a:rPr lang="en-GB" sz="1333" dirty="0">
                  <a:solidFill>
                    <a:srgbClr val="FFC000"/>
                  </a:solidFill>
                  <a:latin typeface="Quicksand"/>
                  <a:ea typeface="Quicksand"/>
                  <a:cs typeface="Quicksand"/>
                  <a:sym typeface="Quicksand"/>
                </a:rPr>
                <a:t>▹</a:t>
              </a:r>
              <a:endParaRPr sz="1333" dirty="0">
                <a:solidFill>
                  <a:srgbClr val="FFC000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1785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Make a prediction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72" name="Google Shape;72;p11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Starter activity</a:t>
            </a:r>
            <a:endParaRPr/>
          </a:p>
        </p:txBody>
      </p:sp>
      <p:graphicFrame>
        <p:nvGraphicFramePr>
          <p:cNvPr id="73" name="Google Shape;73;p11"/>
          <p:cNvGraphicFramePr/>
          <p:nvPr>
            <p:extLst>
              <p:ext uri="{D42A27DB-BD31-4B8C-83A1-F6EECF244321}">
                <p14:modId xmlns:p14="http://schemas.microsoft.com/office/powerpoint/2010/main" val="849605268"/>
              </p:ext>
            </p:extLst>
          </p:nvPr>
        </p:nvGraphicFramePr>
        <p:xfrm>
          <a:off x="414534" y="1560135"/>
          <a:ext cx="5468700" cy="187621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6886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600" dirty="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600" dirty="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600" dirty="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600" dirty="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600" dirty="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600" dirty="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file = open("quick.txt", "r")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quicktext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= </a:t>
                      </a: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file.readline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()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file.close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()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quicktext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= </a:t>
                      </a: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file.readlines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()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print(</a:t>
                      </a: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quicktext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)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" name="Google Shape;74;p11"/>
          <p:cNvSpPr txBox="1"/>
          <p:nvPr/>
        </p:nvSpPr>
        <p:spPr>
          <a:xfrm>
            <a:off x="6684967" y="1560133"/>
            <a:ext cx="4753200" cy="4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72000" bIns="121900" anchor="t" anchorCtr="0">
            <a:noAutofit/>
          </a:bodyPr>
          <a:lstStyle/>
          <a:p>
            <a:pPr>
              <a:lnSpc>
                <a:spcPct val="114000"/>
              </a:lnSpc>
            </a:pPr>
            <a:r>
              <a:rPr lang="en-GB" sz="2400" dirty="0">
                <a:solidFill>
                  <a:srgbClr val="FFFFFF"/>
                </a:solidFill>
                <a:highlight>
                  <a:srgbClr val="D9272E"/>
                </a:highlight>
                <a:latin typeface="Quicksand"/>
                <a:ea typeface="Quicksand"/>
                <a:cs typeface="Quicksand"/>
                <a:sym typeface="Quicksand"/>
              </a:rPr>
              <a:t> Why? </a:t>
            </a:r>
            <a:r>
              <a:rPr lang="en-GB" sz="2400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r>
              <a:rPr lang="en-GB" sz="2400" dirty="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sz="2400" dirty="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>
              <a:lnSpc>
                <a:spcPct val="114000"/>
              </a:lnSpc>
            </a:pPr>
            <a:endParaRPr sz="2400" dirty="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>
              <a:lnSpc>
                <a:spcPct val="114000"/>
              </a:lnSpc>
            </a:pPr>
            <a:r>
              <a:rPr lang="en-GB" sz="2400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Once the file has been </a:t>
            </a:r>
            <a:r>
              <a:rPr lang="en-GB" sz="24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closed </a:t>
            </a:r>
            <a:r>
              <a:rPr lang="en-GB" sz="2400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it can no longer be read. </a:t>
            </a:r>
            <a:endParaRPr sz="2400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>
              <a:lnSpc>
                <a:spcPct val="112000"/>
              </a:lnSpc>
              <a:spcBef>
                <a:spcPts val="1600"/>
              </a:spcBef>
            </a:pPr>
            <a:endParaRPr sz="2400" dirty="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5" name="Google Shape;75;p11"/>
          <p:cNvSpPr/>
          <p:nvPr/>
        </p:nvSpPr>
        <p:spPr>
          <a:xfrm>
            <a:off x="884553" y="2372827"/>
            <a:ext cx="1490400" cy="258613"/>
          </a:xfrm>
          <a:prstGeom prst="roundRect">
            <a:avLst>
              <a:gd name="adj" fmla="val 16667"/>
            </a:avLst>
          </a:prstGeom>
          <a:solidFill>
            <a:srgbClr val="FFC000">
              <a:alpha val="2291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76" name="Google Shape;76;p11"/>
          <p:cNvCxnSpPr>
            <a:cxnSpLocks/>
            <a:endCxn id="75" idx="3"/>
          </p:cNvCxnSpPr>
          <p:nvPr/>
        </p:nvCxnSpPr>
        <p:spPr>
          <a:xfrm rot="10800000">
            <a:off x="2374953" y="2502135"/>
            <a:ext cx="4179200" cy="219695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Make a prediction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82" name="Google Shape;82;p12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Starter activity</a:t>
            </a:r>
            <a:endParaRPr/>
          </a:p>
        </p:txBody>
      </p:sp>
      <p:graphicFrame>
        <p:nvGraphicFramePr>
          <p:cNvPr id="83" name="Google Shape;83;p12"/>
          <p:cNvGraphicFramePr/>
          <p:nvPr>
            <p:extLst>
              <p:ext uri="{D42A27DB-BD31-4B8C-83A1-F6EECF244321}">
                <p14:modId xmlns:p14="http://schemas.microsoft.com/office/powerpoint/2010/main" val="46303679"/>
              </p:ext>
            </p:extLst>
          </p:nvPr>
        </p:nvGraphicFramePr>
        <p:xfrm>
          <a:off x="414534" y="1560135"/>
          <a:ext cx="5468700" cy="187621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4026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600" dirty="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600" dirty="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600" dirty="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600" dirty="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600" dirty="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600" dirty="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file = open("</a:t>
                      </a: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quick.txt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", "r")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quicktext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= </a:t>
                      </a: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file.readline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()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file.close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()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quicktext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= </a:t>
                      </a: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file.readlines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()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print(</a:t>
                      </a:r>
                      <a:r>
                        <a:rPr lang="en-GB" sz="1600" dirty="0" err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quicktext</a:t>
                      </a:r>
                      <a:r>
                        <a:rPr lang="en-GB" sz="1600" dirty="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)</a:t>
                      </a:r>
                      <a:endParaRPr sz="1600" dirty="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84667" marR="84667" marT="84667" marB="84667">
                    <a:lnL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4" name="Google Shape;84;p12"/>
          <p:cNvSpPr txBox="1"/>
          <p:nvPr/>
        </p:nvSpPr>
        <p:spPr>
          <a:xfrm>
            <a:off x="6684967" y="1560133"/>
            <a:ext cx="4753200" cy="4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72000" bIns="121900" anchor="t" anchorCtr="0">
            <a:noAutofit/>
          </a:bodyPr>
          <a:lstStyle/>
          <a:p>
            <a:pPr>
              <a:lnSpc>
                <a:spcPct val="114000"/>
              </a:lnSpc>
            </a:pPr>
            <a:r>
              <a:rPr lang="en-GB" sz="2400" dirty="0">
                <a:solidFill>
                  <a:srgbClr val="FFFFFF"/>
                </a:solidFill>
                <a:highlight>
                  <a:srgbClr val="D9272E"/>
                </a:highlight>
                <a:latin typeface="Quicksand"/>
                <a:ea typeface="Quicksand"/>
                <a:cs typeface="Quicksand"/>
                <a:sym typeface="Quicksand"/>
              </a:rPr>
              <a:t> Why? </a:t>
            </a:r>
            <a:r>
              <a:rPr lang="en-GB" sz="2400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r>
              <a:rPr lang="en-GB" sz="2400" dirty="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sz="2400" dirty="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>
              <a:lnSpc>
                <a:spcPct val="114000"/>
              </a:lnSpc>
            </a:pPr>
            <a:endParaRPr sz="2400" dirty="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>
              <a:lnSpc>
                <a:spcPct val="114000"/>
              </a:lnSpc>
            </a:pPr>
            <a:r>
              <a:rPr lang="en-GB" sz="2400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Once the file has been </a:t>
            </a:r>
            <a:r>
              <a:rPr lang="en-GB" sz="24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closed </a:t>
            </a:r>
            <a:r>
              <a:rPr lang="en-GB" sz="2400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it can no longer be read. </a:t>
            </a:r>
            <a:endParaRPr sz="2400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>
              <a:lnSpc>
                <a:spcPct val="114000"/>
              </a:lnSpc>
            </a:pPr>
            <a:endParaRPr sz="2400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>
              <a:lnSpc>
                <a:spcPct val="114000"/>
              </a:lnSpc>
            </a:pPr>
            <a:r>
              <a:rPr lang="en-GB" sz="2400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An error will occur when the program tries to access a closed file. </a:t>
            </a:r>
            <a:endParaRPr sz="2400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>
              <a:lnSpc>
                <a:spcPct val="112000"/>
              </a:lnSpc>
              <a:spcBef>
                <a:spcPts val="1600"/>
              </a:spcBef>
            </a:pPr>
            <a:endParaRPr sz="2400" dirty="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85" name="Google Shape;85;p12"/>
          <p:cNvSpPr/>
          <p:nvPr/>
        </p:nvSpPr>
        <p:spPr>
          <a:xfrm>
            <a:off x="884967" y="2639840"/>
            <a:ext cx="3488800" cy="225280"/>
          </a:xfrm>
          <a:prstGeom prst="roundRect">
            <a:avLst>
              <a:gd name="adj" fmla="val 16667"/>
            </a:avLst>
          </a:prstGeom>
          <a:solidFill>
            <a:srgbClr val="FFC000">
              <a:alpha val="2291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86" name="Google Shape;86;p12"/>
          <p:cNvCxnSpPr>
            <a:cxnSpLocks/>
            <a:endCxn id="85" idx="3"/>
          </p:cNvCxnSpPr>
          <p:nvPr/>
        </p:nvCxnSpPr>
        <p:spPr>
          <a:xfrm rot="10800000">
            <a:off x="4373767" y="2752480"/>
            <a:ext cx="2311200" cy="125116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5"/>
          <p:cNvSpPr txBox="1">
            <a:spLocks noGrp="1"/>
          </p:cNvSpPr>
          <p:nvPr>
            <p:ph type="body" idx="1"/>
          </p:nvPr>
        </p:nvSpPr>
        <p:spPr>
          <a:xfrm>
            <a:off x="414533" y="1560165"/>
            <a:ext cx="5462000" cy="186883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dirty="0"/>
              <a:t>Let’s run some more test cases in your local environment</a:t>
            </a:r>
            <a:endParaRPr dirty="0"/>
          </a:p>
        </p:txBody>
      </p:sp>
      <p:sp>
        <p:nvSpPr>
          <p:cNvPr id="401" name="Google Shape;401;p45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Text file challenges</a:t>
            </a:r>
            <a:endParaRPr dirty="0">
              <a:solidFill>
                <a:srgbClr val="FFC000"/>
              </a:solidFill>
            </a:endParaRPr>
          </a:p>
        </p:txBody>
      </p:sp>
      <p:pic>
        <p:nvPicPr>
          <p:cNvPr id="403" name="Google Shape;40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3149" y="1560133"/>
            <a:ext cx="5346635" cy="487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414533" y="1356967"/>
            <a:ext cx="11362800" cy="508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1333"/>
              </a:spcBef>
            </a:pPr>
            <a:r>
              <a:rPr lang="en-GB" dirty="0"/>
              <a:t>Write to text files</a:t>
            </a:r>
            <a:endParaRPr dirty="0"/>
          </a:p>
          <a:p>
            <a:pPr>
              <a:spcBef>
                <a:spcPts val="1333"/>
              </a:spcBef>
            </a:pPr>
            <a:r>
              <a:rPr lang="en-GB" dirty="0"/>
              <a:t>Append to text files</a:t>
            </a:r>
            <a:endParaRPr dirty="0"/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414533" y="414533"/>
            <a:ext cx="11362800" cy="94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Writing to text files</a:t>
            </a:r>
            <a:endParaRPr b="1" dirty="0">
              <a:solidFill>
                <a:srgbClr val="FFC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1" name="Google Shape;111;p15"/>
          <p:cNvSpPr txBox="1">
            <a:spLocks noGrp="1"/>
          </p:cNvSpPr>
          <p:nvPr>
            <p:ph type="sldNum" idx="12"/>
          </p:nvPr>
        </p:nvSpPr>
        <p:spPr>
          <a:xfrm>
            <a:off x="11776267" y="6439067"/>
            <a:ext cx="415600" cy="41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fld id="{00000000-1234-1234-1234-123412341234}" type="slidenum">
              <a:rPr lang="en-GB"/>
              <a:pPr algn="ctr"/>
              <a:t>39</a:t>
            </a:fld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2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Objectives</a:t>
            </a:r>
            <a:endParaRPr/>
          </a:p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8400" y="486400"/>
            <a:ext cx="558800" cy="5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Writing to a new text file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20" name="Google Shape;120;p16"/>
          <p:cNvSpPr txBox="1">
            <a:spLocks noGrp="1"/>
          </p:cNvSpPr>
          <p:nvPr>
            <p:ph type="body" idx="2"/>
          </p:nvPr>
        </p:nvSpPr>
        <p:spPr>
          <a:xfrm>
            <a:off x="6315467" y="1560133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GB" sz="2800" dirty="0"/>
              <a:t>There are four modes for opening a file:</a:t>
            </a:r>
            <a:endParaRPr sz="2800" dirty="0"/>
          </a:p>
          <a:p>
            <a:pPr marL="0" indent="0">
              <a:spcBef>
                <a:spcPts val="2133"/>
              </a:spcBef>
              <a:buNone/>
            </a:pPr>
            <a:r>
              <a:rPr lang="en-GB" sz="2800" dirty="0">
                <a:latin typeface="Roboto Mono"/>
                <a:ea typeface="Roboto Mono"/>
                <a:cs typeface="Roboto Mono"/>
                <a:sym typeface="Roboto Mono"/>
              </a:rPr>
              <a:t>r</a:t>
            </a:r>
            <a:r>
              <a:rPr lang="en-GB" sz="2800" dirty="0"/>
              <a:t>	for only reading files</a:t>
            </a:r>
            <a:endParaRPr sz="2800" dirty="0"/>
          </a:p>
          <a:p>
            <a:pPr marL="0" indent="0">
              <a:spcBef>
                <a:spcPts val="2133"/>
              </a:spcBef>
              <a:buNone/>
            </a:pPr>
            <a:r>
              <a:rPr lang="en-GB" sz="2800" dirty="0">
                <a:latin typeface="Roboto Mono"/>
                <a:ea typeface="Roboto Mono"/>
                <a:cs typeface="Roboto Mono"/>
                <a:sym typeface="Roboto Mono"/>
              </a:rPr>
              <a:t>w</a:t>
            </a:r>
            <a:r>
              <a:rPr lang="en-GB" sz="2800" dirty="0"/>
              <a:t>	for only writing to files</a:t>
            </a:r>
            <a:endParaRPr sz="2800" dirty="0"/>
          </a:p>
          <a:p>
            <a:pPr marL="0" indent="0">
              <a:spcBef>
                <a:spcPts val="2133"/>
              </a:spcBef>
              <a:buNone/>
            </a:pPr>
            <a:r>
              <a:rPr lang="en-GB" sz="2800" dirty="0"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en-GB" sz="2800" dirty="0"/>
              <a:t>	for adding to an existing file</a:t>
            </a:r>
            <a:endParaRPr sz="2800" dirty="0"/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r>
              <a:rPr lang="en-GB" sz="2800" dirty="0">
                <a:latin typeface="Roboto Mono"/>
                <a:ea typeface="Roboto Mono"/>
                <a:cs typeface="Roboto Mono"/>
                <a:sym typeface="Roboto Mono"/>
              </a:rPr>
              <a:t>r+</a:t>
            </a:r>
            <a:r>
              <a:rPr lang="en-GB" sz="2800" dirty="0"/>
              <a:t>	for reading and writing files</a:t>
            </a:r>
            <a:endParaRPr sz="2800" dirty="0"/>
          </a:p>
        </p:txBody>
      </p:sp>
      <p:sp>
        <p:nvSpPr>
          <p:cNvPr id="121" name="Google Shape;121;p16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1</a:t>
            </a: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1F34CF-1BBE-754C-9CD4-99982F87E5BE}"/>
              </a:ext>
            </a:extLst>
          </p:cNvPr>
          <p:cNvSpPr txBox="1"/>
          <p:nvPr/>
        </p:nvSpPr>
        <p:spPr>
          <a:xfrm>
            <a:off x="589208" y="1747207"/>
            <a:ext cx="60981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b="0" dirty="0">
                <a:solidFill>
                  <a:schemeClr val="bg1"/>
                </a:solidFill>
                <a:effectLst/>
                <a:latin typeface="Agave" panose="020B0509030604020203" pitchFamily="49" charset="0"/>
              </a:rPr>
              <a:t>file = </a:t>
            </a:r>
            <a:r>
              <a:rPr lang="en-AU" sz="2800" b="0" dirty="0">
                <a:solidFill>
                  <a:srgbClr val="82AAFF"/>
                </a:solidFill>
                <a:effectLst/>
                <a:latin typeface="Agave" panose="020B0509030604020203" pitchFamily="49" charset="0"/>
              </a:rPr>
              <a:t>open</a:t>
            </a:r>
            <a:r>
              <a:rPr lang="en-AU" sz="2800" b="0" dirty="0">
                <a:solidFill>
                  <a:schemeClr val="bg1"/>
                </a:solidFill>
                <a:effectLst/>
                <a:latin typeface="Agave" panose="020B0509030604020203" pitchFamily="49" charset="0"/>
              </a:rPr>
              <a:t>("</a:t>
            </a:r>
            <a:r>
              <a:rPr lang="en-AU" sz="2800" b="0" dirty="0" err="1">
                <a:solidFill>
                  <a:srgbClr val="C3E88D"/>
                </a:solidFill>
                <a:effectLst/>
                <a:latin typeface="Agave" panose="020B0509030604020203" pitchFamily="49" charset="0"/>
              </a:rPr>
              <a:t>players.txt</a:t>
            </a:r>
            <a:r>
              <a:rPr lang="en-AU" sz="2800" b="0" dirty="0" err="1">
                <a:solidFill>
                  <a:schemeClr val="bg1"/>
                </a:solidFill>
                <a:effectLst/>
                <a:latin typeface="Agave" panose="020B0509030604020203" pitchFamily="49" charset="0"/>
              </a:rPr>
              <a:t>","</a:t>
            </a:r>
            <a:r>
              <a:rPr lang="en-AU" sz="2800" b="0" dirty="0" err="1">
                <a:solidFill>
                  <a:srgbClr val="C3E88D"/>
                </a:solidFill>
                <a:effectLst/>
                <a:latin typeface="Agave" panose="020B0509030604020203" pitchFamily="49" charset="0"/>
              </a:rPr>
              <a:t>w</a:t>
            </a:r>
            <a:r>
              <a:rPr lang="en-AU" sz="2800" b="0" dirty="0">
                <a:solidFill>
                  <a:schemeClr val="bg1"/>
                </a:solidFill>
                <a:effectLst/>
                <a:latin typeface="Agave" panose="020B0509030604020203" pitchFamily="49" charset="0"/>
              </a:rPr>
              <a:t>")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body" idx="1"/>
          </p:nvPr>
        </p:nvSpPr>
        <p:spPr>
          <a:xfrm>
            <a:off x="414533" y="1560165"/>
            <a:ext cx="5462000" cy="77663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file = open("</a:t>
            </a:r>
            <a:r>
              <a:rPr lang="en-GB" sz="1867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players.txt","w</a:t>
            </a: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")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Writing to a new text file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28" name="Google Shape;128;p17"/>
          <p:cNvSpPr txBox="1">
            <a:spLocks noGrp="1"/>
          </p:cNvSpPr>
          <p:nvPr>
            <p:ph type="body" idx="2"/>
          </p:nvPr>
        </p:nvSpPr>
        <p:spPr>
          <a:xfrm>
            <a:off x="6315467" y="1560133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GB" dirty="0"/>
              <a:t>When you open a file in </a:t>
            </a:r>
            <a:r>
              <a:rPr lang="en-GB" dirty="0">
                <a:latin typeface="Roboto Mono"/>
                <a:ea typeface="Roboto Mono"/>
                <a:cs typeface="Roboto Mono"/>
                <a:sym typeface="Roboto Mono"/>
              </a:rPr>
              <a:t>write</a:t>
            </a:r>
            <a:r>
              <a:rPr lang="en-GB" dirty="0"/>
              <a:t> mode, it creates a </a:t>
            </a:r>
            <a:r>
              <a:rPr lang="en-GB" b="1" dirty="0"/>
              <a:t>new file</a:t>
            </a:r>
            <a:r>
              <a:rPr lang="en-GB" dirty="0"/>
              <a:t> with the specified file name. </a:t>
            </a:r>
            <a:endParaRPr dirty="0"/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endParaRPr dirty="0"/>
          </a:p>
        </p:txBody>
      </p:sp>
      <p:sp>
        <p:nvSpPr>
          <p:cNvPr id="129" name="Google Shape;129;p17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1</a:t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2242965" y="1679133"/>
            <a:ext cx="1879200" cy="282800"/>
          </a:xfrm>
          <a:prstGeom prst="roundRect">
            <a:avLst>
              <a:gd name="adj" fmla="val 16667"/>
            </a:avLst>
          </a:prstGeom>
          <a:solidFill>
            <a:srgbClr val="FFC000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131" name="Google Shape;131;p17"/>
          <p:cNvCxnSpPr>
            <a:endCxn id="130" idx="2"/>
          </p:cNvCxnSpPr>
          <p:nvPr/>
        </p:nvCxnSpPr>
        <p:spPr>
          <a:xfrm rot="10800000">
            <a:off x="3182565" y="1961933"/>
            <a:ext cx="2977200" cy="58520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>
            <a:spLocks noGrp="1"/>
          </p:cNvSpPr>
          <p:nvPr>
            <p:ph type="body" idx="1"/>
          </p:nvPr>
        </p:nvSpPr>
        <p:spPr>
          <a:xfrm>
            <a:off x="414533" y="1560165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file = open("</a:t>
            </a:r>
            <a:r>
              <a:rPr lang="en-GB" sz="1867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players.txt","w</a:t>
            </a: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")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37" name="Google Shape;137;p18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GB"/>
              <a:t>Writing to a new text file</a:t>
            </a:r>
            <a:endParaRPr/>
          </a:p>
        </p:txBody>
      </p:sp>
      <p:sp>
        <p:nvSpPr>
          <p:cNvPr id="138" name="Google Shape;138;p18"/>
          <p:cNvSpPr txBox="1">
            <a:spLocks noGrp="1"/>
          </p:cNvSpPr>
          <p:nvPr>
            <p:ph type="body" idx="2"/>
          </p:nvPr>
        </p:nvSpPr>
        <p:spPr>
          <a:xfrm>
            <a:off x="6315467" y="1560133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GB"/>
              <a:t>When you open a file in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write</a:t>
            </a:r>
            <a:r>
              <a:rPr lang="en-GB"/>
              <a:t> mode, it creates a </a:t>
            </a:r>
            <a:r>
              <a:rPr lang="en-GB" b="1"/>
              <a:t>new file</a:t>
            </a:r>
            <a:r>
              <a:rPr lang="en-GB"/>
              <a:t> with the specified file name. </a:t>
            </a:r>
            <a:endParaRPr/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r>
              <a:rPr lang="en-GB"/>
              <a:t>If that file </a:t>
            </a:r>
            <a:r>
              <a:rPr lang="en-GB" b="1"/>
              <a:t>already exists</a:t>
            </a:r>
            <a:r>
              <a:rPr lang="en-GB"/>
              <a:t>, then the file will be overwritten. </a:t>
            </a:r>
            <a:endParaRPr/>
          </a:p>
        </p:txBody>
      </p:sp>
      <p:sp>
        <p:nvSpPr>
          <p:cNvPr id="139" name="Google Shape;139;p18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1</a:t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2242965" y="1679133"/>
            <a:ext cx="1879200" cy="282800"/>
          </a:xfrm>
          <a:prstGeom prst="roundRect">
            <a:avLst>
              <a:gd name="adj" fmla="val 16667"/>
            </a:avLst>
          </a:prstGeom>
          <a:solidFill>
            <a:srgbClr val="FFC000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141" name="Google Shape;141;p18"/>
          <p:cNvCxnSpPr>
            <a:endCxn id="140" idx="2"/>
          </p:cNvCxnSpPr>
          <p:nvPr/>
        </p:nvCxnSpPr>
        <p:spPr>
          <a:xfrm rot="10800000">
            <a:off x="3182565" y="1961933"/>
            <a:ext cx="2977200" cy="58520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pic>
        <p:nvPicPr>
          <p:cNvPr id="142" name="Google Shape;142;p18"/>
          <p:cNvPicPr preferRelativeResize="0"/>
          <p:nvPr/>
        </p:nvPicPr>
        <p:blipFill>
          <a:blip r:embed="rId3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64465" y="3985049"/>
            <a:ext cx="495300" cy="5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>
            <a:spLocks noGrp="1"/>
          </p:cNvSpPr>
          <p:nvPr>
            <p:ph type="body" idx="1"/>
          </p:nvPr>
        </p:nvSpPr>
        <p:spPr>
          <a:xfrm>
            <a:off x="414533" y="1560165"/>
            <a:ext cx="54620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file = open("</a:t>
            </a:r>
            <a:r>
              <a:rPr lang="en-GB" sz="1867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players.txt","w</a:t>
            </a: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")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48" name="Google Shape;148;p19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Writing to a new text file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49" name="Google Shape;149;p19"/>
          <p:cNvSpPr txBox="1">
            <a:spLocks noGrp="1"/>
          </p:cNvSpPr>
          <p:nvPr>
            <p:ph type="body" idx="2"/>
          </p:nvPr>
        </p:nvSpPr>
        <p:spPr>
          <a:xfrm>
            <a:off x="6315467" y="1560133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dirty="0"/>
              <a:t>Live coding </a:t>
            </a:r>
            <a:endParaRPr dirty="0"/>
          </a:p>
        </p:txBody>
      </p:sp>
      <p:sp>
        <p:nvSpPr>
          <p:cNvPr id="150" name="Google Shape;150;p19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1</a:t>
            </a:r>
            <a:endParaRPr/>
          </a:p>
        </p:txBody>
      </p: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676307" y="1675157"/>
            <a:ext cx="558800" cy="5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>
            <a:spLocks noGrp="1"/>
          </p:cNvSpPr>
          <p:nvPr>
            <p:ph type="body" idx="1"/>
          </p:nvPr>
        </p:nvSpPr>
        <p:spPr>
          <a:xfrm>
            <a:off x="414533" y="1560165"/>
            <a:ext cx="5462000" cy="148783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dirty="0"/>
              <a:t>Use the </a:t>
            </a:r>
            <a:r>
              <a:rPr lang="en-GB" b="1" dirty="0"/>
              <a:t>worksheet</a:t>
            </a:r>
            <a:r>
              <a:rPr lang="en-GB" dirty="0"/>
              <a:t> to try some mini challenges.</a:t>
            </a:r>
            <a:endParaRPr dirty="0"/>
          </a:p>
        </p:txBody>
      </p:sp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Writing to a new text file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58" name="Google Shape;158;p20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1</a:t>
            </a:r>
            <a:endParaRPr/>
          </a:p>
        </p:txBody>
      </p:sp>
      <p:pic>
        <p:nvPicPr>
          <p:cNvPr id="159" name="Google Shape;15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0634" y="1560136"/>
            <a:ext cx="4671655" cy="487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>
            <a:spLocks noGrp="1"/>
          </p:cNvSpPr>
          <p:nvPr>
            <p:ph type="body" idx="1"/>
          </p:nvPr>
        </p:nvSpPr>
        <p:spPr>
          <a:xfrm>
            <a:off x="414533" y="1560165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file = open("</a:t>
            </a:r>
            <a:r>
              <a:rPr lang="en-GB" sz="1867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players.txt","a</a:t>
            </a: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")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65" name="Google Shape;165;p21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Appending to a text file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66" name="Google Shape;166;p21"/>
          <p:cNvSpPr txBox="1">
            <a:spLocks noGrp="1"/>
          </p:cNvSpPr>
          <p:nvPr>
            <p:ph type="body" idx="2"/>
          </p:nvPr>
        </p:nvSpPr>
        <p:spPr>
          <a:xfrm>
            <a:off x="6315467" y="1560133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GB"/>
              <a:t>When you append to a file, you are adding new data to the end of the text file. </a:t>
            </a:r>
            <a:endParaRPr/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r>
              <a:rPr lang="en-GB"/>
              <a:t>The mode character for appending to a file is an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en-GB"/>
              <a:t>.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2</a:t>
            </a:r>
            <a:endParaRPr/>
          </a:p>
        </p:txBody>
      </p:sp>
      <p:sp>
        <p:nvSpPr>
          <p:cNvPr id="168" name="Google Shape;168;p21"/>
          <p:cNvSpPr/>
          <p:nvPr/>
        </p:nvSpPr>
        <p:spPr>
          <a:xfrm>
            <a:off x="4244967" y="1679133"/>
            <a:ext cx="434000" cy="282800"/>
          </a:xfrm>
          <a:prstGeom prst="roundRect">
            <a:avLst>
              <a:gd name="adj" fmla="val 16667"/>
            </a:avLst>
          </a:prstGeom>
          <a:solidFill>
            <a:srgbClr val="FFC000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169" name="Google Shape;169;p21"/>
          <p:cNvCxnSpPr>
            <a:endCxn id="168" idx="2"/>
          </p:cNvCxnSpPr>
          <p:nvPr/>
        </p:nvCxnSpPr>
        <p:spPr>
          <a:xfrm rot="10800000">
            <a:off x="4461967" y="1961933"/>
            <a:ext cx="1811200" cy="177880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>
            <a:spLocks noGrp="1"/>
          </p:cNvSpPr>
          <p:nvPr>
            <p:ph type="body" idx="1"/>
          </p:nvPr>
        </p:nvSpPr>
        <p:spPr>
          <a:xfrm>
            <a:off x="414533" y="1560165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file = open("</a:t>
            </a:r>
            <a:r>
              <a:rPr lang="en-GB" sz="1867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players.txt","a</a:t>
            </a: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")</a:t>
            </a:r>
            <a:endParaRPr sz="1867" dirty="0">
              <a:solidFill>
                <a:schemeClr val="bg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r>
              <a:rPr lang="en-GB" sz="1867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file.write</a:t>
            </a: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("</a:t>
            </a:r>
            <a:r>
              <a:rPr lang="en-GB" sz="1867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DragonShark</a:t>
            </a: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")</a:t>
            </a:r>
            <a:endParaRPr sz="1867" dirty="0">
              <a:solidFill>
                <a:schemeClr val="bg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5" name="Google Shape;175;p22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Appending to a text file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76" name="Google Shape;176;p22"/>
          <p:cNvSpPr txBox="1">
            <a:spLocks noGrp="1"/>
          </p:cNvSpPr>
          <p:nvPr>
            <p:ph type="body" idx="2"/>
          </p:nvPr>
        </p:nvSpPr>
        <p:spPr>
          <a:xfrm>
            <a:off x="6315467" y="1560133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/>
              <a:t>There is no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append</a:t>
            </a:r>
            <a:r>
              <a:rPr lang="en-GB"/>
              <a:t> method for text files. The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write()</a:t>
            </a:r>
            <a:r>
              <a:rPr lang="en-GB"/>
              <a:t> method is used to write and append files. 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2</a:t>
            </a:r>
            <a:endParaRPr/>
          </a:p>
        </p:txBody>
      </p:sp>
      <p:sp>
        <p:nvSpPr>
          <p:cNvPr id="178" name="Google Shape;178;p22"/>
          <p:cNvSpPr/>
          <p:nvPr/>
        </p:nvSpPr>
        <p:spPr>
          <a:xfrm>
            <a:off x="1235765" y="2269988"/>
            <a:ext cx="2867600" cy="282800"/>
          </a:xfrm>
          <a:prstGeom prst="roundRect">
            <a:avLst>
              <a:gd name="adj" fmla="val 16667"/>
            </a:avLst>
          </a:prstGeom>
          <a:solidFill>
            <a:srgbClr val="FFC000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179" name="Google Shape;179;p22"/>
          <p:cNvCxnSpPr>
            <a:endCxn id="178" idx="3"/>
          </p:cNvCxnSpPr>
          <p:nvPr/>
        </p:nvCxnSpPr>
        <p:spPr>
          <a:xfrm flipH="1">
            <a:off x="4103365" y="2166188"/>
            <a:ext cx="2160400" cy="2452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>
            <a:spLocks noGrp="1"/>
          </p:cNvSpPr>
          <p:nvPr>
            <p:ph type="body" idx="1"/>
          </p:nvPr>
        </p:nvSpPr>
        <p:spPr>
          <a:xfrm>
            <a:off x="414533" y="1560165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file = open("</a:t>
            </a:r>
            <a:r>
              <a:rPr lang="en-GB" sz="1867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players.txt","a</a:t>
            </a: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")</a:t>
            </a:r>
            <a:endParaRPr sz="1867" dirty="0">
              <a:solidFill>
                <a:schemeClr val="bg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r>
              <a:rPr lang="en-GB" sz="1867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file.write</a:t>
            </a: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("</a:t>
            </a:r>
            <a:r>
              <a:rPr lang="en-GB" sz="1867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DragonShark</a:t>
            </a: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")</a:t>
            </a:r>
            <a:endParaRPr sz="1867" dirty="0">
              <a:solidFill>
                <a:schemeClr val="bg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5" name="Google Shape;185;p23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Appending to a text file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86" name="Google Shape;186;p23"/>
          <p:cNvSpPr txBox="1">
            <a:spLocks noGrp="1"/>
          </p:cNvSpPr>
          <p:nvPr>
            <p:ph type="body" idx="2"/>
          </p:nvPr>
        </p:nvSpPr>
        <p:spPr>
          <a:xfrm>
            <a:off x="6315467" y="1560133"/>
            <a:ext cx="5462000" cy="4878800"/>
          </a:xfrm>
          <a:prstGeom prst="rect">
            <a:avLst/>
          </a:prstGeom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GB" dirty="0">
                <a:solidFill>
                  <a:srgbClr val="FFFFFF"/>
                </a:solidFill>
                <a:highlight>
                  <a:srgbClr val="D9272E"/>
                </a:highlight>
              </a:rPr>
              <a:t>Question</a:t>
            </a:r>
            <a:r>
              <a:rPr lang="en-GB" dirty="0">
                <a:solidFill>
                  <a:srgbClr val="FFFFFF"/>
                </a:solidFill>
                <a:highlight>
                  <a:schemeClr val="dk1"/>
                </a:highlight>
              </a:rPr>
              <a:t> </a:t>
            </a:r>
            <a:r>
              <a:rPr lang="en-GB" dirty="0">
                <a:solidFill>
                  <a:schemeClr val="accent2"/>
                </a:solidFill>
              </a:rPr>
              <a:t>.</a:t>
            </a:r>
            <a:endParaRPr dirty="0">
              <a:solidFill>
                <a:schemeClr val="accent2"/>
              </a:solidFill>
            </a:endParaRPr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r>
              <a:rPr lang="en-GB" dirty="0"/>
              <a:t>What is missing from the program for it to work correctly?</a:t>
            </a:r>
            <a:endParaRPr dirty="0"/>
          </a:p>
        </p:txBody>
      </p:sp>
      <p:sp>
        <p:nvSpPr>
          <p:cNvPr id="187" name="Google Shape;187;p23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2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"/>
          <p:cNvSpPr txBox="1">
            <a:spLocks noGrp="1"/>
          </p:cNvSpPr>
          <p:nvPr>
            <p:ph type="body" idx="1"/>
          </p:nvPr>
        </p:nvSpPr>
        <p:spPr>
          <a:xfrm>
            <a:off x="414533" y="1560165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file = open("</a:t>
            </a:r>
            <a:r>
              <a:rPr lang="en-GB" sz="1867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players.txt","a</a:t>
            </a: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")</a:t>
            </a:r>
            <a:endParaRPr sz="1867" dirty="0">
              <a:solidFill>
                <a:schemeClr val="bg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>
              <a:spcBef>
                <a:spcPts val="2133"/>
              </a:spcBef>
              <a:buNone/>
            </a:pPr>
            <a:r>
              <a:rPr lang="en-GB" sz="1867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file.write</a:t>
            </a: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("</a:t>
            </a:r>
            <a:r>
              <a:rPr lang="en-GB" sz="1867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DragonShark</a:t>
            </a: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")</a:t>
            </a:r>
            <a:endParaRPr sz="1867" dirty="0">
              <a:solidFill>
                <a:schemeClr val="bg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r>
              <a:rPr lang="en-GB" sz="1867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file.close</a:t>
            </a:r>
            <a:r>
              <a:rPr lang="en-GB" sz="1867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1867" dirty="0">
              <a:solidFill>
                <a:schemeClr val="bg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3" name="Google Shape;193;p24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GB"/>
              <a:t>Appending to a text file</a:t>
            </a:r>
            <a:endParaRPr/>
          </a:p>
        </p:txBody>
      </p:sp>
      <p:sp>
        <p:nvSpPr>
          <p:cNvPr id="194" name="Google Shape;194;p24"/>
          <p:cNvSpPr txBox="1">
            <a:spLocks noGrp="1"/>
          </p:cNvSpPr>
          <p:nvPr>
            <p:ph type="body" idx="2"/>
          </p:nvPr>
        </p:nvSpPr>
        <p:spPr>
          <a:xfrm>
            <a:off x="6315469" y="669051"/>
            <a:ext cx="5462000" cy="4878800"/>
          </a:xfrm>
          <a:prstGeom prst="rect">
            <a:avLst/>
          </a:prstGeom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GB" dirty="0">
                <a:solidFill>
                  <a:srgbClr val="FFFFFF"/>
                </a:solidFill>
                <a:highlight>
                  <a:srgbClr val="D9272E"/>
                </a:highlight>
              </a:rPr>
              <a:t> Question </a:t>
            </a:r>
            <a:r>
              <a:rPr lang="en-GB" dirty="0">
                <a:solidFill>
                  <a:schemeClr val="accent2"/>
                </a:solidFill>
              </a:rPr>
              <a:t>.</a:t>
            </a:r>
            <a:endParaRPr dirty="0">
              <a:solidFill>
                <a:schemeClr val="accent2"/>
              </a:solidFill>
            </a:endParaRPr>
          </a:p>
          <a:p>
            <a:pPr marL="0" indent="0">
              <a:spcBef>
                <a:spcPts val="2133"/>
              </a:spcBef>
              <a:buNone/>
            </a:pPr>
            <a:r>
              <a:rPr lang="en-GB" dirty="0"/>
              <a:t>What is missing from the program for it to work correctly?</a:t>
            </a:r>
            <a:endParaRPr dirty="0"/>
          </a:p>
          <a:p>
            <a:pPr marL="0" indent="0">
              <a:spcBef>
                <a:spcPts val="2133"/>
              </a:spcBef>
              <a:buNone/>
            </a:pPr>
            <a:r>
              <a:rPr lang="en-GB" dirty="0">
                <a:solidFill>
                  <a:srgbClr val="FFFFFF"/>
                </a:solidFill>
                <a:highlight>
                  <a:schemeClr val="dk1"/>
                </a:highlight>
              </a:rPr>
              <a:t> </a:t>
            </a:r>
            <a:r>
              <a:rPr lang="en-GB" dirty="0">
                <a:solidFill>
                  <a:srgbClr val="FFFFFF"/>
                </a:solidFill>
                <a:highlight>
                  <a:srgbClr val="4F81BD"/>
                </a:highlight>
              </a:rPr>
              <a:t>Answer</a:t>
            </a:r>
            <a:r>
              <a:rPr lang="en-GB" dirty="0">
                <a:solidFill>
                  <a:srgbClr val="FFFFFF"/>
                </a:solidFill>
                <a:highlight>
                  <a:schemeClr val="dk1"/>
                </a:highlight>
              </a:rPr>
              <a:t> </a:t>
            </a:r>
            <a:r>
              <a:rPr lang="en-GB" dirty="0">
                <a:solidFill>
                  <a:schemeClr val="accent2"/>
                </a:solidFill>
              </a:rPr>
              <a:t>.</a:t>
            </a:r>
            <a:endParaRPr dirty="0">
              <a:solidFill>
                <a:schemeClr val="accent2"/>
              </a:solidFill>
            </a:endParaRPr>
          </a:p>
          <a:p>
            <a:pPr marL="0" indent="0">
              <a:spcBef>
                <a:spcPts val="2133"/>
              </a:spcBef>
              <a:buNone/>
            </a:pPr>
            <a:r>
              <a:rPr lang="en-GB" dirty="0"/>
              <a:t>The file must be closed in order for the program to work as expected. The file will remain open and won’t be updated.  </a:t>
            </a:r>
            <a:endParaRPr dirty="0"/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endParaRPr dirty="0"/>
          </a:p>
        </p:txBody>
      </p:sp>
      <p:sp>
        <p:nvSpPr>
          <p:cNvPr id="195" name="Google Shape;195;p24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2</a:t>
            </a:r>
            <a:endParaRPr/>
          </a:p>
        </p:txBody>
      </p:sp>
      <p:sp>
        <p:nvSpPr>
          <p:cNvPr id="196" name="Google Shape;196;p24"/>
          <p:cNvSpPr/>
          <p:nvPr/>
        </p:nvSpPr>
        <p:spPr>
          <a:xfrm>
            <a:off x="499967" y="2825651"/>
            <a:ext cx="1745200" cy="282800"/>
          </a:xfrm>
          <a:prstGeom prst="roundRect">
            <a:avLst>
              <a:gd name="adj" fmla="val 16667"/>
            </a:avLst>
          </a:prstGeom>
          <a:solidFill>
            <a:srgbClr val="FFC000">
              <a:alpha val="296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 txBox="1">
            <a:spLocks noGrp="1"/>
          </p:cNvSpPr>
          <p:nvPr>
            <p:ph type="body" idx="1"/>
          </p:nvPr>
        </p:nvSpPr>
        <p:spPr>
          <a:xfrm>
            <a:off x="414533" y="1560165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GB" sz="1867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file = open("players.txt","a")</a:t>
            </a:r>
            <a:endParaRPr sz="1867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>
              <a:spcBef>
                <a:spcPts val="2133"/>
              </a:spcBef>
              <a:buNone/>
            </a:pPr>
            <a:r>
              <a:rPr lang="en-GB" sz="1867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file.write("DragonShark")</a:t>
            </a:r>
            <a:endParaRPr sz="1867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r>
              <a:rPr lang="en-GB" sz="1867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file.close()</a:t>
            </a:r>
            <a:endParaRPr sz="1867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2" name="Google Shape;202;p25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GB"/>
              <a:t>Appending to a text file</a:t>
            </a:r>
            <a:endParaRPr/>
          </a:p>
        </p:txBody>
      </p:sp>
      <p:sp>
        <p:nvSpPr>
          <p:cNvPr id="203" name="Google Shape;203;p25"/>
          <p:cNvSpPr txBox="1">
            <a:spLocks noGrp="1"/>
          </p:cNvSpPr>
          <p:nvPr>
            <p:ph type="body" idx="2"/>
          </p:nvPr>
        </p:nvSpPr>
        <p:spPr>
          <a:xfrm>
            <a:off x="6315467" y="1560133"/>
            <a:ext cx="5462000" cy="4878800"/>
          </a:xfrm>
          <a:prstGeom prst="rect">
            <a:avLst/>
          </a:prstGeom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GB"/>
              <a:t>Live coding</a:t>
            </a:r>
            <a:r>
              <a:rPr lang="en-GB">
                <a:solidFill>
                  <a:srgbClr val="FFFFFF"/>
                </a:solidFill>
                <a:highlight>
                  <a:schemeClr val="dk1"/>
                </a:highlight>
              </a:rPr>
              <a:t> </a:t>
            </a:r>
            <a:endParaRPr/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endParaRPr/>
          </a:p>
        </p:txBody>
      </p:sp>
      <p:sp>
        <p:nvSpPr>
          <p:cNvPr id="204" name="Google Shape;204;p25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2</a:t>
            </a:r>
            <a:endParaRPr/>
          </a:p>
        </p:txBody>
      </p:sp>
      <p:pic>
        <p:nvPicPr>
          <p:cNvPr id="205" name="Google Shape;205;p25"/>
          <p:cNvPicPr preferRelativeResize="0"/>
          <p:nvPr/>
        </p:nvPicPr>
        <p:blipFill>
          <a:blip r:embed="rId3">
            <a:alphaModFix/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767067" y="1718278"/>
            <a:ext cx="558800" cy="5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>
            <a:spLocks noGrp="1"/>
          </p:cNvSpPr>
          <p:nvPr>
            <p:ph type="body" idx="1"/>
          </p:nvPr>
        </p:nvSpPr>
        <p:spPr>
          <a:xfrm>
            <a:off x="414533" y="1560165"/>
            <a:ext cx="5462000" cy="48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en-GB" dirty="0"/>
              <a:t>Use the </a:t>
            </a:r>
            <a:r>
              <a:rPr lang="en-GB" b="1" dirty="0"/>
              <a:t>worksheet</a:t>
            </a:r>
            <a:r>
              <a:rPr lang="en-GB" dirty="0"/>
              <a:t> to complete some append challenges. </a:t>
            </a:r>
            <a:endParaRPr dirty="0"/>
          </a:p>
        </p:txBody>
      </p:sp>
      <p:sp>
        <p:nvSpPr>
          <p:cNvPr id="211" name="Google Shape;211;p26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GB"/>
              <a:t>Appending to a text file</a:t>
            </a:r>
            <a:endParaRPr/>
          </a:p>
        </p:txBody>
      </p:sp>
      <p:sp>
        <p:nvSpPr>
          <p:cNvPr id="212" name="Google Shape;212;p26"/>
          <p:cNvSpPr txBox="1">
            <a:spLocks noGrp="1"/>
          </p:cNvSpPr>
          <p:nvPr>
            <p:ph type="body" idx="2"/>
          </p:nvPr>
        </p:nvSpPr>
        <p:spPr>
          <a:xfrm>
            <a:off x="6315467" y="1560133"/>
            <a:ext cx="5462000" cy="4878800"/>
          </a:xfrm>
          <a:prstGeom prst="rect">
            <a:avLst/>
          </a:prstGeom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endParaRPr/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2</a:t>
            </a:r>
            <a:endParaRPr/>
          </a:p>
        </p:txBody>
      </p:sp>
      <p:pic>
        <p:nvPicPr>
          <p:cNvPr id="214" name="Google Shape;21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1600" y="1719063"/>
            <a:ext cx="5462000" cy="425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4"/>
          <p:cNvSpPr txBox="1">
            <a:spLocks noGrp="1"/>
          </p:cNvSpPr>
          <p:nvPr>
            <p:ph type="title"/>
          </p:nvPr>
        </p:nvSpPr>
        <p:spPr>
          <a:xfrm>
            <a:off x="414533" y="426133"/>
            <a:ext cx="11361600" cy="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Challenge 3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392" name="Google Shape;392;p44"/>
          <p:cNvSpPr txBox="1">
            <a:spLocks noGrp="1"/>
          </p:cNvSpPr>
          <p:nvPr>
            <p:ph type="body" idx="2"/>
          </p:nvPr>
        </p:nvSpPr>
        <p:spPr>
          <a:xfrm>
            <a:off x="2148740" y="2095934"/>
            <a:ext cx="8182929" cy="216163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AU" dirty="0"/>
              <a:t>Download the started code for challenge 3 on blackboard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dirty="0"/>
          </a:p>
        </p:txBody>
      </p:sp>
      <p:sp>
        <p:nvSpPr>
          <p:cNvPr id="393" name="Google Shape;393;p44"/>
          <p:cNvSpPr txBox="1">
            <a:spLocks noGrp="1"/>
          </p:cNvSpPr>
          <p:nvPr>
            <p:ph type="subTitle" idx="3"/>
          </p:nvPr>
        </p:nvSpPr>
        <p:spPr>
          <a:xfrm>
            <a:off x="7010400" y="0"/>
            <a:ext cx="4753200" cy="418800"/>
          </a:xfrm>
          <a:prstGeom prst="rect">
            <a:avLst/>
          </a:prstGeom>
        </p:spPr>
        <p:txBody>
          <a:bodyPr spcFirstLastPara="1" vert="horz" wrap="square" lIns="121900" tIns="121900" rIns="0" bIns="121900" rtlCol="0" anchor="ctr" anchorCtr="0">
            <a:noAutofit/>
          </a:bodyPr>
          <a:lstStyle/>
          <a:p>
            <a:pPr marL="0" indent="0"/>
            <a:r>
              <a:rPr lang="en-GB"/>
              <a:t>Activity 3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393324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Shape 371"/>
          <p:cNvSpPr txBox="1">
            <a:spLocks noGrp="1"/>
          </p:cNvSpPr>
          <p:nvPr>
            <p:ph type="title"/>
          </p:nvPr>
        </p:nvSpPr>
        <p:spPr>
          <a:xfrm>
            <a:off x="866776" y="592282"/>
            <a:ext cx="10232231" cy="1312643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>
              <a:buClr>
                <a:srgbClr val="00FF00"/>
              </a:buClr>
              <a:buSzPct val="25000"/>
            </a:pPr>
            <a:r>
              <a:rPr lang="en-US" sz="57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Summary</a:t>
            </a:r>
          </a:p>
        </p:txBody>
      </p:sp>
      <p:sp>
        <p:nvSpPr>
          <p:cNvPr id="372" name="Shape 37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t" anchorCtr="0">
            <a:noAutofit/>
          </a:bodyPr>
          <a:lstStyle/>
          <a:p>
            <a:pPr marL="514350" indent="-295846">
              <a:spcBef>
                <a:spcPts val="0"/>
              </a:spcBef>
              <a:buSzPct val="100000"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Secondary storage</a:t>
            </a:r>
          </a:p>
          <a:p>
            <a:pPr marL="514350" indent="-295846">
              <a:buSzPct val="100000"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Opening a file - file handle</a:t>
            </a:r>
          </a:p>
          <a:p>
            <a:pPr marL="514350" indent="-295846">
              <a:buSzPct val="100000"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File structure - newline character</a:t>
            </a:r>
          </a:p>
          <a:p>
            <a:pPr marL="514350" indent="-295847">
              <a:buSzPct val="100000"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Reading a file line by line with a </a:t>
            </a:r>
            <a:b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 loop</a:t>
            </a:r>
          </a:p>
        </p:txBody>
      </p:sp>
      <p:sp>
        <p:nvSpPr>
          <p:cNvPr id="373" name="Shape 373"/>
          <p:cNvSpPr txBox="1">
            <a:spLocks noGrp="1"/>
          </p:cNvSpPr>
          <p:nvPr>
            <p:ph type="body" idx="4294967295"/>
          </p:nvPr>
        </p:nvSpPr>
        <p:spPr>
          <a:xfrm>
            <a:off x="7147322" y="1952625"/>
            <a:ext cx="3951684" cy="3100388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t" anchorCtr="0">
            <a:noAutofit/>
          </a:bodyPr>
          <a:lstStyle/>
          <a:p>
            <a:pPr marL="514350" indent="-295847">
              <a:spcBef>
                <a:spcPts val="2625"/>
              </a:spcBef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Appending to a file</a:t>
            </a:r>
          </a:p>
          <a:p>
            <a:pPr marL="514350" indent="-295847">
              <a:spcBef>
                <a:spcPts val="2625"/>
              </a:spcBef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Searching for lines</a:t>
            </a:r>
          </a:p>
          <a:p>
            <a:pPr marL="514350" indent="-295847">
              <a:spcBef>
                <a:spcPts val="2625"/>
              </a:spcBef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Writing to a file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Shape 5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68569" tIns="68569" rIns="68569" bIns="68569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2700" dirty="0">
                <a:solidFill>
                  <a:srgbClr val="FFFF00"/>
                </a:solidFill>
              </a:rPr>
              <a:t>Acknowledgements / Contributions</a:t>
            </a:r>
          </a:p>
        </p:txBody>
      </p:sp>
      <p:sp>
        <p:nvSpPr>
          <p:cNvPr id="549" name="Shape 549"/>
          <p:cNvSpPr txBox="1"/>
          <p:nvPr/>
        </p:nvSpPr>
        <p:spPr>
          <a:xfrm>
            <a:off x="866776" y="1628553"/>
            <a:ext cx="5098274" cy="4457923"/>
          </a:xfrm>
          <a:prstGeom prst="rect">
            <a:avLst/>
          </a:prstGeom>
          <a:noFill/>
          <a:ln>
            <a:noFill/>
          </a:ln>
        </p:spPr>
        <p:txBody>
          <a:bodyPr lIns="68569" tIns="68569" rIns="68569" bIns="68569" anchor="t" anchorCtr="0">
            <a:noAutofit/>
          </a:bodyPr>
          <a:lstStyle/>
          <a:p>
            <a:r>
              <a:rPr lang="en-US" sz="1350" dirty="0">
                <a:solidFill>
                  <a:srgbClr val="FFFFFF"/>
                </a:solidFill>
              </a:rPr>
              <a:t>Some of these slides are Copyright 2010-  Charles R. Severance (</a:t>
            </a:r>
            <a:r>
              <a:rPr lang="en-US" sz="1350" u="sng" dirty="0">
                <a:solidFill>
                  <a:srgbClr val="FFFF00"/>
                </a:solidFill>
                <a:hlinkClick r:id="rId3"/>
              </a:rPr>
              <a:t>www.dr-chuck.com</a:t>
            </a:r>
            <a:r>
              <a:rPr lang="en-US" sz="1350" dirty="0">
                <a:solidFill>
                  <a:srgbClr val="FFFFFF"/>
                </a:solidFill>
              </a:rPr>
              <a:t>) of the University of Michigan School of Information and made available under a Creative Commons Attribution 4.0 License.  Please maintain this last slide in all copies of the document to comply with the attribution requirements of the license.  If you make a change, feel free to add your name and organization to the list of contributors on this page as you republish the materials.</a:t>
            </a:r>
          </a:p>
          <a:p>
            <a:endParaRPr sz="1350" dirty="0">
              <a:solidFill>
                <a:srgbClr val="FFFFFF"/>
              </a:solidFill>
            </a:endParaRPr>
          </a:p>
          <a:p>
            <a:r>
              <a:rPr lang="en-US" sz="1350" dirty="0">
                <a:solidFill>
                  <a:srgbClr val="FFFFFF"/>
                </a:solidFill>
              </a:rPr>
              <a:t>Initial Development: Charles Severance, University of Michigan School of Information</a:t>
            </a:r>
          </a:p>
          <a:p>
            <a:endParaRPr sz="1350" dirty="0">
              <a:solidFill>
                <a:srgbClr val="FFFFFF"/>
              </a:solidFill>
            </a:endParaRPr>
          </a:p>
          <a:p>
            <a:pPr>
              <a:buClr>
                <a:schemeClr val="dk2"/>
              </a:buClr>
              <a:buSzPct val="61111"/>
            </a:pPr>
            <a:r>
              <a:rPr lang="en-US" sz="1350" dirty="0">
                <a:solidFill>
                  <a:schemeClr val="lt1"/>
                </a:solidFill>
              </a:rPr>
              <a:t>… Insert new Contributors and Translators here</a:t>
            </a:r>
          </a:p>
          <a:p>
            <a:endParaRPr sz="1350" dirty="0">
              <a:solidFill>
                <a:srgbClr val="FFFFFF"/>
              </a:solidFill>
            </a:endParaRPr>
          </a:p>
        </p:txBody>
      </p:sp>
      <p:pic>
        <p:nvPicPr>
          <p:cNvPr id="550" name="Shape 5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830" y="4665138"/>
            <a:ext cx="768600" cy="76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Shape 5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01681" y="4856453"/>
            <a:ext cx="1476449" cy="5013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Shape 552"/>
          <p:cNvSpPr txBox="1"/>
          <p:nvPr/>
        </p:nvSpPr>
        <p:spPr>
          <a:xfrm>
            <a:off x="6528301" y="1777090"/>
            <a:ext cx="5098274" cy="4309385"/>
          </a:xfrm>
          <a:prstGeom prst="rect">
            <a:avLst/>
          </a:prstGeom>
          <a:noFill/>
          <a:ln>
            <a:noFill/>
          </a:ln>
        </p:spPr>
        <p:txBody>
          <a:bodyPr lIns="68569" tIns="68569" rIns="68569" bIns="68569" anchor="t" anchorCtr="0">
            <a:noAutofit/>
          </a:bodyPr>
          <a:lstStyle/>
          <a:p>
            <a:r>
              <a:rPr lang="en-US" sz="1350">
                <a:solidFill>
                  <a:srgbClr val="FFFFFF"/>
                </a:solidFill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0147283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SMS Availabilities&amp;#x0D;&amp;#x0A;Overview&amp;quot;&quot;/&gt;&lt;property id=&quot;20307&quot; value=&quot;256&quot;/&gt;&lt;/object&gt;&lt;object type=&quot;3&quot; unique_id=&quot;10005&quot;&gt;&lt;property id=&quot;20148&quot; value=&quot;5&quot;/&gt;&lt;property id=&quot;20300&quot; value=&quot;Slide 2&quot;/&gt;&lt;property id=&quot;20307&quot; value=&quot;257&quot;/&gt;&lt;/object&gt;&lt;object type=&quot;3&quot; unique_id=&quot;10006&quot;&gt;&lt;property id=&quot;20148&quot; value=&quot;5&quot;/&gt;&lt;property id=&quot;20300&quot; value=&quot;Slide 3 - &amp;quot;&amp;#x0D;&amp;#x0A;Course Availabilities&amp;quot;&quot;/&gt;&lt;property id=&quot;20307&quot; value=&quot;261&quot;/&gt;&lt;/object&gt;&lt;object type=&quot;3&quot; unique_id=&quot;10007&quot;&gt;&lt;property id=&quot;20148&quot; value=&quot;5&quot;/&gt;&lt;property id=&quot;20300&quot; value=&quot;Slide 4 - &amp;quot;Intake Calendars&amp;quot;&quot;/&gt;&lt;property id=&quot;20307&quot; value=&quot;264&quot;/&gt;&lt;/object&gt;&lt;object type=&quot;3&quot; unique_id=&quot;10008&quot;&gt;&lt;property id=&quot;20148&quot; value=&quot;5&quot;/&gt;&lt;property id=&quot;20300&quot; value=&quot;Slide 5 - &amp;quot;&amp;#x0D;&amp;#x0A;Unit Availabilities&amp;quot;&quot;/&gt;&lt;property id=&quot;20307&quot; value=&quot;259&quot;/&gt;&lt;/object&gt;&lt;object type=&quot;3&quot; unique_id=&quot;10009&quot;&gt;&lt;property id=&quot;20148&quot; value=&quot;5&quot;/&gt;&lt;property id=&quot;20300&quot; value=&quot;Slide 6 - &amp;quot;&amp;#x0D;&amp;#x0A;Unit Availabilities&amp;quot;&quot;/&gt;&lt;property id=&quot;20307&quot; value=&quot;260&quot;/&gt;&lt;/object&gt;&lt;object type=&quot;3&quot; unique_id=&quot;10010&quot;&gt;&lt;property id=&quot;20148&quot; value=&quot;5&quot;/&gt;&lt;property id=&quot;20300&quot; value=&quot;Slide 7 - &amp;quot;Enrolment Calendars&amp;quot;&quot;/&gt;&lt;property id=&quot;20307&quot; value=&quot;265&quot;/&gt;&lt;/object&gt;&lt;object type=&quot;3&quot; unique_id=&quot;10011&quot;&gt;&lt;property id=&quot;20148&quot; value=&quot;5&quot;/&gt;&lt;property id=&quot;20300&quot; value=&quot;Slide 8 - &amp;quot;Business Guidelines&amp;quot;&quot;/&gt;&lt;property id=&quot;20307&quot; value=&quot;268&quot;/&gt;&lt;/object&gt;&lt;object type=&quot;3&quot; unique_id=&quot;10012&quot;&gt;&lt;property id=&quot;20148&quot; value=&quot;5&quot;/&gt;&lt;property id=&quot;20300&quot; value=&quot;Slide 9 - &amp;quot;Business Guidelines&amp;quot;&quot;/&gt;&lt;property id=&quot;20307&quot; value=&quot;269&quot;/&gt;&lt;/object&gt;&lt;object type=&quot;3&quot; unique_id=&quot;10013&quot;&gt;&lt;property id=&quot;20148&quot; value=&quot;5&quot;/&gt;&lt;property id=&quot;20300&quot; value=&quot;Slide 10 - &amp;quot;Business Considerations&amp;quot;&quot;/&gt;&lt;property id=&quot;20307&quot; value=&quot;262&quot;/&gt;&lt;/object&gt;&lt;object type=&quot;3&quot; unique_id=&quot;10014&quot;&gt;&lt;property id=&quot;20148&quot; value=&quot;5&quot;/&gt;&lt;property id=&quot;20300&quot; value=&quot;Slide 11 - &amp;quot;Availabilities tasks&amp;quot;&quot;/&gt;&lt;property id=&quot;20307&quot; value=&quot;266&quot;/&gt;&lt;/object&gt;&lt;object type=&quot;3&quot; unique_id=&quot;10015&quot;&gt;&lt;property id=&quot;20148&quot; value=&quot;5&quot;/&gt;&lt;property id=&quot;20300&quot; value=&quot;Slide 12 - &amp;quot;Availabilities Template&amp;quot;&quot;/&gt;&lt;property id=&quot;20307&quot; value=&quot;267&quot;/&gt;&lt;/object&gt;&lt;object type=&quot;3&quot; unique_id=&quot;10016&quot;&gt;&lt;property id=&quot;20148&quot; value=&quot;5&quot;/&gt;&lt;property id=&quot;20300&quot; value=&quot;Slide 13 - &amp;quot;Timetabling&amp;quot;&quot;/&gt;&lt;property id=&quot;20307&quot; value=&quot;263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AFE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MT-Presentation-HD-1920x1080-AJG-V2020.05.14.potx" id="{65AE90C9-1F4F-4671-A90D-218C982486A1}" vid="{C1F87A47-8314-4C75-8707-71F446DE83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5E654056D58A47AA1AB158F7447227" ma:contentTypeVersion="13" ma:contentTypeDescription="Create a new document." ma:contentTypeScope="" ma:versionID="6a73135bdeb2a6025ed71a78c35e1493">
  <xsd:schema xmlns:xsd="http://www.w3.org/2001/XMLSchema" xmlns:xs="http://www.w3.org/2001/XMLSchema" xmlns:p="http://schemas.microsoft.com/office/2006/metadata/properties" xmlns:ns2="a5d4b606-e216-4a12-b5e0-256bbcdf3e40" xmlns:ns3="d30896e8-62f2-4107-a799-a577dc6441e1" targetNamespace="http://schemas.microsoft.com/office/2006/metadata/properties" ma:root="true" ma:fieldsID="6d487abba588268ce0728dd40265c972" ns2:_="" ns3:_="">
    <xsd:import namespace="a5d4b606-e216-4a12-b5e0-256bbcdf3e40"/>
    <xsd:import namespace="d30896e8-62f2-4107-a799-a577dc6441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d4b606-e216-4a12-b5e0-256bbcdf3e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0896e8-62f2-4107-a799-a577dc6441e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A9CE8C3-CD74-44D7-9A23-34EAFAD8A7AF}">
  <ds:schemaRefs>
    <ds:schemaRef ds:uri="a5d4b606-e216-4a12-b5e0-256bbcdf3e40"/>
    <ds:schemaRef ds:uri="d30896e8-62f2-4107-a799-a577dc6441e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93B4755-80B4-4FE9-9650-4C80064448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6F79D9B-5A67-492D-BB4F-F3913BAD9421}">
  <ds:schemaRefs>
    <ds:schemaRef ds:uri="http://schemas.microsoft.com/office/2006/metadata/properties"/>
    <ds:schemaRef ds:uri="a5d4b606-e216-4a12-b5e0-256bbcdf3e40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d30896e8-62f2-4107-a799-a577dc6441e1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NMT-Presentation-HD-1920x1080-AJG-V2020.05.25</Template>
  <TotalTime>7281</TotalTime>
  <Words>2705</Words>
  <Application>Microsoft Macintosh PowerPoint</Application>
  <PresentationFormat>Widescreen</PresentationFormat>
  <Paragraphs>507</Paragraphs>
  <Slides>53</Slides>
  <Notes>52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3" baseType="lpstr">
      <vt:lpstr>Agave</vt:lpstr>
      <vt:lpstr>arial</vt:lpstr>
      <vt:lpstr>arial</vt:lpstr>
      <vt:lpstr>Cabin</vt:lpstr>
      <vt:lpstr>Calibri</vt:lpstr>
      <vt:lpstr>Century Gothic</vt:lpstr>
      <vt:lpstr>Quicksand</vt:lpstr>
      <vt:lpstr>Quicksand Light</vt:lpstr>
      <vt:lpstr>Roboto Mono</vt:lpstr>
      <vt:lpstr>Office Theme</vt:lpstr>
      <vt:lpstr>Introductory Programming Techniques </vt:lpstr>
      <vt:lpstr>Files</vt:lpstr>
      <vt:lpstr>Challenge 1</vt:lpstr>
      <vt:lpstr>Reading text files</vt:lpstr>
      <vt:lpstr>Files</vt:lpstr>
      <vt:lpstr>File handling</vt:lpstr>
      <vt:lpstr>File handling</vt:lpstr>
      <vt:lpstr>File handling in Python</vt:lpstr>
      <vt:lpstr>Open a text file</vt:lpstr>
      <vt:lpstr>Open a text file</vt:lpstr>
      <vt:lpstr>Open a text file</vt:lpstr>
      <vt:lpstr>Open a text file</vt:lpstr>
      <vt:lpstr>Open a text file</vt:lpstr>
      <vt:lpstr>Open a text file: modes</vt:lpstr>
      <vt:lpstr>Read a text file</vt:lpstr>
      <vt:lpstr>Read a text file</vt:lpstr>
      <vt:lpstr>Read a text file</vt:lpstr>
      <vt:lpstr>Read a text file</vt:lpstr>
      <vt:lpstr>Read a text file</vt:lpstr>
      <vt:lpstr>Reading lines from a text file</vt:lpstr>
      <vt:lpstr>Reading lines from a text file</vt:lpstr>
      <vt:lpstr>Reading lines from a text file</vt:lpstr>
      <vt:lpstr>Reading lines from a text file</vt:lpstr>
      <vt:lpstr>Reading lines from a text file</vt:lpstr>
      <vt:lpstr>Reading lines from a text file</vt:lpstr>
      <vt:lpstr>Reading lines from a text file</vt:lpstr>
      <vt:lpstr>Reading lines from a text file</vt:lpstr>
      <vt:lpstr>Default data type</vt:lpstr>
      <vt:lpstr>Default data type</vt:lpstr>
      <vt:lpstr>Closing a file</vt:lpstr>
      <vt:lpstr>Challenge 2</vt:lpstr>
      <vt:lpstr>Match the method to the description</vt:lpstr>
      <vt:lpstr>Match the method to the description</vt:lpstr>
      <vt:lpstr>Make a prediction</vt:lpstr>
      <vt:lpstr>Make a prediction</vt:lpstr>
      <vt:lpstr>Make a prediction</vt:lpstr>
      <vt:lpstr>Make a prediction</vt:lpstr>
      <vt:lpstr>Text file challenges</vt:lpstr>
      <vt:lpstr>Writing to text files</vt:lpstr>
      <vt:lpstr>Writing to a new text file</vt:lpstr>
      <vt:lpstr>Writing to a new text file</vt:lpstr>
      <vt:lpstr>Writing to a new text file</vt:lpstr>
      <vt:lpstr>Writing to a new text file</vt:lpstr>
      <vt:lpstr>Writing to a new text file</vt:lpstr>
      <vt:lpstr>Appending to a text file</vt:lpstr>
      <vt:lpstr>Appending to a text file</vt:lpstr>
      <vt:lpstr>Appending to a text file</vt:lpstr>
      <vt:lpstr>Appending to a text file</vt:lpstr>
      <vt:lpstr>Appending to a text file</vt:lpstr>
      <vt:lpstr>Appending to a text file</vt:lpstr>
      <vt:lpstr>Challenge 3</vt:lpstr>
      <vt:lpstr>Summary</vt:lpstr>
      <vt:lpstr>Acknowledgements / Contributions</vt:lpstr>
    </vt:vector>
  </TitlesOfParts>
  <Manager/>
  <Company>North Metro TAFE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Adding JetBrains CLI Scripts to Laragon</dc:title>
  <dc:subject>Powerpoint presentation template (G076C)</dc:subject>
  <dc:creator>Adrian Gould</dc:creator>
  <cp:keywords>HD 1920x1080 powerpoint presentation template</cp:keywords>
  <dc:description/>
  <cp:lastModifiedBy>John Robertson</cp:lastModifiedBy>
  <cp:revision>20</cp:revision>
  <cp:lastPrinted>2020-09-29T02:41:13Z</cp:lastPrinted>
  <dcterms:created xsi:type="dcterms:W3CDTF">2020-06-09T02:13:16Z</dcterms:created>
  <dcterms:modified xsi:type="dcterms:W3CDTF">2023-08-23T22:24:27Z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0x0101002E5E654056D58A47AA1AB158F7447227</vt:lpwstr>
  </property>
</Properties>
</file>