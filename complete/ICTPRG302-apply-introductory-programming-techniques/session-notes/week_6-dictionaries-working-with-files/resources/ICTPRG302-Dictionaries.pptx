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4"/>
  </p:notesMasterIdLst>
  <p:sldIdLst>
    <p:sldId id="258" r:id="rId5"/>
    <p:sldId id="256" r:id="rId6"/>
    <p:sldId id="272" r:id="rId7"/>
    <p:sldId id="259" r:id="rId8"/>
    <p:sldId id="261" r:id="rId9"/>
    <p:sldId id="282" r:id="rId10"/>
    <p:sldId id="275" r:id="rId11"/>
    <p:sldId id="284" r:id="rId12"/>
    <p:sldId id="283" r:id="rId13"/>
    <p:sldId id="279" r:id="rId14"/>
    <p:sldId id="285" r:id="rId15"/>
    <p:sldId id="274" r:id="rId16"/>
    <p:sldId id="289" r:id="rId17"/>
    <p:sldId id="276" r:id="rId18"/>
    <p:sldId id="288" r:id="rId19"/>
    <p:sldId id="280" r:id="rId20"/>
    <p:sldId id="287" r:id="rId21"/>
    <p:sldId id="281" r:id="rId22"/>
    <p:sldId id="290" r:id="rId23"/>
  </p:sldIdLst>
  <p:sldSz cx="12192000" cy="6858000"/>
  <p:notesSz cx="7104063" cy="10234613"/>
  <p:custDataLst>
    <p:tags r:id="rId25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ACB743C-D873-4233-9D28-B8C4BDC855B1}">
          <p14:sldIdLst>
            <p14:sldId id="258"/>
            <p14:sldId id="256"/>
            <p14:sldId id="272"/>
            <p14:sldId id="259"/>
            <p14:sldId id="261"/>
            <p14:sldId id="282"/>
            <p14:sldId id="275"/>
            <p14:sldId id="284"/>
            <p14:sldId id="283"/>
            <p14:sldId id="279"/>
            <p14:sldId id="285"/>
            <p14:sldId id="274"/>
            <p14:sldId id="289"/>
            <p14:sldId id="276"/>
            <p14:sldId id="288"/>
            <p14:sldId id="280"/>
            <p14:sldId id="287"/>
            <p14:sldId id="281"/>
            <p14:sldId id="29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966"/>
    <a:srgbClr val="CC00FF"/>
    <a:srgbClr val="00DC65"/>
    <a:srgbClr val="D9272E"/>
    <a:srgbClr val="FFF8E1"/>
    <a:srgbClr val="FFFCF3"/>
    <a:srgbClr val="3379CD"/>
    <a:srgbClr val="000000"/>
    <a:srgbClr val="9BBB59"/>
    <a:srgbClr val="D826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61" autoAdjust="0"/>
    <p:restoredTop sz="96247" autoAdjust="0"/>
  </p:normalViewPr>
  <p:slideViewPr>
    <p:cSldViewPr snapToGrid="0">
      <p:cViewPr varScale="1">
        <p:scale>
          <a:sx n="106" d="100"/>
          <a:sy n="106" d="100"/>
        </p:scale>
        <p:origin x="768" y="11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90" d="100"/>
          <a:sy n="90" d="100"/>
        </p:scale>
        <p:origin x="2472" y="-191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gs" Target="tags/tag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77EA1514-F326-1840-B15D-D4720038598B}" type="datetimeFigureOut">
              <a:rPr lang="en-US" smtClean="0"/>
              <a:t>7/2/2024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06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BA3E024E-F835-6D45-89C3-0E2F93EE799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357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2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US">
                <a:solidFill>
                  <a:schemeClr val="dk2"/>
                </a:solidFill>
              </a:rPr>
              <a:t>Note from Chuck.  If you are using these materials, you can remove the UM logo and replace it with your own, but please retain the CC-BY logo on the first page as well as retain the entire last page.</a:t>
            </a:r>
          </a:p>
        </p:txBody>
      </p:sp>
      <p:sp>
        <p:nvSpPr>
          <p:cNvPr id="201" name="Shape 20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751400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Fun warm-up activity.  Students state if they were an animal which animal/bird etc. they would have been and the reason.</a:t>
            </a:r>
          </a:p>
          <a:p>
            <a:endParaRPr lang="en-AU" dirty="0"/>
          </a:p>
          <a:p>
            <a:r>
              <a:rPr lang="en-AU" dirty="0"/>
              <a:t>This can be saved as a dictionary to know who are the people that associate with a specific animal, lists will not work well to store this kind of information.</a:t>
            </a:r>
          </a:p>
          <a:p>
            <a:r>
              <a:rPr lang="en-AU" dirty="0"/>
              <a:t>E.G</a:t>
            </a:r>
          </a:p>
          <a:p>
            <a:r>
              <a:rPr lang="en-AU" dirty="0"/>
              <a:t>Dog: John, Susan, Luke</a:t>
            </a:r>
          </a:p>
          <a:p>
            <a:r>
              <a:rPr lang="en-AU" dirty="0"/>
              <a:t>Cat: Allan, Craig, Mel</a:t>
            </a:r>
          </a:p>
          <a:p>
            <a:r>
              <a:rPr lang="en-AU" dirty="0"/>
              <a:t>Eagle: Sarah</a:t>
            </a:r>
          </a:p>
          <a:p>
            <a:r>
              <a:rPr lang="en-AU" dirty="0"/>
              <a:t>Sloth: Megan, Andrew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E024E-F835-6D45-89C3-0E2F93EE799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09397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Shape 24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48" name="Shape 24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775279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Shape 24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48" name="Shape 24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044475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Shape 24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48" name="Shape 24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491242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Shape 24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48" name="Shape 24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270294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Shape 4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Shape 4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84146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/>
          <p:cNvSpPr/>
          <p:nvPr userDrawn="1"/>
        </p:nvSpPr>
        <p:spPr>
          <a:xfrm>
            <a:off x="920424" y="691642"/>
            <a:ext cx="10360351" cy="5616575"/>
          </a:xfrm>
          <a:prstGeom prst="roundRect">
            <a:avLst>
              <a:gd name="adj" fmla="val 766"/>
            </a:avLst>
          </a:prstGeom>
          <a:solidFill>
            <a:srgbClr val="D81C24">
              <a:alpha val="14902"/>
            </a:srgbClr>
          </a:solidFill>
          <a:ln>
            <a:solidFill>
              <a:srgbClr val="D8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600" dirty="0">
              <a:latin typeface="+mj-lt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7/2/2024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51133" y="1293778"/>
            <a:ext cx="10084038" cy="1396829"/>
          </a:xfrm>
          <a:prstGeom prst="rect">
            <a:avLst/>
          </a:prstGeom>
          <a:noFill/>
        </p:spPr>
        <p:txBody>
          <a:bodyPr anchor="t"/>
          <a:lstStyle>
            <a:lvl1pPr>
              <a:defRPr>
                <a:solidFill>
                  <a:schemeClr val="bg1">
                    <a:lumMod val="95000"/>
                  </a:schemeClr>
                </a:solidFill>
                <a:latin typeface="+mj-lt"/>
              </a:defRPr>
            </a:lvl1pPr>
          </a:lstStyle>
          <a:p>
            <a:r>
              <a:rPr lang="en-AU" noProof="0"/>
              <a:t>Session/Presentation Title</a:t>
            </a:r>
          </a:p>
        </p:txBody>
      </p:sp>
      <p:sp>
        <p:nvSpPr>
          <p:cNvPr id="10" name="Table Placeholder 9"/>
          <p:cNvSpPr>
            <a:spLocks noGrp="1"/>
          </p:cNvSpPr>
          <p:nvPr>
            <p:ph type="tbl" sz="quarter" idx="13" hasCustomPrompt="1"/>
          </p:nvPr>
        </p:nvSpPr>
        <p:spPr>
          <a:xfrm>
            <a:off x="1051131" y="4572000"/>
            <a:ext cx="10084039" cy="1610037"/>
          </a:xfrm>
          <a:noFill/>
        </p:spPr>
        <p:txBody>
          <a:bodyPr anchor="t">
            <a:normAutofit/>
          </a:bodyPr>
          <a:lstStyle>
            <a:lvl1pPr marL="0" indent="0">
              <a:buNone/>
              <a:defRPr sz="1400" baseline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r>
              <a:rPr lang="en-AU" dirty="0"/>
              <a:t>Replace this with a table of units – 2 columns – National ID and Title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1051132" y="819761"/>
            <a:ext cx="10084039" cy="341659"/>
          </a:xfrm>
          <a:noFill/>
        </p:spPr>
        <p:txBody>
          <a:bodyPr anchor="ctr">
            <a:noAutofit/>
          </a:bodyPr>
          <a:lstStyle>
            <a:lvl1pPr marL="0" indent="0" algn="l">
              <a:buNone/>
              <a:defRPr sz="1800" baseline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AU"/>
              <a:t>Week/Session 00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1051130" y="4119576"/>
            <a:ext cx="10084038" cy="360698"/>
          </a:xfrm>
          <a:noFill/>
        </p:spPr>
        <p:txBody>
          <a:bodyPr vert="horz" lIns="91440" tIns="45720" rIns="91440" bIns="45720" rtlCol="0"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AU" sz="1600" b="0" dirty="0">
                <a:solidFill>
                  <a:schemeClr val="bg1">
                    <a:lumMod val="95000"/>
                  </a:schemeClr>
                </a:solidFill>
                <a:latin typeface="+mj-lt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noProof="0"/>
              <a:t>Cluster Name</a:t>
            </a:r>
            <a:endParaRPr lang="en-AU"/>
          </a:p>
        </p:txBody>
      </p:sp>
      <p:sp>
        <p:nvSpPr>
          <p:cNvPr id="9" name="TextBox 8"/>
          <p:cNvSpPr txBox="1"/>
          <p:nvPr userDrawn="1"/>
        </p:nvSpPr>
        <p:spPr>
          <a:xfrm>
            <a:off x="1051132" y="2852738"/>
            <a:ext cx="1939896" cy="57230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indent="0">
              <a:spcBef>
                <a:spcPct val="20000"/>
              </a:spcBef>
              <a:buFont typeface="Arial"/>
              <a:buNone/>
              <a:defRPr sz="2800" baseline="0">
                <a:solidFill>
                  <a:schemeClr val="bg1">
                    <a:lumMod val="75000"/>
                  </a:schemeClr>
                </a:solidFill>
              </a:defRPr>
            </a:lvl1pPr>
            <a:lvl2pPr indent="0" algn="ctr">
              <a:spcBef>
                <a:spcPct val="20000"/>
              </a:spcBef>
              <a:buFont typeface="Arial"/>
              <a:buNone/>
              <a:defRPr sz="2800" baseline="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/>
              <a:buNone/>
              <a:defRPr sz="2400" baseline="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/>
              <a:buNone/>
              <a:defRPr sz="2000" baseline="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/>
              <a:buNone/>
              <a:defRPr sz="2000" baseline="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AU" sz="20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Presented by: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6" hasCustomPrompt="1"/>
          </p:nvPr>
        </p:nvSpPr>
        <p:spPr>
          <a:xfrm>
            <a:off x="2991027" y="2862841"/>
            <a:ext cx="8144143" cy="562200"/>
          </a:xfrm>
        </p:spPr>
        <p:txBody>
          <a:bodyPr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3200" b="1" noProof="0">
                <a:solidFill>
                  <a:schemeClr val="bg1">
                    <a:lumMod val="95000"/>
                  </a:schemeClr>
                </a:solidFill>
              </a:rPr>
              <a:t>Given &amp; Last Name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7" hasCustomPrompt="1"/>
          </p:nvPr>
        </p:nvSpPr>
        <p:spPr>
          <a:xfrm>
            <a:off x="1050925" y="3516767"/>
            <a:ext cx="10083800" cy="602809"/>
          </a:xfrm>
        </p:spPr>
        <p:txBody>
          <a:bodyPr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AU" sz="2000" dirty="0" smtClean="0">
                <a:latin typeface="+mj-lt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3200" b="1">
                <a:solidFill>
                  <a:schemeClr val="bg1">
                    <a:lumMod val="85000"/>
                  </a:schemeClr>
                </a:solidFill>
              </a:rPr>
              <a:t>Course ID and Title</a:t>
            </a:r>
          </a:p>
        </p:txBody>
      </p:sp>
    </p:spTree>
    <p:extLst>
      <p:ext uri="{BB962C8B-B14F-4D97-AF65-F5344CB8AC3E}">
        <p14:creationId xmlns:p14="http://schemas.microsoft.com/office/powerpoint/2010/main" val="41900696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574" userDrawn="1">
          <p15:clr>
            <a:srgbClr val="FBAE40"/>
          </p15:clr>
        </p15:guide>
        <p15:guide id="4" pos="7106" userDrawn="1">
          <p15:clr>
            <a:srgbClr val="FBAE40"/>
          </p15:clr>
        </p15:guide>
        <p15:guide id="5" orient="horz" pos="436" userDrawn="1">
          <p15:clr>
            <a:srgbClr val="FBAE40"/>
          </p15:clr>
        </p15:guide>
        <p15:guide id="6" orient="horz" pos="3974" userDrawn="1">
          <p15:clr>
            <a:srgbClr val="FBAE40"/>
          </p15:clr>
        </p15:guide>
        <p15:guide id="7" orient="horz" pos="1797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64753"/>
            <a:ext cx="10363200" cy="1560862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7/2/2024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able Placeholder 9"/>
          <p:cNvSpPr>
            <a:spLocks noGrp="1"/>
          </p:cNvSpPr>
          <p:nvPr>
            <p:ph type="tbl" sz="quarter" idx="13" hasCustomPrompt="1"/>
          </p:nvPr>
        </p:nvSpPr>
        <p:spPr>
          <a:xfrm>
            <a:off x="911468" y="4870093"/>
            <a:ext cx="10363200" cy="1241057"/>
          </a:xfrm>
        </p:spPr>
        <p:txBody>
          <a:bodyPr>
            <a:normAutofit/>
          </a:bodyPr>
          <a:lstStyle>
            <a:lvl1pPr marL="0" indent="0">
              <a:buNone/>
              <a:defRPr sz="2000" baseline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r>
              <a:rPr lang="en-AU" dirty="0"/>
              <a:t>Replace this with a table of units – 2 columns – National ID and Title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917332" y="4229096"/>
            <a:ext cx="10366132" cy="528637"/>
          </a:xfrm>
        </p:spPr>
        <p:txBody>
          <a:bodyPr>
            <a:normAutofit/>
          </a:bodyPr>
          <a:lstStyle>
            <a:lvl1pPr marL="0" indent="0" algn="l">
              <a:buNone/>
              <a:defRPr sz="2400" b="1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AU"/>
              <a:t>Week/Session 00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914400" y="2918188"/>
            <a:ext cx="10360268" cy="598488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AU"/>
              <a:t>Lecture Title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917332" y="3610147"/>
            <a:ext cx="10366132" cy="506589"/>
          </a:xfrm>
        </p:spPr>
        <p:txBody>
          <a:bodyPr anchor="ctr">
            <a:noAutofit/>
          </a:bodyPr>
          <a:lstStyle>
            <a:lvl1pPr marL="0" indent="0">
              <a:buNone/>
              <a:defRPr sz="200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r>
              <a:rPr lang="en-AU"/>
              <a:t>Lecturer:	</a:t>
            </a:r>
            <a:r>
              <a:rPr lang="en-AU" err="1"/>
              <a:t>Given_Name</a:t>
            </a:r>
            <a:r>
              <a:rPr lang="en-AU"/>
              <a:t> </a:t>
            </a:r>
            <a:r>
              <a:rPr lang="en-AU" err="1"/>
              <a:t>Family_Name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2290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Alternate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399" y="3886200"/>
            <a:ext cx="10363199" cy="1752600"/>
          </a:xfrm>
        </p:spPr>
        <p:txBody>
          <a:bodyPr>
            <a:normAutofit/>
          </a:bodyPr>
          <a:lstStyle>
            <a:lvl1pPr marL="0" indent="0" algn="l">
              <a:buNone/>
              <a:defRPr sz="2800" baseline="0">
                <a:solidFill>
                  <a:schemeClr val="bg1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/>
              <a:t>Click to edit Master subtitle style</a:t>
            </a:r>
            <a:endParaRPr lang="en-AU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7/2/2024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7689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99892"/>
            <a:ext cx="10972800" cy="1003205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7/2/2024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9109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99892"/>
            <a:ext cx="10972800" cy="1003205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794618"/>
            <a:ext cx="10972800" cy="2191698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7/2/2024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2FB0483-D927-6C4B-9F8E-0CBFBED89EA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4182975"/>
            <a:ext cx="10972800" cy="2191699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</p:spTree>
    <p:extLst>
      <p:ext uri="{BB962C8B-B14F-4D97-AF65-F5344CB8AC3E}">
        <p14:creationId xmlns:p14="http://schemas.microsoft.com/office/powerpoint/2010/main" val="2527477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AU" noProof="0" smtClean="0"/>
              <a:t>2/07/2024</a:t>
            </a:fld>
            <a:endParaRPr lang="en-AU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AU" noProof="0" smtClean="0"/>
              <a:t>‹#›</a:t>
            </a:fld>
            <a:endParaRPr lang="en-AU" noProof="0" dirty="0"/>
          </a:p>
        </p:txBody>
      </p:sp>
    </p:spTree>
    <p:extLst>
      <p:ext uri="{BB962C8B-B14F-4D97-AF65-F5344CB8AC3E}">
        <p14:creationId xmlns:p14="http://schemas.microsoft.com/office/powerpoint/2010/main" val="1471725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406903"/>
            <a:ext cx="8514522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2906713"/>
            <a:ext cx="8514522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7/2/2024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F7D5DACE-FF0F-2D46-93D3-295ECF1DA88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812656" y="2900636"/>
            <a:ext cx="1769744" cy="2868342"/>
          </a:xfrm>
          <a:prstGeom prst="roundRect">
            <a:avLst>
              <a:gd name="adj" fmla="val 4112"/>
            </a:avLst>
          </a:prstGeom>
          <a:blipFill>
            <a:blip r:embed="rId2"/>
            <a:stretch>
              <a:fillRect l="16" r="16"/>
            </a:stretch>
          </a:blipFill>
          <a:ln w="12700" cap="rnd">
            <a:solidFill>
              <a:srgbClr val="D8262E">
                <a:alpha val="50000"/>
              </a:srgbClr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470644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99892"/>
            <a:ext cx="10972800" cy="1003205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7/2/2024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7699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99892"/>
            <a:ext cx="10972800" cy="1003205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65600" y="1600202"/>
            <a:ext cx="7416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7/2/2024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CB08A67E-3ED8-7842-9A36-FDA51ABEB2A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1" y="1600203"/>
            <a:ext cx="2792484" cy="4525963"/>
          </a:xfrm>
          <a:prstGeom prst="roundRect">
            <a:avLst>
              <a:gd name="adj" fmla="val 3374"/>
            </a:avLst>
          </a:prstGeom>
          <a:blipFill>
            <a:blip r:embed="rId2"/>
            <a:stretch>
              <a:fillRect l="16" r="16"/>
            </a:stretch>
          </a:blipFill>
          <a:ln>
            <a:solidFill>
              <a:srgbClr val="D8262E">
                <a:alpha val="50196"/>
              </a:srgbClr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14302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99892"/>
            <a:ext cx="10972800" cy="100320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7/2/2024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4379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99892"/>
            <a:ext cx="10972800" cy="100320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7/2/2024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0584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973062"/>
            <a:ext cx="7212496" cy="491187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7/2/2024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C9126EA6-A663-AD41-9474-BAFD5F86078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316528" y="973063"/>
            <a:ext cx="3030587" cy="4911873"/>
          </a:xfrm>
          <a:prstGeom prst="roundRect">
            <a:avLst>
              <a:gd name="adj" fmla="val 3523"/>
            </a:avLst>
          </a:prstGeom>
          <a:blipFill>
            <a:blip r:embed="rId2"/>
            <a:stretch>
              <a:fillRect l="16" r="16"/>
            </a:stretch>
          </a:blipFill>
          <a:ln>
            <a:solidFill>
              <a:srgbClr val="D8262E">
                <a:alpha val="50196"/>
              </a:srgbClr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9895897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7/2/2024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0986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7/2/2024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C9126EA6-A663-AD41-9474-BAFD5F8607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" y="918741"/>
            <a:ext cx="10972800" cy="4948123"/>
          </a:xfrm>
          <a:prstGeom prst="roundRect">
            <a:avLst>
              <a:gd name="adj" fmla="val 1876"/>
            </a:avLst>
          </a:prstGeom>
          <a:blipFill>
            <a:blip r:embed="rId2"/>
            <a:stretch>
              <a:fillRect l="16" r="16"/>
            </a:stretch>
          </a:blipFill>
          <a:ln>
            <a:solidFill>
              <a:srgbClr val="D8262E">
                <a:alpha val="50196"/>
              </a:srgbClr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1824688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7/2/2024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D779252-2DB5-164E-B413-9653D35CC4E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51813" y="973063"/>
            <a:ext cx="3030587" cy="4911873"/>
          </a:xfrm>
          <a:prstGeom prst="roundRect">
            <a:avLst>
              <a:gd name="adj" fmla="val 4419"/>
            </a:avLst>
          </a:prstGeom>
          <a:blipFill>
            <a:blip r:embed="rId2">
              <a:alphaModFix/>
            </a:blip>
            <a:stretch>
              <a:fillRect l="16" r="16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FC5ADCF-7EA1-3644-9B75-D84582085ED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" y="671513"/>
            <a:ext cx="7416800" cy="5665787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</p:spTree>
    <p:extLst>
      <p:ext uri="{BB962C8B-B14F-4D97-AF65-F5344CB8AC3E}">
        <p14:creationId xmlns:p14="http://schemas.microsoft.com/office/powerpoint/2010/main" val="40789277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493776"/>
            <a:ext cx="4011084" cy="94132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493776"/>
            <a:ext cx="6815667" cy="563239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99615"/>
            <a:ext cx="4011084" cy="46265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7/2/2024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52915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dirty="0"/>
              <a:t>Click icon to add picture</a:t>
            </a:r>
            <a:endParaRPr lang="en-AU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7/2/2024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83857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99892"/>
            <a:ext cx="10972800" cy="1003205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7/2/2024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1387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7/2/2024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6989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pe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39"/>
          <p:cNvSpPr txBox="1">
            <a:spLocks noGrp="1"/>
          </p:cNvSpPr>
          <p:nvPr>
            <p:ph type="title"/>
          </p:nvPr>
        </p:nvSpPr>
        <p:spPr>
          <a:xfrm>
            <a:off x="866775" y="1152526"/>
            <a:ext cx="10448925" cy="23145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defRPr/>
            </a:lvl5pPr>
            <a:lvl6pPr marL="342900" lvl="5" algn="ctr" rtl="0">
              <a:spcBef>
                <a:spcPts val="0"/>
              </a:spcBef>
              <a:spcAft>
                <a:spcPts val="0"/>
              </a:spcAft>
              <a:defRPr/>
            </a:lvl6pPr>
            <a:lvl7pPr marL="685800" lvl="6" algn="ctr" rtl="0">
              <a:spcBef>
                <a:spcPts val="0"/>
              </a:spcBef>
              <a:spcAft>
                <a:spcPts val="0"/>
              </a:spcAft>
              <a:defRPr/>
            </a:lvl7pPr>
            <a:lvl8pPr marL="1028700" lvl="7" algn="ctr" rtl="0">
              <a:spcBef>
                <a:spcPts val="0"/>
              </a:spcBef>
              <a:spcAft>
                <a:spcPts val="0"/>
              </a:spcAft>
              <a:defRPr/>
            </a:lvl8pPr>
            <a:lvl9pPr marL="1371600" lvl="8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 dirty="0"/>
          </a:p>
        </p:txBody>
      </p:sp>
      <p:sp>
        <p:nvSpPr>
          <p:cNvPr id="40" name="Shape 40"/>
          <p:cNvSpPr txBox="1">
            <a:spLocks noGrp="1"/>
          </p:cNvSpPr>
          <p:nvPr>
            <p:ph type="body" idx="1"/>
          </p:nvPr>
        </p:nvSpPr>
        <p:spPr>
          <a:xfrm>
            <a:off x="866775" y="3533775"/>
            <a:ext cx="10448925" cy="79057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257175" lvl="0" indent="-257175" algn="ctr" rtl="0">
              <a:spcBef>
                <a:spcPts val="0"/>
              </a:spcBef>
              <a:spcAft>
                <a:spcPts val="0"/>
              </a:spcAft>
              <a:defRPr sz="3000">
                <a:solidFill>
                  <a:schemeClr val="bg1"/>
                </a:solidFill>
              </a:defRPr>
            </a:lvl1pPr>
            <a:lvl2pPr marL="557213" lvl="1" indent="-214313" algn="ctr" rtl="0">
              <a:spcBef>
                <a:spcPts val="0"/>
              </a:spcBef>
              <a:spcAft>
                <a:spcPts val="0"/>
              </a:spcAft>
              <a:defRPr/>
            </a:lvl2pPr>
            <a:lvl3pPr marL="857250" lvl="2" indent="-171450" algn="ctr" rtl="0">
              <a:spcBef>
                <a:spcPts val="0"/>
              </a:spcBef>
              <a:spcAft>
                <a:spcPts val="0"/>
              </a:spcAft>
              <a:defRPr/>
            </a:lvl3pPr>
            <a:lvl4pPr marL="1200150" lvl="3" indent="-171450" algn="ctr" rtl="0">
              <a:spcBef>
                <a:spcPts val="0"/>
              </a:spcBef>
              <a:spcAft>
                <a:spcPts val="0"/>
              </a:spcAft>
              <a:defRPr/>
            </a:lvl4pPr>
            <a:lvl5pPr marL="1543050" lvl="4" indent="-171450" algn="ctr" rtl="0">
              <a:spcBef>
                <a:spcPts val="0"/>
              </a:spcBef>
              <a:spcAft>
                <a:spcPts val="0"/>
              </a:spcAft>
              <a:defRPr/>
            </a:lvl5pPr>
            <a:lvl6pPr marL="342900" lvl="5" algn="ctr" rtl="0">
              <a:spcBef>
                <a:spcPts val="0"/>
              </a:spcBef>
              <a:spcAft>
                <a:spcPts val="0"/>
              </a:spcAft>
              <a:defRPr/>
            </a:lvl6pPr>
            <a:lvl7pPr marL="685800" lvl="6" algn="ctr" rtl="0">
              <a:spcBef>
                <a:spcPts val="0"/>
              </a:spcBef>
              <a:spcAft>
                <a:spcPts val="0"/>
              </a:spcAft>
              <a:defRPr/>
            </a:lvl7pPr>
            <a:lvl8pPr marL="1028700" lvl="7" algn="ctr" rtl="0">
              <a:spcBef>
                <a:spcPts val="0"/>
              </a:spcBef>
              <a:spcAft>
                <a:spcPts val="0"/>
              </a:spcAft>
              <a:defRPr/>
            </a:lvl8pPr>
            <a:lvl9pPr marL="1371600" lvl="8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35257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794617"/>
            <a:ext cx="10972800" cy="45634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482040"/>
            <a:ext cx="28448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56F489C6-6277-454E-AECF-6C3872A9450F}" type="datetimeFigureOut">
              <a:rPr lang="en-US" smtClean="0"/>
              <a:pPr/>
              <a:t>7/2/2024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482040"/>
            <a:ext cx="38608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482040"/>
            <a:ext cx="28448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741F46F4-8938-5C4A-A3E0-434D3C3588F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itle Placeholder 14">
            <a:extLst>
              <a:ext uri="{FF2B5EF4-FFF2-40B4-BE49-F238E27FC236}">
                <a16:creationId xmlns:a16="http://schemas.microsoft.com/office/drawing/2014/main" id="{ED1A118C-2DC5-9B4D-B303-C0863344B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477254"/>
            <a:ext cx="10972799" cy="12489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A5DB3D-DF1E-DB0E-5933-7AC262F0FA8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</p:spTree>
    <p:extLst>
      <p:ext uri="{BB962C8B-B14F-4D97-AF65-F5344CB8AC3E}">
        <p14:creationId xmlns:p14="http://schemas.microsoft.com/office/powerpoint/2010/main" val="701323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6" r:id="rId2"/>
    <p:sldLayoutId id="2147483649" r:id="rId3"/>
    <p:sldLayoutId id="2147483650" r:id="rId4"/>
    <p:sldLayoutId id="2147483665" r:id="rId5"/>
    <p:sldLayoutId id="2147483651" r:id="rId6"/>
    <p:sldLayoutId id="2147483661" r:id="rId7"/>
    <p:sldLayoutId id="2147483652" r:id="rId8"/>
    <p:sldLayoutId id="2147483662" r:id="rId9"/>
    <p:sldLayoutId id="2147483653" r:id="rId10"/>
    <p:sldLayoutId id="2147483654" r:id="rId11"/>
    <p:sldLayoutId id="2147483663" r:id="rId12"/>
    <p:sldLayoutId id="2147483655" r:id="rId13"/>
    <p:sldLayoutId id="2147483664" r:id="rId14"/>
    <p:sldLayoutId id="2147483660" r:id="rId15"/>
    <p:sldLayoutId id="2147483656" r:id="rId16"/>
    <p:sldLayoutId id="2147483657" r:id="rId17"/>
    <p:sldLayoutId id="2147483658" r:id="rId18"/>
    <p:sldLayoutId id="2147483659" r:id="rId19"/>
    <p:sldLayoutId id="2147483668" r:id="rId20"/>
  </p:sldLayoutIdLst>
  <p:txStyles>
    <p:titleStyle>
      <a:lvl1pPr algn="l" defTabSz="457200" rtl="0" eaLnBrk="1" latinLnBrk="0" hangingPunct="1">
        <a:spcBef>
          <a:spcPct val="0"/>
        </a:spcBef>
        <a:buNone/>
        <a:defRPr sz="4200" b="1" i="0" kern="1200" spc="50" baseline="0">
          <a:solidFill>
            <a:schemeClr val="bg1">
              <a:lumMod val="9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6.jpeg"/><Relationship Id="rId7" Type="http://schemas.openxmlformats.org/officeDocument/2006/relationships/image" Target="../media/image1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r-chuck.com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.png"/><Relationship Id="rId5" Type="http://schemas.openxmlformats.org/officeDocument/2006/relationships/image" Target="../media/image5.jpg"/><Relationship Id="rId4" Type="http://schemas.openxmlformats.org/officeDocument/2006/relationships/hyperlink" Target="http://open.umich.edu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0B1A4-428B-752A-78E2-CBAD0B2C6F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Introductory Programming Techniques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DE28E0-6FC7-E9E2-1895-AEA61C11FBB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AU" dirty="0"/>
              <a:t>Course	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3757E9-CA51-8E3C-0901-443F04B1B91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AU" dirty="0"/>
              <a:t>North Metropolitan TAFE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6666B9-024F-19BA-CE84-97DF687E7402}"/>
              </a:ext>
            </a:extLst>
          </p:cNvPr>
          <p:cNvSpPr txBox="1"/>
          <p:nvPr/>
        </p:nvSpPr>
        <p:spPr>
          <a:xfrm>
            <a:off x="914400" y="4870093"/>
            <a:ext cx="609337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Courses:</a:t>
            </a:r>
          </a:p>
          <a:p>
            <a:pPr algn="l"/>
            <a:r>
              <a:rPr lang="en-US" i="0" dirty="0">
                <a:solidFill>
                  <a:srgbClr val="BFBFBF"/>
                </a:solidFill>
                <a:effectLst/>
                <a:latin typeface="arial" panose="020B0604020202020204" pitchFamily="34" charset="0"/>
              </a:rPr>
              <a:t>Certificate III in Information Technology</a:t>
            </a:r>
            <a:br>
              <a:rPr lang="en-US" i="0" dirty="0">
                <a:solidFill>
                  <a:srgbClr val="BFBFBF"/>
                </a:solidFill>
                <a:effectLst/>
                <a:latin typeface="arial" panose="020B0604020202020204" pitchFamily="34" charset="0"/>
              </a:rPr>
            </a:br>
            <a:r>
              <a:rPr lang="en-US" i="0" dirty="0">
                <a:solidFill>
                  <a:srgbClr val="BFBFBF"/>
                </a:solidFill>
                <a:effectLst/>
                <a:latin typeface="arial" panose="020B0604020202020204" pitchFamily="34" charset="0"/>
              </a:rPr>
              <a:t>Certificate IV in IT (Programming)</a:t>
            </a:r>
            <a:br>
              <a:rPr lang="en-US" i="0" dirty="0">
                <a:solidFill>
                  <a:srgbClr val="BFBFBF"/>
                </a:solidFill>
                <a:effectLst/>
                <a:latin typeface="arial" panose="020B0604020202020204" pitchFamily="34" charset="0"/>
              </a:rPr>
            </a:br>
            <a:r>
              <a:rPr lang="en-US" i="0" dirty="0">
                <a:solidFill>
                  <a:srgbClr val="BFBFBF"/>
                </a:solidFill>
                <a:effectLst/>
                <a:latin typeface="arial" panose="020B0604020202020204" pitchFamily="34" charset="0"/>
              </a:rPr>
              <a:t>Certificate IV in IT (Networking)</a:t>
            </a:r>
            <a:br>
              <a:rPr lang="en-US" i="0" dirty="0">
                <a:solidFill>
                  <a:srgbClr val="BFBFBF"/>
                </a:solidFill>
                <a:effectLst/>
                <a:latin typeface="arial" panose="020B0604020202020204" pitchFamily="34" charset="0"/>
              </a:rPr>
            </a:br>
            <a:r>
              <a:rPr lang="en-US" i="0" dirty="0">
                <a:solidFill>
                  <a:srgbClr val="BFBFBF"/>
                </a:solidFill>
                <a:effectLst/>
                <a:latin typeface="arial" panose="020B0604020202020204" pitchFamily="34" charset="0"/>
              </a:rPr>
              <a:t>Certificate IV in IT (Cybersecurity)</a:t>
            </a:r>
            <a:br>
              <a:rPr lang="en-US" i="0" dirty="0">
                <a:solidFill>
                  <a:srgbClr val="BFBFBF"/>
                </a:solidFill>
                <a:effectLst/>
                <a:latin typeface="arial" panose="020B0604020202020204" pitchFamily="34" charset="0"/>
              </a:rPr>
            </a:br>
            <a:r>
              <a:rPr lang="en-US" i="0" dirty="0">
                <a:solidFill>
                  <a:srgbClr val="BFBFBF"/>
                </a:solidFill>
                <a:effectLst/>
                <a:latin typeface="arial" panose="020B0604020202020204" pitchFamily="34" charset="0"/>
              </a:rPr>
              <a:t>Certificate IV in IT (Web)</a:t>
            </a:r>
          </a:p>
        </p:txBody>
      </p:sp>
    </p:spTree>
    <p:extLst>
      <p:ext uri="{BB962C8B-B14F-4D97-AF65-F5344CB8AC3E}">
        <p14:creationId xmlns:p14="http://schemas.microsoft.com/office/powerpoint/2010/main" val="3119835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Shape 20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vert="horz" lIns="28575" tIns="28575" rIns="28575" bIns="28575" rtlCol="0" anchor="b" anchorCtr="0">
            <a:noAutofit/>
          </a:bodyPr>
          <a:lstStyle/>
          <a:p>
            <a:pPr>
              <a:buClr>
                <a:srgbClr val="FF00FF"/>
              </a:buClr>
              <a:buSzPct val="25000"/>
            </a:pPr>
            <a:r>
              <a:rPr lang="en-US" sz="570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Python Dictionaries</a:t>
            </a:r>
          </a:p>
        </p:txBody>
      </p:sp>
      <p:sp>
        <p:nvSpPr>
          <p:cNvPr id="204" name="Shape 20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vert="horz" lIns="28575" tIns="28575" rIns="28575" bIns="28575" rtlCol="0" anchor="t" anchorCtr="0">
            <a:noAutofit/>
          </a:bodyPr>
          <a:lstStyle/>
          <a:p>
            <a:pPr marL="0" indent="0">
              <a:buClr>
                <a:schemeClr val="lt1"/>
              </a:buClr>
              <a:buSzPct val="25000"/>
              <a:buNone/>
            </a:pPr>
            <a:r>
              <a:rPr lang="en-US" sz="36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Chapter 9</a:t>
            </a:r>
          </a:p>
        </p:txBody>
      </p:sp>
      <p:sp>
        <p:nvSpPr>
          <p:cNvPr id="205" name="Shape 205"/>
          <p:cNvSpPr txBox="1"/>
          <p:nvPr/>
        </p:nvSpPr>
        <p:spPr>
          <a:xfrm>
            <a:off x="2404726" y="5123256"/>
            <a:ext cx="7227899" cy="76207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algn="ctr">
              <a:buClr>
                <a:srgbClr val="FFFF00"/>
              </a:buClr>
              <a:buSzPct val="25000"/>
            </a:pPr>
            <a:r>
              <a:rPr lang="en-US" sz="2400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Python for Everybody</a:t>
            </a:r>
          </a:p>
          <a:p>
            <a:pPr algn="ctr">
              <a:buClr>
                <a:srgbClr val="FFFF00"/>
              </a:buClr>
              <a:buSzPct val="25000"/>
            </a:pPr>
            <a:r>
              <a:rPr lang="en-US" sz="2400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www.py4e.com</a:t>
            </a:r>
          </a:p>
        </p:txBody>
      </p:sp>
      <p:pic>
        <p:nvPicPr>
          <p:cNvPr id="206" name="Shape 20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47659" y="5392337"/>
            <a:ext cx="1476375" cy="5012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Shape 20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438" y="5103530"/>
            <a:ext cx="768600" cy="76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8D842EF-FDF9-2024-563C-D73D86A6D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rgbClr val="FFC000"/>
                </a:solidFill>
              </a:rPr>
              <a:t>If you were an animal, what will you be?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C3047D1-A46B-3CF2-D87F-0F3B5C4B0D2D}"/>
              </a:ext>
            </a:extLst>
          </p:cNvPr>
          <p:cNvGrpSpPr/>
          <p:nvPr/>
        </p:nvGrpSpPr>
        <p:grpSpPr>
          <a:xfrm>
            <a:off x="1194319" y="1503097"/>
            <a:ext cx="9233275" cy="4855013"/>
            <a:chOff x="1194319" y="1503097"/>
            <a:chExt cx="9233275" cy="4855013"/>
          </a:xfrm>
        </p:grpSpPr>
        <p:pic>
          <p:nvPicPr>
            <p:cNvPr id="1026" name="Picture 2" descr="Sloth Week is here! Sloths in all their slothy slothiness | Metro News">
              <a:extLst>
                <a:ext uri="{FF2B5EF4-FFF2-40B4-BE49-F238E27FC236}">
                  <a16:creationId xmlns:a16="http://schemas.microsoft.com/office/drawing/2014/main" id="{8509FAA2-C075-4A63-A8EF-83FCA74D647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645" r="6655"/>
            <a:stretch/>
          </p:blipFill>
          <p:spPr bwMode="auto">
            <a:xfrm>
              <a:off x="1194320" y="1503098"/>
              <a:ext cx="3200399" cy="25491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Ragdoll Cute Cats | Cute Cats">
              <a:extLst>
                <a:ext uri="{FF2B5EF4-FFF2-40B4-BE49-F238E27FC236}">
                  <a16:creationId xmlns:a16="http://schemas.microsoft.com/office/drawing/2014/main" id="{1986169B-7E5C-AB89-997E-1EB2F94264C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72782" y="1503098"/>
              <a:ext cx="2457072" cy="25491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 descr="Lion Full HD Wallpaper and Background Image | 1920x1080 | ID:249472">
              <a:extLst>
                <a:ext uri="{FF2B5EF4-FFF2-40B4-BE49-F238E27FC236}">
                  <a16:creationId xmlns:a16="http://schemas.microsoft.com/office/drawing/2014/main" id="{5EA3AA5D-B34E-5C1A-0132-7D0F7967CFE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378"/>
            <a:stretch/>
          </p:blipFill>
          <p:spPr bwMode="auto">
            <a:xfrm>
              <a:off x="7207917" y="1503097"/>
              <a:ext cx="3200399" cy="25491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 descr="Botswana, Chobe, Caprivi, Kwando &amp; Okavango | Self Drive Safaris ...">
              <a:extLst>
                <a:ext uri="{FF2B5EF4-FFF2-40B4-BE49-F238E27FC236}">
                  <a16:creationId xmlns:a16="http://schemas.microsoft.com/office/drawing/2014/main" id="{174E4317-F11C-30EE-5BDF-56885316D8C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58" t="-1064" b="1064"/>
            <a:stretch/>
          </p:blipFill>
          <p:spPr bwMode="auto">
            <a:xfrm>
              <a:off x="1194319" y="4185133"/>
              <a:ext cx="3200399" cy="21729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4" name="Picture 10" descr="Romping and Rolling in the Rockies: The very good and the worrisome">
              <a:extLst>
                <a:ext uri="{FF2B5EF4-FFF2-40B4-BE49-F238E27FC236}">
                  <a16:creationId xmlns:a16="http://schemas.microsoft.com/office/drawing/2014/main" id="{0A35AA8A-7EFE-35E7-5772-0E9B06FE91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88638" y="4202179"/>
              <a:ext cx="3238956" cy="21559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6" name="Picture 12" descr="Meerkat On Watch Free Stock Photo - Public Domain Pictures">
              <a:extLst>
                <a:ext uri="{FF2B5EF4-FFF2-40B4-BE49-F238E27FC236}">
                  <a16:creationId xmlns:a16="http://schemas.microsoft.com/office/drawing/2014/main" id="{F0B3F1E3-7956-6C1F-CD3D-71D08C29D14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4322" b="26582"/>
            <a:stretch/>
          </p:blipFill>
          <p:spPr bwMode="auto">
            <a:xfrm>
              <a:off x="4568890" y="4202180"/>
              <a:ext cx="2432180" cy="21559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02140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947B4448-2F10-D91E-21D6-CE068CE4F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rgbClr val="FFD966"/>
                </a:solidFill>
              </a:rPr>
              <a:t>Two types of collections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53235CC-1B5A-B3B9-9C44-982134894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rgbClr val="FFC000"/>
                </a:solidFill>
              </a:rPr>
              <a:t>List: </a:t>
            </a:r>
            <a:r>
              <a:rPr lang="en-US" dirty="0"/>
              <a:t>A linear collection of values that stay in order. 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What if we need to know the city a sport team is from?</a:t>
            </a:r>
          </a:p>
          <a:p>
            <a:endParaRPr lang="en-US" dirty="0"/>
          </a:p>
          <a:p>
            <a:r>
              <a:rPr lang="en-US" dirty="0">
                <a:solidFill>
                  <a:srgbClr val="FFC000"/>
                </a:solidFill>
              </a:rPr>
              <a:t>Dictionary: </a:t>
            </a:r>
            <a:r>
              <a:rPr lang="en-US" dirty="0"/>
              <a:t>A “bag” of values, each with its own label</a:t>
            </a:r>
          </a:p>
          <a:p>
            <a:pPr lvl="1"/>
            <a:r>
              <a:rPr lang="en-US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It’s Python’s most powerful data collection</a:t>
            </a:r>
          </a:p>
          <a:p>
            <a:pPr lvl="1"/>
            <a:r>
              <a:rPr lang="en-US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It allow us to do fast database-like operations</a:t>
            </a:r>
          </a:p>
          <a:p>
            <a:pPr lvl="1"/>
            <a:r>
              <a:rPr lang="en-US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It has no fixed order</a:t>
            </a:r>
          </a:p>
          <a:p>
            <a:pPr lvl="1"/>
            <a:r>
              <a:rPr lang="en-US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It has a key instead of an index value to look up values</a:t>
            </a:r>
          </a:p>
          <a:p>
            <a:pPr lvl="1"/>
            <a:r>
              <a:rPr lang="en-US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Data is stored as a key : value pair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47862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Shape 250"/>
          <p:cNvSpPr txBox="1">
            <a:spLocks noGrp="1"/>
          </p:cNvSpPr>
          <p:nvPr>
            <p:ph type="title"/>
          </p:nvPr>
        </p:nvSpPr>
        <p:spPr>
          <a:xfrm>
            <a:off x="866775" y="592282"/>
            <a:ext cx="9436891" cy="1312718"/>
          </a:xfrm>
          <a:prstGeom prst="rect">
            <a:avLst/>
          </a:prstGeom>
          <a:noFill/>
          <a:ln>
            <a:noFill/>
          </a:ln>
        </p:spPr>
        <p:txBody>
          <a:bodyPr vert="horz" lIns="28575" tIns="28575" rIns="28575" bIns="28575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rgbClr val="FF00FF"/>
              </a:buClr>
              <a:buSzPct val="25000"/>
            </a:pPr>
            <a:r>
              <a:rPr lang="en-US" sz="5700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Dictionary: Popular names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AFB6140-FE12-EF0C-EB3F-B3220089B6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2843196"/>
              </p:ext>
            </p:extLst>
          </p:nvPr>
        </p:nvGraphicFramePr>
        <p:xfrm>
          <a:off x="1151552" y="2038350"/>
          <a:ext cx="7068523" cy="261785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56086">
                  <a:extLst>
                    <a:ext uri="{9D8B030D-6E8A-4147-A177-3AD203B41FA5}">
                      <a16:colId xmlns:a16="http://schemas.microsoft.com/office/drawing/2014/main" val="1144780767"/>
                    </a:ext>
                  </a:extLst>
                </a:gridCol>
                <a:gridCol w="1668987">
                  <a:extLst>
                    <a:ext uri="{9D8B030D-6E8A-4147-A177-3AD203B41FA5}">
                      <a16:colId xmlns:a16="http://schemas.microsoft.com/office/drawing/2014/main" val="1964172882"/>
                    </a:ext>
                  </a:extLst>
                </a:gridCol>
                <a:gridCol w="4743450">
                  <a:extLst>
                    <a:ext uri="{9D8B030D-6E8A-4147-A177-3AD203B41FA5}">
                      <a16:colId xmlns:a16="http://schemas.microsoft.com/office/drawing/2014/main" val="42585466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AU" sz="2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2400" dirty="0">
                          <a:solidFill>
                            <a:schemeClr val="tx1"/>
                          </a:solidFill>
                          <a:effectLst/>
                        </a:rPr>
                        <a:t>Name</a:t>
                      </a:r>
                      <a:endParaRPr lang="en-AU" sz="2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U" sz="2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Number of people with the name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8474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indent="-34290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+mj-lt"/>
                        <a:buAutoNum type="arabicPeriod"/>
                      </a:pPr>
                      <a:r>
                        <a:rPr lang="en-AU" sz="1800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U" sz="1800" b="0" dirty="0">
                          <a:solidFill>
                            <a:schemeClr val="tx1"/>
                          </a:solidFill>
                          <a:effectLst/>
                        </a:rPr>
                        <a:t>Charlotte</a:t>
                      </a:r>
                      <a:endParaRPr lang="en-AU" sz="18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U" sz="1800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43726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+mj-lt"/>
                        <a:buNone/>
                      </a:pPr>
                      <a:r>
                        <a:rPr lang="en-AU" sz="1800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2.</a:t>
                      </a: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U" sz="1800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Olivia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U" sz="1800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02587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+mj-lt"/>
                        <a:buNone/>
                      </a:pPr>
                      <a:r>
                        <a:rPr lang="en-AU" sz="1800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3.</a:t>
                      </a: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U" sz="1800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Oliver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U" sz="1800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17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21562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+mj-lt"/>
                        <a:buNone/>
                      </a:pPr>
                      <a:r>
                        <a:rPr lang="en-AU" sz="1800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4.</a:t>
                      </a: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U" sz="1800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William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U" sz="1800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73071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+mj-lt"/>
                        <a:buNone/>
                      </a:pPr>
                      <a:r>
                        <a:rPr lang="en-AU" sz="1800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5.</a:t>
                      </a: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U" sz="1800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Isla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U" sz="1800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25124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+mj-lt"/>
                        <a:buNone/>
                      </a:pPr>
                      <a:r>
                        <a:rPr lang="en-AU" sz="1800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6.</a:t>
                      </a: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U" sz="1800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Jack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U" sz="1800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82259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+mj-lt"/>
                        <a:buNone/>
                      </a:pPr>
                      <a:r>
                        <a:rPr lang="en-AU" sz="1800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7.</a:t>
                      </a: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U" sz="1800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Mia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U" sz="1800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9407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+mj-lt"/>
                        <a:buNone/>
                      </a:pPr>
                      <a:r>
                        <a:rPr lang="en-AU" sz="1800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8.</a:t>
                      </a: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U" sz="1800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Thomas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U" sz="1800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8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062288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Shape 250"/>
          <p:cNvSpPr txBox="1">
            <a:spLocks noGrp="1"/>
          </p:cNvSpPr>
          <p:nvPr>
            <p:ph type="title"/>
          </p:nvPr>
        </p:nvSpPr>
        <p:spPr>
          <a:xfrm>
            <a:off x="1" y="592282"/>
            <a:ext cx="12192000" cy="836468"/>
          </a:xfrm>
          <a:prstGeom prst="rect">
            <a:avLst/>
          </a:prstGeom>
          <a:noFill/>
          <a:ln>
            <a:noFill/>
          </a:ln>
        </p:spPr>
        <p:txBody>
          <a:bodyPr vert="horz" lIns="28575" tIns="28575" rIns="28575" bIns="28575" rtlCol="0" anchor="t" anchorCtr="0">
            <a:noAutofit/>
          </a:bodyPr>
          <a:lstStyle/>
          <a:p>
            <a:pPr algn="ctr">
              <a:spcBef>
                <a:spcPts val="0"/>
              </a:spcBef>
              <a:buClr>
                <a:srgbClr val="FF00FF"/>
              </a:buClr>
              <a:buSzPct val="25000"/>
            </a:pPr>
            <a:r>
              <a:rPr lang="en-US" sz="4800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Creation of a dictionary</a:t>
            </a:r>
          </a:p>
        </p:txBody>
      </p:sp>
      <p:sp>
        <p:nvSpPr>
          <p:cNvPr id="251" name="Shape 251"/>
          <p:cNvSpPr txBox="1">
            <a:spLocks noGrp="1"/>
          </p:cNvSpPr>
          <p:nvPr>
            <p:ph type="body" idx="1"/>
          </p:nvPr>
        </p:nvSpPr>
        <p:spPr>
          <a:xfrm>
            <a:off x="109246" y="1321622"/>
            <a:ext cx="11721970" cy="1905000"/>
          </a:xfrm>
          <a:prstGeom prst="rect">
            <a:avLst/>
          </a:prstGeom>
          <a:noFill/>
          <a:ln>
            <a:noFill/>
          </a:ln>
        </p:spPr>
        <p:txBody>
          <a:bodyPr vert="horz" lIns="28575" tIns="28575" rIns="28575" bIns="28575" rtlCol="0" anchor="t" anchorCtr="0">
            <a:noAutofit/>
          </a:bodyPr>
          <a:lstStyle/>
          <a:p>
            <a:pPr marL="769429" indent="-457200">
              <a:spcBef>
                <a:spcPts val="0"/>
              </a:spcBef>
              <a:buClr>
                <a:schemeClr val="lt1"/>
              </a:buClr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Create a Dictionary: names = {} or names = </a:t>
            </a:r>
            <a:r>
              <a:rPr lang="en-US" sz="2000" dirty="0" err="1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dict</a:t>
            </a:r>
            <a:r>
              <a:rPr lang="en-US" sz="20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()</a:t>
            </a:r>
          </a:p>
          <a:p>
            <a:pPr marL="769429" indent="-457200">
              <a:spcBef>
                <a:spcPts val="0"/>
              </a:spcBef>
              <a:buClr>
                <a:schemeClr val="lt1"/>
              </a:buClr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Enter names until only enter is pressed.</a:t>
            </a:r>
            <a:br>
              <a:rPr lang="en-US" sz="20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</a:br>
            <a:r>
              <a:rPr lang="en-US" sz="20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If name exists the value will be one, else create a new record and the value is 1. </a:t>
            </a:r>
            <a:br>
              <a:rPr lang="en-US" sz="20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</a:br>
            <a:r>
              <a:rPr lang="en-US" sz="2000" dirty="0">
                <a:solidFill>
                  <a:srgbClr val="FF00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Tip: to know if it exist - if name in names</a:t>
            </a:r>
            <a:endParaRPr lang="en-US" sz="2000" dirty="0">
              <a:solidFill>
                <a:schemeClr val="lt1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  <a:p>
            <a:pPr marL="769429" indent="-457200">
              <a:spcBef>
                <a:spcPts val="0"/>
              </a:spcBef>
              <a:buClr>
                <a:schemeClr val="lt1"/>
              </a:buClr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 the dictionary</a:t>
            </a:r>
          </a:p>
          <a:p>
            <a:pPr marL="312229" indent="0">
              <a:spcBef>
                <a:spcPts val="0"/>
              </a:spcBef>
              <a:buClr>
                <a:schemeClr val="lt1"/>
              </a:buClr>
              <a:buSzPct val="100000"/>
              <a:buNone/>
            </a:pPr>
            <a:endParaRPr lang="en-US" sz="2250" dirty="0">
              <a:solidFill>
                <a:schemeClr val="lt1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graphicFrame>
        <p:nvGraphicFramePr>
          <p:cNvPr id="2" name="Table 4">
            <a:extLst>
              <a:ext uri="{FF2B5EF4-FFF2-40B4-BE49-F238E27FC236}">
                <a16:creationId xmlns:a16="http://schemas.microsoft.com/office/drawing/2014/main" id="{67D2AB63-F0D9-B38E-D169-45CD22F0422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67604803"/>
              </p:ext>
            </p:extLst>
          </p:nvPr>
        </p:nvGraphicFramePr>
        <p:xfrm>
          <a:off x="360784" y="2950397"/>
          <a:ext cx="6930887" cy="37972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7616">
                  <a:extLst>
                    <a:ext uri="{9D8B030D-6E8A-4147-A177-3AD203B41FA5}">
                      <a16:colId xmlns:a16="http://schemas.microsoft.com/office/drawing/2014/main" val="3256523269"/>
                    </a:ext>
                  </a:extLst>
                </a:gridCol>
                <a:gridCol w="4853271">
                  <a:extLst>
                    <a:ext uri="{9D8B030D-6E8A-4147-A177-3AD203B41FA5}">
                      <a16:colId xmlns:a16="http://schemas.microsoft.com/office/drawing/2014/main" val="311004929"/>
                    </a:ext>
                  </a:extLst>
                </a:gridCol>
              </a:tblGrid>
              <a:tr h="414006">
                <a:tc>
                  <a:txBody>
                    <a:bodyPr/>
                    <a:lstStyle/>
                    <a:p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Task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Code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1770290"/>
                  </a:ext>
                </a:extLst>
              </a:tr>
              <a:tr h="421559">
                <a:tc>
                  <a:txBody>
                    <a:bodyPr/>
                    <a:lstStyle/>
                    <a:p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Create an empty dictionary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dirty="0">
                          <a:solidFill>
                            <a:srgbClr val="FF0000"/>
                          </a:solidFill>
                        </a:rPr>
                        <a:t>#dictionary_name = {} or</a:t>
                      </a:r>
                    </a:p>
                    <a:p>
                      <a:r>
                        <a:rPr lang="en-AU" dirty="0">
                          <a:solidFill>
                            <a:srgbClr val="FF0000"/>
                          </a:solidFill>
                        </a:rPr>
                        <a:t>#dictionary_name = dict()</a:t>
                      </a:r>
                    </a:p>
                    <a:p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names = {} or</a:t>
                      </a:r>
                    </a:p>
                    <a:p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names = dict()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2658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Add a value pair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dirty="0">
                          <a:solidFill>
                            <a:srgbClr val="FF0000"/>
                          </a:solidFill>
                        </a:rPr>
                        <a:t>#dictionary_name[key] = value</a:t>
                      </a:r>
                    </a:p>
                    <a:p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names[name] =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544254"/>
                  </a:ext>
                </a:extLst>
              </a:tr>
              <a:tr h="213214">
                <a:tc>
                  <a:txBody>
                    <a:bodyPr/>
                    <a:lstStyle/>
                    <a:p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Add one to an existing record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dirty="0">
                          <a:solidFill>
                            <a:srgbClr val="FF0000"/>
                          </a:solidFill>
                        </a:rPr>
                        <a:t>#dictionary_name[key] = </a:t>
                      </a:r>
                      <a:r>
                        <a:rPr lang="en-AU" dirty="0" err="1">
                          <a:solidFill>
                            <a:srgbClr val="FF0000"/>
                          </a:solidFill>
                        </a:rPr>
                        <a:t>dictionary_name</a:t>
                      </a:r>
                      <a:r>
                        <a:rPr lang="en-AU" dirty="0">
                          <a:solidFill>
                            <a:srgbClr val="FF0000"/>
                          </a:solidFill>
                        </a:rPr>
                        <a:t>[key] + 1</a:t>
                      </a:r>
                    </a:p>
                    <a:p>
                      <a:r>
                        <a:rPr lang="en-AU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names[name] = names[name] + 1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058566"/>
                  </a:ext>
                </a:extLst>
              </a:tr>
              <a:tr h="213214">
                <a:tc>
                  <a:txBody>
                    <a:bodyPr/>
                    <a:lstStyle/>
                    <a:p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Print a dictionary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dirty="0">
                          <a:solidFill>
                            <a:srgbClr val="FF0000"/>
                          </a:solidFill>
                        </a:rPr>
                        <a:t>#print(dictionary_name)</a:t>
                      </a:r>
                    </a:p>
                    <a:p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print(names)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650498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92A4BB85-2140-7B92-97A2-EB31A84574D9}"/>
              </a:ext>
            </a:extLst>
          </p:cNvPr>
          <p:cNvSpPr txBox="1"/>
          <p:nvPr/>
        </p:nvSpPr>
        <p:spPr>
          <a:xfrm>
            <a:off x="7543209" y="2967464"/>
            <a:ext cx="4243679" cy="31393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Code:</a:t>
            </a:r>
          </a:p>
          <a:p>
            <a:r>
              <a:rPr lang="en-US" dirty="0"/>
              <a:t>names = {}</a:t>
            </a:r>
          </a:p>
          <a:p>
            <a:r>
              <a:rPr lang="en-US" dirty="0"/>
              <a:t>while True:</a:t>
            </a:r>
          </a:p>
          <a:p>
            <a:r>
              <a:rPr lang="en-US" dirty="0"/>
              <a:t>    name = input("Name: ")</a:t>
            </a:r>
          </a:p>
          <a:p>
            <a:r>
              <a:rPr lang="en-US" dirty="0"/>
              <a:t>    if name == "":</a:t>
            </a:r>
          </a:p>
          <a:p>
            <a:r>
              <a:rPr lang="en-US" dirty="0"/>
              <a:t>        break</a:t>
            </a:r>
          </a:p>
          <a:p>
            <a:r>
              <a:rPr lang="en-US" dirty="0"/>
              <a:t>    elif name in names:</a:t>
            </a:r>
          </a:p>
          <a:p>
            <a:r>
              <a:rPr lang="en-US" dirty="0"/>
              <a:t>        names[name] = names[name] + 1</a:t>
            </a:r>
          </a:p>
          <a:p>
            <a:r>
              <a:rPr lang="en-US" dirty="0"/>
              <a:t>    else:</a:t>
            </a:r>
          </a:p>
          <a:p>
            <a:r>
              <a:rPr lang="en-US" dirty="0"/>
              <a:t>        names[name] = 1</a:t>
            </a:r>
          </a:p>
          <a:p>
            <a:r>
              <a:rPr lang="en-US" dirty="0"/>
              <a:t>print(names)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41169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4C033-966F-C491-5B62-82E6108E0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rgbClr val="FFD966"/>
                </a:solidFill>
              </a:rPr>
              <a:t>Get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185C3B-3BC2-9624-8CC9-6E332BF370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/>
              <a:t>The </a:t>
            </a:r>
            <a:r>
              <a:rPr lang="en-AU" b="1" dirty="0"/>
              <a:t>get </a:t>
            </a:r>
            <a:r>
              <a:rPr lang="en-AU" dirty="0"/>
              <a:t>method:</a:t>
            </a:r>
          </a:p>
          <a:p>
            <a:r>
              <a:rPr lang="en-AU" dirty="0"/>
              <a:t>checks if a </a:t>
            </a:r>
            <a:r>
              <a:rPr lang="en-AU" i="1" dirty="0"/>
              <a:t>key </a:t>
            </a:r>
            <a:r>
              <a:rPr lang="en-AU" dirty="0"/>
              <a:t>is in a dictionary</a:t>
            </a:r>
          </a:p>
          <a:p>
            <a:r>
              <a:rPr lang="en-AU" dirty="0"/>
              <a:t>it assumes a default value if the key is not there</a:t>
            </a:r>
          </a:p>
          <a:p>
            <a:pPr marL="0" indent="0">
              <a:buNone/>
            </a:pPr>
            <a:endParaRPr lang="en-AU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AU" dirty="0" err="1">
                <a:solidFill>
                  <a:schemeClr val="bg1"/>
                </a:solidFill>
              </a:rPr>
              <a:t>d</a:t>
            </a:r>
            <a:r>
              <a:rPr lang="en-AU" b="0" dirty="0" err="1">
                <a:solidFill>
                  <a:schemeClr val="bg1"/>
                </a:solidFill>
                <a:effectLst/>
              </a:rPr>
              <a:t>ictionary_name.get</a:t>
            </a:r>
            <a:r>
              <a:rPr lang="en-AU" b="0" dirty="0">
                <a:solidFill>
                  <a:schemeClr val="bg1"/>
                </a:solidFill>
                <a:effectLst/>
              </a:rPr>
              <a:t>(</a:t>
            </a:r>
            <a:r>
              <a:rPr lang="en-AU" b="0" dirty="0" err="1">
                <a:solidFill>
                  <a:schemeClr val="bg1"/>
                </a:solidFill>
                <a:effectLst/>
              </a:rPr>
              <a:t>keyname</a:t>
            </a:r>
            <a:r>
              <a:rPr lang="en-AU" b="0" dirty="0">
                <a:solidFill>
                  <a:schemeClr val="bg1"/>
                </a:solidFill>
                <a:effectLst/>
              </a:rPr>
              <a:t>, </a:t>
            </a:r>
            <a:r>
              <a:rPr lang="en-AU" b="0" dirty="0">
                <a:solidFill>
                  <a:srgbClr val="FFC000"/>
                </a:solidFill>
                <a:effectLst/>
              </a:rPr>
              <a:t>default</a:t>
            </a:r>
            <a:r>
              <a:rPr lang="en-AU" b="0" dirty="0">
                <a:solidFill>
                  <a:schemeClr val="bg1"/>
                </a:solidFill>
                <a:effectLst/>
              </a:rPr>
              <a:t>)</a:t>
            </a:r>
          </a:p>
          <a:p>
            <a:pPr marL="0" indent="0">
              <a:buNone/>
            </a:pPr>
            <a:endParaRPr lang="en-AU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AU" dirty="0">
                <a:solidFill>
                  <a:srgbClr val="FFC000"/>
                </a:solidFill>
              </a:rPr>
              <a:t>default: </a:t>
            </a:r>
            <a:r>
              <a:rPr lang="en-AU" dirty="0">
                <a:solidFill>
                  <a:schemeClr val="bg1"/>
                </a:solidFill>
              </a:rPr>
              <a:t>what the value will be if the </a:t>
            </a:r>
            <a:r>
              <a:rPr lang="en-AU" dirty="0" err="1">
                <a:solidFill>
                  <a:schemeClr val="bg1"/>
                </a:solidFill>
              </a:rPr>
              <a:t>keyname</a:t>
            </a:r>
            <a:r>
              <a:rPr lang="en-AU" dirty="0">
                <a:solidFill>
                  <a:schemeClr val="bg1"/>
                </a:solidFill>
              </a:rPr>
              <a:t> does not exist.</a:t>
            </a:r>
            <a:endParaRPr lang="en-AU" b="0" dirty="0">
              <a:solidFill>
                <a:schemeClr val="bg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6738626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Shape 250"/>
          <p:cNvSpPr txBox="1">
            <a:spLocks noGrp="1"/>
          </p:cNvSpPr>
          <p:nvPr>
            <p:ph type="title"/>
          </p:nvPr>
        </p:nvSpPr>
        <p:spPr>
          <a:xfrm>
            <a:off x="1" y="592282"/>
            <a:ext cx="12192000" cy="836468"/>
          </a:xfrm>
          <a:prstGeom prst="rect">
            <a:avLst/>
          </a:prstGeom>
          <a:noFill/>
          <a:ln>
            <a:noFill/>
          </a:ln>
        </p:spPr>
        <p:txBody>
          <a:bodyPr vert="horz" lIns="28575" tIns="28575" rIns="28575" bIns="28575" rtlCol="0" anchor="t" anchorCtr="0">
            <a:noAutofit/>
          </a:bodyPr>
          <a:lstStyle/>
          <a:p>
            <a:pPr algn="ctr">
              <a:spcBef>
                <a:spcPts val="0"/>
              </a:spcBef>
              <a:buClr>
                <a:srgbClr val="FF00FF"/>
              </a:buClr>
              <a:buSzPct val="25000"/>
            </a:pPr>
            <a:r>
              <a:rPr lang="en-US" sz="4800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Get method example</a:t>
            </a:r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39E5CDBE-C73B-ACB1-DA86-F6409C39E57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75716930"/>
              </p:ext>
            </p:extLst>
          </p:nvPr>
        </p:nvGraphicFramePr>
        <p:xfrm>
          <a:off x="243797" y="1294952"/>
          <a:ext cx="1172442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7432">
                  <a:extLst>
                    <a:ext uri="{9D8B030D-6E8A-4147-A177-3AD203B41FA5}">
                      <a16:colId xmlns:a16="http://schemas.microsoft.com/office/drawing/2014/main" val="3256523269"/>
                    </a:ext>
                  </a:extLst>
                </a:gridCol>
                <a:gridCol w="4598639">
                  <a:extLst>
                    <a:ext uri="{9D8B030D-6E8A-4147-A177-3AD203B41FA5}">
                      <a16:colId xmlns:a16="http://schemas.microsoft.com/office/drawing/2014/main" val="311004929"/>
                    </a:ext>
                  </a:extLst>
                </a:gridCol>
                <a:gridCol w="4538354">
                  <a:extLst>
                    <a:ext uri="{9D8B030D-6E8A-4147-A177-3AD203B41FA5}">
                      <a16:colId xmlns:a16="http://schemas.microsoft.com/office/drawing/2014/main" val="2676107218"/>
                    </a:ext>
                  </a:extLst>
                </a:gridCol>
              </a:tblGrid>
              <a:tr h="290780">
                <a:tc>
                  <a:txBody>
                    <a:bodyPr/>
                    <a:lstStyle/>
                    <a:p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Code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Output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1770290"/>
                  </a:ext>
                </a:extLst>
              </a:tr>
              <a:tr h="588498">
                <a:tc>
                  <a:txBody>
                    <a:bodyPr/>
                    <a:lstStyle/>
                    <a:p>
                      <a:r>
                        <a:rPr lang="en-AU" sz="1600" dirty="0" err="1">
                          <a:solidFill>
                            <a:schemeClr val="tx1"/>
                          </a:solidFill>
                        </a:rPr>
                        <a:t>KeyError</a:t>
                      </a:r>
                      <a:r>
                        <a:rPr lang="en-AU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br>
                        <a:rPr lang="en-AU" sz="16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AU" sz="1600" dirty="0">
                          <a:solidFill>
                            <a:schemeClr val="tx1"/>
                          </a:solidFill>
                        </a:rPr>
                        <a:t>if the specific record does not exist.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600" dirty="0">
                          <a:solidFill>
                            <a:schemeClr val="tx1"/>
                          </a:solidFill>
                        </a:rPr>
                        <a:t>print(names[“John"])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FF0000"/>
                          </a:solidFill>
                        </a:rPr>
                        <a:t>Traceback (most recent call last):</a:t>
                      </a:r>
                    </a:p>
                    <a:p>
                      <a:r>
                        <a:rPr lang="en-US" sz="1600" dirty="0">
                          <a:solidFill>
                            <a:srgbClr val="FF0000"/>
                          </a:solidFill>
                        </a:rPr>
                        <a:t>  File "C:\Dictionary.py", line 11, in &lt;module&gt;   print(names[“John"]) </a:t>
                      </a:r>
                      <a:r>
                        <a:rPr lang="en-US" sz="1600" dirty="0" err="1">
                          <a:solidFill>
                            <a:srgbClr val="FF0000"/>
                          </a:solidFill>
                        </a:rPr>
                        <a:t>KeyError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</a:rPr>
                        <a:t>: ‘John'</a:t>
                      </a:r>
                      <a:endParaRPr lang="en-AU" sz="16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1426787"/>
                  </a:ext>
                </a:extLst>
              </a:tr>
              <a:tr h="588498">
                <a:tc>
                  <a:txBody>
                    <a:bodyPr/>
                    <a:lstStyle/>
                    <a:p>
                      <a:r>
                        <a:rPr lang="en-AU" sz="1600" dirty="0">
                          <a:solidFill>
                            <a:schemeClr val="tx1"/>
                          </a:solidFill>
                        </a:rPr>
                        <a:t>get method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FF0000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#Value: if the value that you want to use if #the key does not exist in the dictionary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dictionary_name.get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(key, value)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7687076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2E0D6D0F-71B7-D680-CAC8-7DB97983266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0044" b="4405"/>
          <a:stretch/>
        </p:blipFill>
        <p:spPr>
          <a:xfrm>
            <a:off x="5547986" y="3456971"/>
            <a:ext cx="3390002" cy="263324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248359F-1621-EFDC-20BF-CFA58D194CC9}"/>
              </a:ext>
            </a:extLst>
          </p:cNvPr>
          <p:cNvSpPr txBox="1"/>
          <p:nvPr/>
        </p:nvSpPr>
        <p:spPr>
          <a:xfrm>
            <a:off x="243797" y="3456971"/>
            <a:ext cx="5080557" cy="313932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AU" dirty="0"/>
              <a:t>names = {}</a:t>
            </a:r>
          </a:p>
          <a:p>
            <a:r>
              <a:rPr lang="en-AU" dirty="0"/>
              <a:t>while True:</a:t>
            </a:r>
          </a:p>
          <a:p>
            <a:r>
              <a:rPr lang="en-AU" dirty="0"/>
              <a:t>    name = input("Name: ")</a:t>
            </a:r>
          </a:p>
          <a:p>
            <a:r>
              <a:rPr lang="en-AU" dirty="0"/>
              <a:t>    if name == "":</a:t>
            </a:r>
          </a:p>
          <a:p>
            <a:r>
              <a:rPr lang="en-AU" dirty="0"/>
              <a:t>        break</a:t>
            </a:r>
          </a:p>
          <a:p>
            <a:r>
              <a:rPr lang="en-AU" dirty="0"/>
              <a:t>    elif name in names:</a:t>
            </a:r>
          </a:p>
          <a:p>
            <a:r>
              <a:rPr lang="en-AU" dirty="0"/>
              <a:t>        names[name] = names[name] + 1</a:t>
            </a:r>
          </a:p>
          <a:p>
            <a:r>
              <a:rPr lang="en-AU" dirty="0"/>
              <a:t>    else:</a:t>
            </a:r>
          </a:p>
          <a:p>
            <a:r>
              <a:rPr lang="en-AU" dirty="0"/>
              <a:t>        names[name] = 1</a:t>
            </a:r>
          </a:p>
          <a:p>
            <a:r>
              <a:rPr lang="en-AU" dirty="0"/>
              <a:t>print(names)</a:t>
            </a:r>
          </a:p>
          <a:p>
            <a:r>
              <a:rPr lang="en-US" dirty="0"/>
              <a:t>print(names.get("John","John does not exist"))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919467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Shape 250"/>
          <p:cNvSpPr txBox="1">
            <a:spLocks noGrp="1"/>
          </p:cNvSpPr>
          <p:nvPr>
            <p:ph type="title"/>
          </p:nvPr>
        </p:nvSpPr>
        <p:spPr>
          <a:xfrm>
            <a:off x="1" y="592282"/>
            <a:ext cx="12192000" cy="836468"/>
          </a:xfrm>
          <a:prstGeom prst="rect">
            <a:avLst/>
          </a:prstGeom>
          <a:noFill/>
          <a:ln>
            <a:noFill/>
          </a:ln>
        </p:spPr>
        <p:txBody>
          <a:bodyPr vert="horz" lIns="28575" tIns="28575" rIns="28575" bIns="28575" rtlCol="0" anchor="t" anchorCtr="0">
            <a:noAutofit/>
          </a:bodyPr>
          <a:lstStyle/>
          <a:p>
            <a:pPr algn="ctr">
              <a:spcBef>
                <a:spcPts val="0"/>
              </a:spcBef>
              <a:buClr>
                <a:srgbClr val="FF00FF"/>
              </a:buClr>
              <a:buSzPct val="25000"/>
            </a:pPr>
            <a:r>
              <a:rPr lang="en-US" sz="4800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Simplify code with get method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48359F-1621-EFDC-20BF-CFA58D194CC9}"/>
              </a:ext>
            </a:extLst>
          </p:cNvPr>
          <p:cNvSpPr txBox="1"/>
          <p:nvPr/>
        </p:nvSpPr>
        <p:spPr>
          <a:xfrm>
            <a:off x="220647" y="2125882"/>
            <a:ext cx="5080557" cy="286232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AU" dirty="0"/>
              <a:t>names = {}</a:t>
            </a:r>
          </a:p>
          <a:p>
            <a:r>
              <a:rPr lang="en-AU" dirty="0"/>
              <a:t>while True:</a:t>
            </a:r>
          </a:p>
          <a:p>
            <a:r>
              <a:rPr lang="en-AU" dirty="0"/>
              <a:t>    name = input("Name: ")</a:t>
            </a:r>
          </a:p>
          <a:p>
            <a:r>
              <a:rPr lang="en-AU" dirty="0"/>
              <a:t>    if name == "":</a:t>
            </a:r>
          </a:p>
          <a:p>
            <a:r>
              <a:rPr lang="en-AU" dirty="0"/>
              <a:t>        break</a:t>
            </a:r>
          </a:p>
          <a:p>
            <a:r>
              <a:rPr lang="en-AU" dirty="0"/>
              <a:t>    elif name in names:</a:t>
            </a:r>
          </a:p>
          <a:p>
            <a:r>
              <a:rPr lang="en-AU" dirty="0"/>
              <a:t>        names[name] = names[name] + 1</a:t>
            </a:r>
          </a:p>
          <a:p>
            <a:r>
              <a:rPr lang="en-AU" dirty="0"/>
              <a:t>    else:</a:t>
            </a:r>
          </a:p>
          <a:p>
            <a:r>
              <a:rPr lang="en-AU" dirty="0"/>
              <a:t>        names[name] = 1</a:t>
            </a:r>
          </a:p>
          <a:p>
            <a:r>
              <a:rPr lang="en-AU" dirty="0"/>
              <a:t>print(names)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962280-7C92-133B-BE15-7AF7CB809C19}"/>
              </a:ext>
            </a:extLst>
          </p:cNvPr>
          <p:cNvSpPr txBox="1"/>
          <p:nvPr/>
        </p:nvSpPr>
        <p:spPr>
          <a:xfrm>
            <a:off x="5524018" y="2125882"/>
            <a:ext cx="4962645" cy="230832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AU" dirty="0"/>
              <a:t>names = {}</a:t>
            </a:r>
          </a:p>
          <a:p>
            <a:r>
              <a:rPr lang="en-AU" dirty="0"/>
              <a:t>while True:</a:t>
            </a:r>
          </a:p>
          <a:p>
            <a:r>
              <a:rPr lang="en-AU" dirty="0"/>
              <a:t>    name = input("Name: ")</a:t>
            </a:r>
          </a:p>
          <a:p>
            <a:r>
              <a:rPr lang="en-AU" dirty="0"/>
              <a:t>    if name == "":</a:t>
            </a:r>
          </a:p>
          <a:p>
            <a:r>
              <a:rPr lang="en-AU" dirty="0"/>
              <a:t>        break</a:t>
            </a:r>
          </a:p>
          <a:p>
            <a:r>
              <a:rPr lang="en-AU" dirty="0"/>
              <a:t>    else:</a:t>
            </a:r>
          </a:p>
          <a:p>
            <a:r>
              <a:rPr lang="en-AU" dirty="0"/>
              <a:t>        names[name] = </a:t>
            </a:r>
            <a:r>
              <a:rPr lang="en-AU" dirty="0" err="1"/>
              <a:t>names.get</a:t>
            </a:r>
            <a:r>
              <a:rPr lang="en-AU" dirty="0"/>
              <a:t>(name, 0) + 1</a:t>
            </a:r>
          </a:p>
          <a:p>
            <a:r>
              <a:rPr lang="en-AU" dirty="0"/>
              <a:t>print(names)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8FC636-B447-9D9D-5D62-51B7C9844F8F}"/>
              </a:ext>
            </a:extLst>
          </p:cNvPr>
          <p:cNvSpPr txBox="1"/>
          <p:nvPr/>
        </p:nvSpPr>
        <p:spPr>
          <a:xfrm>
            <a:off x="138896" y="1602662"/>
            <a:ext cx="25394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dirty="0">
                <a:solidFill>
                  <a:srgbClr val="FFD966"/>
                </a:solidFill>
              </a:rPr>
              <a:t>Original Code</a:t>
            </a:r>
            <a:endParaRPr lang="en-AU" b="1" dirty="0">
              <a:solidFill>
                <a:srgbClr val="FFD966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77575A-8D19-0A83-E9D2-D6D4ED8CC9E1}"/>
              </a:ext>
            </a:extLst>
          </p:cNvPr>
          <p:cNvSpPr txBox="1"/>
          <p:nvPr/>
        </p:nvSpPr>
        <p:spPr>
          <a:xfrm>
            <a:off x="5524018" y="1602662"/>
            <a:ext cx="28985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dirty="0">
                <a:solidFill>
                  <a:srgbClr val="FFD966"/>
                </a:solidFill>
              </a:rPr>
              <a:t>Simplified Code</a:t>
            </a:r>
            <a:endParaRPr lang="en-AU" b="1" dirty="0">
              <a:solidFill>
                <a:srgbClr val="FFD9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7344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34996-A4ED-0867-A42D-2888D415D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rgbClr val="FFD966"/>
                </a:solidFill>
              </a:rPr>
              <a:t>Displaying dictionary data 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CF14CA80-A8C5-3A1A-75BA-06AB900EF8F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80062352"/>
              </p:ext>
            </p:extLst>
          </p:nvPr>
        </p:nvGraphicFramePr>
        <p:xfrm>
          <a:off x="691008" y="1503097"/>
          <a:ext cx="7133477" cy="39801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3670">
                  <a:extLst>
                    <a:ext uri="{9D8B030D-6E8A-4147-A177-3AD203B41FA5}">
                      <a16:colId xmlns:a16="http://schemas.microsoft.com/office/drawing/2014/main" val="3256523269"/>
                    </a:ext>
                  </a:extLst>
                </a:gridCol>
                <a:gridCol w="3379807">
                  <a:extLst>
                    <a:ext uri="{9D8B030D-6E8A-4147-A177-3AD203B41FA5}">
                      <a16:colId xmlns:a16="http://schemas.microsoft.com/office/drawing/2014/main" val="311004929"/>
                    </a:ext>
                  </a:extLst>
                </a:gridCol>
              </a:tblGrid>
              <a:tr h="414006">
                <a:tc>
                  <a:txBody>
                    <a:bodyPr/>
                    <a:lstStyle/>
                    <a:p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Code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1770290"/>
                  </a:ext>
                </a:extLst>
              </a:tr>
              <a:tr h="421559">
                <a:tc>
                  <a:txBody>
                    <a:bodyPr/>
                    <a:lstStyle/>
                    <a:p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names= { “Charlotte": 25, </a:t>
                      </a:r>
                      <a:br>
                        <a:rPr lang="en-AU" dirty="0">
                          <a:solidFill>
                            <a:schemeClr val="tx1"/>
                          </a:solidFill>
                        </a:rPr>
                      </a:br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                “Olivia”: 24,</a:t>
                      </a:r>
                      <a:br>
                        <a:rPr lang="en-AU" dirty="0">
                          <a:solidFill>
                            <a:schemeClr val="tx1"/>
                          </a:solidFill>
                        </a:rPr>
                      </a:br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                “Oliver”: 17, </a:t>
                      </a:r>
                      <a:br>
                        <a:rPr lang="en-AU" dirty="0">
                          <a:solidFill>
                            <a:schemeClr val="tx1"/>
                          </a:solidFill>
                        </a:rPr>
                      </a:br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                “William”: 15, </a:t>
                      </a:r>
                      <a:br>
                        <a:rPr lang="en-AU" dirty="0">
                          <a:solidFill>
                            <a:schemeClr val="tx1"/>
                          </a:solidFill>
                        </a:rPr>
                      </a:br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                “Isla”: 10}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2658287"/>
                  </a:ext>
                </a:extLst>
              </a:tr>
              <a:tr h="335037">
                <a:tc>
                  <a:txBody>
                    <a:bodyPr/>
                    <a:lstStyle/>
                    <a:p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Loop over values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for name in names:</a:t>
                      </a:r>
                    </a:p>
                    <a:p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     print(name, names[name])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6187311"/>
                  </a:ext>
                </a:extLst>
              </a:tr>
              <a:tr h="335037">
                <a:tc>
                  <a:txBody>
                    <a:bodyPr/>
                    <a:lstStyle/>
                    <a:p>
                      <a:r>
                        <a:rPr lang="en-AU" sz="1800" dirty="0">
                          <a:solidFill>
                            <a:schemeClr val="tx1"/>
                          </a:solidFill>
                        </a:rPr>
                        <a:t>Print the value pairs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dirty="0">
                          <a:solidFill>
                            <a:schemeClr val="tx1"/>
                          </a:solidFill>
                        </a:rPr>
                        <a:t>print(names.items())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6219167"/>
                  </a:ext>
                </a:extLst>
              </a:tr>
              <a:tr h="335037">
                <a:tc>
                  <a:txBody>
                    <a:bodyPr/>
                    <a:lstStyle/>
                    <a:p>
                      <a:r>
                        <a:rPr lang="en-AU" sz="1800" dirty="0">
                          <a:solidFill>
                            <a:schemeClr val="tx1"/>
                          </a:solidFill>
                        </a:rPr>
                        <a:t>Printing the key values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dirty="0">
                          <a:solidFill>
                            <a:schemeClr val="tx1"/>
                          </a:solidFill>
                        </a:rPr>
                        <a:t>print(names.keys())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1610710"/>
                  </a:ext>
                </a:extLst>
              </a:tr>
              <a:tr h="335037">
                <a:tc>
                  <a:txBody>
                    <a:bodyPr/>
                    <a:lstStyle/>
                    <a:p>
                      <a:r>
                        <a:rPr lang="en-AU" sz="1800" dirty="0">
                          <a:solidFill>
                            <a:schemeClr val="tx1"/>
                          </a:solidFill>
                        </a:rPr>
                        <a:t>Printing a list of key values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dirty="0">
                          <a:solidFill>
                            <a:schemeClr val="tx1"/>
                          </a:solidFill>
                        </a:rPr>
                        <a:t>print(list(names))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569361"/>
                  </a:ext>
                </a:extLst>
              </a:tr>
              <a:tr h="335037">
                <a:tc>
                  <a:txBody>
                    <a:bodyPr/>
                    <a:lstStyle/>
                    <a:p>
                      <a:r>
                        <a:rPr lang="en-AU" sz="1800" dirty="0">
                          <a:solidFill>
                            <a:schemeClr val="tx1"/>
                          </a:solidFill>
                        </a:rPr>
                        <a:t>Printing the values of all the keys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dirty="0">
                          <a:solidFill>
                            <a:schemeClr val="tx1"/>
                          </a:solidFill>
                        </a:rPr>
                        <a:t>print(</a:t>
                      </a:r>
                      <a:r>
                        <a:rPr lang="en-AU" sz="1800" dirty="0" err="1">
                          <a:solidFill>
                            <a:schemeClr val="tx1"/>
                          </a:solidFill>
                        </a:rPr>
                        <a:t>names.values</a:t>
                      </a:r>
                      <a:r>
                        <a:rPr lang="en-AU" sz="1800" dirty="0">
                          <a:solidFill>
                            <a:schemeClr val="tx1"/>
                          </a:solidFill>
                        </a:rPr>
                        <a:t>())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87409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56329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34996-A4ED-0867-A42D-2888D415D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rgbClr val="FFD966"/>
                </a:solidFill>
              </a:rPr>
              <a:t>Printing Example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CB3C43-2D25-0738-4A96-C7B5EA7CDF7E}"/>
              </a:ext>
            </a:extLst>
          </p:cNvPr>
          <p:cNvSpPr txBox="1"/>
          <p:nvPr/>
        </p:nvSpPr>
        <p:spPr>
          <a:xfrm>
            <a:off x="609600" y="1379271"/>
            <a:ext cx="3777205" cy="535531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AU" dirty="0"/>
              <a:t>#print the data</a:t>
            </a:r>
          </a:p>
          <a:p>
            <a:r>
              <a:rPr lang="en-AU" dirty="0"/>
              <a:t>names= {"Charlotte": 25,</a:t>
            </a:r>
          </a:p>
          <a:p>
            <a:r>
              <a:rPr lang="en-AU" dirty="0"/>
              <a:t>        "Olivia": 24,</a:t>
            </a:r>
          </a:p>
          <a:p>
            <a:r>
              <a:rPr lang="en-AU" dirty="0"/>
              <a:t>        "Oliver": 17,</a:t>
            </a:r>
          </a:p>
          <a:p>
            <a:r>
              <a:rPr lang="en-AU" dirty="0"/>
              <a:t>        "William": 15,</a:t>
            </a:r>
          </a:p>
          <a:p>
            <a:r>
              <a:rPr lang="en-AU" dirty="0"/>
              <a:t>        "Isla": 10}</a:t>
            </a:r>
          </a:p>
          <a:p>
            <a:endParaRPr lang="en-AU" dirty="0"/>
          </a:p>
          <a:p>
            <a:r>
              <a:rPr lang="en-AU" dirty="0"/>
              <a:t>print("Print with for loop")</a:t>
            </a:r>
          </a:p>
          <a:p>
            <a:r>
              <a:rPr lang="en-AU" dirty="0"/>
              <a:t>for name in names:</a:t>
            </a:r>
          </a:p>
          <a:p>
            <a:r>
              <a:rPr lang="en-AU" dirty="0"/>
              <a:t>    print(name, names[name])</a:t>
            </a:r>
          </a:p>
          <a:p>
            <a:r>
              <a:rPr lang="en-AU" dirty="0"/>
              <a:t>    </a:t>
            </a:r>
          </a:p>
          <a:p>
            <a:r>
              <a:rPr lang="en-AU" dirty="0"/>
              <a:t>print("\nprint(list(names))")</a:t>
            </a:r>
          </a:p>
          <a:p>
            <a:r>
              <a:rPr lang="en-AU" dirty="0"/>
              <a:t>print(list(names))</a:t>
            </a:r>
          </a:p>
          <a:p>
            <a:r>
              <a:rPr lang="en-AU" dirty="0"/>
              <a:t>print("\nprint(names.values())")</a:t>
            </a:r>
          </a:p>
          <a:p>
            <a:r>
              <a:rPr lang="en-AU" dirty="0"/>
              <a:t>print(names.values())</a:t>
            </a:r>
          </a:p>
          <a:p>
            <a:r>
              <a:rPr lang="en-AU" dirty="0"/>
              <a:t>print("\nprint(names.keys())")</a:t>
            </a:r>
          </a:p>
          <a:p>
            <a:r>
              <a:rPr lang="en-AU" dirty="0"/>
              <a:t>print(names.keys())</a:t>
            </a:r>
          </a:p>
          <a:p>
            <a:r>
              <a:rPr lang="en-AU" dirty="0"/>
              <a:t>print("\nprint(names.items())")</a:t>
            </a:r>
          </a:p>
          <a:p>
            <a:r>
              <a:rPr lang="en-AU" dirty="0"/>
              <a:t>print(names.items())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6B3B44B-A6EA-D715-05D6-3944623D7E4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691"/>
          <a:stretch/>
        </p:blipFill>
        <p:spPr>
          <a:xfrm>
            <a:off x="4979045" y="1379271"/>
            <a:ext cx="6011114" cy="3728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9148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B5B55-84A4-4223-88D0-4ECBC2E3D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rgbClr val="FFD966"/>
                </a:solidFill>
              </a:rPr>
              <a:t>Grocery dictionary activity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730B764-C35E-1CF4-C410-A6BF5734831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72043171"/>
              </p:ext>
            </p:extLst>
          </p:nvPr>
        </p:nvGraphicFramePr>
        <p:xfrm>
          <a:off x="609600" y="1437782"/>
          <a:ext cx="9720853" cy="1984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7131">
                  <a:extLst>
                    <a:ext uri="{9D8B030D-6E8A-4147-A177-3AD203B41FA5}">
                      <a16:colId xmlns:a16="http://schemas.microsoft.com/office/drawing/2014/main" val="3256523269"/>
                    </a:ext>
                  </a:extLst>
                </a:gridCol>
                <a:gridCol w="3143722">
                  <a:extLst>
                    <a:ext uri="{9D8B030D-6E8A-4147-A177-3AD203B41FA5}">
                      <a16:colId xmlns:a16="http://schemas.microsoft.com/office/drawing/2014/main" val="3107679808"/>
                    </a:ext>
                  </a:extLst>
                </a:gridCol>
              </a:tblGrid>
              <a:tr h="332218">
                <a:tc>
                  <a:txBody>
                    <a:bodyPr/>
                    <a:lstStyle/>
                    <a:p>
                      <a:r>
                        <a:rPr lang="en-AU" sz="1600" dirty="0">
                          <a:solidFill>
                            <a:schemeClr val="tx1"/>
                          </a:solidFill>
                        </a:rPr>
                        <a:t>To do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600" dirty="0">
                          <a:solidFill>
                            <a:schemeClr val="tx1"/>
                          </a:solidFill>
                        </a:rPr>
                        <a:t>Test Data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1770290"/>
                  </a:ext>
                </a:extLst>
              </a:tr>
              <a:tr h="338279"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AU" sz="1600" dirty="0"/>
                        <a:t>Create an empty dictionary called groceries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AU" sz="1600" b="1" dirty="0">
                          <a:solidFill>
                            <a:schemeClr val="tx1"/>
                          </a:solidFill>
                        </a:rPr>
                        <a:t>Input:</a:t>
                      </a:r>
                    </a:p>
                    <a:p>
                      <a:r>
                        <a:rPr lang="en-AU" sz="1600" dirty="0">
                          <a:solidFill>
                            <a:schemeClr val="tx1"/>
                          </a:solidFill>
                        </a:rPr>
                        <a:t>Apple 2</a:t>
                      </a:r>
                    </a:p>
                    <a:p>
                      <a:r>
                        <a:rPr lang="en-AU" sz="1600" dirty="0">
                          <a:solidFill>
                            <a:schemeClr val="tx1"/>
                          </a:solidFill>
                        </a:rPr>
                        <a:t>Dragon-fruit</a:t>
                      </a:r>
                    </a:p>
                    <a:p>
                      <a:r>
                        <a:rPr lang="en-AU" sz="1600" dirty="0">
                          <a:solidFill>
                            <a:schemeClr val="tx1"/>
                          </a:solidFill>
                        </a:rPr>
                        <a:t>CoFFEE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2658287"/>
                  </a:ext>
                </a:extLst>
              </a:tr>
              <a:tr h="1051720">
                <a:tc>
                  <a:txBody>
                    <a:bodyPr/>
                    <a:lstStyle/>
                    <a:p>
                      <a:r>
                        <a:rPr lang="en-AU" sz="1600" dirty="0">
                          <a:solidFill>
                            <a:schemeClr val="tx1"/>
                          </a:solidFill>
                        </a:rPr>
                        <a:t>Create a loop that will add groceries until the user press enter.  </a:t>
                      </a:r>
                      <a:br>
                        <a:rPr lang="en-AU" sz="16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AU" sz="1600" b="0" i="1" dirty="0">
                          <a:solidFill>
                            <a:schemeClr val="tx1"/>
                          </a:solidFill>
                        </a:rPr>
                        <a:t>Lowercase</a:t>
                      </a:r>
                      <a:r>
                        <a:rPr lang="en-AU" sz="1600" dirty="0">
                          <a:solidFill>
                            <a:schemeClr val="tx1"/>
                          </a:solidFill>
                        </a:rPr>
                        <a:t> grocery items will be the key.</a:t>
                      </a:r>
                      <a:br>
                        <a:rPr lang="en-AU" sz="16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AU" sz="1600" dirty="0">
                          <a:solidFill>
                            <a:schemeClr val="tx1"/>
                          </a:solidFill>
                        </a:rPr>
                        <a:t>If no quantity or quantity is not a number, display an error message.</a:t>
                      </a:r>
                    </a:p>
                    <a:p>
                      <a:r>
                        <a:rPr lang="en-AU" sz="1600" dirty="0">
                          <a:solidFill>
                            <a:schemeClr val="tx1"/>
                          </a:solidFill>
                        </a:rPr>
                        <a:t>The quantity must be stored as an integer.</a:t>
                      </a:r>
                    </a:p>
                    <a:p>
                      <a:r>
                        <a:rPr lang="en-AU" sz="1600" dirty="0">
                          <a:solidFill>
                            <a:schemeClr val="tx1"/>
                          </a:solidFill>
                        </a:rPr>
                        <a:t>Print your grocery dictionary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 vMerge="1">
                  <a:txBody>
                    <a:bodyPr/>
                    <a:lstStyle/>
                    <a:p>
                      <a:r>
                        <a:rPr lang="en-AU" sz="1600" b="1" dirty="0">
                          <a:solidFill>
                            <a:schemeClr val="tx1"/>
                          </a:solidFill>
                        </a:rPr>
                        <a:t>Input:</a:t>
                      </a:r>
                    </a:p>
                    <a:p>
                      <a:r>
                        <a:rPr lang="en-AU" sz="1600" dirty="0">
                          <a:solidFill>
                            <a:schemeClr val="tx1"/>
                          </a:solidFill>
                        </a:rPr>
                        <a:t>Apple 2</a:t>
                      </a:r>
                    </a:p>
                    <a:p>
                      <a:r>
                        <a:rPr lang="en-AU" sz="1600" dirty="0">
                          <a:solidFill>
                            <a:schemeClr val="tx1"/>
                          </a:solidFill>
                        </a:rPr>
                        <a:t>CoFFEE 1</a:t>
                      </a:r>
                    </a:p>
                    <a:p>
                      <a:r>
                        <a:rPr lang="en-AU" sz="1600" dirty="0">
                          <a:solidFill>
                            <a:schemeClr val="tx1"/>
                          </a:solidFill>
                        </a:rPr>
                        <a:t>apple 3</a:t>
                      </a:r>
                    </a:p>
                    <a:p>
                      <a:r>
                        <a:rPr lang="en-AU" sz="1600" dirty="0">
                          <a:solidFill>
                            <a:schemeClr val="tx1"/>
                          </a:solidFill>
                        </a:rPr>
                        <a:t>Bread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6187311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C4D1A0E1-9947-C803-5692-52355DD8A3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1" y="3648819"/>
            <a:ext cx="4602402" cy="1771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9010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2BD72-27A3-4BCD-AC88-57BDD3203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0ED0B-6824-4EB4-BBEA-57F9584A11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2983" y="860927"/>
            <a:ext cx="6059055" cy="456349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1800" dirty="0"/>
              <a:t>groceries = {}</a:t>
            </a:r>
          </a:p>
          <a:p>
            <a:pPr marL="0" indent="0">
              <a:buNone/>
            </a:pPr>
            <a:r>
              <a:rPr lang="en-AU" sz="1800" dirty="0">
                <a:solidFill>
                  <a:srgbClr val="FFC000"/>
                </a:solidFill>
              </a:rPr>
              <a:t>while True:</a:t>
            </a:r>
          </a:p>
          <a:p>
            <a:pPr marL="0" indent="0">
              <a:buNone/>
            </a:pPr>
            <a:r>
              <a:rPr lang="en-AU" sz="1800" dirty="0"/>
              <a:t>    buy = </a:t>
            </a:r>
            <a:r>
              <a:rPr lang="en-AU" sz="1800" dirty="0">
                <a:solidFill>
                  <a:srgbClr val="CC00FF"/>
                </a:solidFill>
              </a:rPr>
              <a:t>input</a:t>
            </a:r>
            <a:r>
              <a:rPr lang="en-AU" sz="1800" dirty="0"/>
              <a:t>(</a:t>
            </a:r>
            <a:r>
              <a:rPr lang="en-AU" sz="1800" dirty="0">
                <a:solidFill>
                  <a:srgbClr val="00B050"/>
                </a:solidFill>
              </a:rPr>
              <a:t>“Enter Product &amp; Quantity: "</a:t>
            </a:r>
            <a:r>
              <a:rPr lang="en-AU" sz="1800" dirty="0"/>
              <a:t>).lower()</a:t>
            </a:r>
          </a:p>
          <a:p>
            <a:pPr marL="0" indent="0">
              <a:buNone/>
            </a:pPr>
            <a:r>
              <a:rPr lang="en-AU" sz="1800" dirty="0"/>
              <a:t>    </a:t>
            </a:r>
            <a:r>
              <a:rPr lang="en-AU" sz="1800" dirty="0">
                <a:solidFill>
                  <a:srgbClr val="FFC000"/>
                </a:solidFill>
              </a:rPr>
              <a:t>if</a:t>
            </a:r>
            <a:r>
              <a:rPr lang="en-AU" sz="1800" dirty="0"/>
              <a:t> buy == </a:t>
            </a:r>
            <a:r>
              <a:rPr lang="en-AU" sz="1800" dirty="0">
                <a:solidFill>
                  <a:srgbClr val="00B050"/>
                </a:solidFill>
              </a:rPr>
              <a:t>''</a:t>
            </a:r>
            <a:r>
              <a:rPr lang="en-AU" sz="1800" dirty="0"/>
              <a:t>:</a:t>
            </a:r>
          </a:p>
          <a:p>
            <a:pPr marL="0" indent="0">
              <a:buNone/>
            </a:pPr>
            <a:r>
              <a:rPr lang="en-AU" sz="1800" dirty="0"/>
              <a:t>        </a:t>
            </a:r>
            <a:r>
              <a:rPr lang="en-AU" sz="1800" dirty="0">
                <a:solidFill>
                  <a:srgbClr val="FFC000"/>
                </a:solidFill>
              </a:rPr>
              <a:t>break</a:t>
            </a:r>
          </a:p>
          <a:p>
            <a:pPr marL="0" indent="0">
              <a:buNone/>
            </a:pPr>
            <a:r>
              <a:rPr lang="en-AU" sz="1800" dirty="0"/>
              <a:t>    items = buy.split()</a:t>
            </a:r>
          </a:p>
          <a:p>
            <a:pPr marL="0" indent="0">
              <a:buNone/>
            </a:pPr>
            <a:r>
              <a:rPr lang="en-AU" sz="1800" dirty="0"/>
              <a:t>    key = items[0]</a:t>
            </a:r>
          </a:p>
          <a:p>
            <a:pPr marL="0" indent="0">
              <a:buNone/>
            </a:pPr>
            <a:r>
              <a:rPr lang="en-AU" sz="1800" dirty="0"/>
              <a:t>   </a:t>
            </a:r>
            <a:r>
              <a:rPr lang="en-AU" sz="1800" dirty="0">
                <a:solidFill>
                  <a:srgbClr val="FFD966"/>
                </a:solidFill>
              </a:rPr>
              <a:t> try</a:t>
            </a:r>
            <a:r>
              <a:rPr lang="en-AU" sz="1800" dirty="0"/>
              <a:t>:</a:t>
            </a:r>
          </a:p>
          <a:p>
            <a:pPr marL="0" indent="0">
              <a:buNone/>
            </a:pPr>
            <a:r>
              <a:rPr lang="en-AU" sz="1800" dirty="0"/>
              <a:t> 	value = </a:t>
            </a:r>
            <a:r>
              <a:rPr lang="en-AU" sz="1800" dirty="0">
                <a:solidFill>
                  <a:srgbClr val="CC00FF"/>
                </a:solidFill>
              </a:rPr>
              <a:t>int</a:t>
            </a:r>
            <a:r>
              <a:rPr lang="en-AU" sz="1800" dirty="0"/>
              <a:t>(items[1])</a:t>
            </a:r>
          </a:p>
          <a:p>
            <a:pPr marL="0" indent="0">
              <a:buNone/>
            </a:pPr>
            <a:r>
              <a:rPr lang="en-AU" sz="1800" dirty="0"/>
              <a:t>   </a:t>
            </a:r>
            <a:r>
              <a:rPr lang="en-AU" sz="1800" dirty="0">
                <a:solidFill>
                  <a:srgbClr val="FFD966"/>
                </a:solidFill>
              </a:rPr>
              <a:t> except</a:t>
            </a:r>
            <a:r>
              <a:rPr lang="en-AU" sz="1800" dirty="0"/>
              <a:t>:</a:t>
            </a:r>
          </a:p>
          <a:p>
            <a:pPr marL="0" indent="0">
              <a:buNone/>
            </a:pPr>
            <a:r>
              <a:rPr lang="en-AU" sz="1800" dirty="0">
                <a:solidFill>
                  <a:srgbClr val="CC00FF"/>
                </a:solidFill>
              </a:rPr>
              <a:t>	print</a:t>
            </a:r>
            <a:r>
              <a:rPr lang="en-AU" sz="1800" dirty="0"/>
              <a:t>(“Please enter a quantity with your order”)</a:t>
            </a:r>
          </a:p>
          <a:p>
            <a:pPr marL="0" indent="0">
              <a:buNone/>
            </a:pPr>
            <a:r>
              <a:rPr lang="en-AU" sz="1800" dirty="0"/>
              <a:t>    	</a:t>
            </a:r>
            <a:r>
              <a:rPr lang="en-AU" sz="1800" dirty="0">
                <a:solidFill>
                  <a:srgbClr val="FFD966"/>
                </a:solidFill>
              </a:rPr>
              <a:t>break</a:t>
            </a:r>
          </a:p>
          <a:p>
            <a:pPr marL="0" indent="0">
              <a:buNone/>
            </a:pPr>
            <a:r>
              <a:rPr lang="en-AU" sz="1800" dirty="0"/>
              <a:t>    </a:t>
            </a:r>
            <a:r>
              <a:rPr lang="en-AU" sz="1800" dirty="0">
                <a:solidFill>
                  <a:srgbClr val="FFC000"/>
                </a:solidFill>
              </a:rPr>
              <a:t>if</a:t>
            </a:r>
            <a:r>
              <a:rPr lang="en-AU" sz="1800" dirty="0"/>
              <a:t> key </a:t>
            </a:r>
            <a:r>
              <a:rPr lang="en-AU" sz="1800" dirty="0">
                <a:solidFill>
                  <a:srgbClr val="FFC000"/>
                </a:solidFill>
              </a:rPr>
              <a:t>in</a:t>
            </a:r>
            <a:r>
              <a:rPr lang="en-AU" sz="1800" dirty="0"/>
              <a:t> groceries:</a:t>
            </a:r>
          </a:p>
          <a:p>
            <a:pPr marL="0" indent="0">
              <a:buNone/>
            </a:pPr>
            <a:r>
              <a:rPr lang="en-AU" sz="1800" dirty="0"/>
              <a:t>    	groceries[key] = groceries[key] + value</a:t>
            </a:r>
          </a:p>
          <a:p>
            <a:pPr marL="0" indent="0">
              <a:buNone/>
            </a:pPr>
            <a:r>
              <a:rPr lang="en-AU" sz="1800" dirty="0">
                <a:solidFill>
                  <a:srgbClr val="FFC000"/>
                </a:solidFill>
              </a:rPr>
              <a:t>    else:</a:t>
            </a:r>
          </a:p>
          <a:p>
            <a:pPr marL="0" indent="0">
              <a:buNone/>
            </a:pPr>
            <a:r>
              <a:rPr lang="en-AU" sz="1800" dirty="0"/>
              <a:t>    	groceries[key] = value</a:t>
            </a:r>
          </a:p>
          <a:p>
            <a:pPr marL="0" indent="0">
              <a:buNone/>
            </a:pPr>
            <a:r>
              <a:rPr lang="en-AU" sz="1800" dirty="0">
                <a:solidFill>
                  <a:srgbClr val="CC00FF"/>
                </a:solidFill>
              </a:rPr>
              <a:t>print</a:t>
            </a:r>
            <a:r>
              <a:rPr lang="en-AU" sz="1800" dirty="0"/>
              <a:t>(groceries)</a:t>
            </a:r>
          </a:p>
        </p:txBody>
      </p:sp>
    </p:spTree>
    <p:extLst>
      <p:ext uri="{BB962C8B-B14F-4D97-AF65-F5344CB8AC3E}">
        <p14:creationId xmlns:p14="http://schemas.microsoft.com/office/powerpoint/2010/main" val="14391358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B5B55-84A4-4223-88D0-4ECBC2E3D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rgbClr val="FFD966"/>
                </a:solidFill>
              </a:rPr>
              <a:t>Grocery activity enhancement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730B764-C35E-1CF4-C410-A6BF5734831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32389488"/>
              </p:ext>
            </p:extLst>
          </p:nvPr>
        </p:nvGraphicFramePr>
        <p:xfrm>
          <a:off x="243839" y="1503097"/>
          <a:ext cx="10972799" cy="25729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99146">
                  <a:extLst>
                    <a:ext uri="{9D8B030D-6E8A-4147-A177-3AD203B41FA5}">
                      <a16:colId xmlns:a16="http://schemas.microsoft.com/office/drawing/2014/main" val="3256523269"/>
                    </a:ext>
                  </a:extLst>
                </a:gridCol>
                <a:gridCol w="3273653">
                  <a:extLst>
                    <a:ext uri="{9D8B030D-6E8A-4147-A177-3AD203B41FA5}">
                      <a16:colId xmlns:a16="http://schemas.microsoft.com/office/drawing/2014/main" val="3107679808"/>
                    </a:ext>
                  </a:extLst>
                </a:gridCol>
              </a:tblGrid>
              <a:tr h="414006">
                <a:tc>
                  <a:txBody>
                    <a:bodyPr/>
                    <a:lstStyle/>
                    <a:p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To do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Test Data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1770290"/>
                  </a:ext>
                </a:extLst>
              </a:tr>
              <a:tr h="42155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Change your code to include the following requirements: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2658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If the grocery item already exist, add the current amount to the existing amount. </a:t>
                      </a:r>
                    </a:p>
                    <a:p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b="1" dirty="0">
                          <a:solidFill>
                            <a:schemeClr val="tx1"/>
                          </a:solidFill>
                        </a:rPr>
                        <a:t>Input:</a:t>
                      </a:r>
                    </a:p>
                    <a:p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rice: 1</a:t>
                      </a:r>
                    </a:p>
                    <a:p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Apples: 4</a:t>
                      </a:r>
                    </a:p>
                    <a:p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Coffee: 1</a:t>
                      </a:r>
                    </a:p>
                    <a:p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Apples: 2</a:t>
                      </a:r>
                    </a:p>
                    <a:p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6187311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E1FB4744-9CE7-61C2-3FAB-510E142A07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" y="4402497"/>
            <a:ext cx="4965932" cy="2198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413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A1AA7-C46B-045A-6A90-FF0F560E5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092" y="520447"/>
            <a:ext cx="10972800" cy="1003205"/>
          </a:xfrm>
        </p:spPr>
        <p:txBody>
          <a:bodyPr/>
          <a:lstStyle/>
          <a:p>
            <a:r>
              <a:rPr lang="en-AU" dirty="0"/>
              <a:t>Solution(s)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2BF4576-34D4-4769-9849-DF69C0E400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6585" y="1341930"/>
            <a:ext cx="5386917" cy="639762"/>
          </a:xfrm>
        </p:spPr>
        <p:txBody>
          <a:bodyPr/>
          <a:lstStyle/>
          <a:p>
            <a:r>
              <a:rPr lang="en-US" dirty="0"/>
              <a:t>Option 1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C8B299-D494-44A3-A85E-AC5475EFF0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6586" y="1981692"/>
            <a:ext cx="5386917" cy="474930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1600" dirty="0"/>
              <a:t>groceries = {}</a:t>
            </a:r>
          </a:p>
          <a:p>
            <a:pPr marL="0" indent="0">
              <a:buNone/>
            </a:pPr>
            <a:r>
              <a:rPr lang="en-AU" sz="1600" dirty="0">
                <a:solidFill>
                  <a:srgbClr val="FFC000"/>
                </a:solidFill>
              </a:rPr>
              <a:t>while True</a:t>
            </a:r>
            <a:r>
              <a:rPr lang="en-AU" sz="1600" dirty="0"/>
              <a:t>:</a:t>
            </a:r>
          </a:p>
          <a:p>
            <a:pPr marL="0" indent="0">
              <a:buNone/>
            </a:pPr>
            <a:r>
              <a:rPr lang="en-AU" sz="1600" dirty="0"/>
              <a:t>    buy = </a:t>
            </a:r>
            <a:r>
              <a:rPr lang="en-AU" sz="1600" dirty="0">
                <a:solidFill>
                  <a:srgbClr val="CC00FF"/>
                </a:solidFill>
              </a:rPr>
              <a:t>input</a:t>
            </a:r>
            <a:r>
              <a:rPr lang="en-AU" sz="1600" dirty="0"/>
              <a:t>(</a:t>
            </a:r>
            <a:r>
              <a:rPr lang="en-AU" sz="1600" dirty="0">
                <a:solidFill>
                  <a:srgbClr val="00DC65"/>
                </a:solidFill>
              </a:rPr>
              <a:t>“Enter Product &amp; Quantity: "</a:t>
            </a:r>
            <a:r>
              <a:rPr lang="en-AU" sz="1600" dirty="0"/>
              <a:t>).lower()</a:t>
            </a:r>
          </a:p>
          <a:p>
            <a:pPr marL="0" indent="0">
              <a:buNone/>
            </a:pPr>
            <a:r>
              <a:rPr lang="en-AU" sz="1600" dirty="0"/>
              <a:t>    </a:t>
            </a:r>
            <a:r>
              <a:rPr lang="en-AU" sz="1600" dirty="0">
                <a:solidFill>
                  <a:srgbClr val="FFC000"/>
                </a:solidFill>
              </a:rPr>
              <a:t>if</a:t>
            </a:r>
            <a:r>
              <a:rPr lang="en-AU" sz="1600" dirty="0"/>
              <a:t> buy == "":</a:t>
            </a:r>
          </a:p>
          <a:p>
            <a:pPr marL="0" indent="0">
              <a:buNone/>
            </a:pPr>
            <a:r>
              <a:rPr lang="en-AU" sz="1600" dirty="0"/>
              <a:t>        </a:t>
            </a:r>
            <a:r>
              <a:rPr lang="en-AU" sz="1600" dirty="0">
                <a:solidFill>
                  <a:srgbClr val="FFC000"/>
                </a:solidFill>
              </a:rPr>
              <a:t>break</a:t>
            </a:r>
          </a:p>
          <a:p>
            <a:pPr marL="0" indent="0">
              <a:buNone/>
            </a:pPr>
            <a:r>
              <a:rPr lang="en-AU" sz="1600" dirty="0"/>
              <a:t>    items = buy.split()</a:t>
            </a:r>
          </a:p>
          <a:p>
            <a:pPr marL="0" indent="0">
              <a:buNone/>
            </a:pPr>
            <a:r>
              <a:rPr lang="en-AU" sz="1600" dirty="0"/>
              <a:t>    </a:t>
            </a:r>
            <a:r>
              <a:rPr lang="en-AU" sz="1600" dirty="0">
                <a:solidFill>
                  <a:srgbClr val="FFC000"/>
                </a:solidFill>
              </a:rPr>
              <a:t>try</a:t>
            </a:r>
            <a:r>
              <a:rPr lang="en-AU" sz="1600" dirty="0"/>
              <a:t>:</a:t>
            </a:r>
          </a:p>
          <a:p>
            <a:pPr marL="0" indent="0">
              <a:buNone/>
            </a:pPr>
            <a:r>
              <a:rPr lang="en-AU" sz="1600" dirty="0"/>
              <a:t>        value = </a:t>
            </a:r>
            <a:r>
              <a:rPr lang="en-AU" sz="1600" dirty="0">
                <a:solidFill>
                  <a:srgbClr val="CC00FF"/>
                </a:solidFill>
              </a:rPr>
              <a:t>int</a:t>
            </a:r>
            <a:r>
              <a:rPr lang="en-AU" sz="1600" dirty="0"/>
              <a:t>(items[1])</a:t>
            </a:r>
          </a:p>
          <a:p>
            <a:pPr marL="0" indent="0">
              <a:buNone/>
            </a:pPr>
            <a:r>
              <a:rPr lang="en-AU" sz="1600" dirty="0"/>
              <a:t>    </a:t>
            </a:r>
            <a:r>
              <a:rPr lang="en-AU" sz="1600" dirty="0">
                <a:solidFill>
                  <a:srgbClr val="FFC000"/>
                </a:solidFill>
              </a:rPr>
              <a:t>except</a:t>
            </a:r>
            <a:r>
              <a:rPr lang="en-AU" sz="1600" dirty="0"/>
              <a:t>:</a:t>
            </a:r>
          </a:p>
          <a:p>
            <a:pPr marL="0" indent="0">
              <a:buNone/>
            </a:pPr>
            <a:r>
              <a:rPr lang="en-AU" sz="1600" dirty="0">
                <a:solidFill>
                  <a:srgbClr val="CC00FF"/>
                </a:solidFill>
              </a:rPr>
              <a:t>	print</a:t>
            </a:r>
            <a:r>
              <a:rPr lang="en-AU" sz="1600" dirty="0"/>
              <a:t>(“Please enter a quantity with your order”)</a:t>
            </a:r>
          </a:p>
          <a:p>
            <a:pPr marL="0" indent="0">
              <a:buNone/>
            </a:pPr>
            <a:r>
              <a:rPr lang="en-AU" sz="1600" dirty="0"/>
              <a:t>    	</a:t>
            </a:r>
            <a:r>
              <a:rPr lang="en-AU" sz="1600" dirty="0">
                <a:solidFill>
                  <a:srgbClr val="FFD966"/>
                </a:solidFill>
              </a:rPr>
              <a:t>break</a:t>
            </a:r>
          </a:p>
          <a:p>
            <a:pPr marL="0" indent="0">
              <a:buNone/>
            </a:pPr>
            <a:r>
              <a:rPr lang="en-AU" sz="1600" dirty="0"/>
              <a:t>    </a:t>
            </a:r>
            <a:r>
              <a:rPr lang="en-AU" sz="1600" dirty="0">
                <a:solidFill>
                  <a:srgbClr val="FFC000"/>
                </a:solidFill>
              </a:rPr>
              <a:t>if</a:t>
            </a:r>
            <a:r>
              <a:rPr lang="en-AU" sz="1600" dirty="0"/>
              <a:t> items[0] in groceries:</a:t>
            </a:r>
          </a:p>
          <a:p>
            <a:pPr marL="0" indent="0">
              <a:buNone/>
            </a:pPr>
            <a:r>
              <a:rPr lang="en-AU" sz="1600" dirty="0"/>
              <a:t>        groceries[items[0]] = groceries[items[0]] + value</a:t>
            </a:r>
          </a:p>
          <a:p>
            <a:pPr marL="0" indent="0">
              <a:buNone/>
            </a:pPr>
            <a:r>
              <a:rPr lang="en-AU" sz="1600" dirty="0"/>
              <a:t>    </a:t>
            </a:r>
            <a:r>
              <a:rPr lang="en-AU" sz="1600" dirty="0">
                <a:solidFill>
                  <a:srgbClr val="FFC000"/>
                </a:solidFill>
              </a:rPr>
              <a:t>else</a:t>
            </a:r>
            <a:r>
              <a:rPr lang="en-AU" sz="1600" dirty="0"/>
              <a:t>:</a:t>
            </a:r>
          </a:p>
          <a:p>
            <a:pPr marL="0" indent="0">
              <a:buNone/>
            </a:pPr>
            <a:r>
              <a:rPr lang="en-AU" sz="1600" dirty="0"/>
              <a:t>        groceries[items[0]] = value</a:t>
            </a:r>
          </a:p>
          <a:p>
            <a:pPr marL="0" indent="0">
              <a:buNone/>
            </a:pPr>
            <a:r>
              <a:rPr lang="en-AU" sz="1600" dirty="0">
                <a:solidFill>
                  <a:srgbClr val="CC00FF"/>
                </a:solidFill>
              </a:rPr>
              <a:t>print</a:t>
            </a:r>
            <a:r>
              <a:rPr lang="en-AU" sz="1600" dirty="0"/>
              <a:t>(groceries)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7A156CF-15A2-4354-8077-30125E1798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795492" y="1341930"/>
            <a:ext cx="5389033" cy="639762"/>
          </a:xfrm>
        </p:spPr>
        <p:txBody>
          <a:bodyPr/>
          <a:lstStyle/>
          <a:p>
            <a:r>
              <a:rPr lang="en-US" dirty="0"/>
              <a:t>Option 2</a:t>
            </a:r>
            <a:endParaRPr lang="en-AU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794E360-A360-4A82-98F9-0CA4EAE2E5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95493" y="1981692"/>
            <a:ext cx="5980872" cy="395128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1600" dirty="0"/>
              <a:t>groceries = {}</a:t>
            </a:r>
          </a:p>
          <a:p>
            <a:pPr marL="0" indent="0">
              <a:buNone/>
            </a:pPr>
            <a:r>
              <a:rPr lang="en-AU" sz="1600" dirty="0">
                <a:solidFill>
                  <a:srgbClr val="FFC000"/>
                </a:solidFill>
              </a:rPr>
              <a:t>while True</a:t>
            </a:r>
            <a:r>
              <a:rPr lang="en-AU" sz="1600" dirty="0"/>
              <a:t>:</a:t>
            </a:r>
          </a:p>
          <a:p>
            <a:pPr marL="0" indent="0">
              <a:buNone/>
            </a:pPr>
            <a:r>
              <a:rPr lang="en-AU" sz="1600" dirty="0"/>
              <a:t>    buy = </a:t>
            </a:r>
            <a:r>
              <a:rPr lang="en-AU" sz="1600" dirty="0">
                <a:solidFill>
                  <a:srgbClr val="CC00FF"/>
                </a:solidFill>
              </a:rPr>
              <a:t>input</a:t>
            </a:r>
            <a:r>
              <a:rPr lang="en-AU" sz="1600" dirty="0"/>
              <a:t>(</a:t>
            </a:r>
            <a:r>
              <a:rPr lang="en-AU" sz="1600" dirty="0">
                <a:solidFill>
                  <a:srgbClr val="00DC65"/>
                </a:solidFill>
              </a:rPr>
              <a:t>"Product &amp; Quantity: "</a:t>
            </a:r>
            <a:r>
              <a:rPr lang="en-AU" sz="1600" dirty="0"/>
              <a:t>).lower()</a:t>
            </a:r>
          </a:p>
          <a:p>
            <a:pPr marL="0" indent="0">
              <a:buNone/>
            </a:pPr>
            <a:r>
              <a:rPr lang="en-AU" sz="1600" dirty="0"/>
              <a:t>    </a:t>
            </a:r>
            <a:r>
              <a:rPr lang="en-AU" sz="1600" dirty="0">
                <a:solidFill>
                  <a:srgbClr val="FFC000"/>
                </a:solidFill>
              </a:rPr>
              <a:t>if</a:t>
            </a:r>
            <a:r>
              <a:rPr lang="en-AU" sz="1600" dirty="0"/>
              <a:t> buy == '':</a:t>
            </a:r>
          </a:p>
          <a:p>
            <a:pPr marL="0" indent="0">
              <a:buNone/>
            </a:pPr>
            <a:r>
              <a:rPr lang="en-AU" sz="1600" dirty="0"/>
              <a:t>        </a:t>
            </a:r>
            <a:r>
              <a:rPr lang="en-AU" sz="1600" dirty="0">
                <a:solidFill>
                  <a:srgbClr val="FFC000"/>
                </a:solidFill>
              </a:rPr>
              <a:t>break</a:t>
            </a:r>
          </a:p>
          <a:p>
            <a:pPr marL="0" indent="0">
              <a:buNone/>
            </a:pPr>
            <a:r>
              <a:rPr lang="en-AU" sz="1600" dirty="0"/>
              <a:t>    items = buy.split()</a:t>
            </a:r>
          </a:p>
          <a:p>
            <a:pPr marL="0" indent="0">
              <a:buNone/>
            </a:pPr>
            <a:r>
              <a:rPr lang="en-AU" sz="1600" dirty="0"/>
              <a:t>    </a:t>
            </a:r>
            <a:r>
              <a:rPr lang="en-AU" sz="1600" dirty="0">
                <a:solidFill>
                  <a:srgbClr val="FFC000"/>
                </a:solidFill>
              </a:rPr>
              <a:t>try</a:t>
            </a:r>
            <a:r>
              <a:rPr lang="en-AU" sz="1600" dirty="0"/>
              <a:t>:</a:t>
            </a:r>
          </a:p>
          <a:p>
            <a:pPr marL="0" indent="0">
              <a:buNone/>
            </a:pPr>
            <a:r>
              <a:rPr lang="en-AU" sz="1600" dirty="0"/>
              <a:t>        value = int(items[1])</a:t>
            </a:r>
          </a:p>
          <a:p>
            <a:pPr marL="0" indent="0">
              <a:buNone/>
            </a:pPr>
            <a:r>
              <a:rPr lang="en-AU" sz="1600" dirty="0"/>
              <a:t>    </a:t>
            </a:r>
            <a:r>
              <a:rPr lang="en-AU" sz="1600" dirty="0">
                <a:solidFill>
                  <a:srgbClr val="FFC000"/>
                </a:solidFill>
              </a:rPr>
              <a:t>except</a:t>
            </a:r>
            <a:r>
              <a:rPr lang="en-AU" sz="1600" dirty="0"/>
              <a:t>:</a:t>
            </a:r>
          </a:p>
          <a:p>
            <a:pPr marL="0" indent="0">
              <a:buNone/>
            </a:pPr>
            <a:r>
              <a:rPr lang="en-AU" sz="1600" dirty="0"/>
              <a:t>        </a:t>
            </a:r>
            <a:r>
              <a:rPr lang="en-AU" sz="1600" dirty="0">
                <a:solidFill>
                  <a:srgbClr val="CC00FF"/>
                </a:solidFill>
              </a:rPr>
              <a:t>print</a:t>
            </a:r>
            <a:r>
              <a:rPr lang="en-AU" sz="1600" dirty="0">
                <a:solidFill>
                  <a:srgbClr val="00DC65"/>
                </a:solidFill>
              </a:rPr>
              <a:t>(“Please enter a quantity in your order"</a:t>
            </a:r>
            <a:r>
              <a:rPr lang="en-AU" sz="1600" dirty="0"/>
              <a:t>)</a:t>
            </a:r>
          </a:p>
          <a:p>
            <a:pPr marL="0" indent="0">
              <a:buNone/>
            </a:pPr>
            <a:r>
              <a:rPr lang="en-AU" sz="1600" dirty="0"/>
              <a:t>	break</a:t>
            </a:r>
          </a:p>
          <a:p>
            <a:pPr marL="0" indent="0">
              <a:buNone/>
            </a:pPr>
            <a:r>
              <a:rPr lang="en-AU" sz="1600" dirty="0"/>
              <a:t>    groceries[items[0]] = </a:t>
            </a:r>
            <a:r>
              <a:rPr lang="en-AU" sz="1600" dirty="0" err="1"/>
              <a:t>groceries.get</a:t>
            </a:r>
            <a:r>
              <a:rPr lang="en-AU" sz="1600" dirty="0"/>
              <a:t>(items[0], 0) + value</a:t>
            </a:r>
          </a:p>
          <a:p>
            <a:pPr marL="0" indent="0">
              <a:buNone/>
            </a:pPr>
            <a:r>
              <a:rPr lang="en-AU" sz="1600" dirty="0">
                <a:solidFill>
                  <a:srgbClr val="CC00FF"/>
                </a:solidFill>
              </a:rPr>
              <a:t>print</a:t>
            </a:r>
            <a:r>
              <a:rPr lang="en-AU" sz="1600" dirty="0"/>
              <a:t>(groceries)</a:t>
            </a:r>
          </a:p>
        </p:txBody>
      </p:sp>
    </p:spTree>
    <p:extLst>
      <p:ext uri="{BB962C8B-B14F-4D97-AF65-F5344CB8AC3E}">
        <p14:creationId xmlns:p14="http://schemas.microsoft.com/office/powerpoint/2010/main" val="1428561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8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B5B55-84A4-4223-88D0-4ECBC2E3D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rgbClr val="FFD966"/>
                </a:solidFill>
              </a:rPr>
              <a:t>Elegant loop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730B764-C35E-1CF4-C410-A6BF5734831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72090598"/>
              </p:ext>
            </p:extLst>
          </p:nvPr>
        </p:nvGraphicFramePr>
        <p:xfrm>
          <a:off x="609599" y="1391645"/>
          <a:ext cx="9104851" cy="3735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7374">
                  <a:extLst>
                    <a:ext uri="{9D8B030D-6E8A-4147-A177-3AD203B41FA5}">
                      <a16:colId xmlns:a16="http://schemas.microsoft.com/office/drawing/2014/main" val="3256523269"/>
                    </a:ext>
                  </a:extLst>
                </a:gridCol>
                <a:gridCol w="4387477">
                  <a:extLst>
                    <a:ext uri="{9D8B030D-6E8A-4147-A177-3AD203B41FA5}">
                      <a16:colId xmlns:a16="http://schemas.microsoft.com/office/drawing/2014/main" val="311004929"/>
                    </a:ext>
                  </a:extLst>
                </a:gridCol>
              </a:tblGrid>
              <a:tr h="411565">
                <a:tc>
                  <a:txBody>
                    <a:bodyPr/>
                    <a:lstStyle/>
                    <a:p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Code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Code output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1770290"/>
                  </a:ext>
                </a:extLst>
              </a:tr>
              <a:tr h="3324375">
                <a:tc>
                  <a:txBody>
                    <a:bodyPr/>
                    <a:lstStyle/>
                    <a:p>
                      <a:r>
                        <a:rPr lang="en-AU" sz="1800" b="1" dirty="0">
                          <a:solidFill>
                            <a:srgbClr val="FF0000"/>
                          </a:solidFill>
                        </a:rPr>
                        <a:t>#Originally way</a:t>
                      </a:r>
                    </a:p>
                    <a:p>
                      <a:r>
                        <a:rPr lang="en-AU" sz="1800" b="1" dirty="0">
                          <a:solidFill>
                            <a:schemeClr val="tx1"/>
                          </a:solidFill>
                        </a:rPr>
                        <a:t>for key in grocery:</a:t>
                      </a:r>
                    </a:p>
                    <a:p>
                      <a:r>
                        <a:rPr lang="en-AU" sz="1800" dirty="0">
                          <a:solidFill>
                            <a:schemeClr val="tx1"/>
                          </a:solidFill>
                        </a:rPr>
                        <a:t>    print(key, groceries[key])</a:t>
                      </a:r>
                    </a:p>
                    <a:p>
                      <a:r>
                        <a:rPr lang="en-AU" sz="1800" dirty="0">
                          <a:solidFill>
                            <a:schemeClr val="tx1"/>
                          </a:solidFill>
                        </a:rPr>
                        <a:t>print("\n")</a:t>
                      </a:r>
                    </a:p>
                    <a:p>
                      <a:endParaRPr lang="en-AU" sz="18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AU" sz="1800" b="1" dirty="0">
                          <a:solidFill>
                            <a:srgbClr val="FF0000"/>
                          </a:solidFill>
                        </a:rPr>
                        <a:t># 2 variables in for loop</a:t>
                      </a:r>
                    </a:p>
                    <a:p>
                      <a:r>
                        <a:rPr lang="en-AU" sz="1800" b="1" dirty="0">
                          <a:solidFill>
                            <a:schemeClr val="tx1"/>
                          </a:solidFill>
                        </a:rPr>
                        <a:t>for key, value in groceries.items():</a:t>
                      </a:r>
                    </a:p>
                    <a:p>
                      <a:r>
                        <a:rPr lang="en-AU" sz="1800" dirty="0">
                          <a:solidFill>
                            <a:schemeClr val="tx1"/>
                          </a:solidFill>
                        </a:rPr>
                        <a:t>    print(key, value)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6187311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6D0B768D-A09D-B2F9-2B06-C84949053A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8757" y="1896523"/>
            <a:ext cx="3762900" cy="2934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6141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B5B55-84A4-4223-88D0-4ECBC2E3D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rgbClr val="FFD966"/>
                </a:solidFill>
              </a:rPr>
              <a:t>Definite loops and dictionaries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730B764-C35E-1CF4-C410-A6BF5734831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4733051"/>
              </p:ext>
            </p:extLst>
          </p:nvPr>
        </p:nvGraphicFramePr>
        <p:xfrm>
          <a:off x="167640" y="1414794"/>
          <a:ext cx="11826240" cy="51384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45510">
                  <a:extLst>
                    <a:ext uri="{9D8B030D-6E8A-4147-A177-3AD203B41FA5}">
                      <a16:colId xmlns:a16="http://schemas.microsoft.com/office/drawing/2014/main" val="3256523269"/>
                    </a:ext>
                  </a:extLst>
                </a:gridCol>
                <a:gridCol w="1980730">
                  <a:extLst>
                    <a:ext uri="{9D8B030D-6E8A-4147-A177-3AD203B41FA5}">
                      <a16:colId xmlns:a16="http://schemas.microsoft.com/office/drawing/2014/main" val="311004929"/>
                    </a:ext>
                  </a:extLst>
                </a:gridCol>
              </a:tblGrid>
              <a:tr h="411565">
                <a:tc>
                  <a:txBody>
                    <a:bodyPr/>
                    <a:lstStyle/>
                    <a:p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Code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1770290"/>
                  </a:ext>
                </a:extLst>
              </a:tr>
              <a:tr h="4726841">
                <a:tc>
                  <a:txBody>
                    <a:bodyPr/>
                    <a:lstStyle/>
                    <a:p>
                      <a:endParaRPr lang="en-AU" sz="16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AU" sz="1600" dirty="0">
                          <a:solidFill>
                            <a:schemeClr val="tx1"/>
                          </a:solidFill>
                        </a:rPr>
                        <a:t>print("\n")</a:t>
                      </a:r>
                    </a:p>
                    <a:p>
                      <a:r>
                        <a:rPr lang="en-AU" sz="1600" dirty="0">
                          <a:solidFill>
                            <a:schemeClr val="tx1"/>
                          </a:solidFill>
                        </a:rPr>
                        <a:t>for key in groceries:</a:t>
                      </a:r>
                    </a:p>
                    <a:p>
                      <a:r>
                        <a:rPr lang="en-AU" sz="1600" dirty="0">
                          <a:solidFill>
                            <a:schemeClr val="tx1"/>
                          </a:solidFill>
                        </a:rPr>
                        <a:t>    print(</a:t>
                      </a:r>
                      <a:r>
                        <a:rPr lang="en-AU" sz="1600" dirty="0" err="1">
                          <a:solidFill>
                            <a:schemeClr val="tx1"/>
                          </a:solidFill>
                        </a:rPr>
                        <a:t>key.strip</a:t>
                      </a:r>
                      <a:r>
                        <a:rPr lang="en-AU" sz="1600" dirty="0">
                          <a:solidFill>
                            <a:schemeClr val="tx1"/>
                          </a:solidFill>
                        </a:rPr>
                        <a:t>(), groceries[key])</a:t>
                      </a:r>
                    </a:p>
                    <a:p>
                      <a:r>
                        <a:rPr lang="en-AU" sz="1600" dirty="0">
                          <a:solidFill>
                            <a:schemeClr val="tx1"/>
                          </a:solidFill>
                        </a:rPr>
                        <a:t>print("\n")</a:t>
                      </a:r>
                    </a:p>
                    <a:p>
                      <a:endParaRPr lang="en-AU" sz="16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AU" sz="1600" dirty="0">
                          <a:solidFill>
                            <a:schemeClr val="tx1"/>
                          </a:solidFill>
                        </a:rPr>
                        <a:t>for key, value in </a:t>
                      </a:r>
                      <a:r>
                        <a:rPr lang="en-AU" sz="1600" dirty="0" err="1">
                          <a:solidFill>
                            <a:schemeClr val="tx1"/>
                          </a:solidFill>
                        </a:rPr>
                        <a:t>groceries.items</a:t>
                      </a:r>
                      <a:r>
                        <a:rPr lang="en-AU" sz="1600" dirty="0">
                          <a:solidFill>
                            <a:schemeClr val="tx1"/>
                          </a:solidFill>
                        </a:rPr>
                        <a:t>():</a:t>
                      </a:r>
                    </a:p>
                    <a:p>
                      <a:r>
                        <a:rPr lang="en-AU" sz="1600" dirty="0">
                          <a:solidFill>
                            <a:schemeClr val="tx1"/>
                          </a:solidFill>
                        </a:rPr>
                        <a:t>    print(</a:t>
                      </a:r>
                      <a:r>
                        <a:rPr lang="en-AU" sz="1600" dirty="0" err="1">
                          <a:solidFill>
                            <a:schemeClr val="tx1"/>
                          </a:solidFill>
                        </a:rPr>
                        <a:t>key.strip</a:t>
                      </a:r>
                      <a:r>
                        <a:rPr lang="en-AU" sz="1600" dirty="0">
                          <a:solidFill>
                            <a:schemeClr val="tx1"/>
                          </a:solidFill>
                        </a:rPr>
                        <a:t>(), value)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800" dirty="0">
                          <a:solidFill>
                            <a:schemeClr val="tx1"/>
                          </a:solidFill>
                        </a:rPr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6187311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5F1EFDFB-10B1-5D49-F1F8-E34C56CC70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067" y="1944751"/>
            <a:ext cx="1590897" cy="3639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4220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A7BAA-4C8E-9C11-E8CA-870B08B9C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99892"/>
            <a:ext cx="12192000" cy="1003205"/>
          </a:xfrm>
        </p:spPr>
        <p:txBody>
          <a:bodyPr/>
          <a:lstStyle/>
          <a:p>
            <a:pPr algn="ctr"/>
            <a:r>
              <a:rPr lang="en-AU" dirty="0">
                <a:solidFill>
                  <a:srgbClr val="FFD966"/>
                </a:solidFill>
              </a:rPr>
              <a:t>Revision Music Dictionary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927C3A-AF5F-0F1B-9946-EE081207DA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" y="1503097"/>
            <a:ext cx="6096000" cy="40727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000" b="1" dirty="0">
                <a:solidFill>
                  <a:srgbClr val="FF0000"/>
                </a:solidFill>
              </a:rPr>
              <a:t>Find the 3 mistakes</a:t>
            </a:r>
          </a:p>
          <a:p>
            <a:pPr marL="0" indent="0">
              <a:buNone/>
            </a:pPr>
            <a:r>
              <a:rPr lang="en-AU" sz="2000" dirty="0" err="1"/>
              <a:t>music_dictionary</a:t>
            </a:r>
            <a:r>
              <a:rPr lang="en-AU" sz="2000" dirty="0"/>
              <a:t> = []</a:t>
            </a:r>
          </a:p>
          <a:p>
            <a:pPr marL="0" indent="0">
              <a:buNone/>
            </a:pPr>
            <a:r>
              <a:rPr lang="en-AU" sz="2000" dirty="0" err="1"/>
              <a:t>music_dictionary</a:t>
            </a:r>
            <a:r>
              <a:rPr lang="en-AU" sz="2000" dirty="0"/>
              <a:t>[‘Jimmy Barnes’] = ‘Flesh &amp; Blood’</a:t>
            </a:r>
          </a:p>
          <a:p>
            <a:pPr marL="0" indent="0">
              <a:buNone/>
            </a:pPr>
            <a:r>
              <a:rPr lang="en-AU" sz="2000" dirty="0" err="1"/>
              <a:t>music_dictionary</a:t>
            </a:r>
            <a:r>
              <a:rPr lang="en-AU" sz="2000" dirty="0"/>
              <a:t>[‘Lukas Graham’] = ‘7 years’</a:t>
            </a:r>
          </a:p>
          <a:p>
            <a:pPr marL="0" indent="0">
              <a:buNone/>
            </a:pPr>
            <a:r>
              <a:rPr lang="en-AU" sz="2000" dirty="0"/>
              <a:t>print(</a:t>
            </a:r>
            <a:r>
              <a:rPr lang="en-AU" sz="2000" dirty="0" err="1"/>
              <a:t>music_dictionary</a:t>
            </a:r>
            <a:r>
              <a:rPr lang="en-AU" sz="2000" dirty="0"/>
              <a:t>[‘Flesh and blood’])</a:t>
            </a:r>
          </a:p>
          <a:p>
            <a:pPr marL="0" indent="0">
              <a:buNone/>
            </a:pPr>
            <a:r>
              <a:rPr lang="en-AU" sz="2000" dirty="0"/>
              <a:t>print(‘\n’)</a:t>
            </a:r>
          </a:p>
          <a:p>
            <a:pPr marL="0" indent="0">
              <a:buNone/>
            </a:pPr>
            <a:endParaRPr lang="en-AU" sz="2000" dirty="0"/>
          </a:p>
          <a:p>
            <a:pPr marL="0" indent="0">
              <a:buNone/>
            </a:pPr>
            <a:r>
              <a:rPr lang="en-AU" sz="2000" dirty="0"/>
              <a:t>#print all records</a:t>
            </a:r>
          </a:p>
          <a:p>
            <a:pPr marL="0" indent="0">
              <a:buNone/>
            </a:pPr>
            <a:r>
              <a:rPr lang="en-AU" sz="2000" dirty="0">
                <a:solidFill>
                  <a:schemeClr val="bg1"/>
                </a:solidFill>
              </a:rPr>
              <a:t>for key, value in </a:t>
            </a:r>
            <a:r>
              <a:rPr lang="en-AU" sz="2000" dirty="0" err="1">
                <a:solidFill>
                  <a:schemeClr val="bg1"/>
                </a:solidFill>
              </a:rPr>
              <a:t>music_dictionary</a:t>
            </a:r>
            <a:r>
              <a:rPr lang="en-AU" sz="2000" dirty="0">
                <a:solidFill>
                  <a:schemeClr val="bg1"/>
                </a:solidFill>
              </a:rPr>
              <a:t>():</a:t>
            </a:r>
          </a:p>
          <a:p>
            <a:pPr marL="0" indent="0">
              <a:buNone/>
            </a:pPr>
            <a:r>
              <a:rPr lang="en-AU" sz="2000" dirty="0">
                <a:solidFill>
                  <a:schemeClr val="bg1"/>
                </a:solidFill>
              </a:rPr>
              <a:t>    print(key, value)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endParaRPr lang="en-A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FABA916-FE8C-11F9-B848-411FF4EB49AA}"/>
              </a:ext>
            </a:extLst>
          </p:cNvPr>
          <p:cNvSpPr txBox="1">
            <a:spLocks/>
          </p:cNvSpPr>
          <p:nvPr/>
        </p:nvSpPr>
        <p:spPr>
          <a:xfrm>
            <a:off x="6141720" y="1503097"/>
            <a:ext cx="6202680" cy="45634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 baseline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 baseline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 baseline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 baseline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 baseline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AU" sz="2000" b="1" dirty="0">
                <a:solidFill>
                  <a:srgbClr val="FF0000"/>
                </a:solidFill>
              </a:rPr>
              <a:t>Corrected Code</a:t>
            </a:r>
          </a:p>
          <a:p>
            <a:pPr marL="0" indent="0">
              <a:buFont typeface="Arial"/>
              <a:buNone/>
            </a:pPr>
            <a:r>
              <a:rPr lang="en-AU" sz="2000" dirty="0" err="1"/>
              <a:t>music_dictionary</a:t>
            </a:r>
            <a:r>
              <a:rPr lang="en-AU" sz="2000" dirty="0"/>
              <a:t> = </a:t>
            </a:r>
            <a:r>
              <a:rPr lang="en-AU" sz="2000" dirty="0">
                <a:solidFill>
                  <a:srgbClr val="FF0000"/>
                </a:solidFill>
              </a:rPr>
              <a:t>{}</a:t>
            </a:r>
          </a:p>
          <a:p>
            <a:pPr marL="0" indent="0">
              <a:buFont typeface="Arial"/>
              <a:buNone/>
            </a:pPr>
            <a:r>
              <a:rPr lang="en-AU" sz="2000" dirty="0" err="1"/>
              <a:t>music_dictionary</a:t>
            </a:r>
            <a:r>
              <a:rPr lang="en-AU" sz="2000" dirty="0"/>
              <a:t>[‘Jimmy Barns’] = ‘Flesh &amp; Blood’</a:t>
            </a:r>
          </a:p>
          <a:p>
            <a:pPr marL="0" indent="0">
              <a:buFont typeface="Arial"/>
              <a:buNone/>
            </a:pPr>
            <a:r>
              <a:rPr lang="en-AU" sz="2000" dirty="0" err="1"/>
              <a:t>music_dictionary</a:t>
            </a:r>
            <a:r>
              <a:rPr lang="en-AU" sz="2000" dirty="0"/>
              <a:t>[‘Lukas Graham’] = ‘7 years’</a:t>
            </a:r>
          </a:p>
          <a:p>
            <a:pPr marL="0" indent="0">
              <a:buFont typeface="Arial"/>
              <a:buNone/>
            </a:pPr>
            <a:r>
              <a:rPr lang="en-AU" sz="2000" dirty="0"/>
              <a:t>print(</a:t>
            </a:r>
            <a:r>
              <a:rPr lang="en-AU" sz="2000" dirty="0" err="1"/>
              <a:t>music_dictionary</a:t>
            </a:r>
            <a:r>
              <a:rPr lang="en-AU" sz="2000" dirty="0">
                <a:solidFill>
                  <a:srgbClr val="FF0000"/>
                </a:solidFill>
              </a:rPr>
              <a:t>[‘Jimmy Barnes’]</a:t>
            </a:r>
            <a:r>
              <a:rPr lang="en-AU" sz="2000" dirty="0"/>
              <a:t>)</a:t>
            </a:r>
          </a:p>
          <a:p>
            <a:pPr marL="0" indent="0">
              <a:buNone/>
            </a:pPr>
            <a:r>
              <a:rPr lang="en-AU" sz="2000" dirty="0"/>
              <a:t>print(‘\n’)</a:t>
            </a:r>
          </a:p>
          <a:p>
            <a:pPr marL="0" indent="0">
              <a:buNone/>
            </a:pPr>
            <a:endParaRPr lang="en-AU" sz="2000" dirty="0"/>
          </a:p>
          <a:p>
            <a:pPr marL="0" indent="0">
              <a:buFont typeface="Arial"/>
              <a:buNone/>
            </a:pPr>
            <a:r>
              <a:rPr lang="en-AU" sz="2000" dirty="0"/>
              <a:t>#print all records</a:t>
            </a:r>
          </a:p>
          <a:p>
            <a:pPr marL="0" indent="0">
              <a:buFont typeface="Arial"/>
              <a:buNone/>
            </a:pPr>
            <a:r>
              <a:rPr lang="en-AU" sz="2000" dirty="0">
                <a:solidFill>
                  <a:schemeClr val="bg1"/>
                </a:solidFill>
              </a:rPr>
              <a:t>for key, value in </a:t>
            </a:r>
            <a:r>
              <a:rPr lang="en-AU" sz="2000" dirty="0" err="1">
                <a:solidFill>
                  <a:schemeClr val="bg1"/>
                </a:solidFill>
              </a:rPr>
              <a:t>music_dictionary</a:t>
            </a:r>
            <a:r>
              <a:rPr lang="en-AU" sz="2000" dirty="0" err="1">
                <a:solidFill>
                  <a:srgbClr val="FF0000"/>
                </a:solidFill>
              </a:rPr>
              <a:t>.items</a:t>
            </a:r>
            <a:r>
              <a:rPr lang="en-AU" sz="2000" dirty="0">
                <a:solidFill>
                  <a:schemeClr val="bg1"/>
                </a:solidFill>
              </a:rPr>
              <a:t>():</a:t>
            </a:r>
          </a:p>
          <a:p>
            <a:pPr marL="0" indent="0">
              <a:buFont typeface="Arial"/>
              <a:buNone/>
            </a:pPr>
            <a:r>
              <a:rPr lang="en-AU" sz="2000" dirty="0">
                <a:solidFill>
                  <a:schemeClr val="bg1"/>
                </a:solidFill>
              </a:rPr>
              <a:t>    print(key, value)</a:t>
            </a:r>
          </a:p>
          <a:p>
            <a:pPr marL="0" indent="0">
              <a:buFont typeface="Arial"/>
              <a:buNone/>
            </a:pPr>
            <a:endParaRPr lang="en-AU" dirty="0"/>
          </a:p>
          <a:p>
            <a:pPr marL="0" indent="0">
              <a:buFont typeface="Arial"/>
              <a:buNone/>
            </a:pPr>
            <a:endParaRPr lang="en-AU" dirty="0"/>
          </a:p>
          <a:p>
            <a:pPr marL="0" indent="0">
              <a:buFont typeface="Arial"/>
              <a:buNone/>
            </a:pPr>
            <a:endParaRPr lang="en-AU" dirty="0"/>
          </a:p>
          <a:p>
            <a:endParaRPr lang="en-AU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0066713-A790-9C8D-EBD1-E776FA112DFA}"/>
              </a:ext>
            </a:extLst>
          </p:cNvPr>
          <p:cNvCxnSpPr>
            <a:cxnSpLocks/>
          </p:cNvCxnSpPr>
          <p:nvPr/>
        </p:nvCxnSpPr>
        <p:spPr>
          <a:xfrm flipV="1">
            <a:off x="6096000" y="1625017"/>
            <a:ext cx="0" cy="3648023"/>
          </a:xfrm>
          <a:prstGeom prst="line">
            <a:avLst/>
          </a:prstGeom>
          <a:ln w="28575"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E2307336-E36E-7419-2257-FA93190F1C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4869" y="5121603"/>
            <a:ext cx="3448531" cy="1543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537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Shape 500"/>
          <p:cNvSpPr txBox="1">
            <a:spLocks noGrp="1"/>
          </p:cNvSpPr>
          <p:nvPr>
            <p:ph type="title" idx="4294967295"/>
          </p:nvPr>
        </p:nvSpPr>
        <p:spPr>
          <a:xfrm>
            <a:off x="1097025" y="1015635"/>
            <a:ext cx="9351900" cy="310903"/>
          </a:xfrm>
          <a:prstGeom prst="rect">
            <a:avLst/>
          </a:prstGeom>
        </p:spPr>
        <p:txBody>
          <a:bodyPr vert="horz" lIns="68569" tIns="68569" rIns="68569" bIns="68569" rtlCol="0" anchor="ctr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sz="2700">
                <a:solidFill>
                  <a:srgbClr val="FFFF00"/>
                </a:solidFill>
              </a:rPr>
              <a:t>Acknowledgements / Contributions</a:t>
            </a:r>
          </a:p>
        </p:txBody>
      </p:sp>
      <p:sp>
        <p:nvSpPr>
          <p:cNvPr id="502" name="Shape 502"/>
          <p:cNvSpPr txBox="1"/>
          <p:nvPr/>
        </p:nvSpPr>
        <p:spPr>
          <a:xfrm>
            <a:off x="904576" y="1722093"/>
            <a:ext cx="5098274" cy="4150069"/>
          </a:xfrm>
          <a:prstGeom prst="rect">
            <a:avLst/>
          </a:prstGeom>
          <a:noFill/>
          <a:ln>
            <a:noFill/>
          </a:ln>
        </p:spPr>
        <p:txBody>
          <a:bodyPr lIns="68569" tIns="68569" rIns="68569" bIns="68569" anchor="t" anchorCtr="0">
            <a:noAutofit/>
          </a:bodyPr>
          <a:lstStyle/>
          <a:p>
            <a:r>
              <a:rPr lang="en-US" sz="1350" dirty="0">
                <a:solidFill>
                  <a:srgbClr val="FFFFFF"/>
                </a:solidFill>
              </a:rPr>
              <a:t>These slides are Copyright 2010-  Charles R. Severance (</a:t>
            </a:r>
            <a:r>
              <a:rPr lang="en-US" sz="1350" u="sng" dirty="0">
                <a:solidFill>
                  <a:srgbClr val="FFFF00"/>
                </a:solidFill>
                <a:hlinkClick r:id="rId3"/>
              </a:rPr>
              <a:t>www.dr-chuck.com</a:t>
            </a:r>
            <a:r>
              <a:rPr lang="en-US" sz="1350" dirty="0">
                <a:solidFill>
                  <a:srgbClr val="FFFFFF"/>
                </a:solidFill>
              </a:rPr>
              <a:t>) of the University of Michigan School of Information and </a:t>
            </a:r>
            <a:r>
              <a:rPr lang="en-US" sz="1350" u="sng" dirty="0">
                <a:solidFill>
                  <a:srgbClr val="FFFF00"/>
                </a:solidFill>
                <a:hlinkClick r:id="rId4"/>
              </a:rPr>
              <a:t>open.umich.edu</a:t>
            </a:r>
            <a:r>
              <a:rPr lang="en-US" sz="1350" dirty="0">
                <a:solidFill>
                  <a:srgbClr val="FFFFFF"/>
                </a:solidFill>
              </a:rPr>
              <a:t> and made available under a Creative Commons Attribution 4.0 License.  Please maintain this last slide in all copies of the document to comply with the attribution requirements of the license.  If you make a change, feel free to add your name and organization to the list of contributors on this page as you republish the materials.</a:t>
            </a:r>
          </a:p>
          <a:p>
            <a:endParaRPr sz="1350" dirty="0">
              <a:solidFill>
                <a:srgbClr val="FFFFFF"/>
              </a:solidFill>
            </a:endParaRPr>
          </a:p>
          <a:p>
            <a:r>
              <a:rPr lang="en-US" sz="1350" dirty="0">
                <a:solidFill>
                  <a:srgbClr val="FFFFFF"/>
                </a:solidFill>
              </a:rPr>
              <a:t>Initial Development: Charles Severance, University of Michigan School of Information</a:t>
            </a:r>
          </a:p>
          <a:p>
            <a:endParaRPr sz="1350" dirty="0">
              <a:solidFill>
                <a:srgbClr val="FFFFFF"/>
              </a:solidFill>
            </a:endParaRPr>
          </a:p>
          <a:p>
            <a:r>
              <a:rPr lang="en-US" sz="1350" dirty="0">
                <a:solidFill>
                  <a:srgbClr val="FFFFFF"/>
                </a:solidFill>
              </a:rPr>
              <a:t>… Insert new Contributors or translation credits here</a:t>
            </a:r>
          </a:p>
        </p:txBody>
      </p:sp>
      <p:pic>
        <p:nvPicPr>
          <p:cNvPr id="503" name="Shape 50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8425" y="786786"/>
            <a:ext cx="768600" cy="76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Shape 50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423266" y="920436"/>
            <a:ext cx="1476449" cy="501300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Shape 505"/>
          <p:cNvSpPr txBox="1"/>
          <p:nvPr/>
        </p:nvSpPr>
        <p:spPr>
          <a:xfrm>
            <a:off x="6528301" y="1819949"/>
            <a:ext cx="5098274" cy="4052213"/>
          </a:xfrm>
          <a:prstGeom prst="rect">
            <a:avLst/>
          </a:prstGeom>
          <a:noFill/>
          <a:ln>
            <a:noFill/>
          </a:ln>
        </p:spPr>
        <p:txBody>
          <a:bodyPr lIns="68569" tIns="68569" rIns="68569" bIns="68569" anchor="t" anchorCtr="0">
            <a:noAutofit/>
          </a:bodyPr>
          <a:lstStyle/>
          <a:p>
            <a:r>
              <a:rPr lang="en-US" sz="1350">
                <a:solidFill>
                  <a:srgbClr val="FFFFFF"/>
                </a:solidFill>
              </a:rPr>
              <a:t>...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7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 - &amp;quot;SMS Availabilities&amp;#x0D;&amp;#x0A;Overview&amp;quot;&quot;/&gt;&lt;property id=&quot;20307&quot; value=&quot;256&quot;/&gt;&lt;/object&gt;&lt;object type=&quot;3&quot; unique_id=&quot;10005&quot;&gt;&lt;property id=&quot;20148&quot; value=&quot;5&quot;/&gt;&lt;property id=&quot;20300&quot; value=&quot;Slide 2&quot;/&gt;&lt;property id=&quot;20307&quot; value=&quot;257&quot;/&gt;&lt;/object&gt;&lt;object type=&quot;3&quot; unique_id=&quot;10006&quot;&gt;&lt;property id=&quot;20148&quot; value=&quot;5&quot;/&gt;&lt;property id=&quot;20300&quot; value=&quot;Slide 3 - &amp;quot;&amp;#x0D;&amp;#x0A;Course Availabilities&amp;quot;&quot;/&gt;&lt;property id=&quot;20307&quot; value=&quot;261&quot;/&gt;&lt;/object&gt;&lt;object type=&quot;3&quot; unique_id=&quot;10007&quot;&gt;&lt;property id=&quot;20148&quot; value=&quot;5&quot;/&gt;&lt;property id=&quot;20300&quot; value=&quot;Slide 4 - &amp;quot;Intake Calendars&amp;quot;&quot;/&gt;&lt;property id=&quot;20307&quot; value=&quot;264&quot;/&gt;&lt;/object&gt;&lt;object type=&quot;3&quot; unique_id=&quot;10008&quot;&gt;&lt;property id=&quot;20148&quot; value=&quot;5&quot;/&gt;&lt;property id=&quot;20300&quot; value=&quot;Slide 5 - &amp;quot;&amp;#x0D;&amp;#x0A;Unit Availabilities&amp;quot;&quot;/&gt;&lt;property id=&quot;20307&quot; value=&quot;259&quot;/&gt;&lt;/object&gt;&lt;object type=&quot;3&quot; unique_id=&quot;10009&quot;&gt;&lt;property id=&quot;20148&quot; value=&quot;5&quot;/&gt;&lt;property id=&quot;20300&quot; value=&quot;Slide 6 - &amp;quot;&amp;#x0D;&amp;#x0A;Unit Availabilities&amp;quot;&quot;/&gt;&lt;property id=&quot;20307&quot; value=&quot;260&quot;/&gt;&lt;/object&gt;&lt;object type=&quot;3&quot; unique_id=&quot;10010&quot;&gt;&lt;property id=&quot;20148&quot; value=&quot;5&quot;/&gt;&lt;property id=&quot;20300&quot; value=&quot;Slide 7 - &amp;quot;Enrolment Calendars&amp;quot;&quot;/&gt;&lt;property id=&quot;20307&quot; value=&quot;265&quot;/&gt;&lt;/object&gt;&lt;object type=&quot;3&quot; unique_id=&quot;10011&quot;&gt;&lt;property id=&quot;20148&quot; value=&quot;5&quot;/&gt;&lt;property id=&quot;20300&quot; value=&quot;Slide 8 - &amp;quot;Business Guidelines&amp;quot;&quot;/&gt;&lt;property id=&quot;20307&quot; value=&quot;268&quot;/&gt;&lt;/object&gt;&lt;object type=&quot;3&quot; unique_id=&quot;10012&quot;&gt;&lt;property id=&quot;20148&quot; value=&quot;5&quot;/&gt;&lt;property id=&quot;20300&quot; value=&quot;Slide 9 - &amp;quot;Business Guidelines&amp;quot;&quot;/&gt;&lt;property id=&quot;20307&quot; value=&quot;269&quot;/&gt;&lt;/object&gt;&lt;object type=&quot;3&quot; unique_id=&quot;10013&quot;&gt;&lt;property id=&quot;20148&quot; value=&quot;5&quot;/&gt;&lt;property id=&quot;20300&quot; value=&quot;Slide 10 - &amp;quot;Business Considerations&amp;quot;&quot;/&gt;&lt;property id=&quot;20307&quot; value=&quot;262&quot;/&gt;&lt;/object&gt;&lt;object type=&quot;3&quot; unique_id=&quot;10014&quot;&gt;&lt;property id=&quot;20148&quot; value=&quot;5&quot;/&gt;&lt;property id=&quot;20300&quot; value=&quot;Slide 11 - &amp;quot;Availabilities tasks&amp;quot;&quot;/&gt;&lt;property id=&quot;20307&quot; value=&quot;266&quot;/&gt;&lt;/object&gt;&lt;object type=&quot;3&quot; unique_id=&quot;10015&quot;&gt;&lt;property id=&quot;20148&quot; value=&quot;5&quot;/&gt;&lt;property id=&quot;20300&quot; value=&quot;Slide 12 - &amp;quot;Availabilities Template&amp;quot;&quot;/&gt;&lt;property id=&quot;20307&quot; value=&quot;267&quot;/&gt;&lt;/object&gt;&lt;object type=&quot;3&quot; unique_id=&quot;10016&quot;&gt;&lt;property id=&quot;20148&quot; value=&quot;5&quot;/&gt;&lt;property id=&quot;20300&quot; value=&quot;Slide 13 - &amp;quot;Timetabling&amp;quot;&quot;/&gt;&lt;property id=&quot;20307&quot; value=&quot;263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AFE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NMT-Presentation-HD-1920x1080-AJG-V2020.05.14.potx" id="{65AE90C9-1F4F-4671-A90D-218C982486A1}" vid="{C1F87A47-8314-4C75-8707-71F446DE838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E5E654056D58A47AA1AB158F7447227" ma:contentTypeVersion="26" ma:contentTypeDescription="Create a new document." ma:contentTypeScope="" ma:versionID="00dde8707e0b1f212db18506d452eade">
  <xsd:schema xmlns:xsd="http://www.w3.org/2001/XMLSchema" xmlns:xs="http://www.w3.org/2001/XMLSchema" xmlns:p="http://schemas.microsoft.com/office/2006/metadata/properties" xmlns:ns2="a5d4b606-e216-4a12-b5e0-256bbcdf3e40" xmlns:ns3="d30896e8-62f2-4107-a799-a577dc6441e1" targetNamespace="http://schemas.microsoft.com/office/2006/metadata/properties" ma:root="true" ma:fieldsID="b6d28e1f007aac56b2172a8c31f7330a" ns2:_="" ns3:_="">
    <xsd:import namespace="a5d4b606-e216-4a12-b5e0-256bbcdf3e40"/>
    <xsd:import namespace="d30896e8-62f2-4107-a799-a577dc6441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location" minOccurs="0"/>
                <xsd:element ref="ns2:cfca102b-1170-46ae-a99b-1c59cfff842bCountryOrRegion" minOccurs="0"/>
                <xsd:element ref="ns2:cfca102b-1170-46ae-a99b-1c59cfff842bState" minOccurs="0"/>
                <xsd:element ref="ns2:cfca102b-1170-46ae-a99b-1c59cfff842bCity" minOccurs="0"/>
                <xsd:element ref="ns2:cfca102b-1170-46ae-a99b-1c59cfff842bPostalCode" minOccurs="0"/>
                <xsd:element ref="ns2:cfca102b-1170-46ae-a99b-1c59cfff842bStreet" minOccurs="0"/>
                <xsd:element ref="ns2:cfca102b-1170-46ae-a99b-1c59cfff842bGeoLoc" minOccurs="0"/>
                <xsd:element ref="ns2:cfca102b-1170-46ae-a99b-1c59cfff842bDispName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d4b606-e216-4a12-b5e0-256bbcdf3e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598972e7-4f0e-48c0-bb56-a9f22e25d3e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location" ma:index="24" nillable="true" ma:displayName="location" ma:format="Dropdown" ma:internalName="location">
      <xsd:simpleType>
        <xsd:restriction base="dms:Unknown"/>
      </xsd:simpleType>
    </xsd:element>
    <xsd:element name="cfca102b-1170-46ae-a99b-1c59cfff842bCountryOrRegion" ma:index="25" nillable="true" ma:displayName="location: Country/Region" ma:internalName="CountryOrRegion" ma:readOnly="true">
      <xsd:simpleType>
        <xsd:restriction base="dms:Text"/>
      </xsd:simpleType>
    </xsd:element>
    <xsd:element name="cfca102b-1170-46ae-a99b-1c59cfff842bState" ma:index="26" nillable="true" ma:displayName="location: State" ma:internalName="State" ma:readOnly="true">
      <xsd:simpleType>
        <xsd:restriction base="dms:Text"/>
      </xsd:simpleType>
    </xsd:element>
    <xsd:element name="cfca102b-1170-46ae-a99b-1c59cfff842bCity" ma:index="27" nillable="true" ma:displayName="location: City" ma:internalName="City" ma:readOnly="true">
      <xsd:simpleType>
        <xsd:restriction base="dms:Text"/>
      </xsd:simpleType>
    </xsd:element>
    <xsd:element name="cfca102b-1170-46ae-a99b-1c59cfff842bPostalCode" ma:index="28" nillable="true" ma:displayName="location: Postal Code" ma:internalName="PostalCode" ma:readOnly="true">
      <xsd:simpleType>
        <xsd:restriction base="dms:Text"/>
      </xsd:simpleType>
    </xsd:element>
    <xsd:element name="cfca102b-1170-46ae-a99b-1c59cfff842bStreet" ma:index="29" nillable="true" ma:displayName="location: Street" ma:internalName="Street" ma:readOnly="true">
      <xsd:simpleType>
        <xsd:restriction base="dms:Text"/>
      </xsd:simpleType>
    </xsd:element>
    <xsd:element name="cfca102b-1170-46ae-a99b-1c59cfff842bGeoLoc" ma:index="30" nillable="true" ma:displayName="location: Coordinates" ma:internalName="GeoLoc" ma:readOnly="true">
      <xsd:simpleType>
        <xsd:restriction base="dms:Unknown"/>
      </xsd:simpleType>
    </xsd:element>
    <xsd:element name="cfca102b-1170-46ae-a99b-1c59cfff842bDispName" ma:index="31" nillable="true" ma:displayName="location: Name" ma:internalName="DispName" ma:readOnly="true">
      <xsd:simpleType>
        <xsd:restriction base="dms:Text"/>
      </xsd:simpleType>
    </xsd:element>
    <xsd:element name="MediaServiceObjectDetectorVersions" ma:index="3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3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0896e8-62f2-4107-a799-a577dc6441e1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901c2627-f294-4c6a-aecd-cfab4a7b2211}" ma:internalName="TaxCatchAll" ma:showField="CatchAllData" ma:web="d30896e8-62f2-4107-a799-a577dc6441e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30896e8-62f2-4107-a799-a577dc6441e1" xsi:nil="true"/>
    <lcf76f155ced4ddcb4097134ff3c332f xmlns="a5d4b606-e216-4a12-b5e0-256bbcdf3e40">
      <Terms xmlns="http://schemas.microsoft.com/office/infopath/2007/PartnerControls"/>
    </lcf76f155ced4ddcb4097134ff3c332f>
    <location xmlns="a5d4b606-e216-4a12-b5e0-256bbcdf3e40" xsi:nil="true"/>
    <SharedWithUsers xmlns="d30896e8-62f2-4107-a799-a577dc6441e1">
      <UserInfo>
        <DisplayName/>
        <AccountId xsi:nil="true"/>
        <AccountType/>
      </UserInfo>
    </SharedWithUsers>
    <MediaLengthInSeconds xmlns="a5d4b606-e216-4a12-b5e0-256bbcdf3e40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11FEFC2-DC63-42D1-A0CA-6DCFC8DD117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5d4b606-e216-4a12-b5e0-256bbcdf3e40"/>
    <ds:schemaRef ds:uri="d30896e8-62f2-4107-a799-a577dc6441e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6F79D9B-5A67-492D-BB4F-F3913BAD9421}">
  <ds:schemaRefs>
    <ds:schemaRef ds:uri="http://schemas.openxmlformats.org/package/2006/metadata/core-properties"/>
    <ds:schemaRef ds:uri="http://www.w3.org/XML/1998/namespace"/>
    <ds:schemaRef ds:uri="http://schemas.microsoft.com/office/2006/documentManagement/types"/>
    <ds:schemaRef ds:uri="http://purl.org/dc/dcmitype/"/>
    <ds:schemaRef ds:uri="http://schemas.microsoft.com/office/infopath/2007/PartnerControls"/>
    <ds:schemaRef ds:uri="d30896e8-62f2-4107-a799-a577dc6441e1"/>
    <ds:schemaRef ds:uri="a5d4b606-e216-4a12-b5e0-256bbcdf3e40"/>
    <ds:schemaRef ds:uri="http://schemas.microsoft.com/office/2006/metadata/properties"/>
    <ds:schemaRef ds:uri="http://purl.org/dc/terms/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E93B4755-80B4-4FE9-9650-4C800644483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NMT-Presentation-HD-1920x1080-AJG-V2020.05.25</Template>
  <TotalTime>6975</TotalTime>
  <Words>1828</Words>
  <Application>Microsoft Office PowerPoint</Application>
  <PresentationFormat>Widescreen</PresentationFormat>
  <Paragraphs>301</Paragraphs>
  <Slides>19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arial</vt:lpstr>
      <vt:lpstr>Calibri</vt:lpstr>
      <vt:lpstr>Century Gothic</vt:lpstr>
      <vt:lpstr>Office Theme</vt:lpstr>
      <vt:lpstr>Introductory Programming Techniques</vt:lpstr>
      <vt:lpstr>Python Dictionaries</vt:lpstr>
      <vt:lpstr>If you were an animal, what will you be?</vt:lpstr>
      <vt:lpstr>Two types of collections</vt:lpstr>
      <vt:lpstr>Dictionary: Popular names</vt:lpstr>
      <vt:lpstr>Creation of a dictionary</vt:lpstr>
      <vt:lpstr>Get Method</vt:lpstr>
      <vt:lpstr>Get method example</vt:lpstr>
      <vt:lpstr>Simplify code with get method</vt:lpstr>
      <vt:lpstr>Displaying dictionary data </vt:lpstr>
      <vt:lpstr>Printing Example </vt:lpstr>
      <vt:lpstr>Grocery dictionary activity</vt:lpstr>
      <vt:lpstr>Solution</vt:lpstr>
      <vt:lpstr>Grocery activity enhancement</vt:lpstr>
      <vt:lpstr>Solution(s)</vt:lpstr>
      <vt:lpstr>Elegant loop</vt:lpstr>
      <vt:lpstr>Definite loops and dictionaries</vt:lpstr>
      <vt:lpstr>Revision Music Dictionary</vt:lpstr>
      <vt:lpstr>Acknowledgements / Contributions</vt:lpstr>
    </vt:vector>
  </TitlesOfParts>
  <Manager/>
  <Company>North Metro TAFE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Adding JetBrains CLI Scripts to Laragon</dc:title>
  <dc:subject>Powerpoint presentation template (G076C)</dc:subject>
  <dc:creator>Adrian Gould</dc:creator>
  <cp:keywords>HD 1920x1080 powerpoint presentation template</cp:keywords>
  <dc:description/>
  <cp:lastModifiedBy>Ingrid Aldum</cp:lastModifiedBy>
  <cp:revision>60</cp:revision>
  <cp:lastPrinted>2020-09-29T02:41:13Z</cp:lastPrinted>
  <dcterms:created xsi:type="dcterms:W3CDTF">2020-06-09T02:13:16Z</dcterms:created>
  <dcterms:modified xsi:type="dcterms:W3CDTF">2024-07-02T06:23:44Z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0x0101002E5E654056D58A47AA1AB158F7447227</vt:lpwstr>
  </property>
  <property fmtid="{D5CDD505-2E9C-101B-9397-08002B2CF9AE}" pid="3" name="MSIP_Label_f3ac7e5b-5da2-46c7-8677-8a6b50f7d886_Enabled">
    <vt:lpwstr>true</vt:lpwstr>
  </property>
  <property fmtid="{D5CDD505-2E9C-101B-9397-08002B2CF9AE}" pid="4" name="MSIP_Label_f3ac7e5b-5da2-46c7-8677-8a6b50f7d886_SetDate">
    <vt:lpwstr>2022-09-10T04:53:53Z</vt:lpwstr>
  </property>
  <property fmtid="{D5CDD505-2E9C-101B-9397-08002B2CF9AE}" pid="5" name="MSIP_Label_f3ac7e5b-5da2-46c7-8677-8a6b50f7d886_Method">
    <vt:lpwstr>Standard</vt:lpwstr>
  </property>
  <property fmtid="{D5CDD505-2E9C-101B-9397-08002B2CF9AE}" pid="6" name="MSIP_Label_f3ac7e5b-5da2-46c7-8677-8a6b50f7d886_Name">
    <vt:lpwstr>Official</vt:lpwstr>
  </property>
  <property fmtid="{D5CDD505-2E9C-101B-9397-08002B2CF9AE}" pid="7" name="MSIP_Label_f3ac7e5b-5da2-46c7-8677-8a6b50f7d886_SiteId">
    <vt:lpwstr>218881e8-07ad-4142-87d7-f6b90d17009b</vt:lpwstr>
  </property>
  <property fmtid="{D5CDD505-2E9C-101B-9397-08002B2CF9AE}" pid="8" name="MSIP_Label_f3ac7e5b-5da2-46c7-8677-8a6b50f7d886_ActionId">
    <vt:lpwstr>56b76251-bfee-4173-b369-1c9b5375d6e8</vt:lpwstr>
  </property>
  <property fmtid="{D5CDD505-2E9C-101B-9397-08002B2CF9AE}" pid="9" name="MSIP_Label_f3ac7e5b-5da2-46c7-8677-8a6b50f7d886_ContentBits">
    <vt:lpwstr>1</vt:lpwstr>
  </property>
  <property fmtid="{D5CDD505-2E9C-101B-9397-08002B2CF9AE}" pid="10" name="ClassificationContentMarkingHeaderLocations">
    <vt:lpwstr>Office Theme:7</vt:lpwstr>
  </property>
  <property fmtid="{D5CDD505-2E9C-101B-9397-08002B2CF9AE}" pid="11" name="ClassificationContentMarkingHeaderText">
    <vt:lpwstr>OFFICIAL</vt:lpwstr>
  </property>
  <property fmtid="{D5CDD505-2E9C-101B-9397-08002B2CF9AE}" pid="12" name="Order">
    <vt:r8>8171700</vt:r8>
  </property>
  <property fmtid="{D5CDD505-2E9C-101B-9397-08002B2CF9AE}" pid="13" name="_SourceUrl">
    <vt:lpwstr/>
  </property>
  <property fmtid="{D5CDD505-2E9C-101B-9397-08002B2CF9AE}" pid="14" name="_SharedFileIndex">
    <vt:lpwstr/>
  </property>
  <property fmtid="{D5CDD505-2E9C-101B-9397-08002B2CF9AE}" pid="15" name="ComplianceAssetId">
    <vt:lpwstr/>
  </property>
  <property fmtid="{D5CDD505-2E9C-101B-9397-08002B2CF9AE}" pid="16" name="_ExtendedDescription">
    <vt:lpwstr/>
  </property>
  <property fmtid="{D5CDD505-2E9C-101B-9397-08002B2CF9AE}" pid="17" name="TriggerFlowInfo">
    <vt:lpwstr/>
  </property>
</Properties>
</file>