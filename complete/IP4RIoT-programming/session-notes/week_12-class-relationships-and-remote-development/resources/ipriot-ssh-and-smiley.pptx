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257" r:id="rId5"/>
    <p:sldId id="294" r:id="rId6"/>
    <p:sldId id="283" r:id="rId7"/>
    <p:sldId id="295" r:id="rId8"/>
    <p:sldId id="296" r:id="rId9"/>
    <p:sldId id="308" r:id="rId10"/>
    <p:sldId id="297" r:id="rId11"/>
    <p:sldId id="298" r:id="rId12"/>
    <p:sldId id="299" r:id="rId13"/>
    <p:sldId id="300" r:id="rId14"/>
    <p:sldId id="301" r:id="rId15"/>
    <p:sldId id="302" r:id="rId16"/>
    <p:sldId id="303" r:id="rId17"/>
    <p:sldId id="304" r:id="rId18"/>
    <p:sldId id="305" r:id="rId19"/>
    <p:sldId id="307" r:id="rId20"/>
    <p:sldId id="306" r:id="rId21"/>
    <p:sldId id="284" r:id="rId22"/>
    <p:sldId id="285" r:id="rId23"/>
    <p:sldId id="264" r:id="rId24"/>
    <p:sldId id="265" r:id="rId25"/>
    <p:sldId id="286" r:id="rId26"/>
    <p:sldId id="287" r:id="rId27"/>
    <p:sldId id="288" r:id="rId28"/>
    <p:sldId id="289" r:id="rId29"/>
    <p:sldId id="290" r:id="rId30"/>
    <p:sldId id="291" r:id="rId31"/>
    <p:sldId id="292" r:id="rId32"/>
    <p:sldId id="293" r:id="rId33"/>
  </p:sldIdLst>
  <p:sldSz cx="12192000" cy="6858000"/>
  <p:notesSz cx="7104063" cy="10234613"/>
  <p:custDataLst>
    <p:tags r:id="rId3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s" id="{E631FFDE-1010-498F-9120-6F57EFC23AC7}">
          <p14:sldIdLst>
            <p14:sldId id="257"/>
          </p14:sldIdLst>
        </p14:section>
        <p14:section name="Content" id="{A4C4AF5C-441C-4785-B207-3A67FABB8DD3}">
          <p14:sldIdLst>
            <p14:sldId id="294"/>
            <p14:sldId id="283"/>
          </p14:sldIdLst>
        </p14:section>
        <p14:section name="UML and Class Relationships" id="{72EEC2F9-08FE-104F-B33B-FBDA5C321099}">
          <p14:sldIdLst>
            <p14:sldId id="295"/>
            <p14:sldId id="296"/>
            <p14:sldId id="308"/>
            <p14:sldId id="297"/>
            <p14:sldId id="298"/>
            <p14:sldId id="299"/>
            <p14:sldId id="300"/>
            <p14:sldId id="301"/>
            <p14:sldId id="302"/>
            <p14:sldId id="303"/>
            <p14:sldId id="304"/>
            <p14:sldId id="305"/>
            <p14:sldId id="307"/>
            <p14:sldId id="306"/>
          </p14:sldIdLst>
        </p14:section>
        <p14:section name="SSH and Remote" id="{796C7D98-D806-9847-9F03-16322550B42D}">
          <p14:sldIdLst>
            <p14:sldId id="284"/>
            <p14:sldId id="285"/>
            <p14:sldId id="264"/>
          </p14:sldIdLst>
        </p14:section>
        <p14:section name="Practical SSH" id="{FDADAE1E-C4A1-E048-A360-D41431DECEBC}">
          <p14:sldIdLst>
            <p14:sldId id="265"/>
            <p14:sldId id="286"/>
            <p14:sldId id="287"/>
            <p14:sldId id="288"/>
            <p14:sldId id="289"/>
            <p14:sldId id="290"/>
            <p14:sldId id="291"/>
          </p14:sldIdLst>
        </p14:section>
        <p14:section name="Smiley Project" id="{EE895268-E57D-5946-946C-E469CE1685EF}">
          <p14:sldIdLst>
            <p14:sldId id="292"/>
            <p14:sldId id="29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262E"/>
    <a:srgbClr val="000000"/>
    <a:srgbClr val="D81C24"/>
    <a:srgbClr val="CC0000"/>
    <a:srgbClr val="9BBB59"/>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12" autoAdjust="0"/>
    <p:restoredTop sz="77571" autoAdjust="0"/>
  </p:normalViewPr>
  <p:slideViewPr>
    <p:cSldViewPr snapToGrid="0" snapToObjects="1">
      <p:cViewPr varScale="1">
        <p:scale>
          <a:sx n="105" d="100"/>
          <a:sy n="105" d="100"/>
        </p:scale>
        <p:origin x="216" y="584"/>
      </p:cViewPr>
      <p:guideLst>
        <p:guide orient="horz" pos="2160"/>
        <p:guide pos="3840"/>
      </p:guideLst>
    </p:cSldViewPr>
  </p:slideViewPr>
  <p:notesTextViewPr>
    <p:cViewPr>
      <p:scale>
        <a:sx n="3" d="2"/>
        <a:sy n="3" d="2"/>
      </p:scale>
      <p:origin x="0" y="0"/>
    </p:cViewPr>
  </p:notesTextViewPr>
  <p:notesViewPr>
    <p:cSldViewPr snapToGrid="0" snapToObjects="1">
      <p:cViewPr varScale="1">
        <p:scale>
          <a:sx n="104" d="100"/>
          <a:sy n="104" d="100"/>
        </p:scale>
        <p:origin x="2756"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r>
              <a:rPr lang="en-AU"/>
              <a:t>IoT Week 02</a:t>
            </a:r>
          </a:p>
        </p:txBody>
      </p:sp>
      <p:sp>
        <p:nvSpPr>
          <p:cNvPr id="3" name="Date Placeholder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6229CFFF-A852-4B7A-992A-9744EBE872C2}" type="datetime1">
              <a:rPr lang="en-AU" smtClean="0"/>
              <a:t>16/10/2024</a:t>
            </a:fld>
            <a:endParaRPr lang="en-AU"/>
          </a:p>
        </p:txBody>
      </p:sp>
      <p:sp>
        <p:nvSpPr>
          <p:cNvPr id="4" name="Footer Placeholder 3"/>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6090BAA7-B135-4D62-84B8-9C605C802215}" type="slidenum">
              <a:rPr lang="en-AU" smtClean="0"/>
              <a:t>‹#›</a:t>
            </a:fld>
            <a:endParaRPr lang="en-AU"/>
          </a:p>
        </p:txBody>
      </p:sp>
    </p:spTree>
    <p:extLst>
      <p:ext uri="{BB962C8B-B14F-4D97-AF65-F5344CB8AC3E}">
        <p14:creationId xmlns:p14="http://schemas.microsoft.com/office/powerpoint/2010/main" val="1767369133"/>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r>
              <a:rPr lang="en-US"/>
              <a:t>IoT Week 02</a:t>
            </a:r>
            <a:endParaRPr lang="en-US" dirty="0"/>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EAF1312F-A309-4725-95E4-25A93289DE51}" type="datetime1">
              <a:rPr lang="en-AU" smtClean="0"/>
              <a:t>16/10/2024</a:t>
            </a:fld>
            <a:endParaRPr lang="en-US" dirty="0"/>
          </a:p>
        </p:txBody>
      </p:sp>
      <p:sp>
        <p:nvSpPr>
          <p:cNvPr id="4" name="Slide Image Placehold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dirty="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lang="en-US"/>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dirty="0"/>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BA3E024E-F835-6D45-89C3-0E2F93EE799A}" type="slidenum">
              <a:rPr lang="en-US" smtClean="0"/>
              <a:t>‹#›</a:t>
            </a:fld>
            <a:endParaRPr lang="en-US" dirty="0"/>
          </a:p>
        </p:txBody>
      </p:sp>
    </p:spTree>
    <p:extLst>
      <p:ext uri="{BB962C8B-B14F-4D97-AF65-F5344CB8AC3E}">
        <p14:creationId xmlns:p14="http://schemas.microsoft.com/office/powerpoint/2010/main" val="370357729"/>
      </p:ext>
    </p:extLst>
  </p:cSld>
  <p:clrMap bg1="lt1" tx1="dk1" bg2="lt2" tx2="dk2" accent1="accent1" accent2="accent2" accent3="accent3" accent4="accent4" accent5="accent5" accent6="accent6" hlink="hlink" folHlink="folHlink"/>
  <p:hf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a:t>
            </a:fld>
            <a:endParaRPr lang="en-US" dirty="0"/>
          </a:p>
        </p:txBody>
      </p:sp>
    </p:spTree>
    <p:extLst>
      <p:ext uri="{BB962C8B-B14F-4D97-AF65-F5344CB8AC3E}">
        <p14:creationId xmlns:p14="http://schemas.microsoft.com/office/powerpoint/2010/main" val="2208057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a:t>
            </a:fld>
            <a:endParaRPr lang="en-US" dirty="0"/>
          </a:p>
        </p:txBody>
      </p:sp>
    </p:spTree>
    <p:extLst>
      <p:ext uri="{BB962C8B-B14F-4D97-AF65-F5344CB8AC3E}">
        <p14:creationId xmlns:p14="http://schemas.microsoft.com/office/powerpoint/2010/main" val="638239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3</a:t>
            </a:fld>
            <a:endParaRPr lang="en-US" dirty="0"/>
          </a:p>
        </p:txBody>
      </p:sp>
    </p:spTree>
    <p:extLst>
      <p:ext uri="{BB962C8B-B14F-4D97-AF65-F5344CB8AC3E}">
        <p14:creationId xmlns:p14="http://schemas.microsoft.com/office/powerpoint/2010/main" val="1587591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OMG: This is true! Object Management Group </a:t>
            </a:r>
            <a:r>
              <a:rPr lang="en-US" dirty="0">
                <a:sym typeface="Wingdings" pitchFamily="2" charset="2"/>
              </a:rPr>
              <a:t></a:t>
            </a:r>
          </a:p>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5</a:t>
            </a:fld>
            <a:endParaRPr lang="en-US" dirty="0"/>
          </a:p>
        </p:txBody>
      </p:sp>
    </p:spTree>
    <p:extLst>
      <p:ext uri="{BB962C8B-B14F-4D97-AF65-F5344CB8AC3E}">
        <p14:creationId xmlns:p14="http://schemas.microsoft.com/office/powerpoint/2010/main" val="320061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 in a bit more detail (generate by ChatGPT o1 Mini; intended mostly for humor and a little bit for education):</a:t>
            </a:r>
          </a:p>
          <a:p>
            <a:endParaRPr lang="en-US" dirty="0"/>
          </a:p>
          <a:p>
            <a:r>
              <a:rPr lang="en-US" b="1" dirty="0">
                <a:solidFill>
                  <a:srgbClr val="0E0E0E"/>
                </a:solidFill>
                <a:effectLst/>
                <a:latin typeface=".SF NS"/>
              </a:rPr>
              <a:t>Use Case: Create Use Case Diagram</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1. Use Case Overview</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Use Case Name:</a:t>
            </a:r>
            <a:r>
              <a:rPr lang="en-US" dirty="0">
                <a:solidFill>
                  <a:srgbClr val="0E0E0E"/>
                </a:solidFill>
                <a:effectLst/>
                <a:latin typeface=".SF NS"/>
              </a:rPr>
              <a:t> Create Use Case Diagram</a:t>
            </a:r>
          </a:p>
          <a:p>
            <a:r>
              <a:rPr lang="en-US" dirty="0">
                <a:solidFill>
                  <a:srgbClr val="0E0E0E"/>
                </a:solidFill>
                <a:effectLst/>
                <a:latin typeface=".SF NS"/>
              </a:rPr>
              <a:t>• </a:t>
            </a:r>
            <a:r>
              <a:rPr lang="en-US" b="1" dirty="0">
                <a:solidFill>
                  <a:srgbClr val="0E0E0E"/>
                </a:solidFill>
                <a:effectLst/>
                <a:latin typeface=".SF NS"/>
              </a:rPr>
              <a:t>Actor(s):</a:t>
            </a:r>
            <a:r>
              <a:rPr lang="en-US" dirty="0">
                <a:solidFill>
                  <a:srgbClr val="0E0E0E"/>
                </a:solidFill>
                <a:effectLst/>
                <a:latin typeface=".SF NS"/>
              </a:rPr>
              <a:t> System Analyst</a:t>
            </a:r>
          </a:p>
          <a:p>
            <a:r>
              <a:rPr lang="en-US" dirty="0">
                <a:solidFill>
                  <a:srgbClr val="0E0E0E"/>
                </a:solidFill>
                <a:effectLst/>
                <a:latin typeface=".SF NS"/>
              </a:rPr>
              <a:t>• </a:t>
            </a:r>
            <a:r>
              <a:rPr lang="en-US" b="1" dirty="0">
                <a:solidFill>
                  <a:srgbClr val="0E0E0E"/>
                </a:solidFill>
                <a:effectLst/>
                <a:latin typeface=".SF NS"/>
              </a:rPr>
              <a:t>Secondary Actor(s):</a:t>
            </a:r>
            <a:r>
              <a:rPr lang="en-US" dirty="0">
                <a:solidFill>
                  <a:srgbClr val="0E0E0E"/>
                </a:solidFill>
                <a:effectLst/>
                <a:latin typeface=".SF NS"/>
              </a:rPr>
              <a:t> Developer, Stakeholder</a:t>
            </a:r>
          </a:p>
          <a:p>
            <a:r>
              <a:rPr lang="en-US" dirty="0">
                <a:solidFill>
                  <a:srgbClr val="0E0E0E"/>
                </a:solidFill>
                <a:effectLst/>
                <a:latin typeface=".SF NS"/>
              </a:rPr>
              <a:t>• </a:t>
            </a:r>
            <a:r>
              <a:rPr lang="en-US" b="1" dirty="0">
                <a:solidFill>
                  <a:srgbClr val="0E0E0E"/>
                </a:solidFill>
                <a:effectLst/>
                <a:latin typeface=".SF NS"/>
              </a:rPr>
              <a:t>Scope:</a:t>
            </a:r>
            <a:r>
              <a:rPr lang="en-US" dirty="0">
                <a:solidFill>
                  <a:srgbClr val="0E0E0E"/>
                </a:solidFill>
                <a:effectLst/>
                <a:latin typeface=".SF NS"/>
              </a:rPr>
              <a:t> System Design and Requirements Communication</a:t>
            </a:r>
          </a:p>
          <a:p>
            <a:r>
              <a:rPr lang="en-US" dirty="0">
                <a:solidFill>
                  <a:srgbClr val="0E0E0E"/>
                </a:solidFill>
                <a:effectLst/>
                <a:latin typeface=".SF NS"/>
              </a:rPr>
              <a:t>• </a:t>
            </a:r>
            <a:r>
              <a:rPr lang="en-US" b="1" dirty="0">
                <a:solidFill>
                  <a:srgbClr val="0E0E0E"/>
                </a:solidFill>
                <a:effectLst/>
                <a:latin typeface=".SF NS"/>
              </a:rPr>
              <a:t>Level:</a:t>
            </a:r>
            <a:r>
              <a:rPr lang="en-US" dirty="0">
                <a:solidFill>
                  <a:srgbClr val="0E0E0E"/>
                </a:solidFill>
                <a:effectLst/>
                <a:latin typeface=".SF NS"/>
              </a:rPr>
              <a:t> User Goal</a:t>
            </a:r>
          </a:p>
          <a:p>
            <a:r>
              <a:rPr lang="en-US" dirty="0">
                <a:solidFill>
                  <a:srgbClr val="0E0E0E"/>
                </a:solidFill>
                <a:effectLst/>
                <a:latin typeface=".SF NS"/>
              </a:rPr>
              <a:t>• </a:t>
            </a:r>
            <a:r>
              <a:rPr lang="en-US" b="1" dirty="0">
                <a:solidFill>
                  <a:srgbClr val="0E0E0E"/>
                </a:solidFill>
                <a:effectLst/>
                <a:latin typeface=".SF NS"/>
              </a:rPr>
              <a:t>Preconditions:</a:t>
            </a:r>
            <a:endParaRPr lang="en-US" dirty="0">
              <a:solidFill>
                <a:srgbClr val="0E0E0E"/>
              </a:solidFill>
              <a:effectLst/>
              <a:latin typeface=".SF NS"/>
            </a:endParaRPr>
          </a:p>
          <a:p>
            <a:r>
              <a:rPr lang="en-US" dirty="0">
                <a:solidFill>
                  <a:srgbClr val="0E0E0E"/>
                </a:solidFill>
                <a:effectLst/>
                <a:latin typeface=".SF NS"/>
              </a:rPr>
              <a:t>• The System Analyst has access to the system requirements.</a:t>
            </a:r>
          </a:p>
          <a:p>
            <a:r>
              <a:rPr lang="en-US" dirty="0">
                <a:solidFill>
                  <a:srgbClr val="0E0E0E"/>
                </a:solidFill>
                <a:effectLst/>
                <a:latin typeface=".SF NS"/>
              </a:rPr>
              <a:t>• Necessary tools for diagram creation (e.g., </a:t>
            </a:r>
            <a:r>
              <a:rPr lang="en-US" dirty="0" err="1">
                <a:solidFill>
                  <a:srgbClr val="0E0E0E"/>
                </a:solidFill>
                <a:effectLst/>
                <a:latin typeface=".SF NS"/>
              </a:rPr>
              <a:t>PlantUML</a:t>
            </a:r>
            <a:r>
              <a:rPr lang="en-US" dirty="0">
                <a:solidFill>
                  <a:srgbClr val="0E0E0E"/>
                </a:solidFill>
                <a:effectLst/>
                <a:latin typeface=".SF NS"/>
              </a:rPr>
              <a:t>, drawing software) are available.</a:t>
            </a:r>
          </a:p>
          <a:p>
            <a:r>
              <a:rPr lang="en-US" dirty="0">
                <a:solidFill>
                  <a:srgbClr val="0E0E0E"/>
                </a:solidFill>
                <a:effectLst/>
                <a:latin typeface=".SF NS"/>
              </a:rPr>
              <a:t>• </a:t>
            </a:r>
            <a:r>
              <a:rPr lang="en-US" b="1" dirty="0">
                <a:solidFill>
                  <a:srgbClr val="0E0E0E"/>
                </a:solidFill>
                <a:effectLst/>
                <a:latin typeface=".SF NS"/>
              </a:rPr>
              <a:t>Postconditions:</a:t>
            </a:r>
            <a:endParaRPr lang="en-US" dirty="0">
              <a:solidFill>
                <a:srgbClr val="0E0E0E"/>
              </a:solidFill>
              <a:effectLst/>
              <a:latin typeface=".SF NS"/>
            </a:endParaRPr>
          </a:p>
          <a:p>
            <a:r>
              <a:rPr lang="en-US" dirty="0">
                <a:solidFill>
                  <a:srgbClr val="0E0E0E"/>
                </a:solidFill>
                <a:effectLst/>
                <a:latin typeface=".SF NS"/>
              </a:rPr>
              <a:t>• A use case diagram is created and documented.</a:t>
            </a:r>
          </a:p>
          <a:p>
            <a:r>
              <a:rPr lang="en-US" dirty="0">
                <a:solidFill>
                  <a:srgbClr val="0E0E0E"/>
                </a:solidFill>
                <a:effectLst/>
                <a:latin typeface=".SF NS"/>
              </a:rPr>
              <a:t>• The diagram is ready to be communicated to Developers and Stakeholders.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2. Description</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The </a:t>
            </a:r>
            <a:r>
              <a:rPr lang="en-US" b="1" dirty="0">
                <a:solidFill>
                  <a:srgbClr val="0E0E0E"/>
                </a:solidFill>
                <a:effectLst/>
                <a:latin typeface=".SF NS"/>
              </a:rPr>
              <a:t>System Analyst</a:t>
            </a:r>
            <a:r>
              <a:rPr lang="en-US" dirty="0">
                <a:solidFill>
                  <a:srgbClr val="0E0E0E"/>
                </a:solidFill>
                <a:effectLst/>
                <a:latin typeface=".SF NS"/>
              </a:rPr>
              <a:t> creates a </a:t>
            </a:r>
            <a:r>
              <a:rPr lang="en-US" b="1" dirty="0">
                <a:solidFill>
                  <a:srgbClr val="0E0E0E"/>
                </a:solidFill>
                <a:effectLst/>
                <a:latin typeface=".SF NS"/>
              </a:rPr>
              <a:t>Use Case Diagram</a:t>
            </a:r>
            <a:r>
              <a:rPr lang="en-US" dirty="0">
                <a:solidFill>
                  <a:srgbClr val="0E0E0E"/>
                </a:solidFill>
                <a:effectLst/>
                <a:latin typeface=".SF NS"/>
              </a:rPr>
              <a:t> to visually represent the system’s functionalities and interactions between actors and use cases. This diagram serves as a tool to communicate system requirements effectively to both </a:t>
            </a:r>
            <a:r>
              <a:rPr lang="en-US" b="1" dirty="0">
                <a:solidFill>
                  <a:srgbClr val="0E0E0E"/>
                </a:solidFill>
                <a:effectLst/>
                <a:latin typeface=".SF NS"/>
              </a:rPr>
              <a:t>Developers</a:t>
            </a:r>
            <a:r>
              <a:rPr lang="en-US" dirty="0">
                <a:solidFill>
                  <a:srgbClr val="0E0E0E"/>
                </a:solidFill>
                <a:effectLst/>
                <a:latin typeface=".SF NS"/>
              </a:rPr>
              <a:t> and </a:t>
            </a:r>
            <a:r>
              <a:rPr lang="en-US" b="1" dirty="0">
                <a:solidFill>
                  <a:srgbClr val="0E0E0E"/>
                </a:solidFill>
                <a:effectLst/>
                <a:latin typeface=".SF NS"/>
              </a:rPr>
              <a:t>Stakeholders</a:t>
            </a:r>
            <a:r>
              <a:rPr lang="en-US" dirty="0">
                <a:solidFill>
                  <a:srgbClr val="0E0E0E"/>
                </a:solidFill>
                <a:effectLst/>
                <a:latin typeface=".SF NS"/>
              </a:rPr>
              <a:t>, facilitating a common understanding of the system’s operations and objectives.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3. Actors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Primary Actor:</a:t>
            </a: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System Analyst</a:t>
            </a: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Role:</a:t>
            </a:r>
            <a:r>
              <a:rPr lang="en-US" dirty="0">
                <a:solidFill>
                  <a:srgbClr val="0E0E0E"/>
                </a:solidFill>
                <a:effectLst/>
                <a:latin typeface=".SF NS"/>
              </a:rPr>
              <a:t> Responsible for analyzing system requirements and designing use case diagrams to represent system functionalities.</a:t>
            </a:r>
          </a:p>
          <a:p>
            <a:r>
              <a:rPr lang="en-US" dirty="0">
                <a:solidFill>
                  <a:srgbClr val="0E0E0E"/>
                </a:solidFill>
                <a:effectLst/>
                <a:latin typeface=".SF NS"/>
              </a:rPr>
              <a:t>• </a:t>
            </a:r>
            <a:r>
              <a:rPr lang="en-US" b="1" dirty="0">
                <a:solidFill>
                  <a:srgbClr val="0E0E0E"/>
                </a:solidFill>
                <a:effectLst/>
                <a:latin typeface=".SF NS"/>
              </a:rPr>
              <a:t>Secondary Actors:</a:t>
            </a: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Developer</a:t>
            </a: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Role:</a:t>
            </a:r>
            <a:r>
              <a:rPr lang="en-US" dirty="0">
                <a:solidFill>
                  <a:srgbClr val="0E0E0E"/>
                </a:solidFill>
                <a:effectLst/>
                <a:latin typeface=".SF NS"/>
              </a:rPr>
              <a:t> Receives communicated requirements to implement system functionalities.</a:t>
            </a:r>
          </a:p>
          <a:p>
            <a:r>
              <a:rPr lang="en-US" dirty="0">
                <a:solidFill>
                  <a:srgbClr val="0E0E0E"/>
                </a:solidFill>
                <a:effectLst/>
                <a:latin typeface=".SF NS"/>
              </a:rPr>
              <a:t>• </a:t>
            </a:r>
            <a:r>
              <a:rPr lang="en-US" b="1" dirty="0">
                <a:solidFill>
                  <a:srgbClr val="0E0E0E"/>
                </a:solidFill>
                <a:effectLst/>
                <a:latin typeface=".SF NS"/>
              </a:rPr>
              <a:t>Stakeholder</a:t>
            </a: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Role:</a:t>
            </a:r>
            <a:r>
              <a:rPr lang="en-US" dirty="0">
                <a:solidFill>
                  <a:srgbClr val="0E0E0E"/>
                </a:solidFill>
                <a:effectLst/>
                <a:latin typeface=".SF NS"/>
              </a:rPr>
              <a:t> Receives communicated requirements to provide feedback and ensure the system meets business needs.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4. Main Flow (Basic Flow)</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Times New Roman" panose="02020603050405020304" pitchFamily="18" charset="0"/>
              </a:rPr>
              <a:t>1. </a:t>
            </a:r>
            <a:r>
              <a:rPr lang="en-US" b="1" dirty="0">
                <a:solidFill>
                  <a:srgbClr val="0E0E0E"/>
                </a:solidFill>
                <a:effectLst/>
                <a:latin typeface=".SF NS"/>
              </a:rPr>
              <a:t>Initiate Diagram Creation:</a:t>
            </a:r>
            <a:endParaRPr lang="en-US" dirty="0">
              <a:solidFill>
                <a:srgbClr val="0E0E0E"/>
              </a:solidFill>
              <a:effectLst/>
              <a:latin typeface=".SF NS"/>
            </a:endParaRPr>
          </a:p>
          <a:p>
            <a:r>
              <a:rPr lang="en-US" dirty="0">
                <a:solidFill>
                  <a:srgbClr val="0E0E0E"/>
                </a:solidFill>
                <a:effectLst/>
                <a:latin typeface=".SF NS"/>
              </a:rPr>
              <a:t>• The </a:t>
            </a:r>
            <a:r>
              <a:rPr lang="en-US" b="1" dirty="0">
                <a:solidFill>
                  <a:srgbClr val="0E0E0E"/>
                </a:solidFill>
                <a:effectLst/>
                <a:latin typeface=".SF NS"/>
              </a:rPr>
              <a:t>System Analyst</a:t>
            </a:r>
            <a:r>
              <a:rPr lang="en-US" dirty="0">
                <a:solidFill>
                  <a:srgbClr val="0E0E0E"/>
                </a:solidFill>
                <a:effectLst/>
                <a:latin typeface=".SF NS"/>
              </a:rPr>
              <a:t> begins the process of creating a use case diagram based on gathered system requirements.</a:t>
            </a:r>
          </a:p>
          <a:p>
            <a:r>
              <a:rPr lang="en-US" dirty="0">
                <a:solidFill>
                  <a:srgbClr val="0E0E0E"/>
                </a:solidFill>
                <a:effectLst/>
                <a:latin typeface="Times New Roman" panose="02020603050405020304" pitchFamily="18" charset="0"/>
              </a:rPr>
              <a:t>2. </a:t>
            </a:r>
            <a:r>
              <a:rPr lang="en-US" b="1" dirty="0">
                <a:solidFill>
                  <a:srgbClr val="0E0E0E"/>
                </a:solidFill>
                <a:effectLst/>
                <a:latin typeface=".SF NS"/>
              </a:rPr>
              <a:t>Identify Actors and Use Cases:</a:t>
            </a:r>
            <a:endParaRPr lang="en-US" dirty="0">
              <a:solidFill>
                <a:srgbClr val="0E0E0E"/>
              </a:solidFill>
              <a:effectLst/>
              <a:latin typeface=".SF NS"/>
            </a:endParaRPr>
          </a:p>
          <a:p>
            <a:r>
              <a:rPr lang="en-US" dirty="0">
                <a:solidFill>
                  <a:srgbClr val="0E0E0E"/>
                </a:solidFill>
                <a:effectLst/>
                <a:latin typeface=".SF NS"/>
              </a:rPr>
              <a:t>• The analyst identifies the key </a:t>
            </a:r>
            <a:r>
              <a:rPr lang="en-US" b="1" dirty="0">
                <a:solidFill>
                  <a:srgbClr val="0E0E0E"/>
                </a:solidFill>
                <a:effectLst/>
                <a:latin typeface=".SF NS"/>
              </a:rPr>
              <a:t>actors</a:t>
            </a:r>
            <a:r>
              <a:rPr lang="en-US" dirty="0">
                <a:solidFill>
                  <a:srgbClr val="0E0E0E"/>
                </a:solidFill>
                <a:effectLst/>
                <a:latin typeface=".SF NS"/>
              </a:rPr>
              <a:t> (e.g., Developers, Stakeholders) and </a:t>
            </a:r>
            <a:r>
              <a:rPr lang="en-US" b="1" dirty="0">
                <a:solidFill>
                  <a:srgbClr val="0E0E0E"/>
                </a:solidFill>
                <a:effectLst/>
                <a:latin typeface=".SF NS"/>
              </a:rPr>
              <a:t>use cases</a:t>
            </a:r>
            <a:r>
              <a:rPr lang="en-US" dirty="0">
                <a:solidFill>
                  <a:srgbClr val="0E0E0E"/>
                </a:solidFill>
                <a:effectLst/>
                <a:latin typeface=".SF NS"/>
              </a:rPr>
              <a:t> (e.g., Communicate Requirements, Understand System) involved in the system.</a:t>
            </a:r>
          </a:p>
          <a:p>
            <a:r>
              <a:rPr lang="en-US" dirty="0">
                <a:solidFill>
                  <a:srgbClr val="0E0E0E"/>
                </a:solidFill>
                <a:effectLst/>
                <a:latin typeface="Times New Roman" panose="02020603050405020304" pitchFamily="18" charset="0"/>
              </a:rPr>
              <a:t>3. </a:t>
            </a:r>
            <a:r>
              <a:rPr lang="en-US" b="1" dirty="0">
                <a:solidFill>
                  <a:srgbClr val="0E0E0E"/>
                </a:solidFill>
                <a:effectLst/>
                <a:latin typeface=".SF NS"/>
              </a:rPr>
              <a:t>Design Diagram:</a:t>
            </a:r>
            <a:endParaRPr lang="en-US" dirty="0">
              <a:solidFill>
                <a:srgbClr val="0E0E0E"/>
              </a:solidFill>
              <a:effectLst/>
              <a:latin typeface=".SF NS"/>
            </a:endParaRPr>
          </a:p>
          <a:p>
            <a:r>
              <a:rPr lang="en-US" dirty="0">
                <a:solidFill>
                  <a:srgbClr val="0E0E0E"/>
                </a:solidFill>
                <a:effectLst/>
                <a:latin typeface=".SF NS"/>
              </a:rPr>
              <a:t>• Using appropriate tools, the </a:t>
            </a:r>
            <a:r>
              <a:rPr lang="en-US" b="1" dirty="0">
                <a:solidFill>
                  <a:srgbClr val="0E0E0E"/>
                </a:solidFill>
                <a:effectLst/>
                <a:latin typeface=".SF NS"/>
              </a:rPr>
              <a:t>System Analyst</a:t>
            </a:r>
            <a:r>
              <a:rPr lang="en-US" dirty="0">
                <a:solidFill>
                  <a:srgbClr val="0E0E0E"/>
                </a:solidFill>
                <a:effectLst/>
                <a:latin typeface=".SF NS"/>
              </a:rPr>
              <a:t> designs the use case diagram, placing actors and use cases in their respective positions and establishing relationships between them.</a:t>
            </a:r>
          </a:p>
          <a:p>
            <a:r>
              <a:rPr lang="en-US" dirty="0">
                <a:solidFill>
                  <a:srgbClr val="0E0E0E"/>
                </a:solidFill>
                <a:effectLst/>
                <a:latin typeface="Times New Roman" panose="02020603050405020304" pitchFamily="18" charset="0"/>
              </a:rPr>
              <a:t>4. </a:t>
            </a:r>
            <a:r>
              <a:rPr lang="en-US" b="1" dirty="0">
                <a:solidFill>
                  <a:srgbClr val="0E0E0E"/>
                </a:solidFill>
                <a:effectLst/>
                <a:latin typeface=".SF NS"/>
              </a:rPr>
              <a:t>Review Diagram:</a:t>
            </a:r>
            <a:endParaRPr lang="en-US" dirty="0">
              <a:solidFill>
                <a:srgbClr val="0E0E0E"/>
              </a:solidFill>
              <a:effectLst/>
              <a:latin typeface=".SF NS"/>
            </a:endParaRPr>
          </a:p>
          <a:p>
            <a:r>
              <a:rPr lang="en-US" dirty="0">
                <a:solidFill>
                  <a:srgbClr val="0E0E0E"/>
                </a:solidFill>
                <a:effectLst/>
                <a:latin typeface=".SF NS"/>
              </a:rPr>
              <a:t>• The analyst reviews the diagram for accuracy, ensuring all relevant interactions and functionalities are represented correctly.</a:t>
            </a:r>
          </a:p>
          <a:p>
            <a:r>
              <a:rPr lang="en-US" dirty="0">
                <a:solidFill>
                  <a:srgbClr val="0E0E0E"/>
                </a:solidFill>
                <a:effectLst/>
                <a:latin typeface="Times New Roman" panose="02020603050405020304" pitchFamily="18" charset="0"/>
              </a:rPr>
              <a:t>5. </a:t>
            </a:r>
            <a:r>
              <a:rPr lang="en-US" b="1" dirty="0">
                <a:solidFill>
                  <a:srgbClr val="0E0E0E"/>
                </a:solidFill>
                <a:effectLst/>
                <a:latin typeface=".SF NS"/>
              </a:rPr>
              <a:t>Finalize Diagram:</a:t>
            </a:r>
            <a:endParaRPr lang="en-US" dirty="0">
              <a:solidFill>
                <a:srgbClr val="0E0E0E"/>
              </a:solidFill>
              <a:effectLst/>
              <a:latin typeface=".SF NS"/>
            </a:endParaRPr>
          </a:p>
          <a:p>
            <a:r>
              <a:rPr lang="en-US" dirty="0">
                <a:solidFill>
                  <a:srgbClr val="0E0E0E"/>
                </a:solidFill>
                <a:effectLst/>
                <a:latin typeface=".SF NS"/>
              </a:rPr>
              <a:t>• Upon verification, the </a:t>
            </a:r>
            <a:r>
              <a:rPr lang="en-US" b="1" dirty="0">
                <a:solidFill>
                  <a:srgbClr val="0E0E0E"/>
                </a:solidFill>
                <a:effectLst/>
                <a:latin typeface=".SF NS"/>
              </a:rPr>
              <a:t>System Analyst</a:t>
            </a:r>
            <a:r>
              <a:rPr lang="en-US" dirty="0">
                <a:solidFill>
                  <a:srgbClr val="0E0E0E"/>
                </a:solidFill>
                <a:effectLst/>
                <a:latin typeface=".SF NS"/>
              </a:rPr>
              <a:t> finalizes the use case diagram, preparing it for communication.</a:t>
            </a:r>
          </a:p>
          <a:p>
            <a:r>
              <a:rPr lang="en-US" dirty="0">
                <a:solidFill>
                  <a:srgbClr val="0E0E0E"/>
                </a:solidFill>
                <a:effectLst/>
                <a:latin typeface="Times New Roman" panose="02020603050405020304" pitchFamily="18" charset="0"/>
              </a:rPr>
              <a:t>6. </a:t>
            </a:r>
            <a:r>
              <a:rPr lang="en-US" b="1" dirty="0">
                <a:solidFill>
                  <a:srgbClr val="0E0E0E"/>
                </a:solidFill>
                <a:effectLst/>
                <a:latin typeface=".SF NS"/>
              </a:rPr>
              <a:t>Communicate Requirements:</a:t>
            </a:r>
            <a:endParaRPr lang="en-US" dirty="0">
              <a:solidFill>
                <a:srgbClr val="0E0E0E"/>
              </a:solidFill>
              <a:effectLst/>
              <a:latin typeface=".SF NS"/>
            </a:endParaRPr>
          </a:p>
          <a:p>
            <a:r>
              <a:rPr lang="en-US" dirty="0">
                <a:solidFill>
                  <a:srgbClr val="0E0E0E"/>
                </a:solidFill>
                <a:effectLst/>
                <a:latin typeface=".SF NS"/>
              </a:rPr>
              <a:t>• The </a:t>
            </a:r>
            <a:r>
              <a:rPr lang="en-US" b="1" dirty="0">
                <a:solidFill>
                  <a:srgbClr val="0E0E0E"/>
                </a:solidFill>
                <a:effectLst/>
                <a:latin typeface=".SF NS"/>
              </a:rPr>
              <a:t>System Analyst</a:t>
            </a:r>
            <a:r>
              <a:rPr lang="en-US" dirty="0">
                <a:solidFill>
                  <a:srgbClr val="0E0E0E"/>
                </a:solidFill>
                <a:effectLst/>
                <a:latin typeface=".SF NS"/>
              </a:rPr>
              <a:t> shares the use case diagram with </a:t>
            </a:r>
            <a:r>
              <a:rPr lang="en-US" b="1" dirty="0">
                <a:solidFill>
                  <a:srgbClr val="0E0E0E"/>
                </a:solidFill>
                <a:effectLst/>
                <a:latin typeface=".SF NS"/>
              </a:rPr>
              <a:t>Developers</a:t>
            </a:r>
            <a:r>
              <a:rPr lang="en-US" dirty="0">
                <a:solidFill>
                  <a:srgbClr val="0E0E0E"/>
                </a:solidFill>
                <a:effectLst/>
                <a:latin typeface=".SF NS"/>
              </a:rPr>
              <a:t> and </a:t>
            </a:r>
            <a:r>
              <a:rPr lang="en-US" b="1" dirty="0">
                <a:solidFill>
                  <a:srgbClr val="0E0E0E"/>
                </a:solidFill>
                <a:effectLst/>
                <a:latin typeface=".SF NS"/>
              </a:rPr>
              <a:t>Stakeholders</a:t>
            </a:r>
            <a:r>
              <a:rPr lang="en-US" dirty="0">
                <a:solidFill>
                  <a:srgbClr val="0E0E0E"/>
                </a:solidFill>
                <a:effectLst/>
                <a:latin typeface=".SF NS"/>
              </a:rPr>
              <a:t> to convey the system’s functionalities and requirements.</a:t>
            </a:r>
          </a:p>
          <a:p>
            <a:r>
              <a:rPr lang="en-US" dirty="0">
                <a:solidFill>
                  <a:srgbClr val="0E0E0E"/>
                </a:solidFill>
                <a:effectLst/>
                <a:latin typeface="Times New Roman" panose="02020603050405020304" pitchFamily="18" charset="0"/>
              </a:rPr>
              <a:t>7. </a:t>
            </a:r>
            <a:r>
              <a:rPr lang="en-US" b="1" dirty="0">
                <a:solidFill>
                  <a:srgbClr val="0E0E0E"/>
                </a:solidFill>
                <a:effectLst/>
                <a:latin typeface=".SF NS"/>
              </a:rPr>
              <a:t>Developers and Stakeholders Understand System:</a:t>
            </a: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Developers</a:t>
            </a:r>
            <a:r>
              <a:rPr lang="en-US" dirty="0">
                <a:solidFill>
                  <a:srgbClr val="0E0E0E"/>
                </a:solidFill>
                <a:effectLst/>
                <a:latin typeface=".SF NS"/>
              </a:rPr>
              <a:t> use the diagram to guide the development process.</a:t>
            </a:r>
          </a:p>
          <a:p>
            <a:r>
              <a:rPr lang="en-US" dirty="0">
                <a:solidFill>
                  <a:srgbClr val="0E0E0E"/>
                </a:solidFill>
                <a:effectLst/>
                <a:latin typeface=".SF NS"/>
              </a:rPr>
              <a:t>• </a:t>
            </a:r>
            <a:r>
              <a:rPr lang="en-US" b="1" dirty="0">
                <a:solidFill>
                  <a:srgbClr val="0E0E0E"/>
                </a:solidFill>
                <a:effectLst/>
                <a:latin typeface=".SF NS"/>
              </a:rPr>
              <a:t>Stakeholders</a:t>
            </a:r>
            <a:r>
              <a:rPr lang="en-US" dirty="0">
                <a:solidFill>
                  <a:srgbClr val="0E0E0E"/>
                </a:solidFill>
                <a:effectLst/>
                <a:latin typeface=".SF NS"/>
              </a:rPr>
              <a:t> use the diagram to understand how the system will meet business needs.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5. Alternative Flows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A1: Missing Requirements Identified</a:t>
            </a:r>
            <a:endParaRPr lang="en-US" dirty="0">
              <a:solidFill>
                <a:srgbClr val="0E0E0E"/>
              </a:solidFill>
              <a:effectLst/>
              <a:latin typeface=".SF NS"/>
            </a:endParaRPr>
          </a:p>
          <a:p>
            <a:r>
              <a:rPr lang="en-US" dirty="0">
                <a:solidFill>
                  <a:srgbClr val="0E0E0E"/>
                </a:solidFill>
                <a:effectLst/>
                <a:latin typeface=".SF NS"/>
              </a:rPr>
              <a:t>• During the </a:t>
            </a:r>
            <a:r>
              <a:rPr lang="en-US" b="1" dirty="0">
                <a:solidFill>
                  <a:srgbClr val="0E0E0E"/>
                </a:solidFill>
                <a:effectLst/>
                <a:latin typeface=".SF NS"/>
              </a:rPr>
              <a:t>Review Diagram</a:t>
            </a:r>
            <a:r>
              <a:rPr lang="en-US" dirty="0">
                <a:solidFill>
                  <a:srgbClr val="0E0E0E"/>
                </a:solidFill>
                <a:effectLst/>
                <a:latin typeface=".SF NS"/>
              </a:rPr>
              <a:t> step, the </a:t>
            </a:r>
            <a:r>
              <a:rPr lang="en-US" b="1" dirty="0">
                <a:solidFill>
                  <a:srgbClr val="0E0E0E"/>
                </a:solidFill>
                <a:effectLst/>
                <a:latin typeface=".SF NS"/>
              </a:rPr>
              <a:t>System Analyst</a:t>
            </a:r>
            <a:r>
              <a:rPr lang="en-US" dirty="0">
                <a:solidFill>
                  <a:srgbClr val="0E0E0E"/>
                </a:solidFill>
                <a:effectLst/>
                <a:latin typeface=".SF NS"/>
              </a:rPr>
              <a:t> identifies missing requirements.</a:t>
            </a:r>
          </a:p>
          <a:p>
            <a:r>
              <a:rPr lang="en-US" dirty="0">
                <a:solidFill>
                  <a:srgbClr val="0E0E0E"/>
                </a:solidFill>
                <a:effectLst/>
                <a:latin typeface=".SF NS"/>
              </a:rPr>
              <a:t>• </a:t>
            </a:r>
            <a:r>
              <a:rPr lang="en-US" b="1" dirty="0">
                <a:solidFill>
                  <a:srgbClr val="0E0E0E"/>
                </a:solidFill>
                <a:effectLst/>
                <a:latin typeface=".SF NS"/>
              </a:rPr>
              <a:t>System Analyst</a:t>
            </a:r>
            <a:r>
              <a:rPr lang="en-US" dirty="0">
                <a:solidFill>
                  <a:srgbClr val="0E0E0E"/>
                </a:solidFill>
                <a:effectLst/>
                <a:latin typeface=".SF NS"/>
              </a:rPr>
              <a:t> revisits the requirements gathering phase to obtain the necessary information.</a:t>
            </a:r>
          </a:p>
          <a:p>
            <a:r>
              <a:rPr lang="en-US" dirty="0">
                <a:solidFill>
                  <a:srgbClr val="0E0E0E"/>
                </a:solidFill>
                <a:effectLst/>
                <a:latin typeface=".SF NS"/>
              </a:rPr>
              <a:t>• Returns to </a:t>
            </a:r>
            <a:r>
              <a:rPr lang="en-US" b="1" dirty="0">
                <a:solidFill>
                  <a:srgbClr val="0E0E0E"/>
                </a:solidFill>
                <a:effectLst/>
                <a:latin typeface=".SF NS"/>
              </a:rPr>
              <a:t>Identify Actors and Use Cases</a:t>
            </a:r>
            <a:r>
              <a:rPr lang="en-US" dirty="0">
                <a:solidFill>
                  <a:srgbClr val="0E0E0E"/>
                </a:solidFill>
                <a:effectLst/>
                <a:latin typeface=".SF NS"/>
              </a:rPr>
              <a:t> step.</a:t>
            </a:r>
          </a:p>
          <a:p>
            <a:r>
              <a:rPr lang="en-US" dirty="0">
                <a:solidFill>
                  <a:srgbClr val="0E0E0E"/>
                </a:solidFill>
                <a:effectLst/>
                <a:latin typeface=".SF NS"/>
              </a:rPr>
              <a:t>• </a:t>
            </a:r>
            <a:r>
              <a:rPr lang="en-US" b="1" dirty="0">
                <a:solidFill>
                  <a:srgbClr val="0E0E0E"/>
                </a:solidFill>
                <a:effectLst/>
                <a:latin typeface=".SF NS"/>
              </a:rPr>
              <a:t>A2: Tool Unavailability</a:t>
            </a:r>
            <a:endParaRPr lang="en-US" dirty="0">
              <a:solidFill>
                <a:srgbClr val="0E0E0E"/>
              </a:solidFill>
              <a:effectLst/>
              <a:latin typeface=".SF NS"/>
            </a:endParaRPr>
          </a:p>
          <a:p>
            <a:r>
              <a:rPr lang="en-US" dirty="0">
                <a:solidFill>
                  <a:srgbClr val="0E0E0E"/>
                </a:solidFill>
                <a:effectLst/>
                <a:latin typeface=".SF NS"/>
              </a:rPr>
              <a:t>• If the necessary diagramming tools are unavailable during </a:t>
            </a:r>
            <a:r>
              <a:rPr lang="en-US" b="1" dirty="0">
                <a:solidFill>
                  <a:srgbClr val="0E0E0E"/>
                </a:solidFill>
                <a:effectLst/>
                <a:latin typeface=".SF NS"/>
              </a:rPr>
              <a:t>Design Diagram</a:t>
            </a:r>
            <a:r>
              <a:rPr lang="en-US" dirty="0">
                <a:solidFill>
                  <a:srgbClr val="0E0E0E"/>
                </a:solidFill>
                <a:effectLst/>
                <a:latin typeface=".SF NS"/>
              </a:rPr>
              <a:t>, the </a:t>
            </a:r>
            <a:r>
              <a:rPr lang="en-US" b="1" dirty="0">
                <a:solidFill>
                  <a:srgbClr val="0E0E0E"/>
                </a:solidFill>
                <a:effectLst/>
                <a:latin typeface=".SF NS"/>
              </a:rPr>
              <a:t>System Analyst</a:t>
            </a:r>
            <a:r>
              <a:rPr lang="en-US" dirty="0">
                <a:solidFill>
                  <a:srgbClr val="0E0E0E"/>
                </a:solidFill>
                <a:effectLst/>
                <a:latin typeface=".SF NS"/>
              </a:rPr>
              <a:t> seeks alternative tools or resolves access issues.</a:t>
            </a:r>
          </a:p>
          <a:p>
            <a:r>
              <a:rPr lang="en-US" dirty="0">
                <a:solidFill>
                  <a:srgbClr val="0E0E0E"/>
                </a:solidFill>
                <a:effectLst/>
                <a:latin typeface=".SF NS"/>
              </a:rPr>
              <a:t>• Once tools are available, proceeds with </a:t>
            </a:r>
            <a:r>
              <a:rPr lang="en-US" b="1" dirty="0">
                <a:solidFill>
                  <a:srgbClr val="0E0E0E"/>
                </a:solidFill>
                <a:effectLst/>
                <a:latin typeface=".SF NS"/>
              </a:rPr>
              <a:t>Design Diagram</a:t>
            </a:r>
            <a:r>
              <a:rPr lang="en-US" dirty="0">
                <a:solidFill>
                  <a:srgbClr val="0E0E0E"/>
                </a:solidFill>
                <a:effectLst/>
                <a:latin typeface=".SF NS"/>
              </a:rPr>
              <a:t>.</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6. Exceptions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E1: Incomplete Requirements Documentation</a:t>
            </a:r>
            <a:endParaRPr lang="en-US" dirty="0">
              <a:solidFill>
                <a:srgbClr val="0E0E0E"/>
              </a:solidFill>
              <a:effectLst/>
              <a:latin typeface=".SF NS"/>
            </a:endParaRPr>
          </a:p>
          <a:p>
            <a:r>
              <a:rPr lang="en-US" dirty="0">
                <a:solidFill>
                  <a:srgbClr val="0E0E0E"/>
                </a:solidFill>
                <a:effectLst/>
                <a:latin typeface=".SF NS"/>
              </a:rPr>
              <a:t>• If system requirements are incomplete, the </a:t>
            </a:r>
            <a:r>
              <a:rPr lang="en-US" b="1" dirty="0">
                <a:solidFill>
                  <a:srgbClr val="0E0E0E"/>
                </a:solidFill>
                <a:effectLst/>
                <a:latin typeface=".SF NS"/>
              </a:rPr>
              <a:t>System Analyst</a:t>
            </a:r>
            <a:r>
              <a:rPr lang="en-US" dirty="0">
                <a:solidFill>
                  <a:srgbClr val="0E0E0E"/>
                </a:solidFill>
                <a:effectLst/>
                <a:latin typeface=".SF NS"/>
              </a:rPr>
              <a:t> cannot create an accurate use case diagram.</a:t>
            </a:r>
          </a:p>
          <a:p>
            <a:r>
              <a:rPr lang="en-US" dirty="0">
                <a:solidFill>
                  <a:srgbClr val="0E0E0E"/>
                </a:solidFill>
                <a:effectLst/>
                <a:latin typeface=".SF NS"/>
              </a:rPr>
              <a:t>• The analyst must collaborate with stakeholders to gather complete requirements before proceeding.</a:t>
            </a:r>
          </a:p>
          <a:p>
            <a:r>
              <a:rPr lang="en-US" dirty="0">
                <a:solidFill>
                  <a:srgbClr val="0E0E0E"/>
                </a:solidFill>
                <a:effectLst/>
                <a:latin typeface=".SF NS"/>
              </a:rPr>
              <a:t>• </a:t>
            </a:r>
            <a:r>
              <a:rPr lang="en-US" b="1" dirty="0">
                <a:solidFill>
                  <a:srgbClr val="0E0E0E"/>
                </a:solidFill>
                <a:effectLst/>
                <a:latin typeface=".SF NS"/>
              </a:rPr>
              <a:t>E2: Miscommunication with Stakeholders</a:t>
            </a:r>
            <a:endParaRPr lang="en-US" dirty="0">
              <a:solidFill>
                <a:srgbClr val="0E0E0E"/>
              </a:solidFill>
              <a:effectLst/>
              <a:latin typeface=".SF NS"/>
            </a:endParaRPr>
          </a:p>
          <a:p>
            <a:r>
              <a:rPr lang="en-US" dirty="0">
                <a:solidFill>
                  <a:srgbClr val="0E0E0E"/>
                </a:solidFill>
                <a:effectLst/>
                <a:latin typeface=".SF NS"/>
              </a:rPr>
              <a:t>• If </a:t>
            </a:r>
            <a:r>
              <a:rPr lang="en-US" b="1" dirty="0">
                <a:solidFill>
                  <a:srgbClr val="0E0E0E"/>
                </a:solidFill>
                <a:effectLst/>
                <a:latin typeface=".SF NS"/>
              </a:rPr>
              <a:t>Developers</a:t>
            </a:r>
            <a:r>
              <a:rPr lang="en-US" dirty="0">
                <a:solidFill>
                  <a:srgbClr val="0E0E0E"/>
                </a:solidFill>
                <a:effectLst/>
                <a:latin typeface=".SF NS"/>
              </a:rPr>
              <a:t> or </a:t>
            </a:r>
            <a:r>
              <a:rPr lang="en-US" b="1" dirty="0">
                <a:solidFill>
                  <a:srgbClr val="0E0E0E"/>
                </a:solidFill>
                <a:effectLst/>
                <a:latin typeface=".SF NS"/>
              </a:rPr>
              <a:t>Stakeholders</a:t>
            </a:r>
            <a:r>
              <a:rPr lang="en-US" dirty="0">
                <a:solidFill>
                  <a:srgbClr val="0E0E0E"/>
                </a:solidFill>
                <a:effectLst/>
                <a:latin typeface=".SF NS"/>
              </a:rPr>
              <a:t> misunderstand the use case diagram, additional meetings or revisions may be necessary to clarify requirements.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7. Extensions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Ext1: Update Diagram Based on Feedback</a:t>
            </a:r>
            <a:endParaRPr lang="en-US" dirty="0">
              <a:solidFill>
                <a:srgbClr val="0E0E0E"/>
              </a:solidFill>
              <a:effectLst/>
              <a:latin typeface=".SF NS"/>
            </a:endParaRPr>
          </a:p>
          <a:p>
            <a:r>
              <a:rPr lang="en-US" dirty="0">
                <a:solidFill>
                  <a:srgbClr val="0E0E0E"/>
                </a:solidFill>
                <a:effectLst/>
                <a:latin typeface=".SF NS"/>
              </a:rPr>
              <a:t>• After communicating the diagram, feedback from </a:t>
            </a:r>
            <a:r>
              <a:rPr lang="en-US" b="1" dirty="0">
                <a:solidFill>
                  <a:srgbClr val="0E0E0E"/>
                </a:solidFill>
                <a:effectLst/>
                <a:latin typeface=".SF NS"/>
              </a:rPr>
              <a:t>Developers</a:t>
            </a:r>
            <a:r>
              <a:rPr lang="en-US" dirty="0">
                <a:solidFill>
                  <a:srgbClr val="0E0E0E"/>
                </a:solidFill>
                <a:effectLst/>
                <a:latin typeface=".SF NS"/>
              </a:rPr>
              <a:t> or </a:t>
            </a:r>
            <a:r>
              <a:rPr lang="en-US" b="1" dirty="0">
                <a:solidFill>
                  <a:srgbClr val="0E0E0E"/>
                </a:solidFill>
                <a:effectLst/>
                <a:latin typeface=".SF NS"/>
              </a:rPr>
              <a:t>Stakeholders</a:t>
            </a:r>
            <a:r>
              <a:rPr lang="en-US" dirty="0">
                <a:solidFill>
                  <a:srgbClr val="0E0E0E"/>
                </a:solidFill>
                <a:effectLst/>
                <a:latin typeface=".SF NS"/>
              </a:rPr>
              <a:t> may necessitate updates to the use case diagram.</a:t>
            </a:r>
          </a:p>
          <a:p>
            <a:r>
              <a:rPr lang="en-US" dirty="0">
                <a:solidFill>
                  <a:srgbClr val="0E0E0E"/>
                </a:solidFill>
                <a:effectLst/>
                <a:latin typeface=".SF NS"/>
              </a:rPr>
              <a:t>• The </a:t>
            </a:r>
            <a:r>
              <a:rPr lang="en-US" b="1" dirty="0">
                <a:solidFill>
                  <a:srgbClr val="0E0E0E"/>
                </a:solidFill>
                <a:effectLst/>
                <a:latin typeface=".SF NS"/>
              </a:rPr>
              <a:t>System Analyst</a:t>
            </a:r>
            <a:r>
              <a:rPr lang="en-US" dirty="0">
                <a:solidFill>
                  <a:srgbClr val="0E0E0E"/>
                </a:solidFill>
                <a:effectLst/>
                <a:latin typeface=".SF NS"/>
              </a:rPr>
              <a:t> revises the diagram accordingly and re-communicates the updated version.</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8. Special Requirements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Consistency:</a:t>
            </a:r>
            <a:r>
              <a:rPr lang="en-US" dirty="0">
                <a:solidFill>
                  <a:srgbClr val="0E0E0E"/>
                </a:solidFill>
                <a:effectLst/>
                <a:latin typeface=".SF NS"/>
              </a:rPr>
              <a:t> The use case diagram should adhere to UML standards for clarity and consistency.</a:t>
            </a:r>
          </a:p>
          <a:p>
            <a:r>
              <a:rPr lang="en-US" dirty="0">
                <a:solidFill>
                  <a:srgbClr val="0E0E0E"/>
                </a:solidFill>
                <a:effectLst/>
                <a:latin typeface=".SF NS"/>
              </a:rPr>
              <a:t>• </a:t>
            </a:r>
            <a:r>
              <a:rPr lang="en-US" b="1" dirty="0">
                <a:solidFill>
                  <a:srgbClr val="0E0E0E"/>
                </a:solidFill>
                <a:effectLst/>
                <a:latin typeface=".SF NS"/>
              </a:rPr>
              <a:t>Clarity:</a:t>
            </a:r>
            <a:r>
              <a:rPr lang="en-US" dirty="0">
                <a:solidFill>
                  <a:srgbClr val="0E0E0E"/>
                </a:solidFill>
                <a:effectLst/>
                <a:latin typeface=".SF NS"/>
              </a:rPr>
              <a:t> All actors and use cases should be clearly labeled and accurately represent their roles and functionalities.</a:t>
            </a:r>
          </a:p>
          <a:p>
            <a:r>
              <a:rPr lang="en-US" dirty="0">
                <a:solidFill>
                  <a:srgbClr val="0E0E0E"/>
                </a:solidFill>
                <a:effectLst/>
                <a:latin typeface=".SF NS"/>
              </a:rPr>
              <a:t>• </a:t>
            </a:r>
            <a:r>
              <a:rPr lang="en-US" b="1" dirty="0">
                <a:solidFill>
                  <a:srgbClr val="0E0E0E"/>
                </a:solidFill>
                <a:effectLst/>
                <a:latin typeface=".SF NS"/>
              </a:rPr>
              <a:t>Accessibility:</a:t>
            </a:r>
            <a:r>
              <a:rPr lang="en-US" dirty="0">
                <a:solidFill>
                  <a:srgbClr val="0E0E0E"/>
                </a:solidFill>
                <a:effectLst/>
                <a:latin typeface=".SF NS"/>
              </a:rPr>
              <a:t> The final diagram should be accessible to all relevant parties, possibly through shared repositories or documentation platforms.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9. Assumptions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System Analyst Competence:</a:t>
            </a:r>
            <a:r>
              <a:rPr lang="en-US" dirty="0">
                <a:solidFill>
                  <a:srgbClr val="0E0E0E"/>
                </a:solidFill>
                <a:effectLst/>
                <a:latin typeface=".SF NS"/>
              </a:rPr>
              <a:t> It is assumed that the </a:t>
            </a:r>
            <a:r>
              <a:rPr lang="en-US" b="1" dirty="0">
                <a:solidFill>
                  <a:srgbClr val="0E0E0E"/>
                </a:solidFill>
                <a:effectLst/>
                <a:latin typeface=".SF NS"/>
              </a:rPr>
              <a:t>System Analyst</a:t>
            </a:r>
            <a:r>
              <a:rPr lang="en-US" dirty="0">
                <a:solidFill>
                  <a:srgbClr val="0E0E0E"/>
                </a:solidFill>
                <a:effectLst/>
                <a:latin typeface=".SF NS"/>
              </a:rPr>
              <a:t> possesses the necessary skills to create accurate and effective use case diagrams.</a:t>
            </a:r>
          </a:p>
          <a:p>
            <a:r>
              <a:rPr lang="en-US" dirty="0">
                <a:solidFill>
                  <a:srgbClr val="0E0E0E"/>
                </a:solidFill>
                <a:effectLst/>
                <a:latin typeface=".SF NS"/>
              </a:rPr>
              <a:t>• </a:t>
            </a:r>
            <a:r>
              <a:rPr lang="en-US" b="1" dirty="0">
                <a:solidFill>
                  <a:srgbClr val="0E0E0E"/>
                </a:solidFill>
                <a:effectLst/>
                <a:latin typeface=".SF NS"/>
              </a:rPr>
              <a:t>Stakeholder Availability:</a:t>
            </a:r>
            <a:r>
              <a:rPr lang="en-US" dirty="0">
                <a:solidFill>
                  <a:srgbClr val="0E0E0E"/>
                </a:solidFill>
                <a:effectLst/>
                <a:latin typeface=".SF NS"/>
              </a:rPr>
              <a:t> </a:t>
            </a:r>
            <a:r>
              <a:rPr lang="en-US" b="1" dirty="0">
                <a:solidFill>
                  <a:srgbClr val="0E0E0E"/>
                </a:solidFill>
                <a:effectLst/>
                <a:latin typeface=".SF NS"/>
              </a:rPr>
              <a:t>Developers</a:t>
            </a:r>
            <a:r>
              <a:rPr lang="en-US" dirty="0">
                <a:solidFill>
                  <a:srgbClr val="0E0E0E"/>
                </a:solidFill>
                <a:effectLst/>
                <a:latin typeface=".SF NS"/>
              </a:rPr>
              <a:t> and </a:t>
            </a:r>
            <a:r>
              <a:rPr lang="en-US" b="1" dirty="0">
                <a:solidFill>
                  <a:srgbClr val="0E0E0E"/>
                </a:solidFill>
                <a:effectLst/>
                <a:latin typeface=".SF NS"/>
              </a:rPr>
              <a:t>Stakeholders</a:t>
            </a:r>
            <a:r>
              <a:rPr lang="en-US" dirty="0">
                <a:solidFill>
                  <a:srgbClr val="0E0E0E"/>
                </a:solidFill>
                <a:effectLst/>
                <a:latin typeface=".SF NS"/>
              </a:rPr>
              <a:t> are available to receive and review the communicated requirements.</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10. Frequency of Use</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This use case is performed </a:t>
            </a:r>
            <a:r>
              <a:rPr lang="en-US" b="1" dirty="0">
                <a:solidFill>
                  <a:srgbClr val="0E0E0E"/>
                </a:solidFill>
                <a:effectLst/>
                <a:latin typeface=".SF NS"/>
              </a:rPr>
              <a:t>once</a:t>
            </a:r>
            <a:r>
              <a:rPr lang="en-US" dirty="0">
                <a:solidFill>
                  <a:srgbClr val="0E0E0E"/>
                </a:solidFill>
                <a:effectLst/>
                <a:latin typeface=".SF NS"/>
              </a:rPr>
              <a:t> during the initial phases of system design and may be </a:t>
            </a:r>
            <a:r>
              <a:rPr lang="en-US" b="1" dirty="0">
                <a:solidFill>
                  <a:srgbClr val="0E0E0E"/>
                </a:solidFill>
                <a:effectLst/>
                <a:latin typeface=".SF NS"/>
              </a:rPr>
              <a:t>repeated</a:t>
            </a:r>
            <a:r>
              <a:rPr lang="en-US" dirty="0">
                <a:solidFill>
                  <a:srgbClr val="0E0E0E"/>
                </a:solidFill>
                <a:effectLst/>
                <a:latin typeface=".SF NS"/>
              </a:rPr>
              <a:t> if significant changes to requirements occur.</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11. Related Use Cases</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a:t>
            </a:r>
            <a:r>
              <a:rPr lang="en-US" b="1" dirty="0">
                <a:solidFill>
                  <a:srgbClr val="0E0E0E"/>
                </a:solidFill>
                <a:effectLst/>
                <a:latin typeface=".SF NS"/>
              </a:rPr>
              <a:t>Communicate Requirements:</a:t>
            </a:r>
            <a:r>
              <a:rPr lang="en-US" dirty="0">
                <a:solidFill>
                  <a:srgbClr val="0E0E0E"/>
                </a:solidFill>
                <a:effectLst/>
                <a:latin typeface=".SF NS"/>
              </a:rPr>
              <a:t> The process of sharing the use case diagram with </a:t>
            </a:r>
            <a:r>
              <a:rPr lang="en-US" b="1" dirty="0">
                <a:solidFill>
                  <a:srgbClr val="0E0E0E"/>
                </a:solidFill>
                <a:effectLst/>
                <a:latin typeface=".SF NS"/>
              </a:rPr>
              <a:t>Developers</a:t>
            </a:r>
            <a:r>
              <a:rPr lang="en-US" dirty="0">
                <a:solidFill>
                  <a:srgbClr val="0E0E0E"/>
                </a:solidFill>
                <a:effectLst/>
                <a:latin typeface=".SF NS"/>
              </a:rPr>
              <a:t> and </a:t>
            </a:r>
            <a:r>
              <a:rPr lang="en-US" b="1" dirty="0">
                <a:solidFill>
                  <a:srgbClr val="0E0E0E"/>
                </a:solidFill>
                <a:effectLst/>
                <a:latin typeface=".SF NS"/>
              </a:rPr>
              <a:t>Stakeholders</a:t>
            </a:r>
            <a:r>
              <a:rPr lang="en-US" dirty="0">
                <a:solidFill>
                  <a:srgbClr val="0E0E0E"/>
                </a:solidFill>
                <a:effectLst/>
                <a:latin typeface=".SF NS"/>
              </a:rPr>
              <a:t>.</a:t>
            </a:r>
          </a:p>
          <a:p>
            <a:r>
              <a:rPr lang="en-US" dirty="0">
                <a:solidFill>
                  <a:srgbClr val="0E0E0E"/>
                </a:solidFill>
                <a:effectLst/>
                <a:latin typeface=".SF NS"/>
              </a:rPr>
              <a:t>• </a:t>
            </a:r>
            <a:r>
              <a:rPr lang="en-US" b="1" dirty="0">
                <a:solidFill>
                  <a:srgbClr val="0E0E0E"/>
                </a:solidFill>
                <a:effectLst/>
                <a:latin typeface=".SF NS"/>
              </a:rPr>
              <a:t>Understand System:</a:t>
            </a:r>
            <a:r>
              <a:rPr lang="en-US" dirty="0">
                <a:solidFill>
                  <a:srgbClr val="0E0E0E"/>
                </a:solidFill>
                <a:effectLst/>
                <a:latin typeface=".SF NS"/>
              </a:rPr>
              <a:t> The subsequent actions taken by </a:t>
            </a:r>
            <a:r>
              <a:rPr lang="en-US" b="1" dirty="0">
                <a:solidFill>
                  <a:srgbClr val="0E0E0E"/>
                </a:solidFill>
                <a:effectLst/>
                <a:latin typeface=".SF NS"/>
              </a:rPr>
              <a:t>Developers</a:t>
            </a:r>
            <a:r>
              <a:rPr lang="en-US" dirty="0">
                <a:solidFill>
                  <a:srgbClr val="0E0E0E"/>
                </a:solidFill>
                <a:effectLst/>
                <a:latin typeface=".SF NS"/>
              </a:rPr>
              <a:t> and </a:t>
            </a:r>
            <a:r>
              <a:rPr lang="en-US" b="1" dirty="0">
                <a:solidFill>
                  <a:srgbClr val="0E0E0E"/>
                </a:solidFill>
                <a:effectLst/>
                <a:latin typeface=".SF NS"/>
              </a:rPr>
              <a:t>Stakeholders</a:t>
            </a:r>
            <a:r>
              <a:rPr lang="en-US" dirty="0">
                <a:solidFill>
                  <a:srgbClr val="0E0E0E"/>
                </a:solidFill>
                <a:effectLst/>
                <a:latin typeface=".SF NS"/>
              </a:rPr>
              <a:t> to comprehend the system based on the diagram.</a:t>
            </a:r>
          </a:p>
          <a:p>
            <a:br>
              <a:rPr lang="en-US" dirty="0">
                <a:solidFill>
                  <a:srgbClr val="0E0E0E"/>
                </a:solidFill>
                <a:effectLst/>
                <a:latin typeface=".SF NS"/>
              </a:rPr>
            </a:br>
            <a:endParaRPr lang="en-US" dirty="0">
              <a:solidFill>
                <a:srgbClr val="0E0E0E"/>
              </a:solidFill>
              <a:effectLst/>
              <a:latin typeface=".SF NS"/>
            </a:endParaRPr>
          </a:p>
          <a:p>
            <a:r>
              <a:rPr lang="en-US" b="1" dirty="0">
                <a:solidFill>
                  <a:srgbClr val="0E0E0E"/>
                </a:solidFill>
                <a:effectLst/>
                <a:latin typeface=".SF NS"/>
              </a:rPr>
              <a:t>Summary</a:t>
            </a:r>
            <a:endParaRPr lang="en-US" dirty="0">
              <a:solidFill>
                <a:srgbClr val="0E0E0E"/>
              </a:solidFill>
              <a:effectLst/>
              <a:latin typeface=".SF NS"/>
            </a:endParaRPr>
          </a:p>
          <a:p>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This use case outlines the process by which a </a:t>
            </a:r>
            <a:r>
              <a:rPr lang="en-US" b="1" dirty="0">
                <a:solidFill>
                  <a:srgbClr val="0E0E0E"/>
                </a:solidFill>
                <a:effectLst/>
                <a:latin typeface=".SF NS"/>
              </a:rPr>
              <a:t>System Analyst</a:t>
            </a:r>
            <a:r>
              <a:rPr lang="en-US" dirty="0">
                <a:solidFill>
                  <a:srgbClr val="0E0E0E"/>
                </a:solidFill>
                <a:effectLst/>
                <a:latin typeface=".SF NS"/>
              </a:rPr>
              <a:t> creates a </a:t>
            </a:r>
            <a:r>
              <a:rPr lang="en-US" b="1" dirty="0">
                <a:solidFill>
                  <a:srgbClr val="0E0E0E"/>
                </a:solidFill>
                <a:effectLst/>
                <a:latin typeface=".SF NS"/>
              </a:rPr>
              <a:t>Use Case Diagram</a:t>
            </a:r>
            <a:r>
              <a:rPr lang="en-US" dirty="0">
                <a:solidFill>
                  <a:srgbClr val="0E0E0E"/>
                </a:solidFill>
                <a:effectLst/>
                <a:latin typeface=".SF NS"/>
              </a:rPr>
              <a:t> to represent system functionalities and interactions. The diagram serves as a crucial tool for communicating requirements to </a:t>
            </a:r>
            <a:r>
              <a:rPr lang="en-US" b="1" dirty="0">
                <a:solidFill>
                  <a:srgbClr val="0E0E0E"/>
                </a:solidFill>
                <a:effectLst/>
                <a:latin typeface=".SF NS"/>
              </a:rPr>
              <a:t>Developers</a:t>
            </a:r>
            <a:r>
              <a:rPr lang="en-US" dirty="0">
                <a:solidFill>
                  <a:srgbClr val="0E0E0E"/>
                </a:solidFill>
                <a:effectLst/>
                <a:latin typeface=".SF NS"/>
              </a:rPr>
              <a:t> and </a:t>
            </a:r>
            <a:r>
              <a:rPr lang="en-US" b="1" dirty="0">
                <a:solidFill>
                  <a:srgbClr val="0E0E0E"/>
                </a:solidFill>
                <a:effectLst/>
                <a:latin typeface=".SF NS"/>
              </a:rPr>
              <a:t>Stakeholders</a:t>
            </a:r>
            <a:r>
              <a:rPr lang="en-US" dirty="0">
                <a:solidFill>
                  <a:srgbClr val="0E0E0E"/>
                </a:solidFill>
                <a:effectLst/>
                <a:latin typeface=".SF NS"/>
              </a:rPr>
              <a:t>, ensuring a shared understanding of the system’s goals and operations. The use case includes steps for initiating, designing, reviewing, finalizing, and communicating the diagram, along with handling alternative flows and exceptions to maintain accuracy and clarity.</a:t>
            </a:r>
          </a:p>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6</a:t>
            </a:fld>
            <a:endParaRPr lang="en-US" dirty="0"/>
          </a:p>
        </p:txBody>
      </p:sp>
    </p:spTree>
    <p:extLst>
      <p:ext uri="{BB962C8B-B14F-4D97-AF65-F5344CB8AC3E}">
        <p14:creationId xmlns:p14="http://schemas.microsoft.com/office/powerpoint/2010/main" val="1966551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7</a:t>
            </a:fld>
            <a:endParaRPr lang="en-US" dirty="0"/>
          </a:p>
        </p:txBody>
      </p:sp>
    </p:spTree>
    <p:extLst>
      <p:ext uri="{BB962C8B-B14F-4D97-AF65-F5344CB8AC3E}">
        <p14:creationId xmlns:p14="http://schemas.microsoft.com/office/powerpoint/2010/main" val="11895024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0044E-4442-E8E0-0D0D-A2ADC6DEBF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55970-BEDF-6423-8A8D-D953C24AF0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E44AC-5CB3-751F-FDD3-832CF138F916}"/>
              </a:ext>
            </a:extLst>
          </p:cNvPr>
          <p:cNvSpPr>
            <a:spLocks noGrp="1"/>
          </p:cNvSpPr>
          <p:nvPr>
            <p:ph type="body" idx="1"/>
          </p:nvPr>
        </p:nvSpPr>
        <p:spPr/>
        <p:txBody>
          <a:bodyPr/>
          <a:lstStyle/>
          <a:p>
            <a:r>
              <a:rPr lang="en-US" dirty="0"/>
              <a:t>Images from: https://</a:t>
            </a:r>
            <a:r>
              <a:rPr lang="en-US" dirty="0" err="1"/>
              <a:t>mermaid.js.org</a:t>
            </a:r>
            <a:r>
              <a:rPr lang="en-US" dirty="0"/>
              <a:t>/syntax/</a:t>
            </a:r>
            <a:r>
              <a:rPr lang="en-US" dirty="0" err="1"/>
              <a:t>classDiagram.html</a:t>
            </a:r>
            <a:endParaRPr lang="en-US" dirty="0"/>
          </a:p>
          <a:p>
            <a:endParaRPr lang="en-US" dirty="0"/>
          </a:p>
        </p:txBody>
      </p:sp>
      <p:sp>
        <p:nvSpPr>
          <p:cNvPr id="4" name="Header Placeholder 3">
            <a:extLst>
              <a:ext uri="{FF2B5EF4-FFF2-40B4-BE49-F238E27FC236}">
                <a16:creationId xmlns:a16="http://schemas.microsoft.com/office/drawing/2014/main" id="{04E99EB4-676B-A68E-46ED-57DF948F0E42}"/>
              </a:ext>
            </a:extLst>
          </p:cNvPr>
          <p:cNvSpPr>
            <a:spLocks noGrp="1"/>
          </p:cNvSpPr>
          <p:nvPr>
            <p:ph type="hdr" sz="quarter"/>
          </p:nvPr>
        </p:nvSpPr>
        <p:spPr/>
        <p:txBody>
          <a:bodyPr/>
          <a:lstStyle/>
          <a:p>
            <a:r>
              <a:rPr lang="en-US"/>
              <a:t>IoT Week 02</a:t>
            </a:r>
            <a:endParaRPr lang="en-US" dirty="0"/>
          </a:p>
        </p:txBody>
      </p:sp>
      <p:sp>
        <p:nvSpPr>
          <p:cNvPr id="5" name="Date Placeholder 4">
            <a:extLst>
              <a:ext uri="{FF2B5EF4-FFF2-40B4-BE49-F238E27FC236}">
                <a16:creationId xmlns:a16="http://schemas.microsoft.com/office/drawing/2014/main" id="{0E965110-0FB0-D023-AC9D-B600C5AE73D2}"/>
              </a:ext>
            </a:extLst>
          </p:cNvPr>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a:extLst>
              <a:ext uri="{FF2B5EF4-FFF2-40B4-BE49-F238E27FC236}">
                <a16:creationId xmlns:a16="http://schemas.microsoft.com/office/drawing/2014/main" id="{6B61B3E6-BA4F-7FB2-FBC7-5CF36A0A9C22}"/>
              </a:ext>
            </a:extLst>
          </p:cNvPr>
          <p:cNvSpPr>
            <a:spLocks noGrp="1"/>
          </p:cNvSpPr>
          <p:nvPr>
            <p:ph type="sldNum" sz="quarter" idx="5"/>
          </p:nvPr>
        </p:nvSpPr>
        <p:spPr/>
        <p:txBody>
          <a:bodyPr/>
          <a:lstStyle/>
          <a:p>
            <a:fld id="{BA3E024E-F835-6D45-89C3-0E2F93EE799A}" type="slidenum">
              <a:rPr lang="en-US" smtClean="0"/>
              <a:t>8</a:t>
            </a:fld>
            <a:endParaRPr lang="en-US" dirty="0"/>
          </a:p>
        </p:txBody>
      </p:sp>
    </p:spTree>
    <p:extLst>
      <p:ext uri="{BB962C8B-B14F-4D97-AF65-F5344CB8AC3E}">
        <p14:creationId xmlns:p14="http://schemas.microsoft.com/office/powerpoint/2010/main" val="16265801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https://</a:t>
            </a:r>
            <a:r>
              <a:rPr lang="en-US" dirty="0" err="1"/>
              <a:t>mermaid.js.org</a:t>
            </a:r>
            <a:r>
              <a:rPr lang="en-US" dirty="0"/>
              <a:t>/syntax/</a:t>
            </a:r>
            <a:r>
              <a:rPr lang="en-US" dirty="0" err="1"/>
              <a:t>classDiagram.html</a:t>
            </a:r>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10</a:t>
            </a:fld>
            <a:endParaRPr lang="en-US" dirty="0"/>
          </a:p>
        </p:txBody>
      </p:sp>
    </p:spTree>
    <p:extLst>
      <p:ext uri="{BB962C8B-B14F-4D97-AF65-F5344CB8AC3E}">
        <p14:creationId xmlns:p14="http://schemas.microsoft.com/office/powerpoint/2010/main" val="1765524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4C8CB-0384-A93C-CAF5-71262B814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A2EDF3-27CC-05D7-46B5-637D22F73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268D0D-9C14-27CB-C867-471C15A417BC}"/>
              </a:ext>
            </a:extLst>
          </p:cNvPr>
          <p:cNvSpPr>
            <a:spLocks noGrp="1"/>
          </p:cNvSpPr>
          <p:nvPr>
            <p:ph type="body" idx="1"/>
          </p:nvPr>
        </p:nvSpPr>
        <p:spPr/>
        <p:txBody>
          <a:bodyPr/>
          <a:lstStyle/>
          <a:p>
            <a:r>
              <a:rPr lang="en-US" dirty="0"/>
              <a:t>From https://</a:t>
            </a:r>
            <a:r>
              <a:rPr lang="en-US" dirty="0" err="1"/>
              <a:t>mermaid.js.org</a:t>
            </a:r>
            <a:r>
              <a:rPr lang="en-US" dirty="0"/>
              <a:t>/syntax/</a:t>
            </a:r>
            <a:r>
              <a:rPr lang="en-US" dirty="0" err="1"/>
              <a:t>classDiagram.html</a:t>
            </a:r>
            <a:endParaRPr lang="en-US" dirty="0"/>
          </a:p>
        </p:txBody>
      </p:sp>
      <p:sp>
        <p:nvSpPr>
          <p:cNvPr id="4" name="Header Placeholder 3">
            <a:extLst>
              <a:ext uri="{FF2B5EF4-FFF2-40B4-BE49-F238E27FC236}">
                <a16:creationId xmlns:a16="http://schemas.microsoft.com/office/drawing/2014/main" id="{4C216B87-E6DE-2732-C28F-2B9542D5C3A1}"/>
              </a:ext>
            </a:extLst>
          </p:cNvPr>
          <p:cNvSpPr>
            <a:spLocks noGrp="1"/>
          </p:cNvSpPr>
          <p:nvPr>
            <p:ph type="hdr" sz="quarter"/>
          </p:nvPr>
        </p:nvSpPr>
        <p:spPr/>
        <p:txBody>
          <a:bodyPr/>
          <a:lstStyle/>
          <a:p>
            <a:r>
              <a:rPr lang="en-US"/>
              <a:t>IoT Week 02</a:t>
            </a:r>
            <a:endParaRPr lang="en-US" dirty="0"/>
          </a:p>
        </p:txBody>
      </p:sp>
      <p:sp>
        <p:nvSpPr>
          <p:cNvPr id="5" name="Date Placeholder 4">
            <a:extLst>
              <a:ext uri="{FF2B5EF4-FFF2-40B4-BE49-F238E27FC236}">
                <a16:creationId xmlns:a16="http://schemas.microsoft.com/office/drawing/2014/main" id="{BB7466F8-EF51-B10E-4154-F4BB33AF7BB5}"/>
              </a:ext>
            </a:extLst>
          </p:cNvPr>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a:extLst>
              <a:ext uri="{FF2B5EF4-FFF2-40B4-BE49-F238E27FC236}">
                <a16:creationId xmlns:a16="http://schemas.microsoft.com/office/drawing/2014/main" id="{162AAEFA-321A-BA0B-24A6-62A0465C776F}"/>
              </a:ext>
            </a:extLst>
          </p:cNvPr>
          <p:cNvSpPr>
            <a:spLocks noGrp="1"/>
          </p:cNvSpPr>
          <p:nvPr>
            <p:ph type="sldNum" sz="quarter" idx="5"/>
          </p:nvPr>
        </p:nvSpPr>
        <p:spPr/>
        <p:txBody>
          <a:bodyPr/>
          <a:lstStyle/>
          <a:p>
            <a:fld id="{BA3E024E-F835-6D45-89C3-0E2F93EE799A}" type="slidenum">
              <a:rPr lang="en-US" smtClean="0"/>
              <a:t>11</a:t>
            </a:fld>
            <a:endParaRPr lang="en-US" dirty="0"/>
          </a:p>
        </p:txBody>
      </p:sp>
    </p:spTree>
    <p:extLst>
      <p:ext uri="{BB962C8B-B14F-4D97-AF65-F5344CB8AC3E}">
        <p14:creationId xmlns:p14="http://schemas.microsoft.com/office/powerpoint/2010/main" val="2613728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7A326-FA77-5A07-9BF2-CA1F54939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CFEC55-9BF4-DB8D-F2F0-EFCD0BD066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591750-9CE2-3763-6793-F81E6F8A56BC}"/>
              </a:ext>
            </a:extLst>
          </p:cNvPr>
          <p:cNvSpPr>
            <a:spLocks noGrp="1"/>
          </p:cNvSpPr>
          <p:nvPr>
            <p:ph type="body" idx="1"/>
          </p:nvPr>
        </p:nvSpPr>
        <p:spPr/>
        <p:txBody>
          <a:bodyPr/>
          <a:lstStyle/>
          <a:p>
            <a:r>
              <a:rPr lang="en-US" dirty="0"/>
              <a:t>From https://</a:t>
            </a:r>
            <a:r>
              <a:rPr lang="en-US" dirty="0" err="1"/>
              <a:t>mermaid.js.org</a:t>
            </a:r>
            <a:r>
              <a:rPr lang="en-US" dirty="0"/>
              <a:t>/syntax/</a:t>
            </a:r>
            <a:r>
              <a:rPr lang="en-US" dirty="0" err="1"/>
              <a:t>classDiagram.html</a:t>
            </a:r>
            <a:endParaRPr lang="en-US" dirty="0"/>
          </a:p>
        </p:txBody>
      </p:sp>
      <p:sp>
        <p:nvSpPr>
          <p:cNvPr id="4" name="Header Placeholder 3">
            <a:extLst>
              <a:ext uri="{FF2B5EF4-FFF2-40B4-BE49-F238E27FC236}">
                <a16:creationId xmlns:a16="http://schemas.microsoft.com/office/drawing/2014/main" id="{07E94572-BC23-D107-F95D-95948E32860C}"/>
              </a:ext>
            </a:extLst>
          </p:cNvPr>
          <p:cNvSpPr>
            <a:spLocks noGrp="1"/>
          </p:cNvSpPr>
          <p:nvPr>
            <p:ph type="hdr" sz="quarter"/>
          </p:nvPr>
        </p:nvSpPr>
        <p:spPr/>
        <p:txBody>
          <a:bodyPr/>
          <a:lstStyle/>
          <a:p>
            <a:r>
              <a:rPr lang="en-US"/>
              <a:t>IoT Week 02</a:t>
            </a:r>
            <a:endParaRPr lang="en-US" dirty="0"/>
          </a:p>
        </p:txBody>
      </p:sp>
      <p:sp>
        <p:nvSpPr>
          <p:cNvPr id="5" name="Date Placeholder 4">
            <a:extLst>
              <a:ext uri="{FF2B5EF4-FFF2-40B4-BE49-F238E27FC236}">
                <a16:creationId xmlns:a16="http://schemas.microsoft.com/office/drawing/2014/main" id="{13A5370E-C9FC-0315-05F8-3CF4AF96B0D6}"/>
              </a:ext>
            </a:extLst>
          </p:cNvPr>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a:extLst>
              <a:ext uri="{FF2B5EF4-FFF2-40B4-BE49-F238E27FC236}">
                <a16:creationId xmlns:a16="http://schemas.microsoft.com/office/drawing/2014/main" id="{2390039E-68AF-4C5B-B633-A29714EE306F}"/>
              </a:ext>
            </a:extLst>
          </p:cNvPr>
          <p:cNvSpPr>
            <a:spLocks noGrp="1"/>
          </p:cNvSpPr>
          <p:nvPr>
            <p:ph type="sldNum" sz="quarter" idx="5"/>
          </p:nvPr>
        </p:nvSpPr>
        <p:spPr/>
        <p:txBody>
          <a:bodyPr/>
          <a:lstStyle/>
          <a:p>
            <a:fld id="{BA3E024E-F835-6D45-89C3-0E2F93EE799A}" type="slidenum">
              <a:rPr lang="en-US" smtClean="0"/>
              <a:t>12</a:t>
            </a:fld>
            <a:endParaRPr lang="en-US" dirty="0"/>
          </a:p>
        </p:txBody>
      </p:sp>
    </p:spTree>
    <p:extLst>
      <p:ext uri="{BB962C8B-B14F-4D97-AF65-F5344CB8AC3E}">
        <p14:creationId xmlns:p14="http://schemas.microsoft.com/office/powerpoint/2010/main" val="3737289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13</a:t>
            </a:fld>
            <a:endParaRPr lang="en-US" dirty="0"/>
          </a:p>
        </p:txBody>
      </p:sp>
    </p:spTree>
    <p:extLst>
      <p:ext uri="{BB962C8B-B14F-4D97-AF65-F5344CB8AC3E}">
        <p14:creationId xmlns:p14="http://schemas.microsoft.com/office/powerpoint/2010/main" val="2115891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15</a:t>
            </a:fld>
            <a:endParaRPr lang="en-US" dirty="0"/>
          </a:p>
        </p:txBody>
      </p:sp>
    </p:spTree>
    <p:extLst>
      <p:ext uri="{BB962C8B-B14F-4D97-AF65-F5344CB8AC3E}">
        <p14:creationId xmlns:p14="http://schemas.microsoft.com/office/powerpoint/2010/main" val="2201848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20</a:t>
            </a:fld>
            <a:endParaRPr lang="en-US" dirty="0"/>
          </a:p>
        </p:txBody>
      </p:sp>
    </p:spTree>
    <p:extLst>
      <p:ext uri="{BB962C8B-B14F-4D97-AF65-F5344CB8AC3E}">
        <p14:creationId xmlns:p14="http://schemas.microsoft.com/office/powerpoint/2010/main" val="2856476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21</a:t>
            </a:fld>
            <a:endParaRPr lang="en-US" dirty="0"/>
          </a:p>
        </p:txBody>
      </p:sp>
    </p:spTree>
    <p:extLst>
      <p:ext uri="{BB962C8B-B14F-4D97-AF65-F5344CB8AC3E}">
        <p14:creationId xmlns:p14="http://schemas.microsoft.com/office/powerpoint/2010/main" val="1856029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22</a:t>
            </a:fld>
            <a:endParaRPr lang="en-US" dirty="0"/>
          </a:p>
        </p:txBody>
      </p:sp>
    </p:spTree>
    <p:extLst>
      <p:ext uri="{BB962C8B-B14F-4D97-AF65-F5344CB8AC3E}">
        <p14:creationId xmlns:p14="http://schemas.microsoft.com/office/powerpoint/2010/main" val="672141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AU" b="0" i="0" dirty="0">
                <a:solidFill>
                  <a:srgbClr val="0D0D0D"/>
                </a:solidFill>
                <a:effectLst/>
                <a:highlight>
                  <a:srgbClr val="FFFFFF"/>
                </a:highlight>
                <a:latin typeface="Söhne"/>
              </a:rPr>
              <a:t>To initiate an SSH connection, the basic syntax you will use is </a:t>
            </a:r>
            <a:r>
              <a:rPr lang="en-AU" b="0" i="0" dirty="0" err="1">
                <a:solidFill>
                  <a:srgbClr val="0D0D0D"/>
                </a:solidFill>
                <a:effectLst/>
                <a:highlight>
                  <a:srgbClr val="FFFFFF"/>
                </a:highlight>
                <a:latin typeface="Söhne"/>
              </a:rPr>
              <a:t>username@hostname</a:t>
            </a:r>
            <a:r>
              <a:rPr lang="en-AU" b="0" i="0" dirty="0">
                <a:solidFill>
                  <a:srgbClr val="0D0D0D"/>
                </a:solidFill>
                <a:effectLst/>
                <a:highlight>
                  <a:srgbClr val="FFFFFF"/>
                </a:highlight>
                <a:latin typeface="Söhne"/>
              </a:rPr>
              <a:t>. Here, username represents the user account you're logging into on the remote server, and hostname represents the address of that server.</a:t>
            </a:r>
          </a:p>
          <a:p>
            <a:pPr algn="l">
              <a:buFont typeface="Arial" panose="020B0604020202020204" pitchFamily="34" charset="0"/>
              <a:buChar char="•"/>
            </a:pPr>
            <a:r>
              <a:rPr lang="en-AU" b="0" i="0" dirty="0">
                <a:solidFill>
                  <a:srgbClr val="0D0D0D"/>
                </a:solidFill>
                <a:effectLst/>
                <a:highlight>
                  <a:srgbClr val="FFFFFF"/>
                </a:highlight>
                <a:latin typeface="Söhne"/>
              </a:rPr>
              <a:t>Another variant you might encounter is </a:t>
            </a:r>
            <a:r>
              <a:rPr lang="en-AU" b="0" i="0" dirty="0" err="1">
                <a:solidFill>
                  <a:srgbClr val="0D0D0D"/>
                </a:solidFill>
                <a:effectLst/>
                <a:highlight>
                  <a:srgbClr val="FFFFFF"/>
                </a:highlight>
                <a:latin typeface="Söhne"/>
              </a:rPr>
              <a:t>ssh</a:t>
            </a:r>
            <a:r>
              <a:rPr lang="en-AU" b="0" i="0" dirty="0">
                <a:solidFill>
                  <a:srgbClr val="0D0D0D"/>
                </a:solidFill>
                <a:effectLst/>
                <a:highlight>
                  <a:srgbClr val="FFFFFF"/>
                </a:highlight>
                <a:latin typeface="Söhne"/>
              </a:rPr>
              <a:t> –l username hostname. </a:t>
            </a:r>
          </a:p>
          <a:p>
            <a:pPr algn="l">
              <a:buFont typeface="Arial" panose="020B0604020202020204" pitchFamily="34" charset="0"/>
              <a:buChar char="•"/>
            </a:pPr>
            <a:endParaRPr lang="en-AU" b="0" i="0" dirty="0">
              <a:solidFill>
                <a:srgbClr val="0D0D0D"/>
              </a:solidFill>
              <a:effectLst/>
              <a:highlight>
                <a:srgbClr val="FFFFFF"/>
              </a:highlight>
              <a:latin typeface="Söhne"/>
            </a:endParaRPr>
          </a:p>
          <a:p>
            <a:pPr algn="l"/>
            <a:r>
              <a:rPr lang="en-AU" b="1" i="0" dirty="0">
                <a:solidFill>
                  <a:srgbClr val="0D0D0D"/>
                </a:solidFill>
                <a:effectLst/>
                <a:highlight>
                  <a:srgbClr val="FFFFFF"/>
                </a:highlight>
                <a:latin typeface="Söhne"/>
              </a:rPr>
              <a:t>2. Understanding the SSH Password Prompt:</a:t>
            </a:r>
            <a:endParaRPr lang="en-AU" b="0" i="0" dirty="0">
              <a:solidFill>
                <a:srgbClr val="0D0D0D"/>
              </a:solidFill>
              <a:effectLst/>
              <a:highlight>
                <a:srgbClr val="FFFFFF"/>
              </a:highlight>
              <a:latin typeface="Söhne"/>
            </a:endParaRPr>
          </a:p>
          <a:p>
            <a:pPr algn="l">
              <a:buFont typeface="Arial" panose="020B0604020202020204" pitchFamily="34" charset="0"/>
              <a:buChar char="•"/>
            </a:pPr>
            <a:r>
              <a:rPr lang="en-AU" b="0" i="0" dirty="0">
                <a:solidFill>
                  <a:srgbClr val="0D0D0D"/>
                </a:solidFill>
                <a:effectLst/>
                <a:highlight>
                  <a:srgbClr val="FFFFFF"/>
                </a:highlight>
                <a:latin typeface="Söhne"/>
              </a:rPr>
              <a:t>After entering the SSH command, you might be prompted to enter your password with </a:t>
            </a:r>
            <a:r>
              <a:rPr lang="en-AU" b="0" i="0" dirty="0" err="1">
                <a:solidFill>
                  <a:srgbClr val="0D0D0D"/>
                </a:solidFill>
                <a:effectLst/>
                <a:highlight>
                  <a:srgbClr val="FFFFFF"/>
                </a:highlight>
                <a:latin typeface="Söhne"/>
              </a:rPr>
              <a:t>username@hostname's</a:t>
            </a:r>
            <a:r>
              <a:rPr lang="en-AU" b="0" i="0" dirty="0">
                <a:solidFill>
                  <a:srgbClr val="0D0D0D"/>
                </a:solidFill>
                <a:effectLst/>
                <a:highlight>
                  <a:srgbClr val="FFFFFF"/>
                </a:highlight>
                <a:latin typeface="Söhne"/>
              </a:rPr>
              <a:t> password:. When typing your password, it's important to remember that no characters will appear on the screen—this is a security feature to prevent shoulder surfing – but can be disorienting to new users</a:t>
            </a:r>
          </a:p>
          <a:p>
            <a:pPr algn="l">
              <a:buFont typeface="Arial" panose="020B0604020202020204" pitchFamily="34" charset="0"/>
              <a:buChar char="•"/>
            </a:pPr>
            <a:endParaRPr lang="en-AU" b="0" i="0" dirty="0">
              <a:solidFill>
                <a:srgbClr val="0D0D0D"/>
              </a:solidFill>
              <a:effectLst/>
              <a:highlight>
                <a:srgbClr val="FFFFFF"/>
              </a:highlight>
              <a:latin typeface="Söhne"/>
            </a:endParaRPr>
          </a:p>
          <a:p>
            <a:pPr algn="l"/>
            <a:r>
              <a:rPr lang="en-AU" b="1" i="0" dirty="0">
                <a:solidFill>
                  <a:srgbClr val="0D0D0D"/>
                </a:solidFill>
                <a:effectLst/>
                <a:highlight>
                  <a:srgbClr val="FFFFFF"/>
                </a:highlight>
                <a:latin typeface="Söhne"/>
              </a:rPr>
              <a:t>3. The Authenticity Warning Prompt:</a:t>
            </a:r>
            <a:endParaRPr lang="en-AU" b="0" i="0" dirty="0">
              <a:solidFill>
                <a:srgbClr val="0D0D0D"/>
              </a:solidFill>
              <a:effectLst/>
              <a:highlight>
                <a:srgbClr val="FFFFFF"/>
              </a:highlight>
              <a:latin typeface="Söhne"/>
            </a:endParaRPr>
          </a:p>
          <a:p>
            <a:pPr algn="l">
              <a:buFont typeface="Arial" panose="020B0604020202020204" pitchFamily="34" charset="0"/>
              <a:buChar char="•"/>
            </a:pPr>
            <a:r>
              <a:rPr lang="en-AU" b="0" i="0" dirty="0">
                <a:solidFill>
                  <a:srgbClr val="0D0D0D"/>
                </a:solidFill>
                <a:effectLst/>
                <a:highlight>
                  <a:srgbClr val="FFFFFF"/>
                </a:highlight>
                <a:latin typeface="Söhne"/>
              </a:rPr>
              <a:t>If it's your first time connecting to a server, or if the server's public key doesn't match your records, SSH will display an authenticity warning. This looks like:</a:t>
            </a:r>
            <a:br>
              <a:rPr lang="en-AU" b="0" i="0" dirty="0">
                <a:solidFill>
                  <a:srgbClr val="0D0D0D"/>
                </a:solidFill>
                <a:effectLst/>
                <a:highlight>
                  <a:srgbClr val="FFFFFF"/>
                </a:highlight>
                <a:latin typeface="Söhne"/>
              </a:rPr>
            </a:br>
            <a:r>
              <a:rPr lang="en-AU" b="0" i="0" dirty="0">
                <a:solidFill>
                  <a:srgbClr val="0D0D0D"/>
                </a:solidFill>
                <a:effectLst/>
                <a:highlight>
                  <a:srgbClr val="FFFFFF"/>
                </a:highlight>
                <a:latin typeface="Söhne"/>
              </a:rPr>
              <a:t>The authenticity of host 'hostname (IP address)' can't be established. ECDSA key fingerprint is SHA256:xxxxxxxxxxxxxxxxxxxxxxxxxxxxxxxxxxxxxxxxx. Are you sure you want to continue connecting (yes/no/[fingerprint])?</a:t>
            </a:r>
          </a:p>
          <a:p>
            <a:pPr algn="l">
              <a:buFont typeface="Arial" panose="020B0604020202020204" pitchFamily="34" charset="0"/>
              <a:buChar char="•"/>
            </a:pPr>
            <a:r>
              <a:rPr lang="en-AU" b="0" i="0" dirty="0">
                <a:solidFill>
                  <a:srgbClr val="0D0D0D"/>
                </a:solidFill>
                <a:effectLst/>
                <a:highlight>
                  <a:srgbClr val="FFFFFF"/>
                </a:highlight>
                <a:latin typeface="Söhne"/>
              </a:rPr>
              <a:t>This prompt is crucial for your security. It helps prevent man-in-the-middle attacks by ensuring that the server you're connecting to is indeed the one you intend to connect with. Responding 'yes' will add the host to your known hosts file, confirming you trust this server.</a:t>
            </a:r>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23</a:t>
            </a:fld>
            <a:endParaRPr lang="en-US" dirty="0"/>
          </a:p>
        </p:txBody>
      </p:sp>
    </p:spTree>
    <p:extLst>
      <p:ext uri="{BB962C8B-B14F-4D97-AF65-F5344CB8AC3E}">
        <p14:creationId xmlns:p14="http://schemas.microsoft.com/office/powerpoint/2010/main" val="8418126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333333"/>
                </a:solidFill>
                <a:effectLst/>
                <a:highlight>
                  <a:srgbClr val="FFFFFF"/>
                </a:highlight>
                <a:latin typeface="Helvetica Neue" panose="02000503000000020004" pitchFamily="2" charset="0"/>
              </a:rPr>
              <a:t>basic syntax of the SCP command is quite straightforward. You specify the source file, followed by the destination file. The destination can be on a local machine or a remote server. For example, to copy a local file named '</a:t>
            </a:r>
            <a:r>
              <a:rPr lang="en-AU" b="0" i="0" dirty="0" err="1">
                <a:solidFill>
                  <a:srgbClr val="333333"/>
                </a:solidFill>
                <a:effectLst/>
                <a:highlight>
                  <a:srgbClr val="FFFFFF"/>
                </a:highlight>
                <a:latin typeface="Helvetica Neue" panose="02000503000000020004" pitchFamily="2" charset="0"/>
              </a:rPr>
              <a:t>localfile.txt</a:t>
            </a:r>
            <a:r>
              <a:rPr lang="en-AU" b="0" i="0" dirty="0">
                <a:solidFill>
                  <a:srgbClr val="333333"/>
                </a:solidFill>
                <a:effectLst/>
                <a:highlight>
                  <a:srgbClr val="FFFFFF"/>
                </a:highlight>
                <a:latin typeface="Helvetica Neue" panose="02000503000000020004" pitchFamily="2" charset="0"/>
              </a:rPr>
              <a:t>' to a remote server, you would use the command shown on the screen. Here, 'username' is your user account on the remote server, '</a:t>
            </a:r>
            <a:r>
              <a:rPr lang="en-AU" b="0" i="0" dirty="0" err="1">
                <a:solidFill>
                  <a:srgbClr val="333333"/>
                </a:solidFill>
                <a:effectLst/>
                <a:highlight>
                  <a:srgbClr val="FFFFFF"/>
                </a:highlight>
                <a:latin typeface="Helvetica Neue" panose="02000503000000020004" pitchFamily="2" charset="0"/>
              </a:rPr>
              <a:t>remotehost</a:t>
            </a:r>
            <a:r>
              <a:rPr lang="en-AU" b="0" i="0" dirty="0">
                <a:solidFill>
                  <a:srgbClr val="333333"/>
                </a:solidFill>
                <a:effectLst/>
                <a:highlight>
                  <a:srgbClr val="FFFFFF"/>
                </a:highlight>
                <a:latin typeface="Helvetica Neue" panose="02000503000000020004" pitchFamily="2" charset="0"/>
              </a:rPr>
              <a:t>' is the server's address, and '/remote/</a:t>
            </a:r>
            <a:r>
              <a:rPr lang="en-AU" b="0" i="0" dirty="0" err="1">
                <a:solidFill>
                  <a:srgbClr val="333333"/>
                </a:solidFill>
                <a:effectLst/>
                <a:highlight>
                  <a:srgbClr val="FFFFFF"/>
                </a:highlight>
                <a:latin typeface="Helvetica Neue" panose="02000503000000020004" pitchFamily="2" charset="0"/>
              </a:rPr>
              <a:t>dir</a:t>
            </a:r>
            <a:r>
              <a:rPr lang="en-AU" b="0" i="0" dirty="0">
                <a:solidFill>
                  <a:srgbClr val="333333"/>
                </a:solidFill>
                <a:effectLst/>
                <a:highlight>
                  <a:srgbClr val="FFFFFF"/>
                </a:highlight>
                <a:latin typeface="Helvetica Neue" panose="02000503000000020004" pitchFamily="2" charset="0"/>
              </a:rPr>
              <a:t>/' is the directory where you want to place the file</a:t>
            </a:r>
          </a:p>
          <a:p>
            <a:endParaRPr lang="en-AU" b="0" i="0" dirty="0">
              <a:solidFill>
                <a:srgbClr val="333333"/>
              </a:solidFill>
              <a:effectLst/>
              <a:highlight>
                <a:srgbClr val="FFFFFF"/>
              </a:highlight>
              <a:latin typeface="Helvetica Neue" panose="02000503000000020004" pitchFamily="2" charset="0"/>
            </a:endParaRPr>
          </a:p>
          <a:p>
            <a:r>
              <a:rPr lang="en-AU" b="0" i="0" dirty="0">
                <a:solidFill>
                  <a:srgbClr val="333333"/>
                </a:solidFill>
                <a:effectLst/>
                <a:highlight>
                  <a:srgbClr val="FFFFFF"/>
                </a:highlight>
                <a:latin typeface="Helvetica Neue" panose="02000503000000020004" pitchFamily="2" charset="0"/>
              </a:rPr>
              <a:t>To copy files from a remote server to your local machine, simply reverse the source and destination in the command.</a:t>
            </a:r>
          </a:p>
          <a:p>
            <a:endParaRPr lang="en-AU" b="0" i="0" dirty="0">
              <a:solidFill>
                <a:srgbClr val="333333"/>
              </a:solidFill>
              <a:effectLst/>
              <a:highlight>
                <a:srgbClr val="FFFFFF"/>
              </a:highlight>
              <a:latin typeface="Helvetica Neue" panose="02000503000000020004" pitchFamily="2" charset="0"/>
            </a:endParaRPr>
          </a:p>
          <a:p>
            <a:r>
              <a:rPr lang="en-AU" b="0" i="0" dirty="0">
                <a:solidFill>
                  <a:srgbClr val="333333"/>
                </a:solidFill>
                <a:effectLst/>
                <a:highlight>
                  <a:srgbClr val="FFFFFF"/>
                </a:highlight>
                <a:latin typeface="Helvetica Neue" panose="02000503000000020004" pitchFamily="2" charset="0"/>
              </a:rPr>
              <a:t>To copy entire directories instead of single files, use the '-r' option for recursive copying. If the remote server uses a non-standard SSH port, you can specify it with the '-P' option.</a:t>
            </a:r>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24</a:t>
            </a:fld>
            <a:endParaRPr lang="en-US" dirty="0"/>
          </a:p>
        </p:txBody>
      </p:sp>
    </p:spTree>
    <p:extLst>
      <p:ext uri="{BB962C8B-B14F-4D97-AF65-F5344CB8AC3E}">
        <p14:creationId xmlns:p14="http://schemas.microsoft.com/office/powerpoint/2010/main" val="3347684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US"/>
              <a:t>IoT Week 02</a:t>
            </a:r>
            <a:endParaRPr lang="en-US" dirty="0"/>
          </a:p>
        </p:txBody>
      </p:sp>
      <p:sp>
        <p:nvSpPr>
          <p:cNvPr id="5" name="Date Placeholder 4"/>
          <p:cNvSpPr>
            <a:spLocks noGrp="1"/>
          </p:cNvSpPr>
          <p:nvPr>
            <p:ph type="dt" idx="1"/>
          </p:nvPr>
        </p:nvSpPr>
        <p:spPr/>
        <p:txBody>
          <a:bodyPr/>
          <a:lstStyle/>
          <a:p>
            <a:fld id="{EAF1312F-A309-4725-95E4-25A93289DE51}" type="datetime1">
              <a:rPr lang="en-AU" smtClean="0"/>
              <a:t>16/10/2024</a:t>
            </a:fld>
            <a:endParaRPr lang="en-US" dirty="0"/>
          </a:p>
        </p:txBody>
      </p:sp>
      <p:sp>
        <p:nvSpPr>
          <p:cNvPr id="6" name="Slide Number Placeholder 5"/>
          <p:cNvSpPr>
            <a:spLocks noGrp="1"/>
          </p:cNvSpPr>
          <p:nvPr>
            <p:ph type="sldNum" sz="quarter" idx="5"/>
          </p:nvPr>
        </p:nvSpPr>
        <p:spPr/>
        <p:txBody>
          <a:bodyPr/>
          <a:lstStyle/>
          <a:p>
            <a:fld id="{BA3E024E-F835-6D45-89C3-0E2F93EE799A}" type="slidenum">
              <a:rPr lang="en-US" smtClean="0"/>
              <a:t>26</a:t>
            </a:fld>
            <a:endParaRPr lang="en-US" dirty="0"/>
          </a:p>
        </p:txBody>
      </p:sp>
    </p:spTree>
    <p:extLst>
      <p:ext uri="{BB962C8B-B14F-4D97-AF65-F5344CB8AC3E}">
        <p14:creationId xmlns:p14="http://schemas.microsoft.com/office/powerpoint/2010/main" val="2106895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baseline="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noProof="0" dirty="0"/>
              <a:t>Week/Session 00 – Presentation Title</a:t>
            </a:r>
          </a:p>
        </p:txBody>
      </p:sp>
      <p:sp>
        <p:nvSpPr>
          <p:cNvPr id="4" name="Date Placeholder 3"/>
          <p:cNvSpPr>
            <a:spLocks noGrp="1"/>
          </p:cNvSpPr>
          <p:nvPr>
            <p:ph type="dt" sz="half" idx="10"/>
          </p:nvPr>
        </p:nvSpPr>
        <p:spPr/>
        <p:txBody>
          <a:bodyPr/>
          <a:lstStyle/>
          <a:p>
            <a:fld id="{56F489C6-6277-454E-AECF-6C3872A9450F}" type="datetimeFigureOut">
              <a:rPr lang="en-AU" noProof="0" smtClean="0"/>
              <a:t>16/10/2024</a:t>
            </a:fld>
            <a:endParaRPr lang="en-AU" noProof="0"/>
          </a:p>
        </p:txBody>
      </p:sp>
      <p:sp>
        <p:nvSpPr>
          <p:cNvPr id="5" name="Footer Placeholder 4"/>
          <p:cNvSpPr>
            <a:spLocks noGrp="1"/>
          </p:cNvSpPr>
          <p:nvPr>
            <p:ph type="ftr" sz="quarter" idx="11"/>
          </p:nvPr>
        </p:nvSpPr>
        <p:spPr/>
        <p:txBody>
          <a:bodyPr/>
          <a:lstStyle/>
          <a:p>
            <a:endParaRPr lang="en-AU" noProof="0"/>
          </a:p>
        </p:txBody>
      </p:sp>
      <p:sp>
        <p:nvSpPr>
          <p:cNvPr id="6" name="Slide Number Placeholder 5"/>
          <p:cNvSpPr>
            <a:spLocks noGrp="1"/>
          </p:cNvSpPr>
          <p:nvPr>
            <p:ph type="sldNum" sz="quarter" idx="12"/>
          </p:nvPr>
        </p:nvSpPr>
        <p:spPr/>
        <p:txBody>
          <a:bodyPr/>
          <a:lstStyle/>
          <a:p>
            <a:fld id="{741F46F4-8938-5C4A-A3E0-434D3C3588F4}" type="slidenum">
              <a:rPr lang="en-AU" noProof="0" smtClean="0"/>
              <a:t>‹#›</a:t>
            </a:fld>
            <a:endParaRPr lang="en-AU" noProof="0"/>
          </a:p>
        </p:txBody>
      </p:sp>
    </p:spTree>
    <p:extLst>
      <p:ext uri="{BB962C8B-B14F-4D97-AF65-F5344CB8AC3E}">
        <p14:creationId xmlns:p14="http://schemas.microsoft.com/office/powerpoint/2010/main" val="1471725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dirty="0"/>
          </a:p>
        </p:txBody>
      </p:sp>
      <p:sp>
        <p:nvSpPr>
          <p:cNvPr id="4" name="Date Placeholder 3"/>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629109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dirty="0"/>
          </a:p>
        </p:txBody>
      </p:sp>
      <p:sp>
        <p:nvSpPr>
          <p:cNvPr id="3" name="Content Placeholder 2"/>
          <p:cNvSpPr>
            <a:spLocks noGrp="1"/>
          </p:cNvSpPr>
          <p:nvPr>
            <p:ph idx="1"/>
          </p:nvPr>
        </p:nvSpPr>
        <p:spPr>
          <a:xfrm>
            <a:off x="609600" y="1794618"/>
            <a:ext cx="10972800" cy="2191698"/>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Content Placeholder 2">
            <a:extLst>
              <a:ext uri="{FF2B5EF4-FFF2-40B4-BE49-F238E27FC236}">
                <a16:creationId xmlns:a16="http://schemas.microsoft.com/office/drawing/2014/main" id="{E2FB0483-D927-6C4B-9F8E-0CBFBED89EAE}"/>
              </a:ext>
            </a:extLst>
          </p:cNvPr>
          <p:cNvSpPr>
            <a:spLocks noGrp="1"/>
          </p:cNvSpPr>
          <p:nvPr>
            <p:ph idx="13"/>
          </p:nvPr>
        </p:nvSpPr>
        <p:spPr>
          <a:xfrm>
            <a:off x="609600" y="4182975"/>
            <a:ext cx="10972800" cy="2191699"/>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2527477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8176996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lvl1pPr>
              <a:defRPr/>
            </a:lvl1pPr>
          </a:lstStyle>
          <a:p>
            <a:r>
              <a:rPr lang="en-US" noProof="0"/>
              <a:t>Click to edit Master title style</a:t>
            </a:r>
            <a:endParaRPr lang="en-AU" noProof="0"/>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7" name="Date Placeholder 6"/>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1354379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4406903"/>
            <a:ext cx="8514522" cy="1362075"/>
          </a:xfrm>
          <a:prstGeom prst="rect">
            <a:avLst/>
          </a:prstGeom>
        </p:spPr>
        <p:txBody>
          <a:bodyPr anchor="t"/>
          <a:lstStyle>
            <a:lvl1pPr algn="l">
              <a:defRPr sz="4000" b="1" cap="all"/>
            </a:lvl1pPr>
          </a:lstStyle>
          <a:p>
            <a:r>
              <a:rPr lang="en-US" noProof="0"/>
              <a:t>Click to edit Master title style</a:t>
            </a:r>
            <a:endParaRPr lang="en-AU" noProof="0"/>
          </a:p>
        </p:txBody>
      </p:sp>
      <p:sp>
        <p:nvSpPr>
          <p:cNvPr id="3" name="Text Placeholder 2"/>
          <p:cNvSpPr>
            <a:spLocks noGrp="1"/>
          </p:cNvSpPr>
          <p:nvPr>
            <p:ph type="body" idx="1"/>
          </p:nvPr>
        </p:nvSpPr>
        <p:spPr>
          <a:xfrm>
            <a:off x="609600" y="2906713"/>
            <a:ext cx="8514522"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4" name="Date Placeholder 3"/>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9812656" y="2900636"/>
            <a:ext cx="1769744" cy="2868342"/>
          </a:xfrm>
          <a:prstGeom prst="roundRect">
            <a:avLst>
              <a:gd name="adj" fmla="val 4112"/>
            </a:avLst>
          </a:prstGeom>
          <a:blipFill>
            <a:blip r:embed="rId2"/>
            <a:stretch>
              <a:fillRect l="16" r="16"/>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Tree>
    <p:extLst>
      <p:ext uri="{BB962C8B-B14F-4D97-AF65-F5344CB8AC3E}">
        <p14:creationId xmlns:p14="http://schemas.microsoft.com/office/powerpoint/2010/main" val="14706445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noProof="0"/>
              <a:t>Click to edit Master title style</a:t>
            </a:r>
            <a:endParaRPr lang="en-AU" noProof="0"/>
          </a:p>
        </p:txBody>
      </p:sp>
      <p:sp>
        <p:nvSpPr>
          <p:cNvPr id="3" name="Content Placeholder 2"/>
          <p:cNvSpPr>
            <a:spLocks noGrp="1"/>
          </p:cNvSpPr>
          <p:nvPr>
            <p:ph sz="half" idx="1"/>
          </p:nvPr>
        </p:nvSpPr>
        <p:spPr>
          <a:xfrm>
            <a:off x="4165600" y="1600202"/>
            <a:ext cx="7416799"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5" name="Date Placeholder 4"/>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
        <p:nvSpPr>
          <p:cNvPr id="8" name="Picture Placeholder 8">
            <a:extLst>
              <a:ext uri="{FF2B5EF4-FFF2-40B4-BE49-F238E27FC236}">
                <a16:creationId xmlns:a16="http://schemas.microsoft.com/office/drawing/2014/main" id="{CB08A67E-3ED8-7842-9A36-FDA51ABEB2AC}"/>
              </a:ext>
            </a:extLst>
          </p:cNvPr>
          <p:cNvSpPr>
            <a:spLocks noGrp="1"/>
          </p:cNvSpPr>
          <p:nvPr>
            <p:ph type="pic" sz="quarter" idx="13" hasCustomPrompt="1"/>
          </p:nvPr>
        </p:nvSpPr>
        <p:spPr>
          <a:xfrm>
            <a:off x="609601" y="1600203"/>
            <a:ext cx="2792484" cy="4525963"/>
          </a:xfrm>
          <a:prstGeom prst="roundRect">
            <a:avLst>
              <a:gd name="adj" fmla="val 3374"/>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381430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499892"/>
            <a:ext cx="10972800" cy="1003205"/>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63058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973062"/>
            <a:ext cx="7212496" cy="491187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41F46F4-8938-5C4A-A3E0-434D3C3588F4}" type="slidenum">
              <a:rPr lang="en-US" smtClean="0"/>
              <a:t>‹#›</a:t>
            </a:fld>
            <a:endParaRPr lang="en-US" dirty="0"/>
          </a:p>
        </p:txBody>
      </p:sp>
      <p:sp>
        <p:nvSpPr>
          <p:cNvPr id="6" name="Picture Placeholder 8">
            <a:extLst>
              <a:ext uri="{FF2B5EF4-FFF2-40B4-BE49-F238E27FC236}">
                <a16:creationId xmlns:a16="http://schemas.microsoft.com/office/drawing/2014/main" id="{C9126EA6-A663-AD41-9474-BAFD5F860789}"/>
              </a:ext>
            </a:extLst>
          </p:cNvPr>
          <p:cNvSpPr>
            <a:spLocks noGrp="1"/>
          </p:cNvSpPr>
          <p:nvPr>
            <p:ph type="pic" sz="quarter" idx="13" hasCustomPrompt="1"/>
          </p:nvPr>
        </p:nvSpPr>
        <p:spPr>
          <a:xfrm>
            <a:off x="8316528" y="973063"/>
            <a:ext cx="3030587" cy="4911873"/>
          </a:xfrm>
          <a:prstGeom prst="roundRect">
            <a:avLst>
              <a:gd name="adj" fmla="val 3523"/>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Tree>
    <p:extLst>
      <p:ext uri="{BB962C8B-B14F-4D97-AF65-F5344CB8AC3E}">
        <p14:creationId xmlns:p14="http://schemas.microsoft.com/office/powerpoint/2010/main" val="989589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10" name="Picture Placeholder 8">
            <a:extLst>
              <a:ext uri="{FF2B5EF4-FFF2-40B4-BE49-F238E27FC236}">
                <a16:creationId xmlns:a16="http://schemas.microsoft.com/office/drawing/2014/main" id="{C9126EA6-A663-AD41-9474-BAFD5F860789}"/>
              </a:ext>
            </a:extLst>
          </p:cNvPr>
          <p:cNvSpPr>
            <a:spLocks noGrp="1"/>
          </p:cNvSpPr>
          <p:nvPr>
            <p:ph type="pic" sz="quarter" idx="14" hasCustomPrompt="1"/>
          </p:nvPr>
        </p:nvSpPr>
        <p:spPr>
          <a:xfrm>
            <a:off x="609600" y="710508"/>
            <a:ext cx="10972800" cy="4948123"/>
          </a:xfrm>
          <a:prstGeom prst="roundRect">
            <a:avLst>
              <a:gd name="adj" fmla="val 1876"/>
            </a:avLst>
          </a:prstGeom>
          <a:blipFill>
            <a:blip r:embed="rId2"/>
            <a:stretch>
              <a:fillRect l="16" r="16"/>
            </a:stretch>
          </a:blipFill>
          <a:ln>
            <a:solidFill>
              <a:srgbClr val="D8262E">
                <a:alpha val="50196"/>
              </a:srgbClr>
            </a:solidFill>
          </a:ln>
        </p:spPr>
        <p:txBody>
          <a:bodyPr/>
          <a:lstStyle>
            <a:lvl1pPr marL="0" indent="0">
              <a:buNone/>
              <a:defRPr/>
            </a:lvl1pPr>
          </a:lstStyle>
          <a:p>
            <a:r>
              <a:rPr lang="en-US" dirty="0"/>
              <a:t>   </a:t>
            </a:r>
          </a:p>
        </p:txBody>
      </p:sp>
      <p:sp>
        <p:nvSpPr>
          <p:cNvPr id="6" name="Title 1"/>
          <p:cNvSpPr>
            <a:spLocks noGrp="1"/>
          </p:cNvSpPr>
          <p:nvPr>
            <p:ph type="title"/>
          </p:nvPr>
        </p:nvSpPr>
        <p:spPr>
          <a:xfrm>
            <a:off x="609600" y="5755274"/>
            <a:ext cx="10972800" cy="527831"/>
          </a:xfrm>
          <a:prstGeom prst="rect">
            <a:avLst/>
          </a:prstGeom>
        </p:spPr>
        <p:txBody>
          <a:bodyPr anchor="b">
            <a:normAutofit/>
          </a:bodyPr>
          <a:lstStyle>
            <a:lvl1pPr algn="l">
              <a:defRPr sz="1800" b="1"/>
            </a:lvl1pPr>
          </a:lstStyle>
          <a:p>
            <a:r>
              <a:rPr lang="en-US" noProof="0"/>
              <a:t>Click to edit Master title style</a:t>
            </a:r>
            <a:endParaRPr lang="en-AU" noProof="0"/>
          </a:p>
        </p:txBody>
      </p:sp>
    </p:spTree>
    <p:extLst>
      <p:ext uri="{BB962C8B-B14F-4D97-AF65-F5344CB8AC3E}">
        <p14:creationId xmlns:p14="http://schemas.microsoft.com/office/powerpoint/2010/main" val="3182468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
        <p:nvSpPr>
          <p:cNvPr id="9" name="Picture Placeholder 8">
            <a:extLst>
              <a:ext uri="{FF2B5EF4-FFF2-40B4-BE49-F238E27FC236}">
                <a16:creationId xmlns:a16="http://schemas.microsoft.com/office/drawing/2014/main" id="{ED779252-2DB5-164E-B413-9653D35CC4E5}"/>
              </a:ext>
            </a:extLst>
          </p:cNvPr>
          <p:cNvSpPr>
            <a:spLocks noGrp="1"/>
          </p:cNvSpPr>
          <p:nvPr>
            <p:ph type="pic" sz="quarter" idx="13" hasCustomPrompt="1"/>
          </p:nvPr>
        </p:nvSpPr>
        <p:spPr>
          <a:xfrm>
            <a:off x="8253685" y="672443"/>
            <a:ext cx="3328716" cy="5395071"/>
          </a:xfrm>
          <a:prstGeom prst="roundRect">
            <a:avLst>
              <a:gd name="adj" fmla="val 4147"/>
            </a:avLst>
          </a:prstGeom>
          <a:blipFill>
            <a:blip r:embed="rId2">
              <a:alphaModFix/>
            </a:blip>
            <a:stretch>
              <a:fillRect l="16" r="16"/>
            </a:stretch>
          </a:blipFill>
        </p:spPr>
        <p:txBody>
          <a:bodyPr/>
          <a:lstStyle>
            <a:lvl1pPr marL="0" indent="0">
              <a:buNone/>
              <a:defRPr/>
            </a:lvl1pPr>
          </a:lstStyle>
          <a:p>
            <a:r>
              <a:rPr lang="en-US" dirty="0"/>
              <a:t>   </a:t>
            </a:r>
          </a:p>
        </p:txBody>
      </p:sp>
      <p:sp>
        <p:nvSpPr>
          <p:cNvPr id="13" name="Text Placeholder 12">
            <a:extLst>
              <a:ext uri="{FF2B5EF4-FFF2-40B4-BE49-F238E27FC236}">
                <a16:creationId xmlns:a16="http://schemas.microsoft.com/office/drawing/2014/main" id="{FFC5ADCF-7EA1-3644-9B75-D84582085EDA}"/>
              </a:ext>
            </a:extLst>
          </p:cNvPr>
          <p:cNvSpPr>
            <a:spLocks noGrp="1"/>
          </p:cNvSpPr>
          <p:nvPr>
            <p:ph type="body" sz="quarter" idx="14"/>
          </p:nvPr>
        </p:nvSpPr>
        <p:spPr>
          <a:xfrm>
            <a:off x="609600" y="671513"/>
            <a:ext cx="7416800" cy="5396001"/>
          </a:xfrm>
        </p:spPr>
        <p:txBody>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Tree>
    <p:extLst>
      <p:ext uri="{BB962C8B-B14F-4D97-AF65-F5344CB8AC3E}">
        <p14:creationId xmlns:p14="http://schemas.microsoft.com/office/powerpoint/2010/main" val="4078927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876053"/>
            <a:ext cx="6207659" cy="382380"/>
          </a:xfrm>
          <a:prstGeom prst="rect">
            <a:avLst/>
          </a:prstGeom>
        </p:spPr>
        <p:txBody>
          <a:bodyPr anchor="t"/>
          <a:lstStyle>
            <a:lvl1pPr algn="l">
              <a:defRPr sz="1800" b="1" cap="none">
                <a:solidFill>
                  <a:schemeClr val="bg1">
                    <a:lumMod val="65000"/>
                  </a:schemeClr>
                </a:solidFill>
                <a:latin typeface="+mn-lt"/>
              </a:defRPr>
            </a:lvl1pPr>
          </a:lstStyle>
          <a:p>
            <a:r>
              <a:rPr lang="en-AU" noProof="0" dirty="0"/>
              <a:t>PRESENTATION TEMPLATE CREATED BY</a:t>
            </a:r>
          </a:p>
        </p:txBody>
      </p:sp>
      <p:sp>
        <p:nvSpPr>
          <p:cNvPr id="4" name="Date Placeholder 3"/>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7" name="Picture Placeholder 8">
            <a:extLst>
              <a:ext uri="{FF2B5EF4-FFF2-40B4-BE49-F238E27FC236}">
                <a16:creationId xmlns:a16="http://schemas.microsoft.com/office/drawing/2014/main" id="{F7D5DACE-FF0F-2D46-93D3-295ECF1DA88A}"/>
              </a:ext>
            </a:extLst>
          </p:cNvPr>
          <p:cNvSpPr>
            <a:spLocks noGrp="1"/>
          </p:cNvSpPr>
          <p:nvPr>
            <p:ph type="pic" sz="quarter" idx="13"/>
          </p:nvPr>
        </p:nvSpPr>
        <p:spPr>
          <a:xfrm>
            <a:off x="6978086" y="873914"/>
            <a:ext cx="1561468" cy="1561468"/>
          </a:xfrm>
          <a:prstGeom prst="roundRect">
            <a:avLst>
              <a:gd name="adj" fmla="val 4112"/>
            </a:avLst>
          </a:prstGeom>
          <a:blipFill dpi="0" rotWithShape="1">
            <a:blip r:embed="rId2">
              <a:extLst>
                <a:ext uri="{28A0092B-C50C-407E-A947-70E740481C1C}">
                  <a14:useLocalDpi xmlns:a14="http://schemas.microsoft.com/office/drawing/2010/main" val="0"/>
                </a:ext>
              </a:extLst>
            </a:blip>
            <a:srcRect/>
            <a:stretch>
              <a:fillRect/>
            </a:stretch>
          </a:blipFill>
          <a:ln w="12700" cap="rnd">
            <a:solidFill>
              <a:srgbClr val="D8262E">
                <a:alpha val="50000"/>
              </a:srgbClr>
            </a:solidFill>
          </a:ln>
        </p:spPr>
        <p:txBody>
          <a:bodyPr/>
          <a:lstStyle>
            <a:lvl1pPr marL="0" indent="0">
              <a:buNone/>
              <a:defRPr/>
            </a:lvl1pPr>
          </a:lstStyle>
          <a:p>
            <a:r>
              <a:rPr lang="en-US"/>
              <a:t>Click icon to add picture</a:t>
            </a:r>
            <a:endParaRPr lang="en-US" dirty="0"/>
          </a:p>
        </p:txBody>
      </p:sp>
      <p:sp>
        <p:nvSpPr>
          <p:cNvPr id="13" name="Text Placeholder 12"/>
          <p:cNvSpPr>
            <a:spLocks noGrp="1"/>
          </p:cNvSpPr>
          <p:nvPr>
            <p:ph type="body" sz="quarter" idx="14" hasCustomPrompt="1"/>
          </p:nvPr>
        </p:nvSpPr>
        <p:spPr>
          <a:xfrm>
            <a:off x="609600" y="1358681"/>
            <a:ext cx="6207659" cy="633082"/>
          </a:xfrm>
        </p:spPr>
        <p:txBody>
          <a:bodyPr/>
          <a:lstStyle>
            <a:lvl1pPr marL="0" indent="0">
              <a:buNone/>
              <a:defRPr>
                <a:solidFill>
                  <a:schemeClr val="bg1">
                    <a:lumMod val="85000"/>
                  </a:schemeClr>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Adrian Gould</a:t>
            </a:r>
            <a:endParaRPr lang="en-US" dirty="0"/>
          </a:p>
        </p:txBody>
      </p:sp>
      <p:sp>
        <p:nvSpPr>
          <p:cNvPr id="15" name="Text Placeholder 14"/>
          <p:cNvSpPr>
            <a:spLocks noGrp="1"/>
          </p:cNvSpPr>
          <p:nvPr>
            <p:ph type="body" sz="quarter" idx="15" hasCustomPrompt="1"/>
          </p:nvPr>
        </p:nvSpPr>
        <p:spPr>
          <a:xfrm>
            <a:off x="609600" y="2101835"/>
            <a:ext cx="6207659" cy="333547"/>
          </a:xfrm>
        </p:spPr>
        <p:txBody>
          <a:bodyPr>
            <a:normAutofit/>
          </a:bodyPr>
          <a:lstStyle>
            <a:lvl1pPr marL="0" indent="0">
              <a:buNone/>
              <a:defRPr sz="1100">
                <a:solidFill>
                  <a:schemeClr val="bg1">
                    <a:lumMod val="75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AU" noProof="0" dirty="0"/>
              <a:t>LECTURER SOFTWARE DEVELOPMENT, WEB DEVELOPMENT, IOT</a:t>
            </a:r>
            <a:endParaRPr lang="en-US" dirty="0"/>
          </a:p>
        </p:txBody>
      </p:sp>
    </p:spTree>
    <p:extLst>
      <p:ext uri="{BB962C8B-B14F-4D97-AF65-F5344CB8AC3E}">
        <p14:creationId xmlns:p14="http://schemas.microsoft.com/office/powerpoint/2010/main" val="16634504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41220986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3776"/>
            <a:ext cx="4011084" cy="941324"/>
          </a:xfrm>
          <a:prstGeom prst="rect">
            <a:avLst/>
          </a:prstGeom>
        </p:spPr>
        <p:txBody>
          <a:bodyPr anchor="b"/>
          <a:lstStyle>
            <a:lvl1pPr algn="l">
              <a:defRPr sz="2000" b="1"/>
            </a:lvl1pPr>
          </a:lstStyle>
          <a:p>
            <a:r>
              <a:rPr lang="en-US" noProof="0"/>
              <a:t>Click to edit Master title style</a:t>
            </a:r>
            <a:endParaRPr lang="en-AU" noProof="0"/>
          </a:p>
        </p:txBody>
      </p:sp>
      <p:sp>
        <p:nvSpPr>
          <p:cNvPr id="3" name="Content Placeholder 2"/>
          <p:cNvSpPr>
            <a:spLocks noGrp="1"/>
          </p:cNvSpPr>
          <p:nvPr>
            <p:ph idx="1"/>
          </p:nvPr>
        </p:nvSpPr>
        <p:spPr>
          <a:xfrm>
            <a:off x="4766733" y="493776"/>
            <a:ext cx="6815667" cy="56323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Text Placeholder 3"/>
          <p:cNvSpPr>
            <a:spLocks noGrp="1"/>
          </p:cNvSpPr>
          <p:nvPr>
            <p:ph type="body" sz="half" idx="2"/>
          </p:nvPr>
        </p:nvSpPr>
        <p:spPr>
          <a:xfrm>
            <a:off x="609602" y="1499615"/>
            <a:ext cx="4011084" cy="46265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5652915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a:prstGeom prst="rect">
            <a:avLst/>
          </a:prstGeom>
        </p:spPr>
        <p:txBody>
          <a:bodyPr anchor="b"/>
          <a:lstStyle>
            <a:lvl1pPr algn="l">
              <a:defRPr sz="2000" b="1"/>
            </a:lvl1pPr>
          </a:lstStyle>
          <a:p>
            <a:r>
              <a:rPr lang="en-US" noProof="0"/>
              <a:t>Click to edit Master title style</a:t>
            </a:r>
            <a:endParaRPr lang="en-AU" noProof="0"/>
          </a:p>
        </p:txBody>
      </p:sp>
      <p:sp>
        <p:nvSpPr>
          <p:cNvPr id="3" name="Picture Placeholder 2"/>
          <p:cNvSpPr>
            <a:spLocks noGrp="1"/>
          </p:cNvSpPr>
          <p:nvPr>
            <p:ph type="pic" idx="1"/>
          </p:nvPr>
        </p:nvSpPr>
        <p:spPr>
          <a:xfrm>
            <a:off x="2389717" y="612775"/>
            <a:ext cx="7315200" cy="4114800"/>
          </a:xfrm>
          <a:prstGeom prst="roundRect">
            <a:avLst>
              <a:gd name="adj" fmla="val 2544"/>
            </a:avLst>
          </a:prstGeom>
          <a:solidFill>
            <a:schemeClr val="tx2">
              <a:lumMod val="60000"/>
              <a:lumOff val="4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5" name="Date Placeholder 4"/>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41F46F4-8938-5C4A-A3E0-434D3C3588F4}" type="slidenum">
              <a:rPr lang="en-US" smtClean="0"/>
              <a:t>‹#›</a:t>
            </a:fld>
            <a:endParaRPr lang="en-US" dirty="0"/>
          </a:p>
        </p:txBody>
      </p:sp>
    </p:spTree>
    <p:extLst>
      <p:ext uri="{BB962C8B-B14F-4D97-AF65-F5344CB8AC3E}">
        <p14:creationId xmlns:p14="http://schemas.microsoft.com/office/powerpoint/2010/main" val="30583857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11" name="Rounded Rectangle 10"/>
          <p:cNvSpPr/>
          <p:nvPr userDrawn="1"/>
        </p:nvSpPr>
        <p:spPr>
          <a:xfrm>
            <a:off x="920424" y="691642"/>
            <a:ext cx="10360351" cy="5616575"/>
          </a:xfrm>
          <a:prstGeom prst="roundRect">
            <a:avLst>
              <a:gd name="adj" fmla="val 766"/>
            </a:avLst>
          </a:prstGeom>
          <a:solidFill>
            <a:srgbClr val="D81C24">
              <a:alpha val="14902"/>
            </a:srgbClr>
          </a:solidFill>
          <a:ln>
            <a:solidFill>
              <a:srgbClr val="D8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sz="1600">
              <a:latin typeface="+mj-lt"/>
            </a:endParaRPr>
          </a:p>
        </p:txBody>
      </p:sp>
      <p:sp>
        <p:nvSpPr>
          <p:cNvPr id="4" name="Date Placeholder 3"/>
          <p:cNvSpPr>
            <a:spLocks noGrp="1"/>
          </p:cNvSpPr>
          <p:nvPr>
            <p:ph type="dt" sz="half" idx="10"/>
          </p:nvPr>
        </p:nvSpPr>
        <p:spPr/>
        <p:txBody>
          <a:bodyPr/>
          <a:lstStyle/>
          <a:p>
            <a:fld id="{56F489C6-6277-454E-AECF-6C3872A9450F}" type="datetimeFigureOut">
              <a:rPr lang="en-US" smtClean="0"/>
              <a:t>10/16/24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41F46F4-8938-5C4A-A3E0-434D3C3588F4}" type="slidenum">
              <a:rPr lang="en-US" smtClean="0"/>
              <a:t>‹#›</a:t>
            </a:fld>
            <a:endParaRPr lang="en-US" dirty="0"/>
          </a:p>
        </p:txBody>
      </p:sp>
      <p:sp>
        <p:nvSpPr>
          <p:cNvPr id="2" name="Title 1"/>
          <p:cNvSpPr>
            <a:spLocks noGrp="1"/>
          </p:cNvSpPr>
          <p:nvPr>
            <p:ph type="ctrTitle" hasCustomPrompt="1"/>
          </p:nvPr>
        </p:nvSpPr>
        <p:spPr>
          <a:xfrm>
            <a:off x="1051133" y="1293778"/>
            <a:ext cx="10084038" cy="1396829"/>
          </a:xfrm>
          <a:prstGeom prst="rect">
            <a:avLst/>
          </a:prstGeom>
          <a:noFill/>
        </p:spPr>
        <p:txBody>
          <a:bodyPr anchor="t"/>
          <a:lstStyle>
            <a:lvl1pPr>
              <a:defRPr>
                <a:solidFill>
                  <a:schemeClr val="bg1">
                    <a:lumMod val="95000"/>
                  </a:schemeClr>
                </a:solidFill>
                <a:latin typeface="+mj-lt"/>
              </a:defRPr>
            </a:lvl1pPr>
          </a:lstStyle>
          <a:p>
            <a:r>
              <a:rPr lang="en-AU" noProof="0" dirty="0"/>
              <a:t>Session/Presentation Title</a:t>
            </a:r>
          </a:p>
        </p:txBody>
      </p:sp>
      <p:sp>
        <p:nvSpPr>
          <p:cNvPr id="10" name="Table Placeholder 9"/>
          <p:cNvSpPr>
            <a:spLocks noGrp="1"/>
          </p:cNvSpPr>
          <p:nvPr>
            <p:ph type="tbl" sz="quarter" idx="13" hasCustomPrompt="1"/>
          </p:nvPr>
        </p:nvSpPr>
        <p:spPr>
          <a:xfrm>
            <a:off x="1051131" y="4572000"/>
            <a:ext cx="10084039" cy="1610037"/>
          </a:xfrm>
          <a:noFill/>
        </p:spPr>
        <p:txBody>
          <a:bodyPr anchor="t">
            <a:normAutofit/>
          </a:bodyPr>
          <a:lstStyle>
            <a:lvl1pPr marL="0" indent="0">
              <a:buNone/>
              <a:defRPr sz="1400" baseline="0">
                <a:solidFill>
                  <a:schemeClr val="bg1">
                    <a:lumMod val="75000"/>
                  </a:schemeClr>
                </a:solidFill>
                <a:latin typeface="+mj-lt"/>
              </a:defRPr>
            </a:lvl1pPr>
          </a:lstStyle>
          <a:p>
            <a:r>
              <a:rPr lang="en-AU" dirty="0"/>
              <a:t>Replace this with a table of units – 2 columns – National ID and Title</a:t>
            </a:r>
          </a:p>
        </p:txBody>
      </p:sp>
      <p:sp>
        <p:nvSpPr>
          <p:cNvPr id="12" name="Text Placeholder 11"/>
          <p:cNvSpPr>
            <a:spLocks noGrp="1"/>
          </p:cNvSpPr>
          <p:nvPr>
            <p:ph type="body" sz="quarter" idx="14" hasCustomPrompt="1"/>
          </p:nvPr>
        </p:nvSpPr>
        <p:spPr>
          <a:xfrm>
            <a:off x="1051132" y="819761"/>
            <a:ext cx="10084039" cy="341659"/>
          </a:xfrm>
          <a:noFill/>
        </p:spPr>
        <p:txBody>
          <a:bodyPr anchor="ctr">
            <a:noAutofit/>
          </a:bodyPr>
          <a:lstStyle>
            <a:lvl1pPr marL="0" indent="0" algn="l">
              <a:buNone/>
              <a:defRPr sz="1800" baseline="0">
                <a:solidFill>
                  <a:schemeClr val="bg1">
                    <a:lumMod val="75000"/>
                  </a:schemeClr>
                </a:solidFill>
                <a:latin typeface="+mj-lt"/>
              </a:defRPr>
            </a:lvl1pPr>
          </a:lstStyle>
          <a:p>
            <a:pPr lvl="0"/>
            <a:r>
              <a:rPr lang="en-AU" dirty="0"/>
              <a:t>Week/Session 00</a:t>
            </a:r>
          </a:p>
        </p:txBody>
      </p:sp>
      <p:sp>
        <p:nvSpPr>
          <p:cNvPr id="8" name="Text Placeholder 7"/>
          <p:cNvSpPr>
            <a:spLocks noGrp="1"/>
          </p:cNvSpPr>
          <p:nvPr>
            <p:ph type="body" sz="quarter" idx="15" hasCustomPrompt="1"/>
          </p:nvPr>
        </p:nvSpPr>
        <p:spPr>
          <a:xfrm>
            <a:off x="1051130" y="4119576"/>
            <a:ext cx="10084038" cy="360698"/>
          </a:xfrm>
          <a:noFill/>
        </p:spPr>
        <p:txBody>
          <a:bodyPr vert="horz" lIns="91440" tIns="45720" rIns="91440" bIns="45720" rtlCol="0" anchor="ctr">
            <a:noAutofit/>
          </a:bodyPr>
          <a:lstStyle>
            <a:lvl1pPr marL="0" marR="0" indent="0" algn="l" defTabSz="457200" rtl="0" eaLnBrk="1" fontAlgn="auto" latinLnBrk="0" hangingPunct="1">
              <a:lnSpc>
                <a:spcPct val="100000"/>
              </a:lnSpc>
              <a:spcBef>
                <a:spcPct val="20000"/>
              </a:spcBef>
              <a:spcAft>
                <a:spcPts val="0"/>
              </a:spcAft>
              <a:buClrTx/>
              <a:buSzTx/>
              <a:buFont typeface="Arial"/>
              <a:buNone/>
              <a:tabLst/>
              <a:defRPr lang="en-AU" sz="1600" b="0" dirty="0">
                <a:solidFill>
                  <a:schemeClr val="bg1">
                    <a:lumMod val="95000"/>
                  </a:schemeClr>
                </a:solidFill>
                <a:latin typeface="+mj-lt"/>
              </a:defRPr>
            </a:lvl1pPr>
          </a:lstStyle>
          <a:p>
            <a:pPr marL="0" marR="0" lvl="0" indent="0" algn="l" defTabSz="457200" rtl="0" eaLnBrk="1" fontAlgn="auto" latinLnBrk="0" hangingPunct="1">
              <a:lnSpc>
                <a:spcPct val="100000"/>
              </a:lnSpc>
              <a:spcBef>
                <a:spcPct val="20000"/>
              </a:spcBef>
              <a:spcAft>
                <a:spcPts val="0"/>
              </a:spcAft>
              <a:buClrTx/>
              <a:buSzTx/>
              <a:buFont typeface="Arial"/>
              <a:buNone/>
              <a:tabLst/>
              <a:defRPr/>
            </a:pPr>
            <a:r>
              <a:rPr lang="en-US" noProof="0" dirty="0"/>
              <a:t>Cluster Name</a:t>
            </a:r>
            <a:endParaRPr lang="en-AU" dirty="0"/>
          </a:p>
        </p:txBody>
      </p:sp>
      <p:sp>
        <p:nvSpPr>
          <p:cNvPr id="9" name="TextBox 8"/>
          <p:cNvSpPr txBox="1"/>
          <p:nvPr userDrawn="1"/>
        </p:nvSpPr>
        <p:spPr>
          <a:xfrm>
            <a:off x="1051132" y="2852738"/>
            <a:ext cx="1939896" cy="572303"/>
          </a:xfrm>
          <a:prstGeom prst="rect">
            <a:avLst/>
          </a:prstGeom>
          <a:noFill/>
        </p:spPr>
        <p:txBody>
          <a:bodyPr vert="horz" lIns="91440" tIns="45720" rIns="91440" bIns="45720" rtlCol="0" anchor="ctr">
            <a:noAutofit/>
          </a:bodyPr>
          <a:lstStyle>
            <a:lvl1pPr indent="0">
              <a:spcBef>
                <a:spcPct val="20000"/>
              </a:spcBef>
              <a:buFont typeface="Arial"/>
              <a:buNone/>
              <a:defRPr sz="2800" baseline="0">
                <a:solidFill>
                  <a:schemeClr val="bg1">
                    <a:lumMod val="75000"/>
                  </a:schemeClr>
                </a:solidFill>
              </a:defRPr>
            </a:lvl1pPr>
            <a:lvl2pPr indent="0" algn="ctr">
              <a:spcBef>
                <a:spcPct val="20000"/>
              </a:spcBef>
              <a:buFont typeface="Arial"/>
              <a:buNone/>
              <a:defRPr sz="2800" baseline="0">
                <a:solidFill>
                  <a:schemeClr val="tx1">
                    <a:tint val="75000"/>
                  </a:schemeClr>
                </a:solidFill>
              </a:defRPr>
            </a:lvl2pPr>
            <a:lvl3pPr indent="0" algn="ctr">
              <a:spcBef>
                <a:spcPct val="20000"/>
              </a:spcBef>
              <a:buFont typeface="Arial"/>
              <a:buNone/>
              <a:defRPr sz="2400" baseline="0">
                <a:solidFill>
                  <a:schemeClr val="tx1">
                    <a:tint val="75000"/>
                  </a:schemeClr>
                </a:solidFill>
              </a:defRPr>
            </a:lvl3pPr>
            <a:lvl4pPr indent="0" algn="ctr">
              <a:spcBef>
                <a:spcPct val="20000"/>
              </a:spcBef>
              <a:buFont typeface="Arial"/>
              <a:buNone/>
              <a:defRPr sz="2000" baseline="0">
                <a:solidFill>
                  <a:schemeClr val="tx1">
                    <a:tint val="75000"/>
                  </a:schemeClr>
                </a:solidFill>
              </a:defRPr>
            </a:lvl4pPr>
            <a:lvl5pPr indent="0" algn="ctr">
              <a:spcBef>
                <a:spcPct val="20000"/>
              </a:spcBef>
              <a:buFont typeface="Arial"/>
              <a:buNone/>
              <a:defRPr sz="2000" baseline="0">
                <a:solidFill>
                  <a:schemeClr val="tx1">
                    <a:tint val="75000"/>
                  </a:schemeClr>
                </a:solidFill>
              </a:defRPr>
            </a:lvl5pPr>
            <a:lvl6pPr indent="0" algn="ctr">
              <a:spcBef>
                <a:spcPct val="20000"/>
              </a:spcBef>
              <a:buFont typeface="Arial"/>
              <a:buNone/>
              <a:defRPr sz="2000">
                <a:solidFill>
                  <a:schemeClr val="tx1">
                    <a:tint val="75000"/>
                  </a:schemeClr>
                </a:solidFill>
              </a:defRPr>
            </a:lvl6pPr>
            <a:lvl7pPr indent="0" algn="ctr">
              <a:spcBef>
                <a:spcPct val="20000"/>
              </a:spcBef>
              <a:buFont typeface="Arial"/>
              <a:buNone/>
              <a:defRPr sz="2000">
                <a:solidFill>
                  <a:schemeClr val="tx1">
                    <a:tint val="75000"/>
                  </a:schemeClr>
                </a:solidFill>
              </a:defRPr>
            </a:lvl7pPr>
            <a:lvl8pPr indent="0" algn="ctr">
              <a:spcBef>
                <a:spcPct val="20000"/>
              </a:spcBef>
              <a:buFont typeface="Arial"/>
              <a:buNone/>
              <a:defRPr sz="2000">
                <a:solidFill>
                  <a:schemeClr val="tx1">
                    <a:tint val="75000"/>
                  </a:schemeClr>
                </a:solidFill>
              </a:defRPr>
            </a:lvl8pPr>
            <a:lvl9pPr indent="0" algn="ctr">
              <a:spcBef>
                <a:spcPct val="20000"/>
              </a:spcBef>
              <a:buFont typeface="Arial"/>
              <a:buNone/>
              <a:defRPr sz="2000">
                <a:solidFill>
                  <a:schemeClr val="tx1">
                    <a:tint val="75000"/>
                  </a:schemeClr>
                </a:solidFill>
              </a:defRPr>
            </a:lvl9pPr>
          </a:lstStyle>
          <a:p>
            <a:pPr lvl="0"/>
            <a:r>
              <a:rPr lang="en-AU" sz="2000" dirty="0">
                <a:solidFill>
                  <a:schemeClr val="bg1">
                    <a:lumMod val="75000"/>
                  </a:schemeClr>
                </a:solidFill>
                <a:latin typeface="+mj-lt"/>
              </a:rPr>
              <a:t>Presented by:</a:t>
            </a:r>
          </a:p>
        </p:txBody>
      </p:sp>
      <p:sp>
        <p:nvSpPr>
          <p:cNvPr id="17" name="Text Placeholder 16"/>
          <p:cNvSpPr>
            <a:spLocks noGrp="1"/>
          </p:cNvSpPr>
          <p:nvPr>
            <p:ph type="body" sz="quarter" idx="16" hasCustomPrompt="1"/>
          </p:nvPr>
        </p:nvSpPr>
        <p:spPr>
          <a:xfrm>
            <a:off x="2991027" y="2862841"/>
            <a:ext cx="8144143" cy="562200"/>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sz="2800">
                <a:solidFill>
                  <a:schemeClr val="bg1">
                    <a:lumMod val="75000"/>
                  </a:schemeClr>
                </a:solidFill>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noProof="0" dirty="0">
                <a:solidFill>
                  <a:schemeClr val="bg1">
                    <a:lumMod val="95000"/>
                  </a:schemeClr>
                </a:solidFill>
              </a:rPr>
              <a:t>Given &amp; Last Name</a:t>
            </a:r>
          </a:p>
        </p:txBody>
      </p:sp>
      <p:sp>
        <p:nvSpPr>
          <p:cNvPr id="19" name="Content Placeholder 18"/>
          <p:cNvSpPr>
            <a:spLocks noGrp="1"/>
          </p:cNvSpPr>
          <p:nvPr>
            <p:ph sz="quarter" idx="17" hasCustomPrompt="1"/>
          </p:nvPr>
        </p:nvSpPr>
        <p:spPr>
          <a:xfrm>
            <a:off x="1050925" y="3516767"/>
            <a:ext cx="10083800" cy="602809"/>
          </a:xfrm>
        </p:spPr>
        <p:txBody>
          <a:bodyPr>
            <a:noAutofit/>
          </a:bodyPr>
          <a:lstStyle>
            <a:lvl1pPr marL="0" marR="0" indent="0" algn="l" defTabSz="457200" rtl="0" eaLnBrk="1" fontAlgn="auto" latinLnBrk="0" hangingPunct="1">
              <a:lnSpc>
                <a:spcPct val="100000"/>
              </a:lnSpc>
              <a:spcBef>
                <a:spcPts val="0"/>
              </a:spcBef>
              <a:spcAft>
                <a:spcPts val="0"/>
              </a:spcAft>
              <a:buClrTx/>
              <a:buSzTx/>
              <a:buFontTx/>
              <a:buNone/>
              <a:tabLst/>
              <a:defRPr lang="en-AU" sz="2000" dirty="0" smtClean="0">
                <a:latin typeface="+mj-lt"/>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AU" sz="3200" b="1" dirty="0">
                <a:solidFill>
                  <a:schemeClr val="bg1">
                    <a:lumMod val="85000"/>
                  </a:schemeClr>
                </a:solidFill>
              </a:rPr>
              <a:t>Course ID and Title</a:t>
            </a:r>
          </a:p>
        </p:txBody>
      </p:sp>
    </p:spTree>
    <p:extLst>
      <p:ext uri="{BB962C8B-B14F-4D97-AF65-F5344CB8AC3E}">
        <p14:creationId xmlns:p14="http://schemas.microsoft.com/office/powerpoint/2010/main" val="171500568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574">
          <p15:clr>
            <a:srgbClr val="FBAE40"/>
          </p15:clr>
        </p15:guide>
        <p15:guide id="4" pos="7106">
          <p15:clr>
            <a:srgbClr val="FBAE40"/>
          </p15:clr>
        </p15:guide>
        <p15:guide id="5" orient="horz" pos="436">
          <p15:clr>
            <a:srgbClr val="FBAE40"/>
          </p15:clr>
        </p15:guide>
        <p15:guide id="6" orient="horz" pos="3974">
          <p15:clr>
            <a:srgbClr val="FBAE40"/>
          </p15:clr>
        </p15:guide>
        <p15:guide id="7" orient="horz" pos="179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8">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794617"/>
            <a:ext cx="10972800" cy="4563491"/>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4" name="Date Placeholder 3"/>
          <p:cNvSpPr>
            <a:spLocks noGrp="1"/>
          </p:cNvSpPr>
          <p:nvPr>
            <p:ph type="dt" sz="half" idx="2"/>
          </p:nvPr>
        </p:nvSpPr>
        <p:spPr>
          <a:xfrm>
            <a:off x="609600" y="6482040"/>
            <a:ext cx="2844800" cy="301756"/>
          </a:xfrm>
          <a:prstGeom prst="rect">
            <a:avLst/>
          </a:prstGeom>
        </p:spPr>
        <p:txBody>
          <a:bodyPr vert="horz" lIns="91440" tIns="45720" rIns="91440" bIns="45720" rtlCol="0" anchor="ctr"/>
          <a:lstStyle>
            <a:lvl1pPr algn="l">
              <a:defRPr sz="1200" baseline="0">
                <a:solidFill>
                  <a:schemeClr val="accent2">
                    <a:lumMod val="50000"/>
                  </a:schemeClr>
                </a:solidFill>
              </a:defRPr>
            </a:lvl1pPr>
          </a:lstStyle>
          <a:p>
            <a:fld id="{56F489C6-6277-454E-AECF-6C3872A9450F}" type="datetimeFigureOut">
              <a:rPr lang="en-US" smtClean="0"/>
              <a:pPr/>
              <a:t>10/16/24</a:t>
            </a:fld>
            <a:endParaRPr lang="en-US" dirty="0"/>
          </a:p>
        </p:txBody>
      </p:sp>
      <p:sp>
        <p:nvSpPr>
          <p:cNvPr id="5" name="Footer Placeholder 4"/>
          <p:cNvSpPr>
            <a:spLocks noGrp="1"/>
          </p:cNvSpPr>
          <p:nvPr>
            <p:ph type="ftr" sz="quarter" idx="3"/>
          </p:nvPr>
        </p:nvSpPr>
        <p:spPr>
          <a:xfrm>
            <a:off x="4165600" y="6482040"/>
            <a:ext cx="3860800" cy="301756"/>
          </a:xfrm>
          <a:prstGeom prst="rect">
            <a:avLst/>
          </a:prstGeom>
        </p:spPr>
        <p:txBody>
          <a:bodyPr vert="horz" lIns="91440" tIns="45720" rIns="91440" bIns="45720" rtlCol="0" anchor="ctr"/>
          <a:lstStyle>
            <a:lvl1pPr algn="ctr">
              <a:defRPr sz="1200" baseline="0">
                <a:solidFill>
                  <a:schemeClr val="accent2">
                    <a:lumMod val="50000"/>
                  </a:schemeClr>
                </a:solidFill>
              </a:defRPr>
            </a:lvl1pPr>
          </a:lstStyle>
          <a:p>
            <a:endParaRPr lang="en-US" dirty="0"/>
          </a:p>
        </p:txBody>
      </p:sp>
      <p:sp>
        <p:nvSpPr>
          <p:cNvPr id="6" name="Slide Number Placeholder 5"/>
          <p:cNvSpPr>
            <a:spLocks noGrp="1"/>
          </p:cNvSpPr>
          <p:nvPr>
            <p:ph type="sldNum" sz="quarter" idx="4"/>
          </p:nvPr>
        </p:nvSpPr>
        <p:spPr>
          <a:xfrm>
            <a:off x="8737600" y="6482040"/>
            <a:ext cx="2844800" cy="301756"/>
          </a:xfrm>
          <a:prstGeom prst="rect">
            <a:avLst/>
          </a:prstGeom>
        </p:spPr>
        <p:txBody>
          <a:bodyPr vert="horz" lIns="91440" tIns="45720" rIns="91440" bIns="45720" rtlCol="0" anchor="ctr"/>
          <a:lstStyle>
            <a:lvl1pPr algn="r">
              <a:defRPr sz="1200" baseline="0">
                <a:solidFill>
                  <a:schemeClr val="accent2">
                    <a:lumMod val="50000"/>
                  </a:schemeClr>
                </a:solidFill>
              </a:defRPr>
            </a:lvl1pPr>
          </a:lstStyle>
          <a:p>
            <a:fld id="{741F46F4-8938-5C4A-A3E0-434D3C3588F4}" type="slidenum">
              <a:rPr lang="en-US" smtClean="0"/>
              <a:pPr/>
              <a:t>‹#›</a:t>
            </a:fld>
            <a:endParaRPr lang="en-US" dirty="0"/>
          </a:p>
        </p:txBody>
      </p:sp>
      <p:sp>
        <p:nvSpPr>
          <p:cNvPr id="15" name="Title Placeholder 14">
            <a:extLst>
              <a:ext uri="{FF2B5EF4-FFF2-40B4-BE49-F238E27FC236}">
                <a16:creationId xmlns:a16="http://schemas.microsoft.com/office/drawing/2014/main" id="{ED1A118C-2DC5-9B4D-B303-C0863344BC99}"/>
              </a:ext>
            </a:extLst>
          </p:cNvPr>
          <p:cNvSpPr>
            <a:spLocks noGrp="1"/>
          </p:cNvSpPr>
          <p:nvPr>
            <p:ph type="title"/>
          </p:nvPr>
        </p:nvSpPr>
        <p:spPr>
          <a:xfrm>
            <a:off x="609601" y="477254"/>
            <a:ext cx="10972799" cy="1248943"/>
          </a:xfrm>
          <a:prstGeom prst="rect">
            <a:avLst/>
          </a:prstGeom>
        </p:spPr>
        <p:txBody>
          <a:bodyPr vert="horz" lIns="91440" tIns="45720" rIns="91440" bIns="45720" rtlCol="0" anchor="ctr">
            <a:normAutofit/>
          </a:bodyPr>
          <a:lstStyle/>
          <a:p>
            <a:r>
              <a:rPr lang="en-US" noProof="0"/>
              <a:t>Click to edit Master title style</a:t>
            </a:r>
            <a:endParaRPr lang="en-AU" noProof="0" dirty="0"/>
          </a:p>
        </p:txBody>
      </p:sp>
      <p:sp>
        <p:nvSpPr>
          <p:cNvPr id="7" name="TextBox 6">
            <a:extLst>
              <a:ext uri="{FF2B5EF4-FFF2-40B4-BE49-F238E27FC236}">
                <a16:creationId xmlns:a16="http://schemas.microsoft.com/office/drawing/2014/main" id="{2B815C11-D3E6-88CC-4978-80B45BAC99D8}"/>
              </a:ext>
            </a:extLst>
          </p:cNvPr>
          <p:cNvSpPr txBox="1"/>
          <p:nvPr userDrawn="1">
            <p:extLst>
              <p:ext uri="{1162E1C5-73C7-4A58-AE30-91384D911F3F}">
                <p184:classification xmlns:p184="http://schemas.microsoft.com/office/powerpoint/2018/4/main" val="hdr"/>
              </p:ext>
            </p:extLst>
          </p:nvPr>
        </p:nvSpPr>
        <p:spPr>
          <a:xfrm>
            <a:off x="5865813" y="63500"/>
            <a:ext cx="488950" cy="152400"/>
          </a:xfrm>
          <a:prstGeom prst="rect">
            <a:avLst/>
          </a:prstGeom>
        </p:spPr>
        <p:txBody>
          <a:bodyPr horzOverflow="overflow" lIns="0" tIns="0" rIns="0" bIns="0">
            <a:spAutoFit/>
          </a:bodyPr>
          <a:lstStyle/>
          <a:p>
            <a:pPr algn="l"/>
            <a:r>
              <a:rPr lang="en-US" sz="1000">
                <a:solidFill>
                  <a:srgbClr val="FF0000"/>
                </a:solidFill>
                <a:latin typeface="Calibri" panose="020F0502020204030204" pitchFamily="34" charset="0"/>
                <a:cs typeface="Calibri" panose="020F0502020204030204" pitchFamily="34" charset="0"/>
              </a:rPr>
              <a:t>OFFICIAL</a:t>
            </a:r>
          </a:p>
        </p:txBody>
      </p:sp>
    </p:spTree>
    <p:extLst>
      <p:ext uri="{BB962C8B-B14F-4D97-AF65-F5344CB8AC3E}">
        <p14:creationId xmlns:p14="http://schemas.microsoft.com/office/powerpoint/2010/main" val="701323445"/>
      </p:ext>
    </p:extLst>
  </p:cSld>
  <p:clrMap bg1="lt1" tx1="dk1" bg2="lt2" tx2="dk2" accent1="accent1" accent2="accent2" accent3="accent3" accent4="accent4" accent5="accent5" accent6="accent6" hlink="hlink" folHlink="folHlink"/>
  <p:sldLayoutIdLst>
    <p:sldLayoutId id="2147483651" r:id="rId1"/>
    <p:sldLayoutId id="2147483650" r:id="rId2"/>
    <p:sldLayoutId id="2147483665" r:id="rId3"/>
    <p:sldLayoutId id="2147483652" r:id="rId4"/>
    <p:sldLayoutId id="2147483653" r:id="rId5"/>
    <p:sldLayoutId id="2147483661" r:id="rId6"/>
    <p:sldLayoutId id="2147483662" r:id="rId7"/>
    <p:sldLayoutId id="2147483654" r:id="rId8"/>
    <p:sldLayoutId id="2147483663" r:id="rId9"/>
    <p:sldLayoutId id="2147483664" r:id="rId10"/>
    <p:sldLayoutId id="2147483660" r:id="rId11"/>
    <p:sldLayoutId id="2147483668" r:id="rId12"/>
    <p:sldLayoutId id="2147483655" r:id="rId13"/>
    <p:sldLayoutId id="2147483656" r:id="rId14"/>
    <p:sldLayoutId id="2147483657" r:id="rId15"/>
    <p:sldLayoutId id="2147483669" r:id="rId16"/>
  </p:sldLayoutIdLst>
  <p:txStyles>
    <p:titleStyle>
      <a:lvl1pPr algn="l" defTabSz="457200" rtl="0" eaLnBrk="1" latinLnBrk="0" hangingPunct="1">
        <a:spcBef>
          <a:spcPct val="0"/>
        </a:spcBef>
        <a:buNone/>
        <a:defRPr sz="4200" b="1" i="0" kern="1200" spc="50" baseline="0">
          <a:solidFill>
            <a:schemeClr val="bg1">
              <a:lumMod val="95000"/>
            </a:schemeClr>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baseline="0">
          <a:solidFill>
            <a:schemeClr val="bg1">
              <a:lumMod val="95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baseline="0">
          <a:solidFill>
            <a:schemeClr val="bg1">
              <a:lumMod val="95000"/>
            </a:schemeClr>
          </a:solidFill>
          <a:latin typeface="+mn-lt"/>
          <a:ea typeface="+mn-ea"/>
          <a:cs typeface="+mn-cs"/>
        </a:defRPr>
      </a:lvl2pPr>
      <a:lvl3pPr marL="1143000" indent="-228600" algn="l" defTabSz="457200" rtl="0" eaLnBrk="1" latinLnBrk="0" hangingPunct="1">
        <a:spcBef>
          <a:spcPct val="20000"/>
        </a:spcBef>
        <a:buFont typeface="Arial"/>
        <a:buChar char="•"/>
        <a:defRPr sz="2400" kern="1200" baseline="0">
          <a:solidFill>
            <a:schemeClr val="bg1">
              <a:lumMod val="9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4pPr>
      <a:lvl5pPr marL="2057400" indent="-228600" algn="l" defTabSz="457200" rtl="0" eaLnBrk="1" latinLnBrk="0" hangingPunct="1">
        <a:spcBef>
          <a:spcPct val="20000"/>
        </a:spcBef>
        <a:buFont typeface="Arial"/>
        <a:buChar char="»"/>
        <a:defRPr sz="2000" kern="1200" baseline="0">
          <a:solidFill>
            <a:schemeClr val="bg1">
              <a:lumMod val="95000"/>
            </a:schemeClr>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UML, remote deployment, and smiley assessment (POR) guidelines</a:t>
            </a:r>
            <a:endParaRPr lang="en-AU" dirty="0"/>
          </a:p>
        </p:txBody>
      </p:sp>
      <p:sp>
        <p:nvSpPr>
          <p:cNvPr id="5" name="Text Placeholder 4"/>
          <p:cNvSpPr>
            <a:spLocks noGrp="1"/>
          </p:cNvSpPr>
          <p:nvPr>
            <p:ph type="body" sz="quarter" idx="14"/>
          </p:nvPr>
        </p:nvSpPr>
        <p:spPr/>
        <p:txBody>
          <a:bodyPr/>
          <a:lstStyle/>
          <a:p>
            <a:r>
              <a:rPr lang="en-US" dirty="0"/>
              <a:t> </a:t>
            </a:r>
            <a:endParaRPr lang="en-AU" dirty="0"/>
          </a:p>
        </p:txBody>
      </p:sp>
      <p:sp>
        <p:nvSpPr>
          <p:cNvPr id="17" name="Text Placeholder 16"/>
          <p:cNvSpPr>
            <a:spLocks noGrp="1"/>
          </p:cNvSpPr>
          <p:nvPr>
            <p:ph type="body" sz="quarter" idx="15"/>
          </p:nvPr>
        </p:nvSpPr>
        <p:spPr>
          <a:xfrm>
            <a:off x="1050687" y="4644087"/>
            <a:ext cx="10084038" cy="360698"/>
          </a:xfrm>
        </p:spPr>
        <p:txBody>
          <a:bodyPr/>
          <a:lstStyle/>
          <a:p>
            <a:r>
              <a:rPr lang="en-AU" dirty="0"/>
              <a:t>IP4RIoT</a:t>
            </a:r>
          </a:p>
        </p:txBody>
      </p:sp>
      <p:sp>
        <p:nvSpPr>
          <p:cNvPr id="40" name="Text Placeholder 39"/>
          <p:cNvSpPr>
            <a:spLocks noGrp="1"/>
          </p:cNvSpPr>
          <p:nvPr>
            <p:ph type="body" sz="quarter" idx="16"/>
          </p:nvPr>
        </p:nvSpPr>
        <p:spPr/>
        <p:txBody>
          <a:bodyPr/>
          <a:lstStyle/>
          <a:p>
            <a:r>
              <a:rPr lang="en-AU" dirty="0"/>
              <a:t>Various</a:t>
            </a:r>
          </a:p>
        </p:txBody>
      </p:sp>
      <p:sp>
        <p:nvSpPr>
          <p:cNvPr id="41" name="Content Placeholder 40"/>
          <p:cNvSpPr>
            <a:spLocks noGrp="1"/>
          </p:cNvSpPr>
          <p:nvPr>
            <p:ph sz="quarter" idx="17"/>
          </p:nvPr>
        </p:nvSpPr>
        <p:spPr>
          <a:xfrm>
            <a:off x="1051371" y="4351719"/>
            <a:ext cx="10083800" cy="440205"/>
          </a:xfrm>
        </p:spPr>
        <p:txBody>
          <a:bodyPr/>
          <a:lstStyle/>
          <a:p>
            <a:r>
              <a:rPr lang="en-AU" sz="1800" dirty="0"/>
              <a:t>ICT40120 – Cert IV of Information Technology</a:t>
            </a:r>
          </a:p>
        </p:txBody>
      </p:sp>
      <p:graphicFrame>
        <p:nvGraphicFramePr>
          <p:cNvPr id="4" name="Table 5">
            <a:extLst>
              <a:ext uri="{FF2B5EF4-FFF2-40B4-BE49-F238E27FC236}">
                <a16:creationId xmlns:a16="http://schemas.microsoft.com/office/drawing/2014/main" id="{331411AE-D22C-6F40-B5EE-B6E28F242582}"/>
              </a:ext>
            </a:extLst>
          </p:cNvPr>
          <p:cNvGraphicFramePr>
            <a:graphicFrameLocks noGrp="1"/>
          </p:cNvGraphicFramePr>
          <p:nvPr>
            <p:ph type="tbl" sz="quarter" idx="13"/>
            <p:extLst>
              <p:ext uri="{D42A27DB-BD31-4B8C-83A1-F6EECF244321}">
                <p14:modId xmlns:p14="http://schemas.microsoft.com/office/powerpoint/2010/main" val="4263069081"/>
              </p:ext>
            </p:extLst>
          </p:nvPr>
        </p:nvGraphicFramePr>
        <p:xfrm>
          <a:off x="1142365" y="5089720"/>
          <a:ext cx="10083800" cy="1112520"/>
        </p:xfrm>
        <a:graphic>
          <a:graphicData uri="http://schemas.openxmlformats.org/drawingml/2006/table">
            <a:tbl>
              <a:tblPr firstRow="1" bandRow="1">
                <a:tableStyleId>{5C22544A-7EE6-4342-B048-85BDC9FD1C3A}</a:tableStyleId>
              </a:tblPr>
              <a:tblGrid>
                <a:gridCol w="1742151">
                  <a:extLst>
                    <a:ext uri="{9D8B030D-6E8A-4147-A177-3AD203B41FA5}">
                      <a16:colId xmlns:a16="http://schemas.microsoft.com/office/drawing/2014/main" val="2892505985"/>
                    </a:ext>
                  </a:extLst>
                </a:gridCol>
                <a:gridCol w="8341649">
                  <a:extLst>
                    <a:ext uri="{9D8B030D-6E8A-4147-A177-3AD203B41FA5}">
                      <a16:colId xmlns:a16="http://schemas.microsoft.com/office/drawing/2014/main" val="2551358764"/>
                    </a:ext>
                  </a:extLst>
                </a:gridCol>
              </a:tblGrid>
              <a:tr h="370840">
                <a:tc>
                  <a:txBody>
                    <a:bodyPr/>
                    <a:lstStyle/>
                    <a:p>
                      <a:r>
                        <a:rPr lang="en-US" b="1" dirty="0"/>
                        <a:t>Unit code</a:t>
                      </a:r>
                    </a:p>
                  </a:txBody>
                  <a:tcPr/>
                </a:tc>
                <a:tc>
                  <a:txBody>
                    <a:bodyPr/>
                    <a:lstStyle/>
                    <a:p>
                      <a:r>
                        <a:rPr lang="en-US" b="1" dirty="0"/>
                        <a:t>Unit title</a:t>
                      </a:r>
                    </a:p>
                  </a:txBody>
                  <a:tcPr/>
                </a:tc>
                <a:extLst>
                  <a:ext uri="{0D108BD9-81ED-4DB2-BD59-A6C34878D82A}">
                    <a16:rowId xmlns:a16="http://schemas.microsoft.com/office/drawing/2014/main" val="2625584345"/>
                  </a:ext>
                </a:extLst>
              </a:tr>
              <a:tr h="370840">
                <a:tc>
                  <a:txBody>
                    <a:bodyPr/>
                    <a:lstStyle/>
                    <a:p>
                      <a:r>
                        <a:rPr lang="en-US" b="0" dirty="0"/>
                        <a:t>ICTPRG430</a:t>
                      </a:r>
                    </a:p>
                  </a:txBody>
                  <a:tcPr/>
                </a:tc>
                <a:tc>
                  <a:txBody>
                    <a:bodyPr/>
                    <a:lstStyle/>
                    <a:p>
                      <a:r>
                        <a:rPr lang="en-US" dirty="0"/>
                        <a:t>Apply introductory object-oriented language skills</a:t>
                      </a:r>
                    </a:p>
                  </a:txBody>
                  <a:tcPr/>
                </a:tc>
                <a:extLst>
                  <a:ext uri="{0D108BD9-81ED-4DB2-BD59-A6C34878D82A}">
                    <a16:rowId xmlns:a16="http://schemas.microsoft.com/office/drawing/2014/main" val="2131607036"/>
                  </a:ext>
                </a:extLst>
              </a:tr>
              <a:tr h="370840">
                <a:tc>
                  <a:txBody>
                    <a:bodyPr/>
                    <a:lstStyle/>
                    <a:p>
                      <a:r>
                        <a:rPr lang="en-US" b="0" dirty="0"/>
                        <a:t>ICTICT449</a:t>
                      </a:r>
                    </a:p>
                  </a:txBody>
                  <a:tcPr/>
                </a:tc>
                <a:tc>
                  <a:txBody>
                    <a:bodyPr/>
                    <a:lstStyle/>
                    <a:p>
                      <a:r>
                        <a:rPr lang="en-US" dirty="0"/>
                        <a:t>Use version control systems in development environments</a:t>
                      </a:r>
                    </a:p>
                  </a:txBody>
                  <a:tcPr/>
                </a:tc>
                <a:extLst>
                  <a:ext uri="{0D108BD9-81ED-4DB2-BD59-A6C34878D82A}">
                    <a16:rowId xmlns:a16="http://schemas.microsoft.com/office/drawing/2014/main" val="2603873653"/>
                  </a:ext>
                </a:extLst>
              </a:tr>
            </a:tbl>
          </a:graphicData>
        </a:graphic>
      </p:graphicFrame>
    </p:spTree>
    <p:extLst>
      <p:ext uri="{BB962C8B-B14F-4D97-AF65-F5344CB8AC3E}">
        <p14:creationId xmlns:p14="http://schemas.microsoft.com/office/powerpoint/2010/main" val="9133448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A0553-4DD9-9CED-2B0E-737252037804}"/>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19CDC600-D4D2-9B83-8FEE-FAD4F34D7CFB}"/>
              </a:ext>
            </a:extLst>
          </p:cNvPr>
          <p:cNvSpPr>
            <a:spLocks noGrp="1"/>
          </p:cNvSpPr>
          <p:nvPr>
            <p:ph idx="1"/>
          </p:nvPr>
        </p:nvSpPr>
        <p:spPr/>
        <p:txBody>
          <a:bodyPr>
            <a:normAutofit fontScale="92500" lnSpcReduction="10000"/>
          </a:bodyPr>
          <a:lstStyle/>
          <a:p>
            <a:r>
              <a:rPr lang="en-US" dirty="0"/>
              <a:t>Optional (SSH and remote deployment)</a:t>
            </a:r>
          </a:p>
          <a:p>
            <a:r>
              <a:rPr lang="en-US" dirty="0"/>
              <a:t>Basics of UML</a:t>
            </a:r>
          </a:p>
          <a:p>
            <a:r>
              <a:rPr lang="en-US" dirty="0"/>
              <a:t>Representing relationships between classes</a:t>
            </a:r>
          </a:p>
          <a:p>
            <a:r>
              <a:rPr lang="en-US" dirty="0"/>
              <a:t>Key relationships</a:t>
            </a:r>
          </a:p>
          <a:p>
            <a:r>
              <a:rPr lang="en-US" dirty="0"/>
              <a:t>UML Tools:</a:t>
            </a:r>
          </a:p>
          <a:p>
            <a:pPr lvl="1"/>
            <a:r>
              <a:rPr lang="en-US" dirty="0"/>
              <a:t>Generating topologies from source</a:t>
            </a:r>
          </a:p>
          <a:p>
            <a:pPr lvl="1"/>
            <a:r>
              <a:rPr lang="en-US" dirty="0"/>
              <a:t>Mermaid</a:t>
            </a:r>
          </a:p>
          <a:p>
            <a:pPr lvl="1"/>
            <a:r>
              <a:rPr lang="en-US" dirty="0"/>
              <a:t>Other…</a:t>
            </a:r>
          </a:p>
          <a:p>
            <a:r>
              <a:rPr lang="en-US" dirty="0"/>
              <a:t>Portfolio overview</a:t>
            </a:r>
          </a:p>
        </p:txBody>
      </p:sp>
    </p:spTree>
    <p:extLst>
      <p:ext uri="{BB962C8B-B14F-4D97-AF65-F5344CB8AC3E}">
        <p14:creationId xmlns:p14="http://schemas.microsoft.com/office/powerpoint/2010/main" val="2717667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5E45B62-E8CB-C46A-01C8-87135615A186}"/>
              </a:ext>
            </a:extLst>
          </p:cNvPr>
          <p:cNvSpPr>
            <a:spLocks noGrp="1"/>
          </p:cNvSpPr>
          <p:nvPr>
            <p:ph type="title"/>
          </p:nvPr>
        </p:nvSpPr>
        <p:spPr/>
        <p:txBody>
          <a:bodyPr/>
          <a:lstStyle/>
          <a:p>
            <a:r>
              <a:rPr lang="en-US" u="sng" dirty="0"/>
              <a:t>Note</a:t>
            </a:r>
            <a:r>
              <a:rPr lang="en-US" dirty="0"/>
              <a:t>: Remote Deployment</a:t>
            </a:r>
          </a:p>
        </p:txBody>
      </p:sp>
      <p:sp>
        <p:nvSpPr>
          <p:cNvPr id="9" name="Content Placeholder 8">
            <a:extLst>
              <a:ext uri="{FF2B5EF4-FFF2-40B4-BE49-F238E27FC236}">
                <a16:creationId xmlns:a16="http://schemas.microsoft.com/office/drawing/2014/main" id="{999AE14D-945B-25AF-F5C1-D3ADCFEC8C19}"/>
              </a:ext>
            </a:extLst>
          </p:cNvPr>
          <p:cNvSpPr>
            <a:spLocks noGrp="1"/>
          </p:cNvSpPr>
          <p:nvPr>
            <p:ph idx="1"/>
          </p:nvPr>
        </p:nvSpPr>
        <p:spPr/>
        <p:txBody>
          <a:bodyPr/>
          <a:lstStyle/>
          <a:p>
            <a:r>
              <a:rPr lang="en-US" dirty="0"/>
              <a:t>Remote deployment in general and the use of the </a:t>
            </a:r>
            <a:r>
              <a:rPr lang="en-US" dirty="0" err="1"/>
              <a:t>Raspberri</a:t>
            </a:r>
            <a:r>
              <a:rPr lang="en-US" dirty="0"/>
              <a:t> Pi and </a:t>
            </a:r>
            <a:r>
              <a:rPr lang="en-US" dirty="0" err="1"/>
              <a:t>SenseHAT</a:t>
            </a:r>
            <a:r>
              <a:rPr lang="en-US" dirty="0"/>
              <a:t> in particular is now an </a:t>
            </a:r>
            <a:r>
              <a:rPr lang="en-US" b="1" dirty="0"/>
              <a:t>optional </a:t>
            </a:r>
            <a:r>
              <a:rPr lang="en-US" dirty="0"/>
              <a:t>part of this cluster. </a:t>
            </a:r>
          </a:p>
          <a:p>
            <a:r>
              <a:rPr lang="en-US" dirty="0"/>
              <a:t>Your lecturer may choose to skip these slides and focus on guiding you on a local installation of the project files.</a:t>
            </a:r>
          </a:p>
        </p:txBody>
      </p:sp>
    </p:spTree>
    <p:extLst>
      <p:ext uri="{BB962C8B-B14F-4D97-AF65-F5344CB8AC3E}">
        <p14:creationId xmlns:p14="http://schemas.microsoft.com/office/powerpoint/2010/main" val="7337100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C1341-A3C0-6F08-E0F0-EA3AA02C2672}"/>
              </a:ext>
            </a:extLst>
          </p:cNvPr>
          <p:cNvSpPr>
            <a:spLocks noGrp="1"/>
          </p:cNvSpPr>
          <p:nvPr>
            <p:ph type="title"/>
          </p:nvPr>
        </p:nvSpPr>
        <p:spPr/>
        <p:txBody>
          <a:bodyPr/>
          <a:lstStyle/>
          <a:p>
            <a:r>
              <a:rPr lang="en-US" dirty="0"/>
              <a:t>Unified Modelling Language (UML)</a:t>
            </a:r>
          </a:p>
        </p:txBody>
      </p:sp>
      <p:sp>
        <p:nvSpPr>
          <p:cNvPr id="3" name="Content Placeholder 2">
            <a:extLst>
              <a:ext uri="{FF2B5EF4-FFF2-40B4-BE49-F238E27FC236}">
                <a16:creationId xmlns:a16="http://schemas.microsoft.com/office/drawing/2014/main" id="{F8CC43B9-A6F2-F85C-7954-1CFA56529733}"/>
              </a:ext>
            </a:extLst>
          </p:cNvPr>
          <p:cNvSpPr>
            <a:spLocks noGrp="1"/>
          </p:cNvSpPr>
          <p:nvPr>
            <p:ph idx="1"/>
          </p:nvPr>
        </p:nvSpPr>
        <p:spPr/>
        <p:txBody>
          <a:bodyPr/>
          <a:lstStyle/>
          <a:p>
            <a:r>
              <a:rPr lang="en-US" dirty="0"/>
              <a:t>Standard for representing different facets of software design</a:t>
            </a:r>
          </a:p>
          <a:p>
            <a:r>
              <a:rPr lang="en-US" dirty="0"/>
              <a:t>Popular in the 2000’s</a:t>
            </a:r>
          </a:p>
          <a:p>
            <a:r>
              <a:rPr lang="en-US" dirty="0"/>
              <a:t>Scaled back in the context of agile</a:t>
            </a:r>
          </a:p>
          <a:p>
            <a:r>
              <a:rPr lang="en-US" dirty="0"/>
              <a:t>Beginner: learn to **read** the basic diagram types</a:t>
            </a:r>
          </a:p>
          <a:p>
            <a:r>
              <a:rPr lang="en-US" dirty="0"/>
              <a:t>More advanced: learn to loosely write the basic diagram types</a:t>
            </a:r>
          </a:p>
        </p:txBody>
      </p:sp>
    </p:spTree>
    <p:extLst>
      <p:ext uri="{BB962C8B-B14F-4D97-AF65-F5344CB8AC3E}">
        <p14:creationId xmlns:p14="http://schemas.microsoft.com/office/powerpoint/2010/main" val="3410672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864C4-05AA-B1F0-FE47-B287AECE0B3F}"/>
              </a:ext>
            </a:extLst>
          </p:cNvPr>
          <p:cNvSpPr>
            <a:spLocks noGrp="1"/>
          </p:cNvSpPr>
          <p:nvPr>
            <p:ph type="title"/>
          </p:nvPr>
        </p:nvSpPr>
        <p:spPr/>
        <p:txBody>
          <a:bodyPr/>
          <a:lstStyle/>
          <a:p>
            <a:r>
              <a:rPr lang="en-US" dirty="0"/>
              <a:t>Key types</a:t>
            </a:r>
          </a:p>
        </p:txBody>
      </p:sp>
      <p:sp>
        <p:nvSpPr>
          <p:cNvPr id="3" name="Content Placeholder 2">
            <a:extLst>
              <a:ext uri="{FF2B5EF4-FFF2-40B4-BE49-F238E27FC236}">
                <a16:creationId xmlns:a16="http://schemas.microsoft.com/office/drawing/2014/main" id="{2145B0F3-51FD-6227-42A3-67259E9911BE}"/>
              </a:ext>
            </a:extLst>
          </p:cNvPr>
          <p:cNvSpPr>
            <a:spLocks noGrp="1"/>
          </p:cNvSpPr>
          <p:nvPr>
            <p:ph idx="1"/>
          </p:nvPr>
        </p:nvSpPr>
        <p:spPr/>
        <p:txBody>
          <a:bodyPr/>
          <a:lstStyle/>
          <a:p>
            <a:r>
              <a:rPr lang="en-US" dirty="0"/>
              <a:t>Class (now)</a:t>
            </a:r>
          </a:p>
          <a:p>
            <a:r>
              <a:rPr lang="en-US" dirty="0"/>
              <a:t>Sequence (later)</a:t>
            </a:r>
          </a:p>
          <a:p>
            <a:r>
              <a:rPr lang="en-US" dirty="0"/>
              <a:t>Use Case (briefly now)</a:t>
            </a:r>
          </a:p>
          <a:p>
            <a:r>
              <a:rPr lang="en-US" dirty="0"/>
              <a:t>Activity (~flowchart)</a:t>
            </a:r>
          </a:p>
          <a:p>
            <a:r>
              <a:rPr lang="en-US" dirty="0"/>
              <a:t>There are 10 more diagram types, ~800 pages of specification; managed by </a:t>
            </a:r>
            <a:r>
              <a:rPr lang="en-US" sz="6600" dirty="0"/>
              <a:t>OMG!!</a:t>
            </a:r>
          </a:p>
        </p:txBody>
      </p:sp>
    </p:spTree>
    <p:extLst>
      <p:ext uri="{BB962C8B-B14F-4D97-AF65-F5344CB8AC3E}">
        <p14:creationId xmlns:p14="http://schemas.microsoft.com/office/powerpoint/2010/main" val="2814737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4F654-4A0B-CE26-C6EB-985093E293C1}"/>
              </a:ext>
            </a:extLst>
          </p:cNvPr>
          <p:cNvSpPr>
            <a:spLocks noGrp="1"/>
          </p:cNvSpPr>
          <p:nvPr>
            <p:ph type="title"/>
          </p:nvPr>
        </p:nvSpPr>
        <p:spPr/>
        <p:txBody>
          <a:bodyPr/>
          <a:lstStyle/>
          <a:p>
            <a:r>
              <a:rPr lang="en-US" dirty="0"/>
              <a:t>Use Case Diagram</a:t>
            </a:r>
          </a:p>
        </p:txBody>
      </p:sp>
      <p:sp>
        <p:nvSpPr>
          <p:cNvPr id="4" name="Content Placeholder 3">
            <a:extLst>
              <a:ext uri="{FF2B5EF4-FFF2-40B4-BE49-F238E27FC236}">
                <a16:creationId xmlns:a16="http://schemas.microsoft.com/office/drawing/2014/main" id="{B8DFB07E-B097-D9F2-983F-2DB5757D1A61}"/>
              </a:ext>
            </a:extLst>
          </p:cNvPr>
          <p:cNvSpPr>
            <a:spLocks noGrp="1"/>
          </p:cNvSpPr>
          <p:nvPr>
            <p:ph idx="1"/>
          </p:nvPr>
        </p:nvSpPr>
        <p:spPr>
          <a:xfrm>
            <a:off x="609600" y="1794617"/>
            <a:ext cx="6498336" cy="4563491"/>
          </a:xfrm>
        </p:spPr>
        <p:txBody>
          <a:bodyPr>
            <a:normAutofit fontScale="92500"/>
          </a:bodyPr>
          <a:lstStyle/>
          <a:p>
            <a:pPr marL="0" indent="0">
              <a:buNone/>
            </a:pPr>
            <a:r>
              <a:rPr lang="en-US" dirty="0"/>
              <a:t>A system analyst shall </a:t>
            </a:r>
            <a:r>
              <a:rPr lang="en-US" b="1" dirty="0"/>
              <a:t>create use case diagrams</a:t>
            </a:r>
            <a:r>
              <a:rPr lang="en-US" dirty="0"/>
              <a:t> to </a:t>
            </a:r>
            <a:r>
              <a:rPr lang="en-US" i="1" dirty="0"/>
              <a:t>use</a:t>
            </a:r>
            <a:r>
              <a:rPr lang="en-US" dirty="0"/>
              <a:t> them to </a:t>
            </a:r>
            <a:r>
              <a:rPr lang="en-US" b="1" dirty="0"/>
              <a:t>communicate requirements </a:t>
            </a:r>
            <a:r>
              <a:rPr lang="en-US" dirty="0"/>
              <a:t>to </a:t>
            </a:r>
            <a:r>
              <a:rPr lang="en-US" b="1" dirty="0"/>
              <a:t>developers</a:t>
            </a:r>
            <a:r>
              <a:rPr lang="en-US" dirty="0"/>
              <a:t> and </a:t>
            </a:r>
            <a:r>
              <a:rPr lang="en-US" b="1" dirty="0"/>
              <a:t>stakeholders</a:t>
            </a:r>
            <a:r>
              <a:rPr lang="en-US" dirty="0"/>
              <a:t> so that they </a:t>
            </a:r>
            <a:r>
              <a:rPr lang="en-US" b="1" dirty="0"/>
              <a:t>understand</a:t>
            </a:r>
            <a:r>
              <a:rPr lang="en-US" dirty="0"/>
              <a:t> the </a:t>
            </a:r>
            <a:r>
              <a:rPr lang="en-US" b="1" dirty="0"/>
              <a:t>system</a:t>
            </a:r>
            <a:r>
              <a:rPr lang="en-US" dirty="0"/>
              <a:t>.</a:t>
            </a:r>
          </a:p>
          <a:p>
            <a:pPr marL="0" indent="0">
              <a:buNone/>
            </a:pPr>
            <a:endParaRPr lang="en-US" dirty="0"/>
          </a:p>
          <a:p>
            <a:pPr marL="0" indent="0">
              <a:buNone/>
            </a:pPr>
            <a:r>
              <a:rPr lang="en-US" dirty="0"/>
              <a:t>If you can understand this diagram says the same thing, you understand the use case for use case diagrams! </a:t>
            </a:r>
          </a:p>
        </p:txBody>
      </p:sp>
      <p:pic>
        <p:nvPicPr>
          <p:cNvPr id="1026" name="Picture 2">
            <a:extLst>
              <a:ext uri="{FF2B5EF4-FFF2-40B4-BE49-F238E27FC236}">
                <a16:creationId xmlns:a16="http://schemas.microsoft.com/office/drawing/2014/main" id="{74082ADE-E594-5E8D-5133-F576BABD1B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4637" y="809019"/>
            <a:ext cx="3125216" cy="5549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21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CAF5C-ED8C-629C-5430-2A75009B703E}"/>
              </a:ext>
            </a:extLst>
          </p:cNvPr>
          <p:cNvSpPr>
            <a:spLocks noGrp="1"/>
          </p:cNvSpPr>
          <p:nvPr>
            <p:ph type="title"/>
          </p:nvPr>
        </p:nvSpPr>
        <p:spPr/>
        <p:txBody>
          <a:bodyPr/>
          <a:lstStyle/>
          <a:p>
            <a:r>
              <a:rPr lang="en-US" dirty="0"/>
              <a:t>Class Diagram</a:t>
            </a:r>
          </a:p>
        </p:txBody>
      </p:sp>
      <p:sp>
        <p:nvSpPr>
          <p:cNvPr id="3" name="Content Placeholder 2">
            <a:extLst>
              <a:ext uri="{FF2B5EF4-FFF2-40B4-BE49-F238E27FC236}">
                <a16:creationId xmlns:a16="http://schemas.microsoft.com/office/drawing/2014/main" id="{0ECAAB3E-5323-E61E-7017-A713C954AD67}"/>
              </a:ext>
            </a:extLst>
          </p:cNvPr>
          <p:cNvSpPr>
            <a:spLocks noGrp="1"/>
          </p:cNvSpPr>
          <p:nvPr>
            <p:ph idx="1"/>
          </p:nvPr>
        </p:nvSpPr>
        <p:spPr/>
        <p:txBody>
          <a:bodyPr/>
          <a:lstStyle/>
          <a:p>
            <a:r>
              <a:rPr lang="en-US" dirty="0"/>
              <a:t>We have already seen…</a:t>
            </a:r>
          </a:p>
          <a:p>
            <a:r>
              <a:rPr lang="en-US" dirty="0"/>
              <a:t>Recall what each section means</a:t>
            </a:r>
          </a:p>
          <a:p>
            <a:r>
              <a:rPr lang="en-US" dirty="0"/>
              <a:t>Recall what the +/- means</a:t>
            </a:r>
          </a:p>
          <a:p>
            <a:endParaRPr lang="en-US" dirty="0"/>
          </a:p>
        </p:txBody>
      </p:sp>
      <p:sp>
        <p:nvSpPr>
          <p:cNvPr id="4" name="TextBox 3">
            <a:extLst>
              <a:ext uri="{FF2B5EF4-FFF2-40B4-BE49-F238E27FC236}">
                <a16:creationId xmlns:a16="http://schemas.microsoft.com/office/drawing/2014/main" id="{6B68646A-EBED-C488-2A94-BE48810B14A3}"/>
              </a:ext>
            </a:extLst>
          </p:cNvPr>
          <p:cNvSpPr txBox="1"/>
          <p:nvPr/>
        </p:nvSpPr>
        <p:spPr>
          <a:xfrm>
            <a:off x="8075680" y="1887961"/>
            <a:ext cx="3192131" cy="646331"/>
          </a:xfrm>
          <a:prstGeom prst="rect">
            <a:avLst/>
          </a:prstGeom>
          <a:noFill/>
          <a:ln>
            <a:solidFill>
              <a:schemeClr val="bg1"/>
            </a:solidFill>
          </a:ln>
        </p:spPr>
        <p:txBody>
          <a:bodyPr wrap="square" rtlCol="0">
            <a:spAutoFit/>
          </a:bodyPr>
          <a:lstStyle/>
          <a:p>
            <a:pPr algn="ctr"/>
            <a:r>
              <a:rPr lang="en-US" sz="3600" dirty="0">
                <a:solidFill>
                  <a:schemeClr val="bg1"/>
                </a:solidFill>
                <a:latin typeface="3270-MEDIUM" panose="02000609000000000000" pitchFamily="49" charset="77"/>
                <a:ea typeface="3270-MEDIUM" panose="02000609000000000000" pitchFamily="49" charset="77"/>
              </a:rPr>
              <a:t>Cat</a:t>
            </a:r>
          </a:p>
        </p:txBody>
      </p:sp>
      <p:sp>
        <p:nvSpPr>
          <p:cNvPr id="5" name="TextBox 4">
            <a:extLst>
              <a:ext uri="{FF2B5EF4-FFF2-40B4-BE49-F238E27FC236}">
                <a16:creationId xmlns:a16="http://schemas.microsoft.com/office/drawing/2014/main" id="{5F364243-198F-F4D0-1C5E-2524CDB1AABA}"/>
              </a:ext>
            </a:extLst>
          </p:cNvPr>
          <p:cNvSpPr txBox="1"/>
          <p:nvPr/>
        </p:nvSpPr>
        <p:spPr>
          <a:xfrm>
            <a:off x="8075680" y="2551835"/>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a:t>
            </a:r>
            <a:r>
              <a:rPr lang="en-US" sz="2400" dirty="0" err="1">
                <a:solidFill>
                  <a:schemeClr val="bg1"/>
                </a:solidFill>
                <a:latin typeface="3270-MEDIUM" panose="02000609000000000000" pitchFamily="49" charset="77"/>
                <a:ea typeface="3270-MEDIUM" panose="02000609000000000000" pitchFamily="49" charset="77"/>
              </a:rPr>
              <a:t>is_cute</a:t>
            </a:r>
            <a:r>
              <a:rPr lang="en-US" sz="2400" dirty="0">
                <a:solidFill>
                  <a:schemeClr val="bg1"/>
                </a:solidFill>
                <a:latin typeface="3270-MEDIUM" panose="02000609000000000000" pitchFamily="49" charset="77"/>
                <a:ea typeface="3270-MEDIUM" panose="02000609000000000000" pitchFamily="49" charset="77"/>
              </a:rPr>
              <a:t>: bool</a:t>
            </a:r>
          </a:p>
          <a:p>
            <a:r>
              <a:rPr lang="en-US" sz="2400" dirty="0">
                <a:solidFill>
                  <a:schemeClr val="bg1"/>
                </a:solidFill>
                <a:latin typeface="3270-MEDIUM" panose="02000609000000000000" pitchFamily="49" charset="77"/>
                <a:ea typeface="3270-MEDIUM" panose="02000609000000000000" pitchFamily="49" charset="77"/>
              </a:rPr>
              <a:t>- age: int</a:t>
            </a:r>
          </a:p>
          <a:p>
            <a:r>
              <a:rPr lang="en-US" sz="2400" dirty="0">
                <a:solidFill>
                  <a:schemeClr val="bg1"/>
                </a:solidFill>
                <a:latin typeface="3270-MEDIUM" panose="02000609000000000000" pitchFamily="49" charset="77"/>
                <a:ea typeface="3270-MEDIUM" panose="02000609000000000000" pitchFamily="49" charset="77"/>
              </a:rPr>
              <a:t>- coat: str</a:t>
            </a:r>
          </a:p>
        </p:txBody>
      </p:sp>
      <p:sp>
        <p:nvSpPr>
          <p:cNvPr id="6" name="TextBox 5">
            <a:extLst>
              <a:ext uri="{FF2B5EF4-FFF2-40B4-BE49-F238E27FC236}">
                <a16:creationId xmlns:a16="http://schemas.microsoft.com/office/drawing/2014/main" id="{D6CDF01C-130B-474E-EDE0-EAC5BF73CCCB}"/>
              </a:ext>
            </a:extLst>
          </p:cNvPr>
          <p:cNvSpPr txBox="1"/>
          <p:nvPr/>
        </p:nvSpPr>
        <p:spPr>
          <a:xfrm>
            <a:off x="8075680" y="3749079"/>
            <a:ext cx="3192132" cy="1200329"/>
          </a:xfrm>
          <a:prstGeom prst="rect">
            <a:avLst/>
          </a:prstGeom>
          <a:noFill/>
          <a:ln>
            <a:solidFill>
              <a:schemeClr val="bg1">
                <a:lumMod val="95000"/>
              </a:schemeClr>
            </a:solidFill>
          </a:ln>
        </p:spPr>
        <p:txBody>
          <a:bodyPr wrap="square" rtlCol="0">
            <a:spAutoFit/>
          </a:bodyPr>
          <a:lstStyle/>
          <a:p>
            <a:r>
              <a:rPr lang="en-US" sz="2400" dirty="0">
                <a:solidFill>
                  <a:schemeClr val="bg1"/>
                </a:solidFill>
                <a:latin typeface="3270-MEDIUM" panose="02000609000000000000" pitchFamily="49" charset="77"/>
                <a:ea typeface="3270-MEDIUM" panose="02000609000000000000" pitchFamily="49" charset="77"/>
              </a:rPr>
              <a:t>+ purr() </a:t>
            </a:r>
          </a:p>
          <a:p>
            <a:r>
              <a:rPr lang="en-US" sz="2400" dirty="0">
                <a:solidFill>
                  <a:schemeClr val="bg1"/>
                </a:solidFill>
                <a:latin typeface="3270-MEDIUM" panose="02000609000000000000" pitchFamily="49" charset="77"/>
                <a:ea typeface="3270-MEDIUM" panose="02000609000000000000" pitchFamily="49" charset="77"/>
              </a:rPr>
              <a:t>+ meow() </a:t>
            </a:r>
          </a:p>
          <a:p>
            <a:r>
              <a:rPr lang="en-US" sz="2400" dirty="0">
                <a:solidFill>
                  <a:schemeClr val="bg1"/>
                </a:solidFill>
                <a:latin typeface="3270-MEDIUM" panose="02000609000000000000" pitchFamily="49" charset="77"/>
                <a:ea typeface="3270-MEDIUM" panose="02000609000000000000" pitchFamily="49" charset="77"/>
              </a:rPr>
              <a:t>+ eat()</a:t>
            </a:r>
          </a:p>
        </p:txBody>
      </p:sp>
    </p:spTree>
    <p:extLst>
      <p:ext uri="{BB962C8B-B14F-4D97-AF65-F5344CB8AC3E}">
        <p14:creationId xmlns:p14="http://schemas.microsoft.com/office/powerpoint/2010/main" val="604708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0ACED-A0D9-37C7-722A-9E1A61C969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E34E6-95BD-D6CA-21B1-F80E3EA01F85}"/>
              </a:ext>
            </a:extLst>
          </p:cNvPr>
          <p:cNvSpPr>
            <a:spLocks noGrp="1"/>
          </p:cNvSpPr>
          <p:nvPr>
            <p:ph type="title"/>
          </p:nvPr>
        </p:nvSpPr>
        <p:spPr/>
        <p:txBody>
          <a:bodyPr/>
          <a:lstStyle/>
          <a:p>
            <a:r>
              <a:rPr lang="en-US" dirty="0"/>
              <a:t>Relationships</a:t>
            </a:r>
          </a:p>
        </p:txBody>
      </p:sp>
      <p:sp>
        <p:nvSpPr>
          <p:cNvPr id="3" name="Content Placeholder 2">
            <a:extLst>
              <a:ext uri="{FF2B5EF4-FFF2-40B4-BE49-F238E27FC236}">
                <a16:creationId xmlns:a16="http://schemas.microsoft.com/office/drawing/2014/main" id="{10990D24-2982-6244-F4E7-6ED86A53EE51}"/>
              </a:ext>
            </a:extLst>
          </p:cNvPr>
          <p:cNvSpPr>
            <a:spLocks noGrp="1"/>
          </p:cNvSpPr>
          <p:nvPr>
            <p:ph idx="1"/>
          </p:nvPr>
        </p:nvSpPr>
        <p:spPr/>
        <p:txBody>
          <a:bodyPr/>
          <a:lstStyle/>
          <a:p>
            <a:r>
              <a:rPr lang="en-US" dirty="0"/>
              <a:t>Association </a:t>
            </a:r>
          </a:p>
          <a:p>
            <a:pPr lvl="1"/>
            <a:r>
              <a:rPr lang="en-US" dirty="0"/>
              <a:t>Directional</a:t>
            </a:r>
          </a:p>
          <a:p>
            <a:pPr lvl="1"/>
            <a:r>
              <a:rPr lang="en-US" dirty="0"/>
              <a:t>Cardinality</a:t>
            </a:r>
          </a:p>
          <a:p>
            <a:r>
              <a:rPr lang="en-US" dirty="0"/>
              <a:t>Generalization (inheritance)</a:t>
            </a:r>
          </a:p>
          <a:p>
            <a:r>
              <a:rPr lang="en-US" dirty="0"/>
              <a:t>Realization (interface implementation)</a:t>
            </a:r>
          </a:p>
          <a:p>
            <a:r>
              <a:rPr lang="en-US" dirty="0"/>
              <a:t>Aggregation</a:t>
            </a:r>
          </a:p>
          <a:p>
            <a:r>
              <a:rPr lang="en-US" dirty="0"/>
              <a:t>Composition</a:t>
            </a:r>
          </a:p>
          <a:p>
            <a:endParaRPr lang="en-US" dirty="0"/>
          </a:p>
        </p:txBody>
      </p:sp>
      <p:pic>
        <p:nvPicPr>
          <p:cNvPr id="10" name="Picture 9">
            <a:extLst>
              <a:ext uri="{FF2B5EF4-FFF2-40B4-BE49-F238E27FC236}">
                <a16:creationId xmlns:a16="http://schemas.microsoft.com/office/drawing/2014/main" id="{16A5C90A-E9B5-9089-FC68-ABF9CE83E4B5}"/>
              </a:ext>
            </a:extLst>
          </p:cNvPr>
          <p:cNvPicPr>
            <a:picLocks noChangeAspect="1"/>
          </p:cNvPicPr>
          <p:nvPr/>
        </p:nvPicPr>
        <p:blipFill>
          <a:blip r:embed="rId3"/>
          <a:stretch>
            <a:fillRect/>
          </a:stretch>
        </p:blipFill>
        <p:spPr>
          <a:xfrm>
            <a:off x="7559370" y="1257300"/>
            <a:ext cx="4318000" cy="2171700"/>
          </a:xfrm>
          <a:prstGeom prst="rect">
            <a:avLst/>
          </a:prstGeom>
        </p:spPr>
      </p:pic>
      <p:pic>
        <p:nvPicPr>
          <p:cNvPr id="11" name="Picture 10">
            <a:extLst>
              <a:ext uri="{FF2B5EF4-FFF2-40B4-BE49-F238E27FC236}">
                <a16:creationId xmlns:a16="http://schemas.microsoft.com/office/drawing/2014/main" id="{79C042BB-0E52-0058-A270-395CFCD0FCBA}"/>
              </a:ext>
            </a:extLst>
          </p:cNvPr>
          <p:cNvPicPr>
            <a:picLocks noChangeAspect="1"/>
          </p:cNvPicPr>
          <p:nvPr/>
        </p:nvPicPr>
        <p:blipFill>
          <a:blip r:embed="rId4"/>
          <a:stretch>
            <a:fillRect/>
          </a:stretch>
        </p:blipFill>
        <p:spPr>
          <a:xfrm>
            <a:off x="10912170" y="3708397"/>
            <a:ext cx="965200" cy="2184400"/>
          </a:xfrm>
          <a:prstGeom prst="rect">
            <a:avLst/>
          </a:prstGeom>
        </p:spPr>
      </p:pic>
    </p:spTree>
    <p:extLst>
      <p:ext uri="{BB962C8B-B14F-4D97-AF65-F5344CB8AC3E}">
        <p14:creationId xmlns:p14="http://schemas.microsoft.com/office/powerpoint/2010/main" val="2839343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DFEC-6AA4-5685-98BC-94002399C173}"/>
              </a:ext>
            </a:extLst>
          </p:cNvPr>
          <p:cNvSpPr>
            <a:spLocks noGrp="1"/>
          </p:cNvSpPr>
          <p:nvPr>
            <p:ph type="title"/>
          </p:nvPr>
        </p:nvSpPr>
        <p:spPr/>
        <p:txBody>
          <a:bodyPr/>
          <a:lstStyle/>
          <a:p>
            <a:r>
              <a:rPr lang="en-US" dirty="0"/>
              <a:t>Association</a:t>
            </a:r>
          </a:p>
        </p:txBody>
      </p:sp>
      <p:pic>
        <p:nvPicPr>
          <p:cNvPr id="8" name="Content Placeholder 7" descr="A diagram of a user&#10;&#10;Description automatically generated">
            <a:extLst>
              <a:ext uri="{FF2B5EF4-FFF2-40B4-BE49-F238E27FC236}">
                <a16:creationId xmlns:a16="http://schemas.microsoft.com/office/drawing/2014/main" id="{7C0BC800-2534-2E98-6B14-8927584A64E9}"/>
              </a:ext>
            </a:extLst>
          </p:cNvPr>
          <p:cNvPicPr>
            <a:picLocks noGrp="1" noChangeAspect="1"/>
          </p:cNvPicPr>
          <p:nvPr>
            <p:ph idx="1"/>
          </p:nvPr>
        </p:nvPicPr>
        <p:blipFill>
          <a:blip r:embed="rId2"/>
          <a:stretch>
            <a:fillRect/>
          </a:stretch>
        </p:blipFill>
        <p:spPr>
          <a:xfrm>
            <a:off x="3872161" y="1794045"/>
            <a:ext cx="7710239" cy="4564063"/>
          </a:xfrm>
        </p:spPr>
      </p:pic>
      <p:pic>
        <p:nvPicPr>
          <p:cNvPr id="9" name="Picture 8">
            <a:extLst>
              <a:ext uri="{FF2B5EF4-FFF2-40B4-BE49-F238E27FC236}">
                <a16:creationId xmlns:a16="http://schemas.microsoft.com/office/drawing/2014/main" id="{79D39619-C264-024A-6AF5-22C18B64C4B1}"/>
              </a:ext>
            </a:extLst>
          </p:cNvPr>
          <p:cNvPicPr>
            <a:picLocks noChangeAspect="1"/>
          </p:cNvPicPr>
          <p:nvPr/>
        </p:nvPicPr>
        <p:blipFill>
          <a:blip r:embed="rId3"/>
          <a:stretch>
            <a:fillRect/>
          </a:stretch>
        </p:blipFill>
        <p:spPr>
          <a:xfrm>
            <a:off x="7167826" y="3644174"/>
            <a:ext cx="1160940" cy="771072"/>
          </a:xfrm>
          <a:prstGeom prst="rect">
            <a:avLst/>
          </a:prstGeom>
        </p:spPr>
      </p:pic>
    </p:spTree>
    <p:extLst>
      <p:ext uri="{BB962C8B-B14F-4D97-AF65-F5344CB8AC3E}">
        <p14:creationId xmlns:p14="http://schemas.microsoft.com/office/powerpoint/2010/main" val="2661048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3D81B-FCEA-0182-DD76-A09E90B791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ED3CF-8AA1-0ED4-617F-E5BC81B27C7B}"/>
              </a:ext>
            </a:extLst>
          </p:cNvPr>
          <p:cNvSpPr>
            <a:spLocks noGrp="1"/>
          </p:cNvSpPr>
          <p:nvPr>
            <p:ph type="title"/>
          </p:nvPr>
        </p:nvSpPr>
        <p:spPr/>
        <p:txBody>
          <a:bodyPr/>
          <a:lstStyle/>
          <a:p>
            <a:r>
              <a:rPr lang="en-US" dirty="0"/>
              <a:t>Cardinality</a:t>
            </a:r>
          </a:p>
        </p:txBody>
      </p:sp>
      <p:sp>
        <p:nvSpPr>
          <p:cNvPr id="4" name="Content Placeholder 3">
            <a:extLst>
              <a:ext uri="{FF2B5EF4-FFF2-40B4-BE49-F238E27FC236}">
                <a16:creationId xmlns:a16="http://schemas.microsoft.com/office/drawing/2014/main" id="{F66F00F0-77E3-AC75-550D-7EA77AE8499B}"/>
              </a:ext>
            </a:extLst>
          </p:cNvPr>
          <p:cNvSpPr>
            <a:spLocks noGrp="1"/>
          </p:cNvSpPr>
          <p:nvPr>
            <p:ph idx="1"/>
          </p:nvPr>
        </p:nvSpPr>
        <p:spPr/>
        <p:txBody>
          <a:bodyPr/>
          <a:lstStyle/>
          <a:p>
            <a:r>
              <a:rPr lang="en-US" dirty="0"/>
              <a:t>1 Only 1</a:t>
            </a:r>
          </a:p>
          <a:p>
            <a:r>
              <a:rPr lang="en-US" dirty="0"/>
              <a:t>0..1 Zero or One</a:t>
            </a:r>
          </a:p>
          <a:p>
            <a:r>
              <a:rPr lang="en-US" dirty="0"/>
              <a:t>1..* One or more</a:t>
            </a:r>
          </a:p>
          <a:p>
            <a:r>
              <a:rPr lang="en-US" dirty="0"/>
              <a:t>* Many</a:t>
            </a:r>
          </a:p>
          <a:p>
            <a:r>
              <a:rPr lang="en-US" dirty="0"/>
              <a:t>n n (where n&gt;1)</a:t>
            </a:r>
          </a:p>
          <a:p>
            <a:r>
              <a:rPr lang="en-US" dirty="0"/>
              <a:t>0..n zero to n (where n&gt;1)</a:t>
            </a:r>
          </a:p>
          <a:p>
            <a:r>
              <a:rPr lang="en-US" dirty="0"/>
              <a:t>1..n one to n (where n&gt;1)</a:t>
            </a:r>
          </a:p>
          <a:p>
            <a:pPr marL="0" indent="0">
              <a:buNone/>
            </a:pPr>
            <a:endParaRPr lang="en-US" dirty="0"/>
          </a:p>
        </p:txBody>
      </p:sp>
      <p:pic>
        <p:nvPicPr>
          <p:cNvPr id="5" name="Picture 4">
            <a:extLst>
              <a:ext uri="{FF2B5EF4-FFF2-40B4-BE49-F238E27FC236}">
                <a16:creationId xmlns:a16="http://schemas.microsoft.com/office/drawing/2014/main" id="{5E12318A-7E09-350A-901B-AAE1A15F1263}"/>
              </a:ext>
            </a:extLst>
          </p:cNvPr>
          <p:cNvPicPr>
            <a:picLocks noChangeAspect="1"/>
          </p:cNvPicPr>
          <p:nvPr/>
        </p:nvPicPr>
        <p:blipFill>
          <a:blip r:embed="rId3"/>
          <a:stretch>
            <a:fillRect/>
          </a:stretch>
        </p:blipFill>
        <p:spPr>
          <a:xfrm>
            <a:off x="7650018" y="2298700"/>
            <a:ext cx="3403600" cy="2260600"/>
          </a:xfrm>
          <a:prstGeom prst="rect">
            <a:avLst/>
          </a:prstGeom>
        </p:spPr>
      </p:pic>
    </p:spTree>
    <p:extLst>
      <p:ext uri="{BB962C8B-B14F-4D97-AF65-F5344CB8AC3E}">
        <p14:creationId xmlns:p14="http://schemas.microsoft.com/office/powerpoint/2010/main" val="3304802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7094A-4AAF-DB61-4A91-02F2A41FB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853FC2-1CBB-9860-CF81-A1646C2E4996}"/>
              </a:ext>
            </a:extLst>
          </p:cNvPr>
          <p:cNvSpPr>
            <a:spLocks noGrp="1"/>
          </p:cNvSpPr>
          <p:nvPr>
            <p:ph type="title"/>
          </p:nvPr>
        </p:nvSpPr>
        <p:spPr/>
        <p:txBody>
          <a:bodyPr/>
          <a:lstStyle/>
          <a:p>
            <a:r>
              <a:rPr lang="en-US" dirty="0"/>
              <a:t>Generalization (inheritance)</a:t>
            </a:r>
          </a:p>
        </p:txBody>
      </p:sp>
      <p:pic>
        <p:nvPicPr>
          <p:cNvPr id="7" name="Picture 6">
            <a:extLst>
              <a:ext uri="{FF2B5EF4-FFF2-40B4-BE49-F238E27FC236}">
                <a16:creationId xmlns:a16="http://schemas.microsoft.com/office/drawing/2014/main" id="{A711F2F6-9C8C-594B-9509-F232220B5A3B}"/>
              </a:ext>
            </a:extLst>
          </p:cNvPr>
          <p:cNvPicPr>
            <a:picLocks noChangeAspect="1"/>
          </p:cNvPicPr>
          <p:nvPr/>
        </p:nvPicPr>
        <p:blipFill>
          <a:blip r:embed="rId3"/>
          <a:stretch>
            <a:fillRect/>
          </a:stretch>
        </p:blipFill>
        <p:spPr>
          <a:xfrm>
            <a:off x="2500745" y="1757249"/>
            <a:ext cx="7772400" cy="4600859"/>
          </a:xfrm>
          <a:prstGeom prst="rect">
            <a:avLst/>
          </a:prstGeom>
        </p:spPr>
      </p:pic>
    </p:spTree>
    <p:extLst>
      <p:ext uri="{BB962C8B-B14F-4D97-AF65-F5344CB8AC3E}">
        <p14:creationId xmlns:p14="http://schemas.microsoft.com/office/powerpoint/2010/main" val="10257210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2043-52EA-CFAC-A633-4BDE21CD7F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E63B87-8C2E-EE23-2842-C8573CA56E36}"/>
              </a:ext>
            </a:extLst>
          </p:cNvPr>
          <p:cNvSpPr>
            <a:spLocks noGrp="1"/>
          </p:cNvSpPr>
          <p:nvPr>
            <p:ph type="title"/>
          </p:nvPr>
        </p:nvSpPr>
        <p:spPr/>
        <p:txBody>
          <a:bodyPr/>
          <a:lstStyle/>
          <a:p>
            <a:r>
              <a:rPr lang="en-US" dirty="0"/>
              <a:t>Realization</a:t>
            </a:r>
          </a:p>
        </p:txBody>
      </p:sp>
      <p:pic>
        <p:nvPicPr>
          <p:cNvPr id="5" name="Picture 4">
            <a:extLst>
              <a:ext uri="{FF2B5EF4-FFF2-40B4-BE49-F238E27FC236}">
                <a16:creationId xmlns:a16="http://schemas.microsoft.com/office/drawing/2014/main" id="{26F99686-BB16-7D4C-475D-6F1C323C0B7B}"/>
              </a:ext>
            </a:extLst>
          </p:cNvPr>
          <p:cNvPicPr>
            <a:picLocks noChangeAspect="1"/>
          </p:cNvPicPr>
          <p:nvPr/>
        </p:nvPicPr>
        <p:blipFill>
          <a:blip r:embed="rId3"/>
          <a:stretch>
            <a:fillRect/>
          </a:stretch>
        </p:blipFill>
        <p:spPr>
          <a:xfrm>
            <a:off x="2556163" y="1757249"/>
            <a:ext cx="7772400" cy="4600859"/>
          </a:xfrm>
          <a:prstGeom prst="rect">
            <a:avLst/>
          </a:prstGeom>
        </p:spPr>
      </p:pic>
    </p:spTree>
    <p:extLst>
      <p:ext uri="{BB962C8B-B14F-4D97-AF65-F5344CB8AC3E}">
        <p14:creationId xmlns:p14="http://schemas.microsoft.com/office/powerpoint/2010/main" val="2261836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8B98-080C-D5CA-8FF0-B158550FDE97}"/>
              </a:ext>
            </a:extLst>
          </p:cNvPr>
          <p:cNvSpPr>
            <a:spLocks noGrp="1"/>
          </p:cNvSpPr>
          <p:nvPr>
            <p:ph type="title"/>
          </p:nvPr>
        </p:nvSpPr>
        <p:spPr/>
        <p:txBody>
          <a:bodyPr/>
          <a:lstStyle/>
          <a:p>
            <a:r>
              <a:rPr lang="en-US" dirty="0"/>
              <a:t>Aggregation</a:t>
            </a:r>
          </a:p>
        </p:txBody>
      </p:sp>
      <p:pic>
        <p:nvPicPr>
          <p:cNvPr id="5" name="Picture 4">
            <a:extLst>
              <a:ext uri="{FF2B5EF4-FFF2-40B4-BE49-F238E27FC236}">
                <a16:creationId xmlns:a16="http://schemas.microsoft.com/office/drawing/2014/main" id="{BCD5AEA3-5C6F-0557-4639-35435149B1EF}"/>
              </a:ext>
            </a:extLst>
          </p:cNvPr>
          <p:cNvPicPr>
            <a:picLocks noChangeAspect="1"/>
          </p:cNvPicPr>
          <p:nvPr/>
        </p:nvPicPr>
        <p:blipFill>
          <a:blip r:embed="rId3"/>
          <a:stretch>
            <a:fillRect/>
          </a:stretch>
        </p:blipFill>
        <p:spPr>
          <a:xfrm>
            <a:off x="4003964" y="1879295"/>
            <a:ext cx="6199908" cy="3670025"/>
          </a:xfrm>
          <a:prstGeom prst="rect">
            <a:avLst/>
          </a:prstGeom>
        </p:spPr>
      </p:pic>
    </p:spTree>
    <p:extLst>
      <p:ext uri="{BB962C8B-B14F-4D97-AF65-F5344CB8AC3E}">
        <p14:creationId xmlns:p14="http://schemas.microsoft.com/office/powerpoint/2010/main" val="3745905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5E2E3-137B-C5A2-94B2-67F2FC570D37}"/>
              </a:ext>
            </a:extLst>
          </p:cNvPr>
          <p:cNvSpPr>
            <a:spLocks noGrp="1"/>
          </p:cNvSpPr>
          <p:nvPr>
            <p:ph type="title"/>
          </p:nvPr>
        </p:nvSpPr>
        <p:spPr/>
        <p:txBody>
          <a:bodyPr/>
          <a:lstStyle/>
          <a:p>
            <a:r>
              <a:rPr lang="en-US" dirty="0"/>
              <a:t>Composition</a:t>
            </a:r>
          </a:p>
        </p:txBody>
      </p:sp>
      <p:pic>
        <p:nvPicPr>
          <p:cNvPr id="3" name="Picture 2">
            <a:extLst>
              <a:ext uri="{FF2B5EF4-FFF2-40B4-BE49-F238E27FC236}">
                <a16:creationId xmlns:a16="http://schemas.microsoft.com/office/drawing/2014/main" id="{008CED49-6B70-AF8F-2B52-58A79E51C690}"/>
              </a:ext>
            </a:extLst>
          </p:cNvPr>
          <p:cNvPicPr>
            <a:picLocks noChangeAspect="1"/>
          </p:cNvPicPr>
          <p:nvPr/>
        </p:nvPicPr>
        <p:blipFill>
          <a:blip r:embed="rId2"/>
          <a:stretch>
            <a:fillRect/>
          </a:stretch>
        </p:blipFill>
        <p:spPr>
          <a:xfrm>
            <a:off x="2694709" y="1627334"/>
            <a:ext cx="7772400" cy="4600859"/>
          </a:xfrm>
          <a:prstGeom prst="rect">
            <a:avLst/>
          </a:prstGeom>
        </p:spPr>
      </p:pic>
    </p:spTree>
    <p:extLst>
      <p:ext uri="{BB962C8B-B14F-4D97-AF65-F5344CB8AC3E}">
        <p14:creationId xmlns:p14="http://schemas.microsoft.com/office/powerpoint/2010/main" val="1889572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B3D62-D48A-65B6-7E5D-2A8D268A2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2D526-A6AC-E97A-5701-B7885A9C6687}"/>
              </a:ext>
            </a:extLst>
          </p:cNvPr>
          <p:cNvSpPr>
            <a:spLocks noGrp="1"/>
          </p:cNvSpPr>
          <p:nvPr>
            <p:ph type="title"/>
          </p:nvPr>
        </p:nvSpPr>
        <p:spPr/>
        <p:txBody>
          <a:bodyPr/>
          <a:lstStyle/>
          <a:p>
            <a:r>
              <a:rPr lang="en-US" dirty="0"/>
              <a:t>Composition vs. Aggregation</a:t>
            </a:r>
          </a:p>
        </p:txBody>
      </p:sp>
      <p:sp>
        <p:nvSpPr>
          <p:cNvPr id="4" name="TextBox 3">
            <a:extLst>
              <a:ext uri="{FF2B5EF4-FFF2-40B4-BE49-F238E27FC236}">
                <a16:creationId xmlns:a16="http://schemas.microsoft.com/office/drawing/2014/main" id="{BC0CCA6C-861A-1F2F-43D5-7F9A34BD3289}"/>
              </a:ext>
            </a:extLst>
          </p:cNvPr>
          <p:cNvSpPr txBox="1"/>
          <p:nvPr/>
        </p:nvSpPr>
        <p:spPr>
          <a:xfrm>
            <a:off x="609600" y="2214155"/>
            <a:ext cx="10837582" cy="3416320"/>
          </a:xfrm>
          <a:prstGeom prst="rect">
            <a:avLst/>
          </a:prstGeom>
          <a:noFill/>
        </p:spPr>
        <p:txBody>
          <a:bodyPr wrap="none" rtlCol="0">
            <a:spAutoFit/>
          </a:bodyPr>
          <a:lstStyle/>
          <a:p>
            <a:r>
              <a:rPr lang="en-US" sz="3600" dirty="0">
                <a:solidFill>
                  <a:srgbClr val="FF0000"/>
                </a:solidFill>
              </a:rPr>
              <a:t>MYTH</a:t>
            </a:r>
            <a:r>
              <a:rPr lang="en-US" sz="3600" dirty="0">
                <a:solidFill>
                  <a:schemeClr val="bg1"/>
                </a:solidFill>
              </a:rPr>
              <a:t>: Aggregation is about </a:t>
            </a:r>
            <a:r>
              <a:rPr lang="en-US" sz="3600" b="1" dirty="0">
                <a:solidFill>
                  <a:schemeClr val="bg1"/>
                </a:solidFill>
              </a:rPr>
              <a:t>cardinality</a:t>
            </a:r>
          </a:p>
          <a:p>
            <a:endParaRPr lang="en-US" sz="3600" dirty="0">
              <a:solidFill>
                <a:schemeClr val="bg1"/>
              </a:solidFill>
            </a:endParaRPr>
          </a:p>
          <a:p>
            <a:r>
              <a:rPr lang="en-US" sz="3600" dirty="0">
                <a:solidFill>
                  <a:srgbClr val="00B050"/>
                </a:solidFill>
              </a:rPr>
              <a:t>TRUTH</a:t>
            </a:r>
            <a:r>
              <a:rPr lang="en-US" sz="3600" dirty="0">
                <a:solidFill>
                  <a:schemeClr val="bg1"/>
                </a:solidFill>
              </a:rPr>
              <a:t>: The difference is about the object lifecycle! </a:t>
            </a:r>
          </a:p>
          <a:p>
            <a:pPr algn="ctr"/>
            <a:br>
              <a:rPr lang="en-US" sz="3600" dirty="0">
                <a:solidFill>
                  <a:schemeClr val="bg1"/>
                </a:solidFill>
              </a:rPr>
            </a:br>
            <a:br>
              <a:rPr lang="en-US" sz="3600" dirty="0">
                <a:solidFill>
                  <a:schemeClr val="bg1"/>
                </a:solidFill>
              </a:rPr>
            </a:br>
            <a:r>
              <a:rPr lang="en-US" sz="3600" dirty="0">
                <a:solidFill>
                  <a:srgbClr val="00B050"/>
                </a:solidFill>
              </a:rPr>
              <a:t>&gt;&gt;</a:t>
            </a:r>
            <a:r>
              <a:rPr lang="en-US" sz="3600" dirty="0">
                <a:solidFill>
                  <a:schemeClr val="bg1"/>
                </a:solidFill>
              </a:rPr>
              <a:t> </a:t>
            </a:r>
            <a:r>
              <a:rPr lang="en-US" sz="3600" b="1" dirty="0">
                <a:solidFill>
                  <a:schemeClr val="bg1"/>
                </a:solidFill>
              </a:rPr>
              <a:t>Can the part live without the whole? </a:t>
            </a:r>
            <a:r>
              <a:rPr lang="en-US" sz="3600" dirty="0">
                <a:solidFill>
                  <a:schemeClr val="bg1"/>
                </a:solidFill>
              </a:rPr>
              <a:t> </a:t>
            </a:r>
            <a:r>
              <a:rPr lang="en-US" sz="3600" dirty="0">
                <a:solidFill>
                  <a:srgbClr val="00B050"/>
                </a:solidFill>
              </a:rPr>
              <a:t>&lt;&lt;</a:t>
            </a:r>
          </a:p>
        </p:txBody>
      </p:sp>
    </p:spTree>
    <p:extLst>
      <p:ext uri="{BB962C8B-B14F-4D97-AF65-F5344CB8AC3E}">
        <p14:creationId xmlns:p14="http://schemas.microsoft.com/office/powerpoint/2010/main" val="3949588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7DA3D-3588-13C1-0FAD-36A568A27E5C}"/>
              </a:ext>
            </a:extLst>
          </p:cNvPr>
          <p:cNvSpPr>
            <a:spLocks noGrp="1"/>
          </p:cNvSpPr>
          <p:nvPr>
            <p:ph type="title"/>
          </p:nvPr>
        </p:nvSpPr>
        <p:spPr/>
        <p:txBody>
          <a:bodyPr/>
          <a:lstStyle/>
          <a:p>
            <a:r>
              <a:rPr lang="en-US" dirty="0"/>
              <a:t>Optional exercise</a:t>
            </a:r>
          </a:p>
        </p:txBody>
      </p:sp>
      <p:sp>
        <p:nvSpPr>
          <p:cNvPr id="3" name="Content Placeholder 2">
            <a:extLst>
              <a:ext uri="{FF2B5EF4-FFF2-40B4-BE49-F238E27FC236}">
                <a16:creationId xmlns:a16="http://schemas.microsoft.com/office/drawing/2014/main" id="{A0040D10-B366-0049-D513-CA114E27FFB1}"/>
              </a:ext>
            </a:extLst>
          </p:cNvPr>
          <p:cNvSpPr>
            <a:spLocks noGrp="1"/>
          </p:cNvSpPr>
          <p:nvPr>
            <p:ph idx="1"/>
          </p:nvPr>
        </p:nvSpPr>
        <p:spPr/>
        <p:txBody>
          <a:bodyPr/>
          <a:lstStyle/>
          <a:p>
            <a:r>
              <a:rPr lang="en-US" dirty="0"/>
              <a:t>Implement the example classes</a:t>
            </a:r>
          </a:p>
          <a:p>
            <a:pPr lvl="1"/>
            <a:r>
              <a:rPr lang="en-US" dirty="0"/>
              <a:t>Use float instead of double</a:t>
            </a:r>
          </a:p>
          <a:p>
            <a:pPr lvl="1"/>
            <a:r>
              <a:rPr lang="en-US" dirty="0"/>
              <a:t>Use </a:t>
            </a:r>
            <a:r>
              <a:rPr lang="en-US" dirty="0" err="1"/>
              <a:t>snake_case</a:t>
            </a:r>
            <a:endParaRPr lang="en-US" dirty="0"/>
          </a:p>
          <a:p>
            <a:pPr lvl="1"/>
            <a:r>
              <a:rPr lang="en-US" dirty="0"/>
              <a:t>Add an if/name/main to add relationships that are established at runtime</a:t>
            </a:r>
          </a:p>
        </p:txBody>
      </p:sp>
    </p:spTree>
    <p:extLst>
      <p:ext uri="{BB962C8B-B14F-4D97-AF65-F5344CB8AC3E}">
        <p14:creationId xmlns:p14="http://schemas.microsoft.com/office/powerpoint/2010/main" val="3468135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1D955-9B27-87B8-D1EA-8D2AD648678A}"/>
              </a:ext>
            </a:extLst>
          </p:cNvPr>
          <p:cNvSpPr>
            <a:spLocks noGrp="1"/>
          </p:cNvSpPr>
          <p:nvPr>
            <p:ph type="title"/>
          </p:nvPr>
        </p:nvSpPr>
        <p:spPr/>
        <p:txBody>
          <a:bodyPr/>
          <a:lstStyle/>
          <a:p>
            <a:r>
              <a:rPr lang="en-US" dirty="0"/>
              <a:t>Tooling</a:t>
            </a:r>
          </a:p>
        </p:txBody>
      </p:sp>
      <p:sp>
        <p:nvSpPr>
          <p:cNvPr id="3" name="Content Placeholder 2">
            <a:extLst>
              <a:ext uri="{FF2B5EF4-FFF2-40B4-BE49-F238E27FC236}">
                <a16:creationId xmlns:a16="http://schemas.microsoft.com/office/drawing/2014/main" id="{5E1343D1-00EF-AD36-3545-DB2C97CAA745}"/>
              </a:ext>
            </a:extLst>
          </p:cNvPr>
          <p:cNvSpPr>
            <a:spLocks noGrp="1"/>
          </p:cNvSpPr>
          <p:nvPr>
            <p:ph idx="1"/>
          </p:nvPr>
        </p:nvSpPr>
        <p:spPr/>
        <p:txBody>
          <a:bodyPr/>
          <a:lstStyle/>
          <a:p>
            <a:r>
              <a:rPr lang="en-US" dirty="0"/>
              <a:t>Many IDEs can generate class diagrams from source but they don’t generally model relationships other than generalization/realization</a:t>
            </a:r>
          </a:p>
          <a:p>
            <a:r>
              <a:rPr lang="en-US" dirty="0"/>
              <a:t>Plenty of UML tools out there</a:t>
            </a:r>
          </a:p>
          <a:p>
            <a:r>
              <a:rPr lang="en-US" dirty="0"/>
              <a:t>Personal favorite: Mermaid</a:t>
            </a:r>
          </a:p>
          <a:p>
            <a:pPr lvl="1"/>
            <a:r>
              <a:rPr lang="en-US" dirty="0"/>
              <a:t>JavaScript only</a:t>
            </a:r>
          </a:p>
          <a:p>
            <a:pPr lvl="1"/>
            <a:r>
              <a:rPr lang="en-US" dirty="0"/>
              <a:t>Markdown friendly</a:t>
            </a:r>
          </a:p>
          <a:p>
            <a:pPr lvl="1"/>
            <a:r>
              <a:rPr lang="en-US" dirty="0"/>
              <a:t>Implemented in GitHub, PyCharm, </a:t>
            </a:r>
            <a:r>
              <a:rPr lang="en-US" dirty="0" err="1"/>
              <a:t>vscode</a:t>
            </a:r>
            <a:r>
              <a:rPr lang="en-US" dirty="0"/>
              <a:t>, and more.</a:t>
            </a:r>
          </a:p>
        </p:txBody>
      </p:sp>
    </p:spTree>
    <p:extLst>
      <p:ext uri="{BB962C8B-B14F-4D97-AF65-F5344CB8AC3E}">
        <p14:creationId xmlns:p14="http://schemas.microsoft.com/office/powerpoint/2010/main" val="3718109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6B499-87B5-9D07-5843-A536B09B36B0}"/>
              </a:ext>
            </a:extLst>
          </p:cNvPr>
          <p:cNvSpPr>
            <a:spLocks noGrp="1"/>
          </p:cNvSpPr>
          <p:nvPr>
            <p:ph type="title"/>
          </p:nvPr>
        </p:nvSpPr>
        <p:spPr/>
        <p:txBody>
          <a:bodyPr/>
          <a:lstStyle/>
          <a:p>
            <a:r>
              <a:rPr lang="en-US" dirty="0"/>
              <a:t>What is remote deployment</a:t>
            </a:r>
          </a:p>
        </p:txBody>
      </p:sp>
      <p:sp>
        <p:nvSpPr>
          <p:cNvPr id="3" name="Content Placeholder 2">
            <a:extLst>
              <a:ext uri="{FF2B5EF4-FFF2-40B4-BE49-F238E27FC236}">
                <a16:creationId xmlns:a16="http://schemas.microsoft.com/office/drawing/2014/main" id="{60D56AC5-D933-7275-14E1-BC049D9AD88E}"/>
              </a:ext>
            </a:extLst>
          </p:cNvPr>
          <p:cNvSpPr>
            <a:spLocks noGrp="1"/>
          </p:cNvSpPr>
          <p:nvPr>
            <p:ph idx="1"/>
          </p:nvPr>
        </p:nvSpPr>
        <p:spPr/>
        <p:txBody>
          <a:bodyPr/>
          <a:lstStyle/>
          <a:p>
            <a:r>
              <a:rPr lang="en-US" dirty="0"/>
              <a:t>If you develop code on machine A but run the code on machine B, this is remote deployment.</a:t>
            </a:r>
          </a:p>
          <a:p>
            <a:r>
              <a:rPr lang="en-US" dirty="0"/>
              <a:t>Machine B can be:</a:t>
            </a:r>
          </a:p>
          <a:p>
            <a:pPr lvl="1"/>
            <a:r>
              <a:rPr lang="en-US" dirty="0"/>
              <a:t>A different physical computer</a:t>
            </a:r>
          </a:p>
          <a:p>
            <a:pPr lvl="1"/>
            <a:r>
              <a:rPr lang="en-US" dirty="0"/>
              <a:t>An IoT device</a:t>
            </a:r>
          </a:p>
          <a:p>
            <a:pPr lvl="1"/>
            <a:r>
              <a:rPr lang="en-US" dirty="0"/>
              <a:t>A cloud service</a:t>
            </a:r>
          </a:p>
          <a:p>
            <a:pPr lvl="1"/>
            <a:r>
              <a:rPr lang="en-US" dirty="0"/>
              <a:t>A virtual machine or container*</a:t>
            </a:r>
          </a:p>
          <a:p>
            <a:endParaRPr lang="en-US" dirty="0"/>
          </a:p>
        </p:txBody>
      </p:sp>
    </p:spTree>
    <p:extLst>
      <p:ext uri="{BB962C8B-B14F-4D97-AF65-F5344CB8AC3E}">
        <p14:creationId xmlns:p14="http://schemas.microsoft.com/office/powerpoint/2010/main" val="15482937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EE06D-938B-C5EE-28C8-E1CBA97C025A}"/>
              </a:ext>
            </a:extLst>
          </p:cNvPr>
          <p:cNvSpPr>
            <a:spLocks noGrp="1"/>
          </p:cNvSpPr>
          <p:nvPr>
            <p:ph type="title"/>
          </p:nvPr>
        </p:nvSpPr>
        <p:spPr/>
        <p:txBody>
          <a:bodyPr/>
          <a:lstStyle/>
          <a:p>
            <a:r>
              <a:rPr lang="en-US" dirty="0"/>
              <a:t>Why it matters</a:t>
            </a:r>
          </a:p>
        </p:txBody>
      </p:sp>
      <p:sp>
        <p:nvSpPr>
          <p:cNvPr id="3" name="Content Placeholder 2">
            <a:extLst>
              <a:ext uri="{FF2B5EF4-FFF2-40B4-BE49-F238E27FC236}">
                <a16:creationId xmlns:a16="http://schemas.microsoft.com/office/drawing/2014/main" id="{E53AEA36-8B07-6850-F2AD-20D0873A57EC}"/>
              </a:ext>
            </a:extLst>
          </p:cNvPr>
          <p:cNvSpPr>
            <a:spLocks noGrp="1"/>
          </p:cNvSpPr>
          <p:nvPr>
            <p:ph idx="1"/>
          </p:nvPr>
        </p:nvSpPr>
        <p:spPr/>
        <p:txBody>
          <a:bodyPr/>
          <a:lstStyle/>
          <a:p>
            <a:r>
              <a:rPr lang="en-US" dirty="0"/>
              <a:t>(1) IoT devices seldom offer an IDE and a complete development environment</a:t>
            </a:r>
          </a:p>
          <a:p>
            <a:r>
              <a:rPr lang="en-US" dirty="0"/>
              <a:t>(2) Almost all cloud runs on VMs and containers running on remote machines</a:t>
            </a:r>
          </a:p>
          <a:p>
            <a:r>
              <a:rPr lang="en-US" dirty="0"/>
              <a:t>(3) The target execution platform is not always the platform you develop on:</a:t>
            </a:r>
          </a:p>
          <a:p>
            <a:pPr lvl="1"/>
            <a:r>
              <a:rPr lang="en-US" dirty="0"/>
              <a:t>E.g. mobile, Linux-&gt;Windows, Windows-&gt;Linux, OSX -&gt; Windows, </a:t>
            </a:r>
            <a:r>
              <a:rPr lang="en-US" dirty="0" err="1"/>
              <a:t>etc</a:t>
            </a:r>
            <a:r>
              <a:rPr lang="en-US" dirty="0"/>
              <a:t>….</a:t>
            </a:r>
          </a:p>
        </p:txBody>
      </p:sp>
    </p:spTree>
    <p:extLst>
      <p:ext uri="{BB962C8B-B14F-4D97-AF65-F5344CB8AC3E}">
        <p14:creationId xmlns:p14="http://schemas.microsoft.com/office/powerpoint/2010/main" val="2104869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5C7EE-4CF6-8D43-A16E-220DBE038194}"/>
              </a:ext>
            </a:extLst>
          </p:cNvPr>
          <p:cNvSpPr>
            <a:spLocks noGrp="1"/>
          </p:cNvSpPr>
          <p:nvPr>
            <p:ph type="title"/>
          </p:nvPr>
        </p:nvSpPr>
        <p:spPr/>
        <p:txBody>
          <a:bodyPr/>
          <a:lstStyle/>
          <a:p>
            <a:r>
              <a:rPr lang="en-US" dirty="0"/>
              <a:t>SSH and Remote Deployment</a:t>
            </a:r>
          </a:p>
        </p:txBody>
      </p:sp>
      <p:sp>
        <p:nvSpPr>
          <p:cNvPr id="3" name="Content Placeholder 2">
            <a:extLst>
              <a:ext uri="{FF2B5EF4-FFF2-40B4-BE49-F238E27FC236}">
                <a16:creationId xmlns:a16="http://schemas.microsoft.com/office/drawing/2014/main" id="{7E9E91E2-B077-C245-83C7-02737650E1EE}"/>
              </a:ext>
            </a:extLst>
          </p:cNvPr>
          <p:cNvSpPr>
            <a:spLocks noGrp="1"/>
          </p:cNvSpPr>
          <p:nvPr>
            <p:ph idx="1"/>
          </p:nvPr>
        </p:nvSpPr>
        <p:spPr/>
        <p:txBody>
          <a:bodyPr>
            <a:normAutofit fontScale="92500" lnSpcReduction="10000"/>
          </a:bodyPr>
          <a:lstStyle/>
          <a:p>
            <a:r>
              <a:rPr lang="en-US" dirty="0"/>
              <a:t>SSH = Secure </a:t>
            </a:r>
            <a:r>
              <a:rPr lang="en-US" dirty="0" err="1"/>
              <a:t>SHell</a:t>
            </a:r>
            <a:endParaRPr lang="en-US" dirty="0"/>
          </a:p>
          <a:p>
            <a:r>
              <a:rPr lang="en-US" dirty="0"/>
              <a:t>Protocol for providing a command line on a remote computer</a:t>
            </a:r>
          </a:p>
          <a:p>
            <a:r>
              <a:rPr lang="en-US" dirty="0"/>
              <a:t>Most common way to connect to a remote *NIX based machine (physical or virtual)</a:t>
            </a:r>
          </a:p>
          <a:p>
            <a:r>
              <a:rPr lang="en-US" dirty="0"/>
              <a:t>Doesn’t require a GUI on the remote machine – suitable for stripped down environments</a:t>
            </a:r>
          </a:p>
          <a:p>
            <a:r>
              <a:rPr lang="en-US" dirty="0"/>
              <a:t>Secure</a:t>
            </a:r>
          </a:p>
          <a:p>
            <a:r>
              <a:rPr lang="en-US" dirty="0"/>
              <a:t>SSH has been part of *NIX for a long time and more recently is available by default on most Windows distributions</a:t>
            </a:r>
          </a:p>
        </p:txBody>
      </p:sp>
    </p:spTree>
    <p:extLst>
      <p:ext uri="{BB962C8B-B14F-4D97-AF65-F5344CB8AC3E}">
        <p14:creationId xmlns:p14="http://schemas.microsoft.com/office/powerpoint/2010/main" val="2721711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EEBB-7FDB-FB40-962B-99CF59EBB9CC}"/>
              </a:ext>
            </a:extLst>
          </p:cNvPr>
          <p:cNvSpPr>
            <a:spLocks noGrp="1"/>
          </p:cNvSpPr>
          <p:nvPr>
            <p:ph type="title"/>
          </p:nvPr>
        </p:nvSpPr>
        <p:spPr/>
        <p:txBody>
          <a:bodyPr>
            <a:normAutofit/>
          </a:bodyPr>
          <a:lstStyle/>
          <a:p>
            <a:r>
              <a:rPr lang="en-US" dirty="0"/>
              <a:t>Run commands remotely: SSH</a:t>
            </a:r>
          </a:p>
        </p:txBody>
      </p:sp>
      <p:sp>
        <p:nvSpPr>
          <p:cNvPr id="3" name="Content Placeholder 2">
            <a:extLst>
              <a:ext uri="{FF2B5EF4-FFF2-40B4-BE49-F238E27FC236}">
                <a16:creationId xmlns:a16="http://schemas.microsoft.com/office/drawing/2014/main" id="{B72685D5-9178-5A45-B04D-CDF8143A100F}"/>
              </a:ext>
            </a:extLst>
          </p:cNvPr>
          <p:cNvSpPr>
            <a:spLocks noGrp="1"/>
          </p:cNvSpPr>
          <p:nvPr>
            <p:ph idx="1"/>
          </p:nvPr>
        </p:nvSpPr>
        <p:spPr/>
        <p:txBody>
          <a:bodyPr/>
          <a:lstStyle/>
          <a:p>
            <a:pPr lvl="1"/>
            <a:r>
              <a:rPr lang="en-US" dirty="0"/>
              <a:t>Check if </a:t>
            </a:r>
            <a:r>
              <a:rPr lang="en-US" dirty="0" err="1"/>
              <a:t>ssh</a:t>
            </a:r>
            <a:r>
              <a:rPr lang="en-US" dirty="0"/>
              <a:t> is installed:</a:t>
            </a:r>
          </a:p>
          <a:p>
            <a:pPr lvl="2"/>
            <a:r>
              <a:rPr lang="en-US" dirty="0" err="1"/>
              <a:t>ssh</a:t>
            </a:r>
            <a:r>
              <a:rPr lang="en-US" dirty="0"/>
              <a:t> -V</a:t>
            </a:r>
          </a:p>
        </p:txBody>
      </p:sp>
      <p:pic>
        <p:nvPicPr>
          <p:cNvPr id="5" name="Picture 4">
            <a:extLst>
              <a:ext uri="{FF2B5EF4-FFF2-40B4-BE49-F238E27FC236}">
                <a16:creationId xmlns:a16="http://schemas.microsoft.com/office/drawing/2014/main" id="{1444DB0B-2E09-ED09-B3B6-BE84588B4BB7}"/>
              </a:ext>
            </a:extLst>
          </p:cNvPr>
          <p:cNvPicPr>
            <a:picLocks noChangeAspect="1"/>
          </p:cNvPicPr>
          <p:nvPr/>
        </p:nvPicPr>
        <p:blipFill>
          <a:blip r:embed="rId3"/>
          <a:stretch>
            <a:fillRect/>
          </a:stretch>
        </p:blipFill>
        <p:spPr>
          <a:xfrm>
            <a:off x="1058333" y="2797450"/>
            <a:ext cx="5308600" cy="1579771"/>
          </a:xfrm>
          <a:prstGeom prst="rect">
            <a:avLst/>
          </a:prstGeom>
        </p:spPr>
      </p:pic>
    </p:spTree>
    <p:extLst>
      <p:ext uri="{BB962C8B-B14F-4D97-AF65-F5344CB8AC3E}">
        <p14:creationId xmlns:p14="http://schemas.microsoft.com/office/powerpoint/2010/main" val="2789800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EEBB-7FDB-FB40-962B-99CF59EBB9CC}"/>
              </a:ext>
            </a:extLst>
          </p:cNvPr>
          <p:cNvSpPr>
            <a:spLocks noGrp="1"/>
          </p:cNvSpPr>
          <p:nvPr>
            <p:ph type="title"/>
          </p:nvPr>
        </p:nvSpPr>
        <p:spPr/>
        <p:txBody>
          <a:bodyPr/>
          <a:lstStyle/>
          <a:p>
            <a:r>
              <a:rPr lang="en-US" dirty="0"/>
              <a:t>Command line SSH</a:t>
            </a:r>
          </a:p>
        </p:txBody>
      </p:sp>
      <p:sp>
        <p:nvSpPr>
          <p:cNvPr id="3" name="Content Placeholder 2">
            <a:extLst>
              <a:ext uri="{FF2B5EF4-FFF2-40B4-BE49-F238E27FC236}">
                <a16:creationId xmlns:a16="http://schemas.microsoft.com/office/drawing/2014/main" id="{B72685D5-9178-5A45-B04D-CDF8143A100F}"/>
              </a:ext>
            </a:extLst>
          </p:cNvPr>
          <p:cNvSpPr>
            <a:spLocks noGrp="1"/>
          </p:cNvSpPr>
          <p:nvPr>
            <p:ph idx="1"/>
          </p:nvPr>
        </p:nvSpPr>
        <p:spPr/>
        <p:txBody>
          <a:bodyPr/>
          <a:lstStyle/>
          <a:p>
            <a:pPr lvl="1"/>
            <a:r>
              <a:rPr lang="en-US" dirty="0"/>
              <a:t>Check if </a:t>
            </a:r>
            <a:r>
              <a:rPr lang="en-US" dirty="0" err="1"/>
              <a:t>ssh</a:t>
            </a:r>
            <a:r>
              <a:rPr lang="en-US" dirty="0"/>
              <a:t> is installed:</a:t>
            </a:r>
          </a:p>
          <a:p>
            <a:pPr lvl="2"/>
            <a:r>
              <a:rPr lang="en-US" dirty="0" err="1"/>
              <a:t>ssh</a:t>
            </a:r>
            <a:r>
              <a:rPr lang="en-US" dirty="0"/>
              <a:t> -V</a:t>
            </a:r>
          </a:p>
        </p:txBody>
      </p:sp>
      <p:pic>
        <p:nvPicPr>
          <p:cNvPr id="5" name="Picture 4">
            <a:extLst>
              <a:ext uri="{FF2B5EF4-FFF2-40B4-BE49-F238E27FC236}">
                <a16:creationId xmlns:a16="http://schemas.microsoft.com/office/drawing/2014/main" id="{1444DB0B-2E09-ED09-B3B6-BE84588B4BB7}"/>
              </a:ext>
            </a:extLst>
          </p:cNvPr>
          <p:cNvPicPr>
            <a:picLocks noChangeAspect="1"/>
          </p:cNvPicPr>
          <p:nvPr/>
        </p:nvPicPr>
        <p:blipFill>
          <a:blip r:embed="rId3"/>
          <a:stretch>
            <a:fillRect/>
          </a:stretch>
        </p:blipFill>
        <p:spPr>
          <a:xfrm>
            <a:off x="1058333" y="2797450"/>
            <a:ext cx="5308600" cy="1579771"/>
          </a:xfrm>
          <a:prstGeom prst="rect">
            <a:avLst/>
          </a:prstGeom>
        </p:spPr>
      </p:pic>
      <p:pic>
        <p:nvPicPr>
          <p:cNvPr id="4" name="Picture 3">
            <a:extLst>
              <a:ext uri="{FF2B5EF4-FFF2-40B4-BE49-F238E27FC236}">
                <a16:creationId xmlns:a16="http://schemas.microsoft.com/office/drawing/2014/main" id="{F4C9F816-0AF6-92C4-D070-403854D179DC}"/>
              </a:ext>
            </a:extLst>
          </p:cNvPr>
          <p:cNvPicPr>
            <a:picLocks noChangeAspect="1"/>
          </p:cNvPicPr>
          <p:nvPr/>
        </p:nvPicPr>
        <p:blipFill>
          <a:blip r:embed="rId4"/>
          <a:stretch>
            <a:fillRect/>
          </a:stretch>
        </p:blipFill>
        <p:spPr>
          <a:xfrm>
            <a:off x="1058333" y="4601264"/>
            <a:ext cx="8770430" cy="1833659"/>
          </a:xfrm>
          <a:prstGeom prst="rect">
            <a:avLst/>
          </a:prstGeom>
        </p:spPr>
      </p:pic>
      <p:pic>
        <p:nvPicPr>
          <p:cNvPr id="7" name="Graphic 6" descr="Tick with solid fill">
            <a:extLst>
              <a:ext uri="{FF2B5EF4-FFF2-40B4-BE49-F238E27FC236}">
                <a16:creationId xmlns:a16="http://schemas.microsoft.com/office/drawing/2014/main" id="{A2E9D739-9898-4884-1CAB-BF3CD772ADD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5666" y="3161962"/>
            <a:ext cx="914400" cy="914400"/>
          </a:xfrm>
          <a:prstGeom prst="rect">
            <a:avLst/>
          </a:prstGeom>
        </p:spPr>
      </p:pic>
      <p:pic>
        <p:nvPicPr>
          <p:cNvPr id="9" name="Graphic 8" descr="Badge Cross with solid fill">
            <a:extLst>
              <a:ext uri="{FF2B5EF4-FFF2-40B4-BE49-F238E27FC236}">
                <a16:creationId xmlns:a16="http://schemas.microsoft.com/office/drawing/2014/main" id="{3378D818-E172-9483-059A-6B798A60E01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19267" y="5060893"/>
            <a:ext cx="914400" cy="914400"/>
          </a:xfrm>
          <a:prstGeom prst="rect">
            <a:avLst/>
          </a:prstGeom>
        </p:spPr>
      </p:pic>
    </p:spTree>
    <p:extLst>
      <p:ext uri="{BB962C8B-B14F-4D97-AF65-F5344CB8AC3E}">
        <p14:creationId xmlns:p14="http://schemas.microsoft.com/office/powerpoint/2010/main" val="3082797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EEBB-7FDB-FB40-962B-99CF59EBB9CC}"/>
              </a:ext>
            </a:extLst>
          </p:cNvPr>
          <p:cNvSpPr>
            <a:spLocks noGrp="1"/>
          </p:cNvSpPr>
          <p:nvPr>
            <p:ph type="title"/>
          </p:nvPr>
        </p:nvSpPr>
        <p:spPr/>
        <p:txBody>
          <a:bodyPr/>
          <a:lstStyle/>
          <a:p>
            <a:r>
              <a:rPr lang="en-US" dirty="0"/>
              <a:t>Command line SSH</a:t>
            </a:r>
          </a:p>
        </p:txBody>
      </p:sp>
      <p:sp>
        <p:nvSpPr>
          <p:cNvPr id="3" name="Content Placeholder 2">
            <a:extLst>
              <a:ext uri="{FF2B5EF4-FFF2-40B4-BE49-F238E27FC236}">
                <a16:creationId xmlns:a16="http://schemas.microsoft.com/office/drawing/2014/main" id="{B72685D5-9178-5A45-B04D-CDF8143A100F}"/>
              </a:ext>
            </a:extLst>
          </p:cNvPr>
          <p:cNvSpPr>
            <a:spLocks noGrp="1"/>
          </p:cNvSpPr>
          <p:nvPr>
            <p:ph idx="1"/>
          </p:nvPr>
        </p:nvSpPr>
        <p:spPr/>
        <p:txBody>
          <a:bodyPr/>
          <a:lstStyle/>
          <a:p>
            <a:pPr lvl="1"/>
            <a:r>
              <a:rPr lang="en-US" dirty="0"/>
              <a:t>Connect to a remote with the correct user</a:t>
            </a:r>
          </a:p>
          <a:p>
            <a:pPr lvl="2"/>
            <a:r>
              <a:rPr lang="en-US" dirty="0" err="1"/>
              <a:t>ssh</a:t>
            </a:r>
            <a:r>
              <a:rPr lang="en-US" dirty="0"/>
              <a:t> –l </a:t>
            </a:r>
            <a:r>
              <a:rPr lang="en-US" dirty="0" err="1"/>
              <a:t>your_user</a:t>
            </a:r>
            <a:r>
              <a:rPr lang="en-US" dirty="0"/>
              <a:t> hostname</a:t>
            </a:r>
          </a:p>
          <a:p>
            <a:pPr lvl="2"/>
            <a:r>
              <a:rPr lang="en-US" dirty="0"/>
              <a:t>or </a:t>
            </a:r>
            <a:r>
              <a:rPr lang="en-US" dirty="0" err="1"/>
              <a:t>ssh</a:t>
            </a:r>
            <a:r>
              <a:rPr lang="en-US" dirty="0"/>
              <a:t> </a:t>
            </a:r>
            <a:r>
              <a:rPr lang="en-US" dirty="0" err="1"/>
              <a:t>your_user@hostname</a:t>
            </a:r>
            <a:endParaRPr lang="en-US" dirty="0"/>
          </a:p>
          <a:p>
            <a:pPr lvl="1"/>
            <a:r>
              <a:rPr lang="en-US" dirty="0"/>
              <a:t>hostname</a:t>
            </a:r>
          </a:p>
          <a:p>
            <a:pPr marL="914400" lvl="2" indent="0">
              <a:buNone/>
            </a:pPr>
            <a:r>
              <a:rPr lang="en-US" dirty="0"/>
              <a:t>	:– </a:t>
            </a:r>
            <a:r>
              <a:rPr lang="en-US" dirty="0" err="1"/>
              <a:t>ip</a:t>
            </a:r>
            <a:r>
              <a:rPr lang="en-US" dirty="0"/>
              <a:t> </a:t>
            </a:r>
            <a:r>
              <a:rPr lang="en-US" dirty="0" err="1"/>
              <a:t>addr</a:t>
            </a:r>
            <a:r>
              <a:rPr lang="en-US" dirty="0"/>
              <a:t> or name</a:t>
            </a:r>
          </a:p>
          <a:p>
            <a:pPr lvl="1"/>
            <a:endParaRPr lang="en-US" dirty="0"/>
          </a:p>
        </p:txBody>
      </p:sp>
      <p:pic>
        <p:nvPicPr>
          <p:cNvPr id="6" name="Picture 5">
            <a:extLst>
              <a:ext uri="{FF2B5EF4-FFF2-40B4-BE49-F238E27FC236}">
                <a16:creationId xmlns:a16="http://schemas.microsoft.com/office/drawing/2014/main" id="{52FAAF2F-ECA8-ECC3-8C36-4D5DE7DA2924}"/>
              </a:ext>
            </a:extLst>
          </p:cNvPr>
          <p:cNvPicPr>
            <a:picLocks noChangeAspect="1"/>
          </p:cNvPicPr>
          <p:nvPr/>
        </p:nvPicPr>
        <p:blipFill>
          <a:blip r:embed="rId3"/>
          <a:stretch>
            <a:fillRect/>
          </a:stretch>
        </p:blipFill>
        <p:spPr>
          <a:xfrm>
            <a:off x="6036733" y="2243199"/>
            <a:ext cx="6155267" cy="4114909"/>
          </a:xfrm>
          <a:prstGeom prst="rect">
            <a:avLst/>
          </a:prstGeom>
        </p:spPr>
      </p:pic>
      <p:pic>
        <p:nvPicPr>
          <p:cNvPr id="8" name="Picture 7">
            <a:extLst>
              <a:ext uri="{FF2B5EF4-FFF2-40B4-BE49-F238E27FC236}">
                <a16:creationId xmlns:a16="http://schemas.microsoft.com/office/drawing/2014/main" id="{6D2D1EE0-F5C1-804F-D457-B0BB5E1091DA}"/>
              </a:ext>
            </a:extLst>
          </p:cNvPr>
          <p:cNvPicPr>
            <a:picLocks noChangeAspect="1"/>
          </p:cNvPicPr>
          <p:nvPr/>
        </p:nvPicPr>
        <p:blipFill>
          <a:blip r:embed="rId4"/>
          <a:stretch>
            <a:fillRect/>
          </a:stretch>
        </p:blipFill>
        <p:spPr>
          <a:xfrm>
            <a:off x="1277330" y="4483680"/>
            <a:ext cx="4564670" cy="1874428"/>
          </a:xfrm>
          <a:prstGeom prst="rect">
            <a:avLst/>
          </a:prstGeom>
        </p:spPr>
      </p:pic>
    </p:spTree>
    <p:extLst>
      <p:ext uri="{BB962C8B-B14F-4D97-AF65-F5344CB8AC3E}">
        <p14:creationId xmlns:p14="http://schemas.microsoft.com/office/powerpoint/2010/main" val="2465043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EEBB-7FDB-FB40-962B-99CF59EBB9CC}"/>
              </a:ext>
            </a:extLst>
          </p:cNvPr>
          <p:cNvSpPr>
            <a:spLocks noGrp="1"/>
          </p:cNvSpPr>
          <p:nvPr>
            <p:ph type="title"/>
          </p:nvPr>
        </p:nvSpPr>
        <p:spPr/>
        <p:txBody>
          <a:bodyPr/>
          <a:lstStyle/>
          <a:p>
            <a:r>
              <a:rPr lang="en-US" dirty="0"/>
              <a:t>Transfer files securely: SCP</a:t>
            </a:r>
          </a:p>
        </p:txBody>
      </p:sp>
      <p:sp>
        <p:nvSpPr>
          <p:cNvPr id="3" name="Content Placeholder 2">
            <a:extLst>
              <a:ext uri="{FF2B5EF4-FFF2-40B4-BE49-F238E27FC236}">
                <a16:creationId xmlns:a16="http://schemas.microsoft.com/office/drawing/2014/main" id="{B72685D5-9178-5A45-B04D-CDF8143A100F}"/>
              </a:ext>
            </a:extLst>
          </p:cNvPr>
          <p:cNvSpPr>
            <a:spLocks noGrp="1"/>
          </p:cNvSpPr>
          <p:nvPr>
            <p:ph idx="1"/>
          </p:nvPr>
        </p:nvSpPr>
        <p:spPr/>
        <p:txBody>
          <a:bodyPr/>
          <a:lstStyle/>
          <a:p>
            <a:pPr lvl="1"/>
            <a:r>
              <a:rPr lang="en-US" dirty="0" err="1"/>
              <a:t>scp</a:t>
            </a:r>
            <a:r>
              <a:rPr lang="en-US" dirty="0"/>
              <a:t> – Secure Copy Protocol: used to copy files between systems, securely</a:t>
            </a:r>
          </a:p>
          <a:p>
            <a:pPr lvl="1"/>
            <a:r>
              <a:rPr lang="en-US" dirty="0"/>
              <a:t>Command format: </a:t>
            </a:r>
            <a:r>
              <a:rPr lang="en-US" dirty="0" err="1"/>
              <a:t>scp</a:t>
            </a:r>
            <a:r>
              <a:rPr lang="en-US" dirty="0"/>
              <a:t> </a:t>
            </a:r>
            <a:r>
              <a:rPr lang="en-US" dirty="0" err="1"/>
              <a:t>username@remotehost</a:t>
            </a:r>
            <a:r>
              <a:rPr lang="en-US" dirty="0"/>
              <a:t>:/remote/</a:t>
            </a:r>
            <a:r>
              <a:rPr lang="en-US" dirty="0" err="1"/>
              <a:t>file.txt</a:t>
            </a:r>
            <a:r>
              <a:rPr lang="en-US" dirty="0"/>
              <a:t> /local/</a:t>
            </a:r>
            <a:r>
              <a:rPr lang="en-US" dirty="0" err="1"/>
              <a:t>dir</a:t>
            </a:r>
            <a:r>
              <a:rPr lang="en-US" dirty="0"/>
              <a:t>/</a:t>
            </a:r>
          </a:p>
          <a:p>
            <a:pPr lvl="1"/>
            <a:r>
              <a:rPr lang="en-US" dirty="0"/>
              <a:t>Copying directories recursively: </a:t>
            </a:r>
            <a:r>
              <a:rPr lang="en-US" dirty="0" err="1"/>
              <a:t>scp</a:t>
            </a:r>
            <a:r>
              <a:rPr lang="en-US" dirty="0"/>
              <a:t> -r </a:t>
            </a:r>
            <a:r>
              <a:rPr lang="en-US" dirty="0" err="1"/>
              <a:t>username@remotehost</a:t>
            </a:r>
            <a:r>
              <a:rPr lang="en-US" dirty="0"/>
              <a:t>:/remote/</a:t>
            </a:r>
            <a:r>
              <a:rPr lang="en-US" dirty="0" err="1"/>
              <a:t>dir</a:t>
            </a:r>
            <a:r>
              <a:rPr lang="en-US" dirty="0"/>
              <a:t>/ /local/</a:t>
            </a:r>
            <a:r>
              <a:rPr lang="en-US" dirty="0" err="1"/>
              <a:t>dir</a:t>
            </a:r>
            <a:r>
              <a:rPr lang="en-US" dirty="0"/>
              <a:t>/</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496371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B2FBD-9647-28F2-DC7C-451552508038}"/>
              </a:ext>
            </a:extLst>
          </p:cNvPr>
          <p:cNvSpPr>
            <a:spLocks noGrp="1"/>
          </p:cNvSpPr>
          <p:nvPr>
            <p:ph type="title"/>
          </p:nvPr>
        </p:nvSpPr>
        <p:spPr/>
        <p:txBody>
          <a:bodyPr/>
          <a:lstStyle/>
          <a:p>
            <a:r>
              <a:rPr lang="en-US" dirty="0"/>
              <a:t>SSH/SCP/SFTP in PyCharm Professional</a:t>
            </a:r>
          </a:p>
        </p:txBody>
      </p:sp>
      <p:sp>
        <p:nvSpPr>
          <p:cNvPr id="3" name="Content Placeholder 2">
            <a:extLst>
              <a:ext uri="{FF2B5EF4-FFF2-40B4-BE49-F238E27FC236}">
                <a16:creationId xmlns:a16="http://schemas.microsoft.com/office/drawing/2014/main" id="{D9E0FB2D-F93D-F212-968B-AB1A79F888FA}"/>
              </a:ext>
            </a:extLst>
          </p:cNvPr>
          <p:cNvSpPr>
            <a:spLocks noGrp="1"/>
          </p:cNvSpPr>
          <p:nvPr>
            <p:ph idx="1"/>
          </p:nvPr>
        </p:nvSpPr>
        <p:spPr/>
        <p:txBody>
          <a:bodyPr/>
          <a:lstStyle/>
          <a:p>
            <a:r>
              <a:rPr lang="en-US" b="1" dirty="0"/>
              <a:t>Note</a:t>
            </a:r>
            <a:r>
              <a:rPr lang="en-US" dirty="0"/>
              <a:t>: requires PyCharm</a:t>
            </a:r>
            <a:r>
              <a:rPr lang="en-US" b="1" dirty="0"/>
              <a:t> Professional, </a:t>
            </a:r>
            <a:r>
              <a:rPr lang="en-US" dirty="0"/>
              <a:t>not Community</a:t>
            </a:r>
          </a:p>
          <a:p>
            <a:r>
              <a:rPr lang="en-US" b="1" dirty="0"/>
              <a:t>Features: </a:t>
            </a:r>
          </a:p>
          <a:p>
            <a:pPr lvl="1"/>
            <a:r>
              <a:rPr lang="en-US" b="1" dirty="0"/>
              <a:t>Remote terminal (</a:t>
            </a:r>
            <a:r>
              <a:rPr lang="en-US" b="1" dirty="0" err="1"/>
              <a:t>ssh</a:t>
            </a:r>
            <a:r>
              <a:rPr lang="en-US" b="1" dirty="0"/>
              <a:t>)</a:t>
            </a:r>
          </a:p>
          <a:p>
            <a:pPr lvl="1"/>
            <a:r>
              <a:rPr lang="en-US" b="1" dirty="0"/>
              <a:t>Automated file synchronization over </a:t>
            </a:r>
            <a:r>
              <a:rPr lang="en-US" b="1" dirty="0" err="1"/>
              <a:t>scp</a:t>
            </a:r>
            <a:r>
              <a:rPr lang="en-US" b="1" dirty="0"/>
              <a:t>/sftp</a:t>
            </a:r>
          </a:p>
          <a:p>
            <a:pPr lvl="1"/>
            <a:r>
              <a:rPr lang="en-US" b="1" dirty="0"/>
              <a:t>Remote interpreter (</a:t>
            </a:r>
            <a:r>
              <a:rPr lang="en-US" b="1" dirty="0" err="1"/>
              <a:t>ssh</a:t>
            </a:r>
            <a:r>
              <a:rPr lang="en-US" b="1" dirty="0"/>
              <a:t>)</a:t>
            </a:r>
          </a:p>
        </p:txBody>
      </p:sp>
    </p:spTree>
    <p:extLst>
      <p:ext uri="{BB962C8B-B14F-4D97-AF65-F5344CB8AC3E}">
        <p14:creationId xmlns:p14="http://schemas.microsoft.com/office/powerpoint/2010/main" val="64415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153F-5893-2F7A-0BDE-67E5771FA644}"/>
              </a:ext>
            </a:extLst>
          </p:cNvPr>
          <p:cNvSpPr>
            <a:spLocks noGrp="1"/>
          </p:cNvSpPr>
          <p:nvPr>
            <p:ph type="title"/>
          </p:nvPr>
        </p:nvSpPr>
        <p:spPr/>
        <p:txBody>
          <a:bodyPr/>
          <a:lstStyle/>
          <a:p>
            <a:r>
              <a:rPr lang="en-US" dirty="0"/>
              <a:t>Get started: existing</a:t>
            </a:r>
          </a:p>
        </p:txBody>
      </p:sp>
      <p:sp>
        <p:nvSpPr>
          <p:cNvPr id="3" name="Content Placeholder 2">
            <a:extLst>
              <a:ext uri="{FF2B5EF4-FFF2-40B4-BE49-F238E27FC236}">
                <a16:creationId xmlns:a16="http://schemas.microsoft.com/office/drawing/2014/main" id="{8086B3BB-E1E9-A6C5-5AF2-BC5787B83451}"/>
              </a:ext>
            </a:extLst>
          </p:cNvPr>
          <p:cNvSpPr>
            <a:spLocks noGrp="1"/>
          </p:cNvSpPr>
          <p:nvPr>
            <p:ph idx="1"/>
          </p:nvPr>
        </p:nvSpPr>
        <p:spPr/>
        <p:txBody>
          <a:bodyPr/>
          <a:lstStyle/>
          <a:p>
            <a:r>
              <a:rPr lang="en-US" dirty="0"/>
              <a:t>Important: ensure you do </a:t>
            </a:r>
            <a:r>
              <a:rPr lang="en-US" b="1" dirty="0"/>
              <a:t>not</a:t>
            </a:r>
            <a:r>
              <a:rPr lang="en-US" dirty="0"/>
              <a:t> have a </a:t>
            </a:r>
            <a:r>
              <a:rPr lang="en-US" dirty="0" err="1"/>
              <a:t>venv</a:t>
            </a:r>
            <a:r>
              <a:rPr lang="en-US" dirty="0"/>
              <a:t> currently defined in a project</a:t>
            </a:r>
          </a:p>
          <a:p>
            <a:r>
              <a:rPr lang="en-US" dirty="0"/>
              <a:t>In an existing, select </a:t>
            </a:r>
            <a:r>
              <a:rPr lang="en-US" b="1" dirty="0"/>
              <a:t>Add new interpreter… &gt; On SSH</a:t>
            </a:r>
            <a:endParaRPr lang="en-US" dirty="0"/>
          </a:p>
        </p:txBody>
      </p:sp>
      <p:pic>
        <p:nvPicPr>
          <p:cNvPr id="4" name="Picture 3">
            <a:extLst>
              <a:ext uri="{FF2B5EF4-FFF2-40B4-BE49-F238E27FC236}">
                <a16:creationId xmlns:a16="http://schemas.microsoft.com/office/drawing/2014/main" id="{7BAF4C58-3DB9-464D-FEB8-E8EBFF29C451}"/>
              </a:ext>
            </a:extLst>
          </p:cNvPr>
          <p:cNvPicPr>
            <a:picLocks noChangeAspect="1"/>
          </p:cNvPicPr>
          <p:nvPr/>
        </p:nvPicPr>
        <p:blipFill>
          <a:blip r:embed="rId3"/>
          <a:stretch>
            <a:fillRect/>
          </a:stretch>
        </p:blipFill>
        <p:spPr>
          <a:xfrm>
            <a:off x="6807200" y="3639613"/>
            <a:ext cx="4538133" cy="2718495"/>
          </a:xfrm>
          <a:prstGeom prst="rect">
            <a:avLst/>
          </a:prstGeom>
        </p:spPr>
      </p:pic>
    </p:spTree>
    <p:extLst>
      <p:ext uri="{BB962C8B-B14F-4D97-AF65-F5344CB8AC3E}">
        <p14:creationId xmlns:p14="http://schemas.microsoft.com/office/powerpoint/2010/main" val="3896170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C14E4-30C3-390A-0FF2-889C8700E0F7}"/>
              </a:ext>
            </a:extLst>
          </p:cNvPr>
          <p:cNvSpPr>
            <a:spLocks noGrp="1"/>
          </p:cNvSpPr>
          <p:nvPr>
            <p:ph type="title"/>
          </p:nvPr>
        </p:nvSpPr>
        <p:spPr/>
        <p:txBody>
          <a:bodyPr/>
          <a:lstStyle/>
          <a:p>
            <a:r>
              <a:rPr lang="en-US" dirty="0"/>
              <a:t>Get started new</a:t>
            </a:r>
          </a:p>
        </p:txBody>
      </p:sp>
      <p:sp>
        <p:nvSpPr>
          <p:cNvPr id="3" name="Content Placeholder 2">
            <a:extLst>
              <a:ext uri="{FF2B5EF4-FFF2-40B4-BE49-F238E27FC236}">
                <a16:creationId xmlns:a16="http://schemas.microsoft.com/office/drawing/2014/main" id="{8FCF0EA4-950F-C562-3FE7-94BA54556B82}"/>
              </a:ext>
            </a:extLst>
          </p:cNvPr>
          <p:cNvSpPr>
            <a:spLocks noGrp="1"/>
          </p:cNvSpPr>
          <p:nvPr>
            <p:ph idx="1"/>
          </p:nvPr>
        </p:nvSpPr>
        <p:spPr/>
        <p:txBody>
          <a:bodyPr/>
          <a:lstStyle/>
          <a:p>
            <a:r>
              <a:rPr lang="en-US" dirty="0"/>
              <a:t>Select File &gt; Remote Development &gt; SSH Connection</a:t>
            </a:r>
          </a:p>
          <a:p>
            <a:r>
              <a:rPr lang="en-US" dirty="0"/>
              <a:t>Note: beta feature we have not worked with yet</a:t>
            </a:r>
          </a:p>
        </p:txBody>
      </p:sp>
      <p:pic>
        <p:nvPicPr>
          <p:cNvPr id="4" name="Picture 3">
            <a:extLst>
              <a:ext uri="{FF2B5EF4-FFF2-40B4-BE49-F238E27FC236}">
                <a16:creationId xmlns:a16="http://schemas.microsoft.com/office/drawing/2014/main" id="{3D8994C0-943A-1B51-7273-E4FA44BA994F}"/>
              </a:ext>
            </a:extLst>
          </p:cNvPr>
          <p:cNvPicPr>
            <a:picLocks noChangeAspect="1"/>
          </p:cNvPicPr>
          <p:nvPr/>
        </p:nvPicPr>
        <p:blipFill>
          <a:blip r:embed="rId2"/>
          <a:stretch>
            <a:fillRect/>
          </a:stretch>
        </p:blipFill>
        <p:spPr>
          <a:xfrm>
            <a:off x="5909733" y="3214114"/>
            <a:ext cx="5901266" cy="3435514"/>
          </a:xfrm>
          <a:prstGeom prst="rect">
            <a:avLst/>
          </a:prstGeom>
        </p:spPr>
      </p:pic>
    </p:spTree>
    <p:extLst>
      <p:ext uri="{BB962C8B-B14F-4D97-AF65-F5344CB8AC3E}">
        <p14:creationId xmlns:p14="http://schemas.microsoft.com/office/powerpoint/2010/main" val="24098215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2535-80F1-467B-3752-F0F7780219A6}"/>
              </a:ext>
            </a:extLst>
          </p:cNvPr>
          <p:cNvSpPr>
            <a:spLocks noGrp="1"/>
          </p:cNvSpPr>
          <p:nvPr>
            <p:ph type="title"/>
          </p:nvPr>
        </p:nvSpPr>
        <p:spPr/>
        <p:txBody>
          <a:bodyPr/>
          <a:lstStyle/>
          <a:p>
            <a:r>
              <a:rPr lang="en-US" dirty="0"/>
              <a:t>Smiley project</a:t>
            </a:r>
          </a:p>
        </p:txBody>
      </p:sp>
      <p:sp>
        <p:nvSpPr>
          <p:cNvPr id="3" name="Content Placeholder 2">
            <a:extLst>
              <a:ext uri="{FF2B5EF4-FFF2-40B4-BE49-F238E27FC236}">
                <a16:creationId xmlns:a16="http://schemas.microsoft.com/office/drawing/2014/main" id="{D6EFA44A-95DE-7AE2-096B-796C66D42416}"/>
              </a:ext>
            </a:extLst>
          </p:cNvPr>
          <p:cNvSpPr>
            <a:spLocks noGrp="1"/>
          </p:cNvSpPr>
          <p:nvPr>
            <p:ph idx="1"/>
          </p:nvPr>
        </p:nvSpPr>
        <p:spPr/>
        <p:txBody>
          <a:bodyPr/>
          <a:lstStyle/>
          <a:p>
            <a:r>
              <a:rPr lang="en-US" dirty="0"/>
              <a:t>Instructions in Blackboard under Assessments (as usual)</a:t>
            </a:r>
          </a:p>
          <a:p>
            <a:r>
              <a:rPr lang="en-US" dirty="0"/>
              <a:t>Source in </a:t>
            </a:r>
            <a:r>
              <a:rPr lang="en-US" dirty="0" err="1"/>
              <a:t>github</a:t>
            </a:r>
            <a:r>
              <a:rPr lang="en-US" dirty="0"/>
              <a:t>:</a:t>
            </a:r>
            <a:endParaRPr lang="en-AU" sz="1800" b="1" dirty="0">
              <a:effectLst/>
              <a:latin typeface="Arial" panose="020B0604020202020204" pitchFamily="34" charset="0"/>
              <a:ea typeface="SimSun" panose="02010600030101010101" pitchFamily="2" charset="-122"/>
            </a:endParaRPr>
          </a:p>
          <a:p>
            <a:pPr marL="0" indent="0">
              <a:buNone/>
            </a:pPr>
            <a:r>
              <a:rPr lang="en-AU" sz="1800" b="1" dirty="0">
                <a:effectLst/>
                <a:latin typeface="Arial" panose="020B0604020202020204" pitchFamily="34" charset="0"/>
                <a:ea typeface="SimSun" panose="02010600030101010101" pitchFamily="2" charset="-122"/>
              </a:rPr>
              <a:t>https://</a:t>
            </a:r>
            <a:r>
              <a:rPr lang="en-AU" sz="1800" b="1" dirty="0" err="1">
                <a:effectLst/>
                <a:latin typeface="Arial" panose="020B0604020202020204" pitchFamily="34" charset="0"/>
                <a:ea typeface="SimSun" panose="02010600030101010101" pitchFamily="2" charset="-122"/>
              </a:rPr>
              <a:t>github.com</a:t>
            </a:r>
            <a:r>
              <a:rPr lang="en-AU" sz="1800" b="1" dirty="0">
                <a:effectLst/>
                <a:latin typeface="Arial" panose="020B0604020202020204" pitchFamily="34" charset="0"/>
                <a:ea typeface="SimSun" panose="02010600030101010101" pitchFamily="2" charset="-122"/>
              </a:rPr>
              <a:t>/NM-TAFE/civ-</a:t>
            </a:r>
            <a:r>
              <a:rPr lang="en-AU" sz="1800" b="1" dirty="0" err="1">
                <a:effectLst/>
                <a:latin typeface="Arial" panose="020B0604020202020204" pitchFamily="34" charset="0"/>
                <a:ea typeface="SimSun" panose="02010600030101010101" pitchFamily="2" charset="-122"/>
              </a:rPr>
              <a:t>ipriot</a:t>
            </a:r>
            <a:r>
              <a:rPr lang="en-AU" sz="1800" b="1" dirty="0">
                <a:effectLst/>
                <a:latin typeface="Arial" panose="020B0604020202020204" pitchFamily="34" charset="0"/>
                <a:ea typeface="SimSun" panose="02010600030101010101" pitchFamily="2" charset="-122"/>
              </a:rPr>
              <a:t>-smiley/blob/main/</a:t>
            </a:r>
            <a:r>
              <a:rPr lang="en-AU" sz="1800" b="1" dirty="0" err="1">
                <a:effectLst/>
                <a:latin typeface="Arial" panose="020B0604020202020204" pitchFamily="34" charset="0"/>
                <a:ea typeface="SimSun" panose="02010600030101010101" pitchFamily="2" charset="-122"/>
              </a:rPr>
              <a:t>README.md</a:t>
            </a:r>
            <a:r>
              <a:rPr lang="en-AU" dirty="0">
                <a:effectLst/>
              </a:rPr>
              <a:t>  </a:t>
            </a:r>
          </a:p>
          <a:p>
            <a:r>
              <a:rPr lang="en-AU" dirty="0"/>
              <a:t>You can request a GitHub-only version of this assessment (at your lecturer’s discretion)</a:t>
            </a:r>
          </a:p>
          <a:p>
            <a:endParaRPr lang="en-US" dirty="0"/>
          </a:p>
        </p:txBody>
      </p:sp>
    </p:spTree>
    <p:extLst>
      <p:ext uri="{BB962C8B-B14F-4D97-AF65-F5344CB8AC3E}">
        <p14:creationId xmlns:p14="http://schemas.microsoft.com/office/powerpoint/2010/main" val="935660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28069-3E83-800D-9C43-260F28265693}"/>
              </a:ext>
            </a:extLst>
          </p:cNvPr>
          <p:cNvSpPr>
            <a:spLocks noGrp="1"/>
          </p:cNvSpPr>
          <p:nvPr>
            <p:ph type="title"/>
          </p:nvPr>
        </p:nvSpPr>
        <p:spPr/>
        <p:txBody>
          <a:bodyPr/>
          <a:lstStyle/>
          <a:p>
            <a:r>
              <a:rPr lang="en-US" dirty="0"/>
              <a:t>Mock </a:t>
            </a:r>
            <a:r>
              <a:rPr lang="en-US" dirty="0" err="1"/>
              <a:t>sense_hat.py</a:t>
            </a:r>
            <a:endParaRPr lang="en-US" dirty="0"/>
          </a:p>
        </p:txBody>
      </p:sp>
      <p:sp>
        <p:nvSpPr>
          <p:cNvPr id="3" name="Content Placeholder 2">
            <a:extLst>
              <a:ext uri="{FF2B5EF4-FFF2-40B4-BE49-F238E27FC236}">
                <a16:creationId xmlns:a16="http://schemas.microsoft.com/office/drawing/2014/main" id="{648F7CD6-E0D0-9D26-2645-B8838FFDF877}"/>
              </a:ext>
            </a:extLst>
          </p:cNvPr>
          <p:cNvSpPr>
            <a:spLocks noGrp="1"/>
          </p:cNvSpPr>
          <p:nvPr>
            <p:ph idx="1"/>
          </p:nvPr>
        </p:nvSpPr>
        <p:spPr/>
        <p:txBody>
          <a:bodyPr/>
          <a:lstStyle/>
          <a:p>
            <a:r>
              <a:rPr lang="en-US" dirty="0"/>
              <a:t>The source includes a mock </a:t>
            </a:r>
            <a:r>
              <a:rPr lang="en-US" dirty="0" err="1"/>
              <a:t>sense_hat</a:t>
            </a:r>
            <a:r>
              <a:rPr lang="en-US" dirty="0"/>
              <a:t> – if you cannot or don’t want to do remote deployment – keep this file – it will simulate the behavior of the </a:t>
            </a:r>
            <a:r>
              <a:rPr lang="en-US" dirty="0" err="1"/>
              <a:t>SenseHAT</a:t>
            </a:r>
            <a:r>
              <a:rPr lang="en-US" dirty="0"/>
              <a:t> LED</a:t>
            </a:r>
          </a:p>
          <a:p>
            <a:r>
              <a:rPr lang="en-US" dirty="0"/>
              <a:t>If you can do remote deployment and have a Pi with </a:t>
            </a:r>
            <a:r>
              <a:rPr lang="en-US" dirty="0" err="1"/>
              <a:t>SenseHAT</a:t>
            </a:r>
            <a:r>
              <a:rPr lang="en-US" dirty="0"/>
              <a:t> you must </a:t>
            </a:r>
            <a:r>
              <a:rPr lang="en-US" b="1" dirty="0"/>
              <a:t>delete</a:t>
            </a:r>
            <a:r>
              <a:rPr lang="en-US" dirty="0"/>
              <a:t> this file before you sync</a:t>
            </a:r>
          </a:p>
          <a:p>
            <a:r>
              <a:rPr lang="en-US" dirty="0"/>
              <a:t>The requirements remain the same, but you do not need to prove remotely deployment only that the mock </a:t>
            </a:r>
            <a:r>
              <a:rPr lang="en-US" dirty="0" err="1"/>
              <a:t>SenseHAT</a:t>
            </a:r>
            <a:r>
              <a:rPr lang="en-US" dirty="0"/>
              <a:t> GUI, runs</a:t>
            </a:r>
          </a:p>
        </p:txBody>
      </p:sp>
    </p:spTree>
    <p:extLst>
      <p:ext uri="{BB962C8B-B14F-4D97-AF65-F5344CB8AC3E}">
        <p14:creationId xmlns:p14="http://schemas.microsoft.com/office/powerpoint/2010/main" val="39006056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SMS Availabilities&amp;#x0D;&amp;#x0A;Overview&amp;quot;&quot;/&gt;&lt;property id=&quot;20307&quot; value=&quot;256&quot;/&gt;&lt;/object&gt;&lt;object type=&quot;3&quot; unique_id=&quot;10005&quot;&gt;&lt;property id=&quot;20148&quot; value=&quot;5&quot;/&gt;&lt;property id=&quot;20300&quot; value=&quot;Slide 2&quot;/&gt;&lt;property id=&quot;20307&quot; value=&quot;257&quot;/&gt;&lt;/object&gt;&lt;object type=&quot;3&quot; unique_id=&quot;10006&quot;&gt;&lt;property id=&quot;20148&quot; value=&quot;5&quot;/&gt;&lt;property id=&quot;20300&quot; value=&quot;Slide 3 - &amp;quot;&amp;#x0D;&amp;#x0A;Course Availabilities&amp;quot;&quot;/&gt;&lt;property id=&quot;20307&quot; value=&quot;261&quot;/&gt;&lt;/object&gt;&lt;object type=&quot;3&quot; unique_id=&quot;10007&quot;&gt;&lt;property id=&quot;20148&quot; value=&quot;5&quot;/&gt;&lt;property id=&quot;20300&quot; value=&quot;Slide 4 - &amp;quot;Intake Calendars&amp;quot;&quot;/&gt;&lt;property id=&quot;20307&quot; value=&quot;264&quot;/&gt;&lt;/object&gt;&lt;object type=&quot;3&quot; unique_id=&quot;10008&quot;&gt;&lt;property id=&quot;20148&quot; value=&quot;5&quot;/&gt;&lt;property id=&quot;20300&quot; value=&quot;Slide 5 - &amp;quot;&amp;#x0D;&amp;#x0A;Unit Availabilities&amp;quot;&quot;/&gt;&lt;property id=&quot;20307&quot; value=&quot;259&quot;/&gt;&lt;/object&gt;&lt;object type=&quot;3&quot; unique_id=&quot;10009&quot;&gt;&lt;property id=&quot;20148&quot; value=&quot;5&quot;/&gt;&lt;property id=&quot;20300&quot; value=&quot;Slide 6 - &amp;quot;&amp;#x0D;&amp;#x0A;Unit Availabilities&amp;quot;&quot;/&gt;&lt;property id=&quot;20307&quot; value=&quot;260&quot;/&gt;&lt;/object&gt;&lt;object type=&quot;3&quot; unique_id=&quot;10010&quot;&gt;&lt;property id=&quot;20148&quot; value=&quot;5&quot;/&gt;&lt;property id=&quot;20300&quot; value=&quot;Slide 7 - &amp;quot;Enrolment Calendars&amp;quot;&quot;/&gt;&lt;property id=&quot;20307&quot; value=&quot;265&quot;/&gt;&lt;/object&gt;&lt;object type=&quot;3&quot; unique_id=&quot;10011&quot;&gt;&lt;property id=&quot;20148&quot; value=&quot;5&quot;/&gt;&lt;property id=&quot;20300&quot; value=&quot;Slide 8 - &amp;quot;Business Guidelines&amp;quot;&quot;/&gt;&lt;property id=&quot;20307&quot; value=&quot;268&quot;/&gt;&lt;/object&gt;&lt;object type=&quot;3&quot; unique_id=&quot;10012&quot;&gt;&lt;property id=&quot;20148&quot; value=&quot;5&quot;/&gt;&lt;property id=&quot;20300&quot; value=&quot;Slide 9 - &amp;quot;Business Guidelines&amp;quot;&quot;/&gt;&lt;property id=&quot;20307&quot; value=&quot;269&quot;/&gt;&lt;/object&gt;&lt;object type=&quot;3&quot; unique_id=&quot;10013&quot;&gt;&lt;property id=&quot;20148&quot; value=&quot;5&quot;/&gt;&lt;property id=&quot;20300&quot; value=&quot;Slide 10 - &amp;quot;Business Considerations&amp;quot;&quot;/&gt;&lt;property id=&quot;20307&quot; value=&quot;262&quot;/&gt;&lt;/object&gt;&lt;object type=&quot;3&quot; unique_id=&quot;10014&quot;&gt;&lt;property id=&quot;20148&quot; value=&quot;5&quot;/&gt;&lt;property id=&quot;20300&quot; value=&quot;Slide 11 - &amp;quot;Availabilities tasks&amp;quot;&quot;/&gt;&lt;property id=&quot;20307&quot; value=&quot;266&quot;/&gt;&lt;/object&gt;&lt;object type=&quot;3&quot; unique_id=&quot;10015&quot;&gt;&lt;property id=&quot;20148&quot; value=&quot;5&quot;/&gt;&lt;property id=&quot;20300&quot; value=&quot;Slide 12 - &amp;quot;Availabilities Template&amp;quot;&quot;/&gt;&lt;property id=&quot;20307&quot; value=&quot;267&quot;/&gt;&lt;/object&gt;&lt;object type=&quot;3&quot; unique_id=&quot;10016&quot;&gt;&lt;property id=&quot;20148&quot; value=&quot;5&quot;/&gt;&lt;property id=&quot;20300&quot; value=&quot;Slide 13 - &amp;quot;Timetabling&amp;quot;&quot;/&gt;&lt;property id=&quot;20307&quot; value=&quot;263&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AFE">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MT-Presentation-HD-1920x1080-AJG-V2020.07.01.potx" id="{3EDD48A2-5C86-4826-A34B-3DD4694D6775}" vid="{2EDC81D3-35B6-4E09-B25C-3248DC8F64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FB652FE9C0E4A4BA617103343675622" ma:contentTypeVersion="14" ma:contentTypeDescription="Create a new document." ma:contentTypeScope="" ma:versionID="ad715848acff22061af62766aff301be">
  <xsd:schema xmlns:xsd="http://www.w3.org/2001/XMLSchema" xmlns:xs="http://www.w3.org/2001/XMLSchema" xmlns:p="http://schemas.microsoft.com/office/2006/metadata/properties" xmlns:ns3="ca795412-bebd-4315-bf48-ef2a3932babb" xmlns:ns4="15dc33cf-23e6-4c02-8146-51e815ffffa8" targetNamespace="http://schemas.microsoft.com/office/2006/metadata/properties" ma:root="true" ma:fieldsID="c12e525fc6fa98ea52acbf6866e6ce97" ns3:_="" ns4:_="">
    <xsd:import namespace="ca795412-bebd-4315-bf48-ef2a3932babb"/>
    <xsd:import namespace="15dc33cf-23e6-4c02-8146-51e815ffffa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795412-bebd-4315-bf48-ef2a3932ba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5dc33cf-23e6-4c02-8146-51e815ffffa8"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SharingHintHash" ma:index="17"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0EA9AED-3F34-49ED-92E5-62DD090C3E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795412-bebd-4315-bf48-ef2a3932babb"/>
    <ds:schemaRef ds:uri="15dc33cf-23e6-4c02-8146-51e815ffff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93B4755-80B4-4FE9-9650-4C8006444834}">
  <ds:schemaRefs>
    <ds:schemaRef ds:uri="http://schemas.microsoft.com/sharepoint/v3/contenttype/forms"/>
  </ds:schemaRefs>
</ds:datastoreItem>
</file>

<file path=customXml/itemProps3.xml><?xml version="1.0" encoding="utf-8"?>
<ds:datastoreItem xmlns:ds="http://schemas.openxmlformats.org/officeDocument/2006/customXml" ds:itemID="{D6F79D9B-5A67-492D-BB4F-F3913BAD9421}">
  <ds:schemaRefs>
    <ds:schemaRef ds:uri="http://purl.org/dc/dcmitype/"/>
    <ds:schemaRef ds:uri="http://www.w3.org/XML/1998/namespace"/>
    <ds:schemaRef ds:uri="http://purl.org/dc/terms/"/>
    <ds:schemaRef ds:uri="http://purl.org/dc/elements/1.1/"/>
    <ds:schemaRef ds:uri="http://schemas.microsoft.com/office/2006/documentManagement/types"/>
    <ds:schemaRef ds:uri="15dc33cf-23e6-4c02-8146-51e815ffffa8"/>
    <ds:schemaRef ds:uri="ca795412-bebd-4315-bf48-ef2a3932babb"/>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NMT-Presentation-HD-1920x1080-AJG-V2020.07.01</Template>
  <TotalTime>11628</TotalTime>
  <Words>2505</Words>
  <Application>Microsoft Macintosh PowerPoint</Application>
  <PresentationFormat>Widescreen</PresentationFormat>
  <Paragraphs>317</Paragraphs>
  <Slides>29</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.SF NS</vt:lpstr>
      <vt:lpstr>3270-MEDIUM</vt:lpstr>
      <vt:lpstr>Arial</vt:lpstr>
      <vt:lpstr>Calibri</vt:lpstr>
      <vt:lpstr>Century Gothic</vt:lpstr>
      <vt:lpstr>Helvetica Neue</vt:lpstr>
      <vt:lpstr>Söhne</vt:lpstr>
      <vt:lpstr>Times New Roman</vt:lpstr>
      <vt:lpstr>Wingdings</vt:lpstr>
      <vt:lpstr>Office Theme</vt:lpstr>
      <vt:lpstr>UML, remote deployment, and smiley assessment (POR) guidelines</vt:lpstr>
      <vt:lpstr>Agenda </vt:lpstr>
      <vt:lpstr>Note: Remote Deployment</vt:lpstr>
      <vt:lpstr>Unified Modelling Language (UML)</vt:lpstr>
      <vt:lpstr>Key types</vt:lpstr>
      <vt:lpstr>Use Case Diagram</vt:lpstr>
      <vt:lpstr>Class Diagram</vt:lpstr>
      <vt:lpstr>Relationships</vt:lpstr>
      <vt:lpstr>Association</vt:lpstr>
      <vt:lpstr>Cardinality</vt:lpstr>
      <vt:lpstr>Generalization (inheritance)</vt:lpstr>
      <vt:lpstr>Realization</vt:lpstr>
      <vt:lpstr>Aggregation</vt:lpstr>
      <vt:lpstr>Composition</vt:lpstr>
      <vt:lpstr>Composition vs. Aggregation</vt:lpstr>
      <vt:lpstr>Optional exercise</vt:lpstr>
      <vt:lpstr>Tooling</vt:lpstr>
      <vt:lpstr>What is remote deployment</vt:lpstr>
      <vt:lpstr>Why it matters</vt:lpstr>
      <vt:lpstr>SSH and Remote Deployment</vt:lpstr>
      <vt:lpstr>Run commands remotely: SSH</vt:lpstr>
      <vt:lpstr>Command line SSH</vt:lpstr>
      <vt:lpstr>Command line SSH</vt:lpstr>
      <vt:lpstr>Transfer files securely: SCP</vt:lpstr>
      <vt:lpstr>SSH/SCP/SFTP in PyCharm Professional</vt:lpstr>
      <vt:lpstr>Get started: existing</vt:lpstr>
      <vt:lpstr>Get started new</vt:lpstr>
      <vt:lpstr>Smiley project</vt:lpstr>
      <vt:lpstr>Mock sense_hat.py</vt:lpstr>
    </vt:vector>
  </TitlesOfParts>
  <Manager/>
  <Company>North Metro TAFE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subject>Powerpoint presentation template (G076C)</dc:subject>
  <dc:creator>Adrian Gould</dc:creator>
  <cp:keywords>HD, 1920x1080, Template, Powerpoint</cp:keywords>
  <dc:description>Template created by Adrian Gould, Lecturer in IT (Software Development, Web Development, IoT, and more)</dc:description>
  <cp:lastModifiedBy>Rafael Avigad</cp:lastModifiedBy>
  <cp:revision>142</cp:revision>
  <cp:lastPrinted>2020-07-27T03:09:30Z</cp:lastPrinted>
  <dcterms:created xsi:type="dcterms:W3CDTF">2020-07-19T07:10:30Z</dcterms:created>
  <dcterms:modified xsi:type="dcterms:W3CDTF">2024-10-16T01:44:24Z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0x010100BFB652FE9C0E4A4BA617103343675622</vt:lpwstr>
  </property>
  <property fmtid="{D5CDD505-2E9C-101B-9397-08002B2CF9AE}" pid="3" name="MSIP_Label_f3ac7e5b-5da2-46c7-8677-8a6b50f7d886_Enabled">
    <vt:lpwstr>true</vt:lpwstr>
  </property>
  <property fmtid="{D5CDD505-2E9C-101B-9397-08002B2CF9AE}" pid="4" name="MSIP_Label_f3ac7e5b-5da2-46c7-8677-8a6b50f7d886_SetDate">
    <vt:lpwstr>2024-04-22T03:00:37Z</vt:lpwstr>
  </property>
  <property fmtid="{D5CDD505-2E9C-101B-9397-08002B2CF9AE}" pid="5" name="MSIP_Label_f3ac7e5b-5da2-46c7-8677-8a6b50f7d886_Method">
    <vt:lpwstr>Standard</vt:lpwstr>
  </property>
  <property fmtid="{D5CDD505-2E9C-101B-9397-08002B2CF9AE}" pid="6" name="MSIP_Label_f3ac7e5b-5da2-46c7-8677-8a6b50f7d886_Name">
    <vt:lpwstr>Official</vt:lpwstr>
  </property>
  <property fmtid="{D5CDD505-2E9C-101B-9397-08002B2CF9AE}" pid="7" name="MSIP_Label_f3ac7e5b-5da2-46c7-8677-8a6b50f7d886_SiteId">
    <vt:lpwstr>218881e8-07ad-4142-87d7-f6b90d17009b</vt:lpwstr>
  </property>
  <property fmtid="{D5CDD505-2E9C-101B-9397-08002B2CF9AE}" pid="8" name="MSIP_Label_f3ac7e5b-5da2-46c7-8677-8a6b50f7d886_ActionId">
    <vt:lpwstr>fc133966-d926-43ff-b0b4-e1afbd8fd617</vt:lpwstr>
  </property>
  <property fmtid="{D5CDD505-2E9C-101B-9397-08002B2CF9AE}" pid="9" name="MSIP_Label_f3ac7e5b-5da2-46c7-8677-8a6b50f7d886_ContentBits">
    <vt:lpwstr>1</vt:lpwstr>
  </property>
  <property fmtid="{D5CDD505-2E9C-101B-9397-08002B2CF9AE}" pid="10" name="ClassificationContentMarkingHeaderLocations">
    <vt:lpwstr>Office Theme:7</vt:lpwstr>
  </property>
  <property fmtid="{D5CDD505-2E9C-101B-9397-08002B2CF9AE}" pid="11" name="ClassificationContentMarkingHeaderText">
    <vt:lpwstr>OFFICIAL</vt:lpwstr>
  </property>
</Properties>
</file>