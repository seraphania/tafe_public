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63" r:id="rId5"/>
    <p:sldId id="272" r:id="rId6"/>
    <p:sldId id="279" r:id="rId7"/>
    <p:sldId id="282" r:id="rId8"/>
    <p:sldId id="283" r:id="rId9"/>
    <p:sldId id="286" r:id="rId10"/>
    <p:sldId id="285" r:id="rId11"/>
    <p:sldId id="287" r:id="rId12"/>
    <p:sldId id="288" r:id="rId13"/>
    <p:sldId id="289" r:id="rId14"/>
    <p:sldId id="290" r:id="rId15"/>
    <p:sldId id="284" r:id="rId16"/>
    <p:sldId id="273" r:id="rId17"/>
    <p:sldId id="291" r:id="rId18"/>
    <p:sldId id="275" r:id="rId19"/>
    <p:sldId id="281" r:id="rId20"/>
    <p:sldId id="277" r:id="rId21"/>
    <p:sldId id="265" r:id="rId22"/>
    <p:sldId id="268" r:id="rId23"/>
    <p:sldId id="269" r:id="rId24"/>
    <p:sldId id="270" r:id="rId25"/>
    <p:sldId id="271" r:id="rId26"/>
    <p:sldId id="278" r:id="rId27"/>
    <p:sldId id="280" r:id="rId28"/>
  </p:sldIdLst>
  <p:sldSz cx="12192000" cy="6858000"/>
  <p:notesSz cx="7104063" cy="10234613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E631FFDE-1010-498F-9120-6F57EFC23AC7}">
          <p14:sldIdLst>
            <p14:sldId id="263"/>
            <p14:sldId id="272"/>
            <p14:sldId id="279"/>
            <p14:sldId id="282"/>
            <p14:sldId id="283"/>
            <p14:sldId id="286"/>
            <p14:sldId id="285"/>
            <p14:sldId id="287"/>
            <p14:sldId id="288"/>
            <p14:sldId id="289"/>
            <p14:sldId id="290"/>
            <p14:sldId id="284"/>
            <p14:sldId id="273"/>
            <p14:sldId id="291"/>
            <p14:sldId id="275"/>
            <p14:sldId id="281"/>
            <p14:sldId id="277"/>
            <p14:sldId id="265"/>
            <p14:sldId id="268"/>
            <p14:sldId id="269"/>
            <p14:sldId id="270"/>
            <p14:sldId id="271"/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D8262E"/>
    <a:srgbClr val="000000"/>
    <a:srgbClr val="D81C24"/>
    <a:srgbClr val="CC0000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59320" autoAdjust="0"/>
  </p:normalViewPr>
  <p:slideViewPr>
    <p:cSldViewPr snapToGrid="0" snapToObjects="1">
      <p:cViewPr varScale="1">
        <p:scale>
          <a:sx n="73" d="100"/>
          <a:sy n="73" d="100"/>
        </p:scale>
        <p:origin x="1336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4504" y="2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Courier New" panose="02070309020205020404" pitchFamily="49" charset="0"/>
        <a:ea typeface="+mn-ea"/>
        <a:cs typeface="Courier New" panose="02070309020205020404" pitchFamily="49" charset="0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Courier New" panose="02070309020205020404" pitchFamily="49" charset="0"/>
        <a:ea typeface="+mn-ea"/>
        <a:cs typeface="Courier New" panose="02070309020205020404" pitchFamily="49" charset="0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Courier New" panose="02070309020205020404" pitchFamily="49" charset="0"/>
        <a:ea typeface="+mn-ea"/>
        <a:cs typeface="Courier New" panose="02070309020205020404" pitchFamily="49" charset="0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Courier New" panose="02070309020205020404" pitchFamily="49" charset="0"/>
        <a:ea typeface="+mn-ea"/>
        <a:cs typeface="Courier New" panose="02070309020205020404" pitchFamily="49" charset="0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Courier New" panose="02070309020205020404" pitchFamily="49" charset="0"/>
        <a:ea typeface="+mn-ea"/>
        <a:cs typeface="Courier New" panose="02070309020205020404" pitchFamily="49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E8AF7CA-B53A-442A-A928-F7DF1261151C}" type="datetime1">
              <a:rPr lang="en-AU" smtClean="0"/>
              <a:t>3/5/2024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IoT Week 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56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95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CI/CD ⇒ Continuous Integration / Continuous Deployment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52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Typical folder structure:</a:t>
            </a:r>
          </a:p>
          <a:p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project_root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/                  # usually also git repo root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src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/                        # Directory for source files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cat.py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     # Module for Cat-related functionalities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dog.py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     # Module for Dog-related functionalities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animal.py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  # Common module for general Animal attributes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├── tests/                      # Directory for unit test files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test_cat.py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# Unit tests for functionalities in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cat.py</a:t>
            </a:r>
            <a:endParaRPr lang="en-US" sz="1000" b="0" i="0" dirty="0">
              <a:latin typeface="Courier New" panose="02070309020205020404" pitchFamily="49" charset="0"/>
              <a:ea typeface="3270-MEDIUM" panose="02000609000000000000" pitchFamily="49" charset="77"/>
              <a:cs typeface="Courier New" panose="02070309020205020404" pitchFamily="49" charset="0"/>
            </a:endParaRP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test_dog.py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# Unit tests for functionalities in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dog.py</a:t>
            </a:r>
            <a:endParaRPr lang="en-US" sz="1000" b="0" i="0" dirty="0">
              <a:latin typeface="Courier New" panose="02070309020205020404" pitchFamily="49" charset="0"/>
              <a:ea typeface="3270-MEDIUM" panose="02000609000000000000" pitchFamily="49" charset="77"/>
              <a:cs typeface="Courier New" panose="02070309020205020404" pitchFamily="49" charset="0"/>
            </a:endParaRP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   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test_animal.py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# Unit tests for common functionalities in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animal.py</a:t>
            </a:r>
            <a:endParaRPr lang="en-US" sz="1000" b="0" i="0" dirty="0">
              <a:latin typeface="Courier New" panose="02070309020205020404" pitchFamily="49" charset="0"/>
              <a:ea typeface="3270-MEDIUM" panose="02000609000000000000" pitchFamily="49" charset="77"/>
              <a:cs typeface="Courier New" panose="02070309020205020404" pitchFamily="49" charset="0"/>
            </a:endParaRP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│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README.md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      # Project overview and general information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├── 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requirements.txt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# File to list project dependencies</a:t>
            </a:r>
          </a:p>
          <a:p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└── .</a:t>
            </a:r>
            <a:r>
              <a:rPr lang="en-US" sz="1000" b="0" i="0" dirty="0" err="1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gitignore</a:t>
            </a:r>
            <a:r>
              <a:rPr lang="en-US" sz="1000" b="0" i="0" dirty="0">
                <a:latin typeface="Courier New" panose="02070309020205020404" pitchFamily="49" charset="0"/>
                <a:ea typeface="3270-MEDIUM" panose="02000609000000000000" pitchFamily="49" charset="77"/>
                <a:cs typeface="Courier New" panose="02070309020205020404" pitchFamily="49" charset="0"/>
              </a:rPr>
              <a:t>                  # Specifies intentionally untracked files to ignore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897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86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5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https://</a:t>
            </a:r>
            <a:r>
              <a:rPr lang="en-US" sz="1200" dirty="0" err="1"/>
              <a:t>www.youtube.com</a:t>
            </a:r>
            <a:r>
              <a:rPr lang="en-US" sz="1200" dirty="0"/>
              <a:t>/</a:t>
            </a:r>
            <a:r>
              <a:rPr lang="en-US" sz="1200" dirty="0" err="1"/>
              <a:t>watch?v</a:t>
            </a:r>
            <a:r>
              <a:rPr lang="en-US" sz="1200"/>
              <a:t>=1Lfv5tUGsn8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21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14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13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technique uses a context manager (the “with” statement).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83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SOCA = Structured Out of Class Activities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7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 dirty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732016"/>
            <a:ext cx="10084039" cy="1450021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211303"/>
            <a:ext cx="10084038" cy="428986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 dirty="0"/>
              <a:t>Cluster Name</a:t>
            </a:r>
            <a:endParaRPr lang="en-A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871530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 dirty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dirty="0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Week/Session 00 – Presentation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3/5/2024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710508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5755274"/>
            <a:ext cx="10972800" cy="52783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53685" y="672443"/>
            <a:ext cx="3328716" cy="5395071"/>
          </a:xfrm>
          <a:prstGeom prst="roundRect">
            <a:avLst>
              <a:gd name="adj" fmla="val 4147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3960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76053"/>
            <a:ext cx="6207659" cy="382380"/>
          </a:xfrm>
          <a:prstGeom prst="rect">
            <a:avLst/>
          </a:prstGeom>
        </p:spPr>
        <p:txBody>
          <a:bodyPr anchor="t"/>
          <a:lstStyle>
            <a:lvl1pPr algn="l">
              <a:defRPr sz="1800" b="1" cap="none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AU" noProof="0" dirty="0"/>
              <a:t>PRESENTATION TEMPLATE CREATED BY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78086" y="873914"/>
            <a:ext cx="1561468" cy="1561468"/>
          </a:xfrm>
          <a:prstGeom prst="roundRect">
            <a:avLst>
              <a:gd name="adj" fmla="val 411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58681"/>
            <a:ext cx="6207659" cy="633082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Adrian Gould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101835"/>
            <a:ext cx="6207659" cy="333547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AU" noProof="0" dirty="0"/>
              <a:t>LECTURER SOFTWARE DEVELOPMENT, WEB DEVELOPMENT, 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5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oundRect">
            <a:avLst>
              <a:gd name="adj" fmla="val 2544"/>
            </a:avLst>
          </a:prstGeo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5/3/24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5/3/24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1BCA5-947B-C85F-D3D2-E03EE92AE4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1" r:id="rId2"/>
    <p:sldLayoutId id="2147483650" r:id="rId3"/>
    <p:sldLayoutId id="2147483665" r:id="rId4"/>
    <p:sldLayoutId id="2147483652" r:id="rId5"/>
    <p:sldLayoutId id="2147483653" r:id="rId6"/>
    <p:sldLayoutId id="2147483661" r:id="rId7"/>
    <p:sldLayoutId id="2147483662" r:id="rId8"/>
    <p:sldLayoutId id="2147483654" r:id="rId9"/>
    <p:sldLayoutId id="2147483663" r:id="rId10"/>
    <p:sldLayoutId id="2147483664" r:id="rId11"/>
    <p:sldLayoutId id="2147483660" r:id="rId12"/>
    <p:sldLayoutId id="2147483668" r:id="rId13"/>
    <p:sldLayoutId id="2147483655" r:id="rId14"/>
    <p:sldLayoutId id="2147483656" r:id="rId15"/>
    <p:sldLayoutId id="214748365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en-AU" dirty="0"/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AU" dirty="0"/>
              <a:t>Various</a:t>
            </a:r>
          </a:p>
        </p:txBody>
      </p:sp>
      <p:sp>
        <p:nvSpPr>
          <p:cNvPr id="41" name="Content Placeholder 40"/>
          <p:cNvSpPr>
            <a:spLocks noGrp="1"/>
          </p:cNvSpPr>
          <p:nvPr>
            <p:ph sz="quarter" idx="17"/>
          </p:nvPr>
        </p:nvSpPr>
        <p:spPr>
          <a:xfrm>
            <a:off x="1051132" y="4567350"/>
            <a:ext cx="10083800" cy="602809"/>
          </a:xfrm>
        </p:spPr>
        <p:txBody>
          <a:bodyPr/>
          <a:lstStyle/>
          <a:p>
            <a:r>
              <a:rPr lang="en-AU" dirty="0"/>
              <a:t>ICT40120 Certificate IV in Programming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51838-1C7D-2003-5F5F-26A42489FC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2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02B3-9981-554B-BF0C-B483102A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16F6E-382E-4D42-9803-848A373B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testing background</a:t>
            </a:r>
          </a:p>
          <a:p>
            <a:r>
              <a:rPr lang="en-US" dirty="0"/>
              <a:t>Components of the Python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unittest</a:t>
            </a:r>
            <a:r>
              <a:rPr lang="en-US" dirty="0"/>
              <a:t> framework</a:t>
            </a:r>
          </a:p>
          <a:p>
            <a:r>
              <a:rPr lang="en-US" b="1" dirty="0"/>
              <a:t>Objective</a:t>
            </a:r>
            <a:r>
              <a:rPr lang="en-US" dirty="0"/>
              <a:t>: by the end of this session you should be able to answer (1) why we unit test and (2) how to write simple unit tests with Python’s </a:t>
            </a:r>
            <a:r>
              <a:rPr lang="en-US" dirty="0" err="1"/>
              <a:t>unittest</a:t>
            </a:r>
            <a:r>
              <a:rPr lang="en-US" dirty="0"/>
              <a:t> module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73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02B3-9981-554B-BF0C-B483102A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16F6E-382E-4D42-9803-848A373B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It’s in the name… It tests </a:t>
            </a:r>
            <a:r>
              <a:rPr lang="en-US" i="1" dirty="0"/>
              <a:t>units</a:t>
            </a:r>
            <a:r>
              <a:rPr lang="en-US" dirty="0"/>
              <a:t> of code</a:t>
            </a:r>
          </a:p>
          <a:p>
            <a:pPr lvl="1"/>
            <a:r>
              <a:rPr lang="en-US" dirty="0"/>
              <a:t>For example: a single function</a:t>
            </a:r>
          </a:p>
          <a:p>
            <a:endParaRPr lang="en-US" dirty="0"/>
          </a:p>
          <a:p>
            <a:r>
              <a:rPr lang="en-US" dirty="0"/>
              <a:t>In an OO context, those units are usually </a:t>
            </a:r>
            <a:r>
              <a:rPr lang="en-US" i="1" dirty="0"/>
              <a:t>classes</a:t>
            </a:r>
          </a:p>
          <a:p>
            <a:endParaRPr lang="en-US" dirty="0"/>
          </a:p>
          <a:p>
            <a:r>
              <a:rPr lang="en-US" dirty="0"/>
              <a:t>Preferably, unit testing is part of an automated process</a:t>
            </a:r>
          </a:p>
          <a:p>
            <a:endParaRPr lang="en-US" dirty="0"/>
          </a:p>
          <a:p>
            <a:r>
              <a:rPr lang="en-US" dirty="0"/>
              <a:t>Sometimes integrated into CI/CD workflow:</a:t>
            </a:r>
          </a:p>
          <a:p>
            <a:pPr lvl="1"/>
            <a:r>
              <a:rPr lang="en-US" dirty="0"/>
              <a:t>Commit a change ⇒ run tests ⇒ accept (or decline) change</a:t>
            </a:r>
          </a:p>
        </p:txBody>
      </p:sp>
    </p:spTree>
    <p:extLst>
      <p:ext uri="{BB962C8B-B14F-4D97-AF65-F5344CB8AC3E}">
        <p14:creationId xmlns:p14="http://schemas.microsoft.com/office/powerpoint/2010/main" val="284660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02D8-3095-47B4-C234-F1025031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3BFC-AFC6-6004-5078-A5128A16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when we say unit test we mean automated unit tests</a:t>
            </a:r>
          </a:p>
          <a:p>
            <a:r>
              <a:rPr lang="en-US" dirty="0"/>
              <a:t>In the context of OOP these are essential since testing the complete app is not always an option</a:t>
            </a:r>
          </a:p>
          <a:p>
            <a:r>
              <a:rPr lang="en-US" dirty="0"/>
              <a:t>A unit of code may not present any user-facing functionality in its own right.</a:t>
            </a:r>
          </a:p>
        </p:txBody>
      </p:sp>
    </p:spTree>
    <p:extLst>
      <p:ext uri="{BB962C8B-B14F-4D97-AF65-F5344CB8AC3E}">
        <p14:creationId xmlns:p14="http://schemas.microsoft.com/office/powerpoint/2010/main" val="383918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C684-266B-E496-9AAF-DB92331D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is crucial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9AA3A-D2FA-6E08-B04C-34C32E5D3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</a:t>
            </a:r>
          </a:p>
          <a:p>
            <a:r>
              <a:rPr lang="en-US" dirty="0"/>
              <a:t>CI/CD</a:t>
            </a:r>
          </a:p>
          <a:p>
            <a:r>
              <a:rPr lang="en-US" dirty="0"/>
              <a:t>DevOps</a:t>
            </a:r>
          </a:p>
          <a:p>
            <a:r>
              <a:rPr lang="en-US" dirty="0"/>
              <a:t>All modern methodologies rely heavily on the existence of automated unit tests</a:t>
            </a:r>
          </a:p>
          <a:p>
            <a:r>
              <a:rPr lang="en-US" dirty="0"/>
              <a:t>Without test automation </a:t>
            </a:r>
            <a:r>
              <a:rPr lang="en-US" b="1" dirty="0"/>
              <a:t>none </a:t>
            </a:r>
            <a:r>
              <a:rPr lang="en-US" dirty="0"/>
              <a:t>of these approaches could exist</a:t>
            </a:r>
          </a:p>
        </p:txBody>
      </p:sp>
    </p:spTree>
    <p:extLst>
      <p:ext uri="{BB962C8B-B14F-4D97-AF65-F5344CB8AC3E}">
        <p14:creationId xmlns:p14="http://schemas.microsoft.com/office/powerpoint/2010/main" val="200085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03FC-602C-0563-BF97-38F0096D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Preamble structuring our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FE93-F518-05D0-F9BC-92E71FEB0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applications now consist of multiple files and that number is about to grow with tests</a:t>
            </a:r>
          </a:p>
          <a:p>
            <a:r>
              <a:rPr lang="en-US" dirty="0"/>
              <a:t>We need to start thinking about how our projects are organized before we can start unit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8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0BED3C4-C505-F360-C975-A0112C37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project layout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7B0615-5E98-99DF-6354-28B3AA914FA8}"/>
              </a:ext>
            </a:extLst>
          </p:cNvPr>
          <p:cNvSpPr/>
          <p:nvPr/>
        </p:nvSpPr>
        <p:spPr>
          <a:xfrm>
            <a:off x="609600" y="181033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B3FDDB-601C-3F76-B59C-9E0414AC5CE3}"/>
              </a:ext>
            </a:extLst>
          </p:cNvPr>
          <p:cNvSpPr/>
          <p:nvPr/>
        </p:nvSpPr>
        <p:spPr>
          <a:xfrm>
            <a:off x="609600" y="251234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F974D09-DF62-0A41-7A58-8C8D812AFA7C}"/>
              </a:ext>
            </a:extLst>
          </p:cNvPr>
          <p:cNvSpPr/>
          <p:nvPr/>
        </p:nvSpPr>
        <p:spPr>
          <a:xfrm>
            <a:off x="609600" y="321435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42DA37-CC59-A5B6-2979-0ECC8B17A496}"/>
              </a:ext>
            </a:extLst>
          </p:cNvPr>
          <p:cNvSpPr/>
          <p:nvPr/>
        </p:nvSpPr>
        <p:spPr>
          <a:xfrm>
            <a:off x="609600" y="391636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38C446-F761-B627-E2D0-2E3ECCF1AAA9}"/>
              </a:ext>
            </a:extLst>
          </p:cNvPr>
          <p:cNvSpPr/>
          <p:nvPr/>
        </p:nvSpPr>
        <p:spPr>
          <a:xfrm>
            <a:off x="609600" y="461837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64885F-EF23-3A7A-324B-DC2EBB99BA2F}"/>
              </a:ext>
            </a:extLst>
          </p:cNvPr>
          <p:cNvSpPr/>
          <p:nvPr/>
        </p:nvSpPr>
        <p:spPr>
          <a:xfrm>
            <a:off x="609600" y="5320383"/>
            <a:ext cx="474785" cy="4396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5A95E-C09A-1F7A-52D4-DCDC509396F6}"/>
              </a:ext>
            </a:extLst>
          </p:cNvPr>
          <p:cNvSpPr txBox="1"/>
          <p:nvPr/>
        </p:nvSpPr>
        <p:spPr>
          <a:xfrm>
            <a:off x="1453662" y="1839897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project root in PyCharm usually the git repo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439BAE-AA30-D26D-77A6-AB95C99C677C}"/>
              </a:ext>
            </a:extLst>
          </p:cNvPr>
          <p:cNvSpPr txBox="1"/>
          <p:nvPr/>
        </p:nvSpPr>
        <p:spPr>
          <a:xfrm>
            <a:off x="1453662" y="2547485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source files together: usually but not always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2FDF2-ED84-E583-3A09-12DB3993302A}"/>
              </a:ext>
            </a:extLst>
          </p:cNvPr>
          <p:cNvSpPr txBox="1"/>
          <p:nvPr/>
        </p:nvSpPr>
        <p:spPr>
          <a:xfrm>
            <a:off x="1453662" y="3255073"/>
            <a:ext cx="291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Typically, one file per class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815C3E-66F8-47F7-CDFB-70F3EA9AFC8E}"/>
              </a:ext>
            </a:extLst>
          </p:cNvPr>
          <p:cNvSpPr txBox="1"/>
          <p:nvPr/>
        </p:nvSpPr>
        <p:spPr>
          <a:xfrm>
            <a:off x="1453662" y="3962661"/>
            <a:ext cx="648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tests in a tests folder very unusual to change the name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F86DAC-32E3-4CDF-BDC2-D6F3AE3A366F}"/>
              </a:ext>
            </a:extLst>
          </p:cNvPr>
          <p:cNvSpPr txBox="1"/>
          <p:nvPr/>
        </p:nvSpPr>
        <p:spPr>
          <a:xfrm>
            <a:off x="1453662" y="4670249"/>
            <a:ext cx="625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Usually one test_ prefixed or _test suffixed file per file in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3352DE-8477-EBE3-B769-3845FD8FB1AB}"/>
              </a:ext>
            </a:extLst>
          </p:cNvPr>
          <p:cNvSpPr txBox="1"/>
          <p:nvPr/>
        </p:nvSpPr>
        <p:spPr>
          <a:xfrm>
            <a:off x="1453662" y="5195809"/>
            <a:ext cx="691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When we organize a program into multiple files we can mark the folder as a package by including __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__.</a:t>
            </a:r>
            <a:r>
              <a:rPr lang="en-US" dirty="0" err="1">
                <a:solidFill>
                  <a:schemeClr val="bg1"/>
                </a:solidFill>
              </a:rPr>
              <a:t>py</a:t>
            </a:r>
            <a:r>
              <a:rPr lang="en-US" dirty="0">
                <a:solidFill>
                  <a:schemeClr val="bg1"/>
                </a:solidFill>
              </a:rPr>
              <a:t>. This file </a:t>
            </a:r>
            <a:r>
              <a:rPr lang="en-US" b="1" dirty="0">
                <a:solidFill>
                  <a:schemeClr val="bg1"/>
                </a:solidFill>
              </a:rPr>
              <a:t>can be </a:t>
            </a:r>
            <a:r>
              <a:rPr lang="en-US" dirty="0">
                <a:solidFill>
                  <a:schemeClr val="bg1"/>
                </a:solidFill>
              </a:rPr>
              <a:t>empty and often is.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1D5E93-FE5F-32B3-CF63-EC37E0CE3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740" y="0"/>
            <a:ext cx="3421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16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5B3EB-E279-798E-5BDA-84550B28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organization and imports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D1CB7-6304-7924-E9DB-B94E50453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organizing Python code into folders and sub folders is very common it is notoriously unintuitive</a:t>
            </a:r>
          </a:p>
          <a:p>
            <a:r>
              <a:rPr lang="en-US" dirty="0"/>
              <a:t>We want to focus on how to avoid common pitfalls without necessarily opening a can of worms that we don’t need to worry about for now</a:t>
            </a:r>
          </a:p>
        </p:txBody>
      </p:sp>
    </p:spTree>
    <p:extLst>
      <p:ext uri="{BB962C8B-B14F-4D97-AF65-F5344CB8AC3E}">
        <p14:creationId xmlns:p14="http://schemas.microsoft.com/office/powerpoint/2010/main" val="48496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DEC9-213D-6FB8-14D3-27E6F293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370F-324B-CC1D-6C5E-17D30BA1A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want to keep our tests separate from our source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But we need to import our modules into our tests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root folder is always treated as the folder we run from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Until we run a test, then it changes to the root of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simple solution is an environment variable called PYTHONPATH which we set to equal the </a:t>
            </a:r>
            <a:r>
              <a:rPr lang="en-US" dirty="0" err="1"/>
              <a:t>src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allows us to pretend the source files are in whatever folder we run from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PyCharm deals with this mess for us (may be all you need to know)</a:t>
            </a:r>
          </a:p>
        </p:txBody>
      </p:sp>
    </p:spTree>
    <p:extLst>
      <p:ext uri="{BB962C8B-B14F-4D97-AF65-F5344CB8AC3E}">
        <p14:creationId xmlns:p14="http://schemas.microsoft.com/office/powerpoint/2010/main" val="2952437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E628-B5C3-D645-EB42-684C243E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PyCharm: Always do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1393B-B388-BAA9-7277-583B0F868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77" y="1644132"/>
            <a:ext cx="10972800" cy="4563491"/>
          </a:xfrm>
        </p:spPr>
        <p:txBody>
          <a:bodyPr/>
          <a:lstStyle/>
          <a:p>
            <a:r>
              <a:rPr lang="en-US" dirty="0"/>
              <a:t>Always mark the source root (it will set the Python path)</a:t>
            </a:r>
          </a:p>
          <a:p>
            <a:r>
              <a:rPr lang="en-US" dirty="0"/>
              <a:t>Also mark the tests root (see if you can figure it out)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80398-A297-E87C-51ED-97612194E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77" y="3948113"/>
            <a:ext cx="6183923" cy="2259510"/>
          </a:xfrm>
          <a:prstGeom prst="rect">
            <a:avLst/>
          </a:prstGeom>
        </p:spPr>
      </p:pic>
      <p:pic>
        <p:nvPicPr>
          <p:cNvPr id="7" name="Graphic 6" descr="Folder with solid fill">
            <a:extLst>
              <a:ext uri="{FF2B5EF4-FFF2-40B4-BE49-F238E27FC236}">
                <a16:creationId xmlns:a16="http://schemas.microsoft.com/office/drawing/2014/main" id="{34158287-FDB5-6E68-EBE9-2D4418634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8155" y="3733829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F18E8-0BF0-6DAF-DD79-BBA84EDC6918}"/>
              </a:ext>
            </a:extLst>
          </p:cNvPr>
          <p:cNvSpPr txBox="1"/>
          <p:nvPr/>
        </p:nvSpPr>
        <p:spPr>
          <a:xfrm>
            <a:off x="2262555" y="3867863"/>
            <a:ext cx="1293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3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98ADF9-0943-48C2-D1A9-63313A2F5FDB}"/>
              </a:ext>
            </a:extLst>
          </p:cNvPr>
          <p:cNvCxnSpPr/>
          <p:nvPr/>
        </p:nvCxnSpPr>
        <p:spPr>
          <a:xfrm>
            <a:off x="3556499" y="4242543"/>
            <a:ext cx="633046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2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8BD5-26E8-7667-6856-80315844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7FAF-B1F5-37FE-75B3-2A2CD2C9A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your project into </a:t>
            </a:r>
            <a:r>
              <a:rPr lang="en-US" dirty="0" err="1"/>
              <a:t>src</a:t>
            </a:r>
            <a:r>
              <a:rPr lang="en-US" dirty="0"/>
              <a:t>/ and tests/ folders </a:t>
            </a:r>
          </a:p>
          <a:p>
            <a:r>
              <a:rPr lang="en-US" dirty="0"/>
              <a:t>Ensure from &lt;</a:t>
            </a:r>
            <a:r>
              <a:rPr lang="en-US" dirty="0" err="1"/>
              <a:t>some_file_in_src</a:t>
            </a:r>
            <a:r>
              <a:rPr lang="en-US" dirty="0"/>
              <a:t>&gt; import &lt;</a:t>
            </a:r>
            <a:r>
              <a:rPr lang="en-US" dirty="0" err="1"/>
              <a:t>some_module</a:t>
            </a:r>
            <a:r>
              <a:rPr lang="en-US" dirty="0"/>
              <a:t>&gt; works from a file in your tests</a:t>
            </a:r>
          </a:p>
        </p:txBody>
      </p:sp>
    </p:spTree>
    <p:extLst>
      <p:ext uri="{BB962C8B-B14F-4D97-AF65-F5344CB8AC3E}">
        <p14:creationId xmlns:p14="http://schemas.microsoft.com/office/powerpoint/2010/main" val="396187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C5AE-76C9-1ADE-8DAF-7115B831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AF3A8-8E00-ACD4-054D-5C509B38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Built-in:</a:t>
            </a:r>
          </a:p>
          <a:p>
            <a:pPr lvl="1"/>
            <a:r>
              <a:rPr lang="en-US" dirty="0" err="1"/>
              <a:t>doctest</a:t>
            </a:r>
            <a:endParaRPr lang="en-US" dirty="0"/>
          </a:p>
          <a:p>
            <a:pPr lvl="1"/>
            <a:r>
              <a:rPr lang="en-US" dirty="0" err="1"/>
              <a:t>unittest</a:t>
            </a:r>
            <a:endParaRPr lang="en-US" dirty="0"/>
          </a:p>
          <a:p>
            <a:r>
              <a:rPr lang="en-US" dirty="0"/>
              <a:t>Popular:</a:t>
            </a:r>
          </a:p>
          <a:p>
            <a:pPr lvl="1"/>
            <a:r>
              <a:rPr lang="en-US" dirty="0" err="1"/>
              <a:t>pytest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473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3178-567A-A74A-A367-403BACAA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unittest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303E-899C-394E-93C2-77CFF28A1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provides the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unittest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Inspired by JUnit</a:t>
            </a:r>
          </a:p>
          <a:p>
            <a:pPr lvl="1"/>
            <a:endParaRPr lang="en-US" dirty="0"/>
          </a:p>
          <a:p>
            <a:r>
              <a:rPr lang="en-US" dirty="0"/>
              <a:t>Key concepts used in unit testing:</a:t>
            </a:r>
          </a:p>
          <a:p>
            <a:pPr lvl="1"/>
            <a:r>
              <a:rPr lang="en-US" dirty="0"/>
              <a:t>Test, Test Case</a:t>
            </a:r>
          </a:p>
          <a:p>
            <a:pPr lvl="1"/>
            <a:r>
              <a:rPr lang="en-US" dirty="0"/>
              <a:t>Test runner</a:t>
            </a:r>
          </a:p>
          <a:p>
            <a:pPr lvl="1"/>
            <a:r>
              <a:rPr lang="en-US" dirty="0"/>
              <a:t>Coverage</a:t>
            </a:r>
          </a:p>
        </p:txBody>
      </p:sp>
    </p:spTree>
    <p:extLst>
      <p:ext uri="{BB962C8B-B14F-4D97-AF65-F5344CB8AC3E}">
        <p14:creationId xmlns:p14="http://schemas.microsoft.com/office/powerpoint/2010/main" val="107515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20B5-104F-1E50-8302-5ED2C47B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unittest</a:t>
            </a:r>
            <a:r>
              <a:rPr lang="en-US" dirty="0"/>
              <a:t> and AAA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64CE5-C37A-A624-3104-F21D9FDB5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Arrange</a:t>
            </a:r>
            <a:r>
              <a:rPr lang="en-US" dirty="0"/>
              <a:t>: with </a:t>
            </a:r>
            <a:r>
              <a:rPr lang="en-US" dirty="0" err="1"/>
              <a:t>setUp</a:t>
            </a:r>
            <a:r>
              <a:rPr lang="en-US" dirty="0"/>
              <a:t>, </a:t>
            </a:r>
            <a:r>
              <a:rPr lang="en-US" dirty="0" err="1"/>
              <a:t>tearDown</a:t>
            </a:r>
            <a:r>
              <a:rPr lang="en-US" dirty="0"/>
              <a:t>, and fixtures</a:t>
            </a:r>
          </a:p>
          <a:p>
            <a:r>
              <a:rPr lang="en-US" b="1" dirty="0"/>
              <a:t>Act: </a:t>
            </a:r>
            <a:r>
              <a:rPr lang="en-US" dirty="0"/>
              <a:t>Perform the operation you want to test</a:t>
            </a:r>
          </a:p>
          <a:p>
            <a:r>
              <a:rPr lang="en-US" b="1" dirty="0"/>
              <a:t>Assert: </a:t>
            </a:r>
            <a:r>
              <a:rPr lang="en-US" dirty="0"/>
              <a:t>Use a variety of </a:t>
            </a:r>
            <a:r>
              <a:rPr lang="en-US" i="1" dirty="0"/>
              <a:t>assertions </a:t>
            </a:r>
            <a:r>
              <a:rPr lang="en-US" dirty="0"/>
              <a:t>to check for success or 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03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2DE-E307-BF48-AF39-8386184B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2329-42FE-7849-A012-80E89BA4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individual unit of testing</a:t>
            </a:r>
          </a:p>
          <a:p>
            <a:endParaRPr lang="en-US" dirty="0"/>
          </a:p>
          <a:p>
            <a:r>
              <a:rPr lang="en-US" dirty="0"/>
              <a:t>Test cases are derived from the base class </a:t>
            </a:r>
            <a:r>
              <a:rPr lang="en-US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TestCase</a:t>
            </a:r>
            <a:endParaRPr lang="en-US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87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6A29-CE66-FE43-8AC0-6E4FE993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</a:t>
            </a:r>
            <a:r>
              <a:rPr lang="en-US" dirty="0" err="1"/>
              <a:t>Socratica</a:t>
            </a:r>
            <a:r>
              <a:rPr lang="en-US" dirty="0"/>
              <a:t> on Python 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4A5CA-410C-DC40-BF74-9FA93339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6"/>
            <a:ext cx="10972800" cy="495624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2400" dirty="0"/>
              <a:t>Link: https://</a:t>
            </a:r>
            <a:r>
              <a:rPr lang="en-US" sz="2400" dirty="0" err="1"/>
              <a:t>www.youtube.com</a:t>
            </a:r>
            <a:r>
              <a:rPr lang="en-US" sz="2400" dirty="0"/>
              <a:t>/</a:t>
            </a:r>
            <a:r>
              <a:rPr lang="en-US" sz="2400" dirty="0" err="1"/>
              <a:t>watch?v</a:t>
            </a:r>
            <a:r>
              <a:rPr lang="en-US" sz="2400" dirty="0"/>
              <a:t>=1Lfv5tUGsn8</a:t>
            </a:r>
          </a:p>
        </p:txBody>
      </p:sp>
      <p:pic>
        <p:nvPicPr>
          <p:cNvPr id="5" name="Picture 4" descr="A picture containing text, electronics, monitor, television&#10;&#10;Description automatically generated">
            <a:extLst>
              <a:ext uri="{FF2B5EF4-FFF2-40B4-BE49-F238E27FC236}">
                <a16:creationId xmlns:a16="http://schemas.microsoft.com/office/drawing/2014/main" id="{B116A447-360B-F54C-AF84-9AF236D6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380" y="1655497"/>
            <a:ext cx="5835240" cy="424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35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2DE-E307-BF48-AF39-8386184B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</p:spPr>
        <p:txBody>
          <a:bodyPr anchor="ctr">
            <a:normAutofit/>
          </a:bodyPr>
          <a:lstStyle/>
          <a:p>
            <a:r>
              <a:rPr lang="en-US" dirty="0"/>
              <a:t>Test runner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2329-42FE-7849-A012-80E89BA4D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Runs the tests and conveys the results (pass/fail) to the user</a:t>
            </a:r>
          </a:p>
          <a:p>
            <a:endParaRPr lang="en-US" dirty="0"/>
          </a:p>
          <a:p>
            <a:r>
              <a:rPr lang="en-US" dirty="0"/>
              <a:t>Example output of a successful run:</a:t>
            </a:r>
          </a:p>
          <a:p>
            <a:endParaRPr lang="en-US" dirty="0"/>
          </a:p>
        </p:txBody>
      </p:sp>
      <p:pic>
        <p:nvPicPr>
          <p:cNvPr id="5" name="Picture 4" descr="Rectangle&#10;&#10;Description automatically generated with medium confidence">
            <a:extLst>
              <a:ext uri="{FF2B5EF4-FFF2-40B4-BE49-F238E27FC236}">
                <a16:creationId xmlns:a16="http://schemas.microsoft.com/office/drawing/2014/main" id="{82EE2FAC-E1AF-6942-9572-C6962C029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10729"/>
            <a:ext cx="10972800" cy="15361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0599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2CB-4AC5-4B00-ACE2-EE094B46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</p:spPr>
        <p:txBody>
          <a:bodyPr anchor="ctr">
            <a:normAutofit/>
          </a:bodyPr>
          <a:lstStyle/>
          <a:p>
            <a:r>
              <a:rPr lang="en-US" dirty="0"/>
              <a:t>Running unit tests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10DDA-D93B-4E23-9600-4377DAD79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6903"/>
            <a:ext cx="10972800" cy="2167128"/>
          </a:xfrm>
          <a:prstGeom prst="rect">
            <a:avLst/>
          </a:prstGeom>
          <a:noFill/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DA9DB-5859-494E-9E22-BAA7EC466F2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This will automatically discover unit tests</a:t>
            </a:r>
          </a:p>
          <a:p>
            <a:pPr lvl="2"/>
            <a:r>
              <a:rPr lang="en-US" dirty="0"/>
              <a:t>If the terminal in PyCharm doesn’t work, use a regular terminal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A11054-881B-42F2-A94A-FDFAF5D4F854}"/>
              </a:ext>
            </a:extLst>
          </p:cNvPr>
          <p:cNvSpPr/>
          <p:nvPr/>
        </p:nvSpPr>
        <p:spPr>
          <a:xfrm>
            <a:off x="7480663" y="1806903"/>
            <a:ext cx="4001588" cy="396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291292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FFED-D621-4E06-B48D-157E708B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86DC-D9B6-409F-BB2E-0A390F7C3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assertions available</a:t>
            </a:r>
            <a:endParaRPr lang="en-AU" dirty="0"/>
          </a:p>
        </p:txBody>
      </p:sp>
      <p:pic>
        <p:nvPicPr>
          <p:cNvPr id="5" name="Picture 4" descr="A screenshot of text&#10;&#10;Description automatically generated">
            <a:extLst>
              <a:ext uri="{FF2B5EF4-FFF2-40B4-BE49-F238E27FC236}">
                <a16:creationId xmlns:a16="http://schemas.microsoft.com/office/drawing/2014/main" id="{88E8491F-6C52-4670-B3E1-18475707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63774"/>
            <a:ext cx="4845299" cy="2959252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0505E0FB-D782-492E-8687-9ACFDCF19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63774"/>
            <a:ext cx="4845299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42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FFED-D621-4E06-B48D-157E708B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86DC-D9B6-409F-BB2E-0A390F7C3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numerous assertions available</a:t>
            </a:r>
            <a:endParaRPr lang="en-AU" dirty="0"/>
          </a:p>
        </p:txBody>
      </p:sp>
      <p:pic>
        <p:nvPicPr>
          <p:cNvPr id="6" name="Picture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66D8AB7-AB92-43AF-9B67-EC70DB28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85575"/>
            <a:ext cx="4807197" cy="2863997"/>
          </a:xfrm>
          <a:prstGeom prst="rect">
            <a:avLst/>
          </a:prstGeom>
        </p:spPr>
      </p:pic>
      <p:pic>
        <p:nvPicPr>
          <p:cNvPr id="9" name="Picture 8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5B79E22A-4750-4749-B95B-AC232234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931" y="3085575"/>
            <a:ext cx="4819898" cy="198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8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949C-6D35-4B62-8326-33D3F790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assertions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BC49-6C38-42BF-AF06-F8F2C0423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We’ve seen </a:t>
            </a:r>
            <a:r>
              <a:rPr lang="en-US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assertTrue</a:t>
            </a:r>
            <a:r>
              <a:rPr lang="en-US" dirty="0"/>
              <a:t> (</a:t>
            </a:r>
            <a:r>
              <a:rPr lang="en-US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assertFalse</a:t>
            </a:r>
            <a:r>
              <a:rPr lang="en-US" dirty="0"/>
              <a:t> tests opposite)</a:t>
            </a:r>
            <a:endParaRPr lang="en-US" dirty="0">
              <a:solidFill>
                <a:schemeClr val="accent3"/>
              </a:solidFill>
              <a:latin typeface="Lucida Console" panose="020B0609040504020204" pitchFamily="49" charset="0"/>
            </a:endParaRPr>
          </a:p>
          <a:p>
            <a:endParaRPr lang="en-US" dirty="0"/>
          </a:p>
          <a:p>
            <a:r>
              <a:rPr lang="en-US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self.assertEquals</a:t>
            </a:r>
            <a:r>
              <a:rPr lang="en-US" dirty="0">
                <a:solidFill>
                  <a:schemeClr val="accent3"/>
                </a:solidFill>
                <a:latin typeface="Lucida Console" panose="020B0609040504020204" pitchFamily="49" charset="0"/>
              </a:rPr>
              <a:t>(a, b)</a:t>
            </a:r>
            <a:r>
              <a:rPr lang="en-US" dirty="0"/>
              <a:t> compares two values </a:t>
            </a:r>
            <a:r>
              <a:rPr lang="en-US" dirty="0">
                <a:solidFill>
                  <a:schemeClr val="accent3"/>
                </a:solidFill>
                <a:latin typeface="Lucida Console" panose="020B0609040504020204" pitchFamily="49" charset="0"/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chemeClr val="accent3"/>
                </a:solidFill>
                <a:latin typeface="Lucida Console" panose="020B0609040504020204" pitchFamily="49" charset="0"/>
              </a:rPr>
              <a:t>b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accent3"/>
                </a:solidFill>
                <a:latin typeface="Lucida Console" panose="020B0609040504020204" pitchFamily="49" charset="0"/>
              </a:rPr>
              <a:t>a != b</a:t>
            </a:r>
            <a:r>
              <a:rPr lang="en-US" dirty="0">
                <a:solidFill>
                  <a:schemeClr val="bg1"/>
                </a:solidFill>
              </a:rPr>
              <a:t>, an exception is raised, and the test fails.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third parameter can be used as a “message” field, which will be shown if the test fails.</a:t>
            </a:r>
          </a:p>
        </p:txBody>
      </p:sp>
    </p:spTree>
    <p:extLst>
      <p:ext uri="{BB962C8B-B14F-4D97-AF65-F5344CB8AC3E}">
        <p14:creationId xmlns:p14="http://schemas.microsoft.com/office/powerpoint/2010/main" val="3887479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949C-6D35-4B62-8326-33D3F790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assertions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BC49-6C38-42BF-AF06-F8F2C0423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you want to test whether an exception is raised: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def </a:t>
            </a:r>
            <a:r>
              <a:rPr lang="en-US" sz="2800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test_exception_is_raised</a:t>
            </a: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    # You can tell which exception is expected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    with </a:t>
            </a:r>
            <a:r>
              <a:rPr lang="en-US" sz="2800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self.assertRaises</a:t>
            </a: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(</a:t>
            </a:r>
            <a:r>
              <a:rPr lang="en-US" sz="2800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IndexError</a:t>
            </a: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        </a:t>
            </a:r>
            <a:r>
              <a:rPr lang="en-US" sz="2800" dirty="0" err="1">
                <a:solidFill>
                  <a:schemeClr val="accent3"/>
                </a:solidFill>
                <a:latin typeface="Lucida Console" panose="020B0609040504020204" pitchFamily="49" charset="0"/>
              </a:rPr>
              <a:t>self.stack.push</a:t>
            </a:r>
            <a:r>
              <a:rPr lang="en-US" sz="2800" dirty="0">
                <a:solidFill>
                  <a:schemeClr val="accent3"/>
                </a:solidFill>
                <a:latin typeface="Lucida Console" panose="020B0609040504020204" pitchFamily="49" charset="0"/>
              </a:rPr>
              <a:t>(3)</a:t>
            </a:r>
          </a:p>
          <a:p>
            <a:endParaRPr lang="en-US" sz="2800" dirty="0">
              <a:solidFill>
                <a:schemeClr val="accent3"/>
              </a:solidFill>
              <a:latin typeface="Lucida Console" panose="020B0609040504020204" pitchFamily="49" charset="0"/>
            </a:endParaRPr>
          </a:p>
          <a:p>
            <a:r>
              <a:rPr lang="en-US" sz="2800" dirty="0"/>
              <a:t>Please note that the </a:t>
            </a:r>
            <a:r>
              <a:rPr lang="en-US" sz="2800" dirty="0" err="1"/>
              <a:t>Socratica</a:t>
            </a:r>
            <a:r>
              <a:rPr lang="en-US" sz="2800" dirty="0"/>
              <a:t> video shows another method of checking for exceptions.</a:t>
            </a:r>
          </a:p>
          <a:p>
            <a:endParaRPr lang="en-US" sz="2800" dirty="0">
              <a:solidFill>
                <a:schemeClr val="accent3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53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F1F3-E18E-534F-AB7A-B6C41462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– In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607B-B2C5-7E42-9965-36830BD71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4617"/>
            <a:ext cx="10972800" cy="49109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Write a function that calculates the sum of two numbers</a:t>
            </a:r>
          </a:p>
          <a:p>
            <a:pPr lvl="1"/>
            <a:r>
              <a:rPr lang="en-US" dirty="0"/>
              <a:t>Call it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add2</a:t>
            </a:r>
            <a:r>
              <a:rPr lang="en-US" dirty="0"/>
              <a:t>, not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en-US" dirty="0"/>
              <a:t> (that is a built-in function)</a:t>
            </a:r>
          </a:p>
          <a:p>
            <a:pPr lvl="1"/>
            <a:r>
              <a:rPr lang="en-US" dirty="0"/>
              <a:t>Include a docstring!</a:t>
            </a:r>
          </a:p>
          <a:p>
            <a:endParaRPr lang="en-US" dirty="0"/>
          </a:p>
          <a:p>
            <a:r>
              <a:rPr lang="en-US" dirty="0"/>
              <a:t>Write the unit tests that check:</a:t>
            </a:r>
          </a:p>
          <a:p>
            <a:pPr lvl="1"/>
            <a:r>
              <a:rPr lang="en-US" dirty="0"/>
              <a:t>that correct values are calculated for integer, floating point, </a:t>
            </a:r>
            <a:r>
              <a:rPr lang="en-US" i="1" dirty="0"/>
              <a:t>and</a:t>
            </a:r>
            <a:r>
              <a:rPr lang="en-US" dirty="0"/>
              <a:t> complex numbers (e.g.,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2 - 1j</a:t>
            </a:r>
            <a:r>
              <a:rPr lang="en-US" dirty="0"/>
              <a:t> is complex)</a:t>
            </a:r>
          </a:p>
          <a:p>
            <a:pPr lvl="1"/>
            <a:r>
              <a:rPr lang="en-US" dirty="0"/>
              <a:t>that a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US" dirty="0"/>
              <a:t> is raised if any of the arguments is not a valid </a:t>
            </a:r>
            <a:r>
              <a:rPr lang="en-US" i="1" dirty="0"/>
              <a:t>type</a:t>
            </a:r>
          </a:p>
          <a:p>
            <a:pPr lvl="1"/>
            <a:endParaRPr lang="en-US" dirty="0"/>
          </a:p>
          <a:p>
            <a:r>
              <a:rPr lang="en-US" dirty="0"/>
              <a:t>Question: </a:t>
            </a:r>
          </a:p>
          <a:p>
            <a:pPr lvl="1"/>
            <a:r>
              <a:rPr lang="en-US" dirty="0"/>
              <a:t>do you need to test for a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ValueError</a:t>
            </a:r>
            <a:r>
              <a:rPr lang="en-US" dirty="0"/>
              <a:t> like in the </a:t>
            </a:r>
            <a:r>
              <a:rPr lang="en-US" dirty="0" err="1"/>
              <a:t>Socratica</a:t>
            </a:r>
            <a:r>
              <a:rPr lang="en-US" dirty="0"/>
              <a:t> video?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5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F1F3-E18E-534F-AB7A-B6C41462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2 - SOCA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607B-B2C5-7E42-9965-36830BD71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Download the file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string_num_value.zip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from Blackboard</a:t>
            </a:r>
          </a:p>
          <a:p>
            <a:pPr lvl="1"/>
            <a:r>
              <a:rPr lang="en-US" dirty="0"/>
              <a:t>Unpack it somewhere and load it as a project in your IDE</a:t>
            </a:r>
          </a:p>
          <a:p>
            <a:pPr lvl="2"/>
            <a:r>
              <a:rPr lang="en-US" dirty="0"/>
              <a:t>Probably PyCharm</a:t>
            </a:r>
          </a:p>
          <a:p>
            <a:pPr lvl="1"/>
            <a:endParaRPr lang="en-US" dirty="0"/>
          </a:p>
          <a:p>
            <a:r>
              <a:rPr lang="en-US" dirty="0"/>
              <a:t>Run the unit tests from within the IDE</a:t>
            </a:r>
          </a:p>
          <a:p>
            <a:pPr lvl="1"/>
            <a:r>
              <a:rPr lang="en-US" dirty="0"/>
              <a:t>Can you make any of the tests fail?</a:t>
            </a:r>
          </a:p>
          <a:p>
            <a:pPr lvl="1"/>
            <a:r>
              <a:rPr lang="en-US" dirty="0"/>
              <a:t>Can you implement the missing functionality and the test that goes with it?</a:t>
            </a:r>
          </a:p>
        </p:txBody>
      </p:sp>
    </p:spTree>
    <p:extLst>
      <p:ext uri="{BB962C8B-B14F-4D97-AF65-F5344CB8AC3E}">
        <p14:creationId xmlns:p14="http://schemas.microsoft.com/office/powerpoint/2010/main" val="3277411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7.01.potx" id="{3EDD48A2-5C86-4826-A34B-3DD4694D6775}" vid="{2EDC81D3-35B6-4E09-B25C-3248DC8F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2CBA738D00D4AAC9330883AE1DA78" ma:contentTypeVersion="33" ma:contentTypeDescription="Create a new document." ma:contentTypeScope="" ma:versionID="8e47dcab4e34a32242880baf61f0a73d">
  <xsd:schema xmlns:xsd="http://www.w3.org/2001/XMLSchema" xmlns:xs="http://www.w3.org/2001/XMLSchema" xmlns:p="http://schemas.microsoft.com/office/2006/metadata/properties" xmlns:ns3="3936cbe9-feea-4685-b03c-7f8d09c550f1" xmlns:ns4="833ce3ab-d172-455c-9989-f10facae9784" targetNamespace="http://schemas.microsoft.com/office/2006/metadata/properties" ma:root="true" ma:fieldsID="174389be43a91ce68753c33b6ac99b4e" ns3:_="" ns4:_="">
    <xsd:import namespace="3936cbe9-feea-4685-b03c-7f8d09c550f1"/>
    <xsd:import namespace="833ce3ab-d172-455c-9989-f10facae978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6cbe9-feea-4685-b03c-7f8d09c550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3ce3ab-d172-455c-9989-f10facae9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1" nillable="true" ma:displayName="Notebook Type" ma:internalName="NotebookType">
      <xsd:simpleType>
        <xsd:restriction base="dms:Text"/>
      </xsd:simpleType>
    </xsd:element>
    <xsd:element name="FolderType" ma:index="22" nillable="true" ma:displayName="Folder Type" ma:internalName="FolderType">
      <xsd:simpleType>
        <xsd:restriction base="dms:Text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AppVersion" ma:index="24" nillable="true" ma:displayName="App Version" ma:internalName="AppVersion">
      <xsd:simpleType>
        <xsd:restriction base="dms:Text"/>
      </xsd:simpleType>
    </xsd:element>
    <xsd:element name="TeamsChannelId" ma:index="25" nillable="true" ma:displayName="Teams Channel Id" ma:internalName="TeamsChannelId">
      <xsd:simpleType>
        <xsd:restriction base="dms:Text"/>
      </xsd:simpleType>
    </xsd:element>
    <xsd:element name="Owner" ma:index="2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7" nillable="true" ma:displayName="Math Settings" ma:internalName="Math_Settings">
      <xsd:simpleType>
        <xsd:restriction base="dms:Text"/>
      </xsd:simpleType>
    </xsd:element>
    <xsd:element name="DefaultSectionNames" ma:index="2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9" nillable="true" ma:displayName="Is Collaboration Space Locked" ma:internalName="Is_Collaboration_Space_Locked">
      <xsd:simpleType>
        <xsd:restriction base="dms:Boolean"/>
      </xsd:simpleType>
    </xsd:element>
    <xsd:element name="IsNotebookLocked" ma:index="40" nillable="true" ma:displayName="Is Notebook Locked" ma:internalName="IsNotebookLock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833ce3ab-d172-455c-9989-f10facae9784" xsi:nil="true"/>
    <Students xmlns="833ce3ab-d172-455c-9989-f10facae9784">
      <UserInfo>
        <DisplayName/>
        <AccountId xsi:nil="true"/>
        <AccountType/>
      </UserInfo>
    </Students>
    <TeamsChannelId xmlns="833ce3ab-d172-455c-9989-f10facae9784" xsi:nil="true"/>
    <Student_Groups xmlns="833ce3ab-d172-455c-9989-f10facae9784">
      <UserInfo>
        <DisplayName/>
        <AccountId xsi:nil="true"/>
        <AccountType/>
      </UserInfo>
    </Student_Groups>
    <Math_Settings xmlns="833ce3ab-d172-455c-9989-f10facae9784" xsi:nil="true"/>
    <Is_Collaboration_Space_Locked xmlns="833ce3ab-d172-455c-9989-f10facae9784" xsi:nil="true"/>
    <AppVersion xmlns="833ce3ab-d172-455c-9989-f10facae9784" xsi:nil="true"/>
    <Owner xmlns="833ce3ab-d172-455c-9989-f10facae9784">
      <UserInfo>
        <DisplayName/>
        <AccountId xsi:nil="true"/>
        <AccountType/>
      </UserInfo>
    </Owner>
    <Has_Teacher_Only_SectionGroup xmlns="833ce3ab-d172-455c-9989-f10facae9784" xsi:nil="true"/>
    <NotebookType xmlns="833ce3ab-d172-455c-9989-f10facae9784" xsi:nil="true"/>
    <Teachers xmlns="833ce3ab-d172-455c-9989-f10facae9784">
      <UserInfo>
        <DisplayName/>
        <AccountId xsi:nil="true"/>
        <AccountType/>
      </UserInfo>
    </Teachers>
    <Templates xmlns="833ce3ab-d172-455c-9989-f10facae9784" xsi:nil="true"/>
    <DefaultSectionNames xmlns="833ce3ab-d172-455c-9989-f10facae9784" xsi:nil="true"/>
    <CultureName xmlns="833ce3ab-d172-455c-9989-f10facae9784" xsi:nil="true"/>
    <Distribution_Groups xmlns="833ce3ab-d172-455c-9989-f10facae9784" xsi:nil="true"/>
    <Self_Registration_Enabled xmlns="833ce3ab-d172-455c-9989-f10facae9784" xsi:nil="true"/>
    <LMS_Mappings xmlns="833ce3ab-d172-455c-9989-f10facae9784" xsi:nil="true"/>
    <Invited_Teachers xmlns="833ce3ab-d172-455c-9989-f10facae9784" xsi:nil="true"/>
    <Invited_Students xmlns="833ce3ab-d172-455c-9989-f10facae9784" xsi:nil="true"/>
    <IsNotebookLocked xmlns="833ce3ab-d172-455c-9989-f10facae9784" xsi:nil="true"/>
  </documentManagement>
</p:properties>
</file>

<file path=customXml/itemProps1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DE3886-A981-4E1C-91EF-EBC9EDE0D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6cbe9-feea-4685-b03c-7f8d09c550f1"/>
    <ds:schemaRef ds:uri="833ce3ab-d172-455c-9989-f10facae97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F79D9B-5A67-492D-BB4F-F3913BAD9421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33ce3ab-d172-455c-9989-f10facae9784"/>
    <ds:schemaRef ds:uri="3936cbe9-feea-4685-b03c-7f8d09c550f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1185</Words>
  <Application>Microsoft Macintosh PowerPoint</Application>
  <PresentationFormat>Widescreen</PresentationFormat>
  <Paragraphs>175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Century Gothic</vt:lpstr>
      <vt:lpstr>Consolas</vt:lpstr>
      <vt:lpstr>Courier New</vt:lpstr>
      <vt:lpstr>Lucida Console</vt:lpstr>
      <vt:lpstr>Office Theme</vt:lpstr>
      <vt:lpstr>Unit Testing</vt:lpstr>
      <vt:lpstr>Overview</vt:lpstr>
      <vt:lpstr>What is unit testing?</vt:lpstr>
      <vt:lpstr>Unit Testing</vt:lpstr>
      <vt:lpstr>Unit testing is crucial</vt:lpstr>
      <vt:lpstr>Preamble structuring our project </vt:lpstr>
      <vt:lpstr>Typical project layout</vt:lpstr>
      <vt:lpstr>Folder organization and imports</vt:lpstr>
      <vt:lpstr>What you need to understand</vt:lpstr>
      <vt:lpstr>PyCharm: Always do this</vt:lpstr>
      <vt:lpstr>Activity</vt:lpstr>
      <vt:lpstr>Testing in Python</vt:lpstr>
      <vt:lpstr>unittest</vt:lpstr>
      <vt:lpstr>Python unittest and AAA</vt:lpstr>
      <vt:lpstr>Test case</vt:lpstr>
      <vt:lpstr>Video: Socratica on Python unit testing</vt:lpstr>
      <vt:lpstr>Test runner</vt:lpstr>
      <vt:lpstr>Running unit tests</vt:lpstr>
      <vt:lpstr>Assertions</vt:lpstr>
      <vt:lpstr>Assertions</vt:lpstr>
      <vt:lpstr>Common assertions</vt:lpstr>
      <vt:lpstr>Common assertions</vt:lpstr>
      <vt:lpstr>Exercise 1 – In class</vt:lpstr>
      <vt:lpstr>Exercise 2 - SOCA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Unit testing</dc:title>
  <dc:creator>Sander Huijsen</dc:creator>
  <cp:lastModifiedBy>Rafael Avigad</cp:lastModifiedBy>
  <cp:revision>15</cp:revision>
  <dcterms:created xsi:type="dcterms:W3CDTF">2020-08-11T07:26:15Z</dcterms:created>
  <dcterms:modified xsi:type="dcterms:W3CDTF">2024-05-03T06:35:07Z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2024-05-01T03:51:03Z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f78f3532-0952-4334-9e66-b843e77880d9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Office Theme:7</vt:lpwstr>
  </property>
  <property fmtid="{D5CDD505-2E9C-101B-9397-08002B2CF9AE}" pid="10" name="ClassificationContentMarkingHeaderText">
    <vt:lpwstr>OFFICIAL</vt:lpwstr>
  </property>
</Properties>
</file>