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2"/>
  </p:notesMasterIdLst>
  <p:handoutMasterIdLst>
    <p:handoutMasterId r:id="rId83"/>
  </p:handoutMasterIdLst>
  <p:sldIdLst>
    <p:sldId id="257" r:id="rId5"/>
    <p:sldId id="259" r:id="rId6"/>
    <p:sldId id="322" r:id="rId7"/>
    <p:sldId id="324" r:id="rId8"/>
    <p:sldId id="323" r:id="rId9"/>
    <p:sldId id="325" r:id="rId10"/>
    <p:sldId id="326" r:id="rId11"/>
    <p:sldId id="327" r:id="rId12"/>
    <p:sldId id="328" r:id="rId13"/>
    <p:sldId id="329" r:id="rId14"/>
    <p:sldId id="330" r:id="rId15"/>
    <p:sldId id="331" r:id="rId16"/>
    <p:sldId id="332" r:id="rId17"/>
    <p:sldId id="333" r:id="rId18"/>
    <p:sldId id="334" r:id="rId19"/>
    <p:sldId id="335" r:id="rId20"/>
    <p:sldId id="340" r:id="rId21"/>
    <p:sldId id="336" r:id="rId22"/>
    <p:sldId id="337" r:id="rId23"/>
    <p:sldId id="338" r:id="rId24"/>
    <p:sldId id="339" r:id="rId25"/>
    <p:sldId id="341" r:id="rId26"/>
    <p:sldId id="342" r:id="rId27"/>
    <p:sldId id="321" r:id="rId28"/>
    <p:sldId id="300" r:id="rId29"/>
    <p:sldId id="303" r:id="rId30"/>
    <p:sldId id="304" r:id="rId31"/>
    <p:sldId id="305" r:id="rId32"/>
    <p:sldId id="301" r:id="rId33"/>
    <p:sldId id="315" r:id="rId34"/>
    <p:sldId id="316" r:id="rId35"/>
    <p:sldId id="306" r:id="rId36"/>
    <p:sldId id="307" r:id="rId37"/>
    <p:sldId id="309" r:id="rId38"/>
    <p:sldId id="343" r:id="rId39"/>
    <p:sldId id="310" r:id="rId40"/>
    <p:sldId id="311" r:id="rId41"/>
    <p:sldId id="312" r:id="rId42"/>
    <p:sldId id="314" r:id="rId43"/>
    <p:sldId id="344" r:id="rId44"/>
    <p:sldId id="317" r:id="rId45"/>
    <p:sldId id="318" r:id="rId46"/>
    <p:sldId id="319" r:id="rId47"/>
    <p:sldId id="320" r:id="rId48"/>
    <p:sldId id="265" r:id="rId49"/>
    <p:sldId id="266" r:id="rId50"/>
    <p:sldId id="267" r:id="rId51"/>
    <p:sldId id="268" r:id="rId52"/>
    <p:sldId id="269" r:id="rId53"/>
    <p:sldId id="270" r:id="rId54"/>
    <p:sldId id="271" r:id="rId55"/>
    <p:sldId id="272" r:id="rId56"/>
    <p:sldId id="273" r:id="rId57"/>
    <p:sldId id="274" r:id="rId58"/>
    <p:sldId id="275" r:id="rId59"/>
    <p:sldId id="277" r:id="rId60"/>
    <p:sldId id="278" r:id="rId61"/>
    <p:sldId id="279" r:id="rId62"/>
    <p:sldId id="280" r:id="rId63"/>
    <p:sldId id="281" r:id="rId64"/>
    <p:sldId id="282" r:id="rId65"/>
    <p:sldId id="283" r:id="rId66"/>
    <p:sldId id="286" r:id="rId67"/>
    <p:sldId id="287" r:id="rId68"/>
    <p:sldId id="288" r:id="rId69"/>
    <p:sldId id="289" r:id="rId70"/>
    <p:sldId id="290" r:id="rId71"/>
    <p:sldId id="291" r:id="rId72"/>
    <p:sldId id="292" r:id="rId73"/>
    <p:sldId id="293" r:id="rId74"/>
    <p:sldId id="294" r:id="rId75"/>
    <p:sldId id="295" r:id="rId76"/>
    <p:sldId id="296" r:id="rId77"/>
    <p:sldId id="297" r:id="rId78"/>
    <p:sldId id="298" r:id="rId79"/>
    <p:sldId id="299" r:id="rId80"/>
    <p:sldId id="260" r:id="rId81"/>
  </p:sldIdLst>
  <p:sldSz cx="12192000" cy="6858000"/>
  <p:notesSz cx="7104063" cy="10234613"/>
  <p:custDataLst>
    <p:tags r:id="rId8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ldId id="257"/>
            <p14:sldId id="259"/>
            <p14:sldId id="322"/>
            <p14:sldId id="324"/>
            <p14:sldId id="323"/>
            <p14:sldId id="325"/>
            <p14:sldId id="326"/>
            <p14:sldId id="327"/>
            <p14:sldId id="328"/>
            <p14:sldId id="329"/>
            <p14:sldId id="330"/>
            <p14:sldId id="331"/>
            <p14:sldId id="332"/>
            <p14:sldId id="333"/>
            <p14:sldId id="334"/>
            <p14:sldId id="335"/>
            <p14:sldId id="340"/>
            <p14:sldId id="336"/>
            <p14:sldId id="337"/>
            <p14:sldId id="338"/>
            <p14:sldId id="339"/>
            <p14:sldId id="341"/>
            <p14:sldId id="342"/>
            <p14:sldId id="321"/>
            <p14:sldId id="300"/>
            <p14:sldId id="303"/>
            <p14:sldId id="304"/>
            <p14:sldId id="305"/>
            <p14:sldId id="301"/>
            <p14:sldId id="315"/>
            <p14:sldId id="316"/>
            <p14:sldId id="306"/>
            <p14:sldId id="307"/>
            <p14:sldId id="309"/>
            <p14:sldId id="343"/>
            <p14:sldId id="310"/>
            <p14:sldId id="311"/>
            <p14:sldId id="312"/>
            <p14:sldId id="314"/>
            <p14:sldId id="344"/>
            <p14:sldId id="317"/>
            <p14:sldId id="318"/>
            <p14:sldId id="319"/>
            <p14:sldId id="320"/>
          </p14:sldIdLst>
        </p14:section>
        <p14:section name="Content" id="{A4C4AF5C-441C-4785-B207-3A67FABB8DD3}">
          <p14:sldIdLst>
            <p14:sldId id="265"/>
            <p14:sldId id="266"/>
            <p14:sldId id="267"/>
            <p14:sldId id="268"/>
            <p14:sldId id="269"/>
            <p14:sldId id="270"/>
            <p14:sldId id="271"/>
            <p14:sldId id="272"/>
            <p14:sldId id="273"/>
            <p14:sldId id="274"/>
            <p14:sldId id="275"/>
            <p14:sldId id="277"/>
            <p14:sldId id="278"/>
            <p14:sldId id="279"/>
            <p14:sldId id="280"/>
            <p14:sldId id="281"/>
            <p14:sldId id="282"/>
            <p14:sldId id="283"/>
            <p14:sldId id="286"/>
            <p14:sldId id="287"/>
            <p14:sldId id="288"/>
            <p14:sldId id="289"/>
            <p14:sldId id="290"/>
            <p14:sldId id="291"/>
            <p14:sldId id="292"/>
            <p14:sldId id="293"/>
            <p14:sldId id="294"/>
            <p14:sldId id="295"/>
            <p14:sldId id="296"/>
            <p14:sldId id="297"/>
            <p14:sldId id="298"/>
            <p14:sldId id="299"/>
          </p14:sldIdLst>
        </p14:section>
        <p14:section name="End" id="{93331663-B8C4-402D-B508-DB1C8C4EB945}">
          <p14:sldIdLst>
            <p14:sldId id="26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FFFFFF"/>
    <a:srgbClr val="D8262E"/>
    <a:srgbClr val="000000"/>
    <a:srgbClr val="D81C24"/>
    <a:srgbClr val="CC0000"/>
    <a:srgbClr val="9BBB59"/>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54" autoAdjust="0"/>
    <p:restoredTop sz="70748" autoAdjust="0"/>
  </p:normalViewPr>
  <p:slideViewPr>
    <p:cSldViewPr snapToGrid="0" snapToObjects="1">
      <p:cViewPr varScale="1">
        <p:scale>
          <a:sx n="81" d="100"/>
          <a:sy n="81" d="100"/>
        </p:scale>
        <p:origin x="2440" y="344"/>
      </p:cViewPr>
      <p:guideLst>
        <p:guide orient="horz" pos="2160"/>
        <p:guide pos="3840"/>
      </p:guideLst>
    </p:cSldViewPr>
  </p:slideViewPr>
  <p:notesTextViewPr>
    <p:cViewPr>
      <p:scale>
        <a:sx n="3" d="2"/>
        <a:sy n="3" d="2"/>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gs" Target="tags/tag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r>
              <a:rPr lang="en-AU"/>
              <a:t>IoT Week 02</a:t>
            </a:r>
          </a:p>
        </p:txBody>
      </p:sp>
      <p:sp>
        <p:nvSpPr>
          <p:cNvPr id="3" name="Date Placeholder 2"/>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fld id="{6229CFFF-A852-4B7A-992A-9744EBE872C2}" type="datetime1">
              <a:rPr lang="en-AU" smtClean="0"/>
              <a:t>4/11/2024</a:t>
            </a:fld>
            <a:endParaRPr lang="en-AU"/>
          </a:p>
        </p:txBody>
      </p:sp>
      <p:sp>
        <p:nvSpPr>
          <p:cNvPr id="4" name="Footer Placeholder 3"/>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6090BAA7-B135-4D62-84B8-9C605C802215}" type="slidenum">
              <a:rPr lang="en-AU" smtClean="0"/>
              <a:t>‹#›</a:t>
            </a:fld>
            <a:endParaRPr lang="en-AU"/>
          </a:p>
        </p:txBody>
      </p:sp>
    </p:spTree>
    <p:extLst>
      <p:ext uri="{BB962C8B-B14F-4D97-AF65-F5344CB8AC3E}">
        <p14:creationId xmlns:p14="http://schemas.microsoft.com/office/powerpoint/2010/main" val="1767369133"/>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r>
              <a:rPr lang="en-US"/>
              <a:t>IoT Week 02</a:t>
            </a:r>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EAF1312F-A309-4725-95E4-25A93289DE51}" type="datetime1">
              <a:rPr lang="en-AU" smtClean="0"/>
              <a:t>4/11/2024</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hf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www.philips-hue.com/en-au" TargetMode="External"/><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a:t>
            </a:fld>
            <a:endParaRPr lang="en-US" dirty="0"/>
          </a:p>
        </p:txBody>
      </p:sp>
    </p:spTree>
    <p:extLst>
      <p:ext uri="{BB962C8B-B14F-4D97-AF65-F5344CB8AC3E}">
        <p14:creationId xmlns:p14="http://schemas.microsoft.com/office/powerpoint/2010/main" val="359526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NOTE TO LECTURERS: Before talking about modularization in the form of classes/objects, ensure your class understands modularization in the form of functions and imports. You may have already covered these topics extensively in ICTPRG302, but if not sure, then this revision is recommended.</a:t>
            </a:r>
          </a:p>
        </p:txBody>
      </p:sp>
      <p:sp>
        <p:nvSpPr>
          <p:cNvPr id="4" name="Slide Number Placeholder 3"/>
          <p:cNvSpPr>
            <a:spLocks noGrp="1"/>
          </p:cNvSpPr>
          <p:nvPr>
            <p:ph type="sldNum" sz="quarter" idx="10"/>
          </p:nvPr>
        </p:nvSpPr>
        <p:spPr/>
        <p:txBody>
          <a:bodyPr/>
          <a:lstStyle/>
          <a:p>
            <a:fld id="{BA3E024E-F835-6D45-89C3-0E2F93EE799A}" type="slidenum">
              <a:rPr lang="en-US" smtClean="0"/>
              <a:t>2</a:t>
            </a:fld>
            <a:endParaRPr lang="en-US" dirty="0"/>
          </a:p>
        </p:txBody>
      </p:sp>
      <p:sp>
        <p:nvSpPr>
          <p:cNvPr id="5" name="Date Placeholder 4"/>
          <p:cNvSpPr>
            <a:spLocks noGrp="1"/>
          </p:cNvSpPr>
          <p:nvPr>
            <p:ph type="dt" idx="11"/>
          </p:nvPr>
        </p:nvSpPr>
        <p:spPr/>
        <p:txBody>
          <a:bodyPr/>
          <a:lstStyle/>
          <a:p>
            <a:fld id="{86B1B025-7642-4C3E-AEDE-299B887BA0A0}" type="datetime1">
              <a:rPr lang="en-AU" smtClean="0"/>
              <a:t>4/11/2024</a:t>
            </a:fld>
            <a:endParaRPr lang="en-US" dirty="0"/>
          </a:p>
        </p:txBody>
      </p:sp>
      <p:sp>
        <p:nvSpPr>
          <p:cNvPr id="6" name="Header Placeholder 5"/>
          <p:cNvSpPr>
            <a:spLocks noGrp="1"/>
          </p:cNvSpPr>
          <p:nvPr>
            <p:ph type="hdr" sz="quarter" idx="12"/>
          </p:nvPr>
        </p:nvSpPr>
        <p:spPr/>
        <p:txBody>
          <a:bodyPr/>
          <a:lstStyle/>
          <a:p>
            <a:r>
              <a:rPr lang="en-US"/>
              <a:t>IoT Week 02</a:t>
            </a:r>
            <a:endParaRPr lang="en-US" dirty="0"/>
          </a:p>
        </p:txBody>
      </p:sp>
    </p:spTree>
    <p:extLst>
      <p:ext uri="{BB962C8B-B14F-4D97-AF65-F5344CB8AC3E}">
        <p14:creationId xmlns:p14="http://schemas.microsoft.com/office/powerpoint/2010/main" val="282242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4</a:t>
            </a:fld>
            <a:endParaRPr lang="en-US" dirty="0"/>
          </a:p>
        </p:txBody>
      </p:sp>
    </p:spTree>
    <p:extLst>
      <p:ext uri="{BB962C8B-B14F-4D97-AF65-F5344CB8AC3E}">
        <p14:creationId xmlns:p14="http://schemas.microsoft.com/office/powerpoint/2010/main" val="1190750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9</a:t>
            </a:fld>
            <a:endParaRPr lang="en-US" dirty="0"/>
          </a:p>
        </p:txBody>
      </p:sp>
    </p:spTree>
    <p:extLst>
      <p:ext uri="{BB962C8B-B14F-4D97-AF65-F5344CB8AC3E}">
        <p14:creationId xmlns:p14="http://schemas.microsoft.com/office/powerpoint/2010/main" val="1910178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1691956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insights:</a:t>
            </a:r>
          </a:p>
          <a:p>
            <a:pPr marL="171450" indent="-171450">
              <a:buFont typeface="Arial" panose="020B0604020202020204" pitchFamily="34" charset="0"/>
              <a:buChar char="•"/>
            </a:pPr>
            <a:r>
              <a:rPr lang="en-US" dirty="0"/>
              <a:t>We don’t know if the function will work unless we see all points in the code that call it</a:t>
            </a:r>
          </a:p>
          <a:p>
            <a:pPr marL="171450" indent="-171450">
              <a:buFont typeface="Arial" panose="020B0604020202020204" pitchFamily="34" charset="0"/>
              <a:buChar char="•"/>
            </a:pPr>
            <a:r>
              <a:rPr lang="en-US" dirty="0"/>
              <a:t>If we change the name of the global we will break all code that uses the function</a:t>
            </a:r>
          </a:p>
          <a:p>
            <a:pPr marL="171450" indent="-171450">
              <a:buFont typeface="Arial" panose="020B0604020202020204" pitchFamily="34" charset="0"/>
              <a:buChar char="•"/>
            </a:pPr>
            <a:r>
              <a:rPr lang="en-US" dirty="0"/>
              <a:t>We need not only make sure that all variables are initialized correctly outside the function but that they have the expected value at the time the function is called</a:t>
            </a:r>
          </a:p>
          <a:p>
            <a:pPr marL="171450" indent="-171450">
              <a:buFont typeface="Arial" panose="020B0604020202020204" pitchFamily="34" charset="0"/>
              <a:buChar char="•"/>
            </a:pPr>
            <a:r>
              <a:rPr lang="en-US" dirty="0"/>
              <a:t>This function will probably make the code </a:t>
            </a:r>
            <a:r>
              <a:rPr lang="en-US" b="1" dirty="0"/>
              <a:t>more </a:t>
            </a:r>
            <a:r>
              <a:rPr lang="en-US" b="0" dirty="0"/>
              <a:t>complicated in the long term.	</a:t>
            </a:r>
          </a:p>
          <a:p>
            <a:pPr marL="171450" indent="-171450">
              <a:buFont typeface="Arial" panose="020B0604020202020204" pitchFamily="34" charset="0"/>
              <a:buChar char="•"/>
            </a:pPr>
            <a:r>
              <a:rPr lang="en-US" b="0" dirty="0"/>
              <a:t>Also – there is a BUG with the conversion logic! But that was an accident </a:t>
            </a:r>
            <a:r>
              <a:rPr lang="en-US" b="0" dirty="0">
                <a:sym typeface="Wingdings" pitchFamily="2" charset="2"/>
              </a:rPr>
              <a:t></a:t>
            </a:r>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11</a:t>
            </a:fld>
            <a:endParaRPr lang="en-US" dirty="0"/>
          </a:p>
        </p:txBody>
      </p:sp>
    </p:spTree>
    <p:extLst>
      <p:ext uri="{BB962C8B-B14F-4D97-AF65-F5344CB8AC3E}">
        <p14:creationId xmlns:p14="http://schemas.microsoft.com/office/powerpoint/2010/main" val="1593831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difference is that in the previous example, the correctness of the function cannot be determined without checking on the referenced code whereas in the modified version we can determine the correctness of the function independently of the rest of the code.</a:t>
            </a:r>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1848155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13</a:t>
            </a:fld>
            <a:endParaRPr lang="en-US" dirty="0"/>
          </a:p>
        </p:txBody>
      </p:sp>
    </p:spTree>
    <p:extLst>
      <p:ext uri="{BB962C8B-B14F-4D97-AF65-F5344CB8AC3E}">
        <p14:creationId xmlns:p14="http://schemas.microsoft.com/office/powerpoint/2010/main" val="1222464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15</a:t>
            </a:fld>
            <a:endParaRPr lang="en-US" dirty="0"/>
          </a:p>
        </p:txBody>
      </p:sp>
    </p:spTree>
    <p:extLst>
      <p:ext uri="{BB962C8B-B14F-4D97-AF65-F5344CB8AC3E}">
        <p14:creationId xmlns:p14="http://schemas.microsoft.com/office/powerpoint/2010/main" val="176525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imports are a bit unintuitive if you look to carefully into them. We are going to be slightly inaccurate in these slides for simplicity.</a:t>
            </a:r>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18</a:t>
            </a:fld>
            <a:endParaRPr lang="en-US" dirty="0"/>
          </a:p>
        </p:txBody>
      </p:sp>
    </p:spTree>
    <p:extLst>
      <p:ext uri="{BB962C8B-B14F-4D97-AF65-F5344CB8AC3E}">
        <p14:creationId xmlns:p14="http://schemas.microsoft.com/office/powerpoint/2010/main" val="503750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21</a:t>
            </a:fld>
            <a:endParaRPr lang="en-US" dirty="0"/>
          </a:p>
        </p:txBody>
      </p:sp>
    </p:spTree>
    <p:extLst>
      <p:ext uri="{BB962C8B-B14F-4D97-AF65-F5344CB8AC3E}">
        <p14:creationId xmlns:p14="http://schemas.microsoft.com/office/powerpoint/2010/main" val="936458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22</a:t>
            </a:fld>
            <a:endParaRPr lang="en-US" dirty="0"/>
          </a:p>
        </p:txBody>
      </p:sp>
    </p:spTree>
    <p:extLst>
      <p:ext uri="{BB962C8B-B14F-4D97-AF65-F5344CB8AC3E}">
        <p14:creationId xmlns:p14="http://schemas.microsoft.com/office/powerpoint/2010/main" val="1373386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39243-9DA8-C4CB-3D18-BB54AE8B7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27E06-04B6-C68B-4D51-DABDE21DF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3A106-02C4-403A-DE50-01D5FF903C6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3BCCCFB-3C06-EABC-0851-161FCDA0DEEE}"/>
              </a:ext>
            </a:extLst>
          </p:cNvPr>
          <p:cNvSpPr>
            <a:spLocks noGrp="1"/>
          </p:cNvSpPr>
          <p:nvPr>
            <p:ph type="sldNum" sz="quarter" idx="10"/>
          </p:nvPr>
        </p:nvSpPr>
        <p:spPr/>
        <p:txBody>
          <a:bodyPr/>
          <a:lstStyle/>
          <a:p>
            <a:fld id="{BA3E024E-F835-6D45-89C3-0E2F93EE799A}" type="slidenum">
              <a:rPr lang="en-US" smtClean="0"/>
              <a:t>24</a:t>
            </a:fld>
            <a:endParaRPr lang="en-US" dirty="0"/>
          </a:p>
        </p:txBody>
      </p:sp>
      <p:sp>
        <p:nvSpPr>
          <p:cNvPr id="5" name="Date Placeholder 4">
            <a:extLst>
              <a:ext uri="{FF2B5EF4-FFF2-40B4-BE49-F238E27FC236}">
                <a16:creationId xmlns:a16="http://schemas.microsoft.com/office/drawing/2014/main" id="{636072E6-3AE0-DBCE-291B-0E89685A77F6}"/>
              </a:ext>
            </a:extLst>
          </p:cNvPr>
          <p:cNvSpPr>
            <a:spLocks noGrp="1"/>
          </p:cNvSpPr>
          <p:nvPr>
            <p:ph type="dt" idx="11"/>
          </p:nvPr>
        </p:nvSpPr>
        <p:spPr/>
        <p:txBody>
          <a:bodyPr/>
          <a:lstStyle/>
          <a:p>
            <a:fld id="{86B1B025-7642-4C3E-AEDE-299B887BA0A0}" type="datetime1">
              <a:rPr lang="en-AU" smtClean="0"/>
              <a:t>4/11/2024</a:t>
            </a:fld>
            <a:endParaRPr lang="en-US" dirty="0"/>
          </a:p>
        </p:txBody>
      </p:sp>
      <p:sp>
        <p:nvSpPr>
          <p:cNvPr id="6" name="Header Placeholder 5">
            <a:extLst>
              <a:ext uri="{FF2B5EF4-FFF2-40B4-BE49-F238E27FC236}">
                <a16:creationId xmlns:a16="http://schemas.microsoft.com/office/drawing/2014/main" id="{D7D05FE6-7DE6-7DB5-3196-505DEEC6C375}"/>
              </a:ext>
            </a:extLst>
          </p:cNvPr>
          <p:cNvSpPr>
            <a:spLocks noGrp="1"/>
          </p:cNvSpPr>
          <p:nvPr>
            <p:ph type="hdr" sz="quarter" idx="12"/>
          </p:nvPr>
        </p:nvSpPr>
        <p:spPr/>
        <p:txBody>
          <a:bodyPr/>
          <a:lstStyle/>
          <a:p>
            <a:r>
              <a:rPr lang="en-US"/>
              <a:t>IoT Week 02</a:t>
            </a:r>
            <a:endParaRPr lang="en-US" dirty="0"/>
          </a:p>
        </p:txBody>
      </p:sp>
    </p:spTree>
    <p:extLst>
      <p:ext uri="{BB962C8B-B14F-4D97-AF65-F5344CB8AC3E}">
        <p14:creationId xmlns:p14="http://schemas.microsoft.com/office/powerpoint/2010/main" val="3980653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30</a:t>
            </a:fld>
            <a:endParaRPr lang="en-US" dirty="0"/>
          </a:p>
        </p:txBody>
      </p:sp>
    </p:spTree>
    <p:extLst>
      <p:ext uri="{BB962C8B-B14F-4D97-AF65-F5344CB8AC3E}">
        <p14:creationId xmlns:p14="http://schemas.microsoft.com/office/powerpoint/2010/main" val="1209895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Rafael says:</a:t>
            </a:r>
          </a:p>
          <a:p>
            <a:pPr marL="171450" indent="-171450">
              <a:buFont typeface="Arial" panose="020B0604020202020204" pitchFamily="34" charset="0"/>
              <a:buChar char="•"/>
            </a:pPr>
            <a:r>
              <a:rPr lang="en-US" dirty="0"/>
              <a:t>It is a hot take. Because it is actually the opposite of the core claims of OOP: that it is about “modelling real-world objects and interactions”. However, anecdotal and personal evidence, suggests otherwise.</a:t>
            </a:r>
          </a:p>
          <a:p>
            <a:pPr marL="171450" indent="-171450">
              <a:buFont typeface="Arial" panose="020B0604020202020204" pitchFamily="34" charset="0"/>
              <a:buChar char="•"/>
            </a:pPr>
            <a:r>
              <a:rPr lang="en-US" dirty="0"/>
              <a:t>The reason I emphasize this is because – while the mechanics of OOP are easy enough. I think one of its key pitfalls is that it is sold as intuitive and easy to model and this selling point is almost always backed by synthetic examples that seldom map to real world problems. What I have found in the past, is that students can become frustrated because the examples in OOP texts are usually easy to understand and follow but then as soon as you encounter an actual programming problem it can be a little disjointed how and in what way to approach the problem in an OOP fashion. Then, what most people do is enforce nouns on collections of behaviors (Helper/Manager/Collector/</a:t>
            </a:r>
            <a:r>
              <a:rPr lang="en-US" dirty="0" err="1"/>
              <a:t>etc</a:t>
            </a:r>
            <a:r>
              <a:rPr lang="en-US" dirty="0"/>
              <a:t>) – but now I am getting ahead of myself!</a:t>
            </a:r>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31</a:t>
            </a:fld>
            <a:endParaRPr lang="en-US" dirty="0"/>
          </a:p>
        </p:txBody>
      </p:sp>
    </p:spTree>
    <p:extLst>
      <p:ext uri="{BB962C8B-B14F-4D97-AF65-F5344CB8AC3E}">
        <p14:creationId xmlns:p14="http://schemas.microsoft.com/office/powerpoint/2010/main" val="3175980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32</a:t>
            </a:fld>
            <a:endParaRPr lang="en-US" dirty="0"/>
          </a:p>
        </p:txBody>
      </p:sp>
    </p:spTree>
    <p:extLst>
      <p:ext uri="{BB962C8B-B14F-4D97-AF65-F5344CB8AC3E}">
        <p14:creationId xmlns:p14="http://schemas.microsoft.com/office/powerpoint/2010/main" val="37493703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37</a:t>
            </a:fld>
            <a:endParaRPr lang="en-US" dirty="0"/>
          </a:p>
        </p:txBody>
      </p:sp>
    </p:spTree>
    <p:extLst>
      <p:ext uri="{BB962C8B-B14F-4D97-AF65-F5344CB8AC3E}">
        <p14:creationId xmlns:p14="http://schemas.microsoft.com/office/powerpoint/2010/main" val="4203069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40</a:t>
            </a:fld>
            <a:endParaRPr lang="en-US" dirty="0"/>
          </a:p>
        </p:txBody>
      </p:sp>
    </p:spTree>
    <p:extLst>
      <p:ext uri="{BB962C8B-B14F-4D97-AF65-F5344CB8AC3E}">
        <p14:creationId xmlns:p14="http://schemas.microsoft.com/office/powerpoint/2010/main" val="2343599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43</a:t>
            </a:fld>
            <a:endParaRPr lang="en-US" dirty="0"/>
          </a:p>
        </p:txBody>
      </p:sp>
    </p:spTree>
    <p:extLst>
      <p:ext uri="{BB962C8B-B14F-4D97-AF65-F5344CB8AC3E}">
        <p14:creationId xmlns:p14="http://schemas.microsoft.com/office/powerpoint/2010/main" val="27805701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Rafael’s exercises: https://</a:t>
            </a:r>
            <a:r>
              <a:rPr lang="en-US" dirty="0" err="1"/>
              <a:t>github.com</a:t>
            </a:r>
            <a:r>
              <a:rPr lang="en-US" dirty="0"/>
              <a:t>/NM-TAFE/civ-</a:t>
            </a:r>
            <a:r>
              <a:rPr lang="en-US" dirty="0" err="1"/>
              <a:t>ipriot</a:t>
            </a:r>
            <a:r>
              <a:rPr lang="en-US" dirty="0"/>
              <a:t>-in-class-demos/blob/2024/s1/</a:t>
            </a:r>
            <a:r>
              <a:rPr lang="en-US" dirty="0" err="1"/>
              <a:t>raf</a:t>
            </a:r>
            <a:r>
              <a:rPr lang="en-US" dirty="0"/>
              <a:t>/week11/</a:t>
            </a:r>
            <a:r>
              <a:rPr lang="en-US"/>
              <a:t>lesson.md</a:t>
            </a:r>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44</a:t>
            </a:fld>
            <a:endParaRPr lang="en-US" dirty="0"/>
          </a:p>
        </p:txBody>
      </p:sp>
    </p:spTree>
    <p:extLst>
      <p:ext uri="{BB962C8B-B14F-4D97-AF65-F5344CB8AC3E}">
        <p14:creationId xmlns:p14="http://schemas.microsoft.com/office/powerpoint/2010/main" val="1641219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“Hello, World” program is</a:t>
            </a:r>
            <a:r>
              <a:rPr lang="en-AU" baseline="0" dirty="0"/>
              <a:t> usually the first program anyone learns in any new language. </a:t>
            </a:r>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45</a:t>
            </a:fld>
            <a:endParaRPr lang="en-US" dirty="0"/>
          </a:p>
        </p:txBody>
      </p:sp>
    </p:spTree>
    <p:extLst>
      <p:ext uri="{BB962C8B-B14F-4D97-AF65-F5344CB8AC3E}">
        <p14:creationId xmlns:p14="http://schemas.microsoft.com/office/powerpoint/2010/main" val="22316002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a:t>
            </a:r>
            <a:r>
              <a:rPr lang="en-AU" baseline="0" dirty="0"/>
              <a:t> Use Case Diagram shows interaction of users (or other systems) with a (software) system.</a:t>
            </a:r>
          </a:p>
          <a:p>
            <a:endParaRPr lang="en-AU" baseline="0" dirty="0"/>
          </a:p>
          <a:p>
            <a:r>
              <a:rPr lang="en-AU" baseline="0" dirty="0"/>
              <a:t>We’ll go into more detail later in the course.</a:t>
            </a:r>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46</a:t>
            </a:fld>
            <a:endParaRPr lang="en-US" dirty="0"/>
          </a:p>
        </p:txBody>
      </p:sp>
    </p:spTree>
    <p:extLst>
      <p:ext uri="{BB962C8B-B14F-4D97-AF65-F5344CB8AC3E}">
        <p14:creationId xmlns:p14="http://schemas.microsoft.com/office/powerpoint/2010/main" val="24222451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domain model shows the parts (objects) within</a:t>
            </a:r>
            <a:r>
              <a:rPr lang="en-AU" baseline="0" dirty="0"/>
              <a:t> a certain domain. For example, if you are building a Student management system, the domain might consist of objects like Student, Class, Course, Unit, Grades (results), etc. Think of domain objects in terms of nouns. If you can put “the” in front of, it’s a noun and you can consider it within the Domain model. </a:t>
            </a:r>
          </a:p>
          <a:p>
            <a:endParaRPr lang="en-AU" baseline="0" dirty="0"/>
          </a:p>
          <a:p>
            <a:r>
              <a:rPr lang="en-AU" baseline="0" dirty="0"/>
              <a:t>From the domain model (which shows relationships between objects), it’s relatively straightforward to create a Class Diagram.</a:t>
            </a:r>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47</a:t>
            </a:fld>
            <a:endParaRPr lang="en-US" dirty="0"/>
          </a:p>
        </p:txBody>
      </p:sp>
    </p:spTree>
    <p:extLst>
      <p:ext uri="{BB962C8B-B14F-4D97-AF65-F5344CB8AC3E}">
        <p14:creationId xmlns:p14="http://schemas.microsoft.com/office/powerpoint/2010/main" val="243352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 will go into more detail</a:t>
            </a:r>
            <a:r>
              <a:rPr lang="en-AU" baseline="0" dirty="0"/>
              <a:t> later in the course. </a:t>
            </a:r>
          </a:p>
          <a:p>
            <a:endParaRPr lang="en-AU" dirty="0"/>
          </a:p>
          <a:p>
            <a:r>
              <a:rPr lang="en-AU" dirty="0"/>
              <a:t>This</a:t>
            </a:r>
            <a:r>
              <a:rPr lang="en-AU" baseline="0" dirty="0"/>
              <a:t> example contains a single class. In more elaborate Class Diagrams, relationships between classes will be made more explicit.</a:t>
            </a:r>
          </a:p>
          <a:p>
            <a:endParaRPr lang="en-AU" baseline="0" dirty="0"/>
          </a:p>
          <a:p>
            <a:r>
              <a:rPr lang="en-AU" baseline="0" dirty="0"/>
              <a:t>Each Class is represented as a box. The name at the top is the name of the class. Sometimes, the name of an actual object is also shown.</a:t>
            </a:r>
          </a:p>
          <a:p>
            <a:r>
              <a:rPr lang="en-AU" baseline="0" dirty="0"/>
              <a:t>The second part contains the Attributes. They are sometimes called fields, members, or properties. </a:t>
            </a:r>
          </a:p>
          <a:p>
            <a:r>
              <a:rPr lang="en-AU" baseline="0" dirty="0"/>
              <a:t>The bottom part contains the Methods. These are functions that pertain to the class. Some methods pertain to the class as a whole (for example, static methods like in this example, which is underlined, or class methods). Other methods only pertain to the data in an instance. These are called instance methods. </a:t>
            </a:r>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48</a:t>
            </a:fld>
            <a:endParaRPr lang="en-US" dirty="0"/>
          </a:p>
        </p:txBody>
      </p:sp>
    </p:spTree>
    <p:extLst>
      <p:ext uri="{BB962C8B-B14F-4D97-AF65-F5344CB8AC3E}">
        <p14:creationId xmlns:p14="http://schemas.microsoft.com/office/powerpoint/2010/main" val="36525562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Create a new project</a:t>
            </a:r>
          </a:p>
          <a:p>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49</a:t>
            </a:fld>
            <a:endParaRPr lang="en-US" dirty="0"/>
          </a:p>
        </p:txBody>
      </p:sp>
    </p:spTree>
    <p:extLst>
      <p:ext uri="{BB962C8B-B14F-4D97-AF65-F5344CB8AC3E}">
        <p14:creationId xmlns:p14="http://schemas.microsoft.com/office/powerpoint/2010/main" val="29607823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Give the project a name, for example, ‘greeter-tutorial’. </a:t>
            </a:r>
          </a:p>
          <a:p>
            <a:r>
              <a:rPr lang="en-AU" dirty="0"/>
              <a:t>The Location</a:t>
            </a:r>
            <a:r>
              <a:rPr lang="en-AU" baseline="0" dirty="0"/>
              <a:t> of the virtual environment will be create for you. </a:t>
            </a:r>
          </a:p>
          <a:p>
            <a:r>
              <a:rPr lang="en-AU" baseline="0" dirty="0"/>
              <a:t>You can consider renaming the actual folder to read ‘.</a:t>
            </a:r>
            <a:r>
              <a:rPr lang="en-AU" baseline="0" dirty="0" err="1"/>
              <a:t>venv</a:t>
            </a:r>
            <a:r>
              <a:rPr lang="en-AU" baseline="0" dirty="0"/>
              <a:t>’ to indicate it’s a “special” folder. </a:t>
            </a:r>
          </a:p>
          <a:p>
            <a:r>
              <a:rPr lang="en-AU" baseline="0" dirty="0"/>
              <a:t>You can leave everything else the same. </a:t>
            </a:r>
          </a:p>
          <a:p>
            <a:r>
              <a:rPr lang="en-AU" baseline="0" dirty="0"/>
              <a:t>Click Create. </a:t>
            </a:r>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50</a:t>
            </a:fld>
            <a:endParaRPr lang="en-US" dirty="0"/>
          </a:p>
        </p:txBody>
      </p:sp>
    </p:spTree>
    <p:extLst>
      <p:ext uri="{BB962C8B-B14F-4D97-AF65-F5344CB8AC3E}">
        <p14:creationId xmlns:p14="http://schemas.microsoft.com/office/powerpoint/2010/main" val="41070781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Create a new Python file by right-clicking the</a:t>
            </a:r>
            <a:r>
              <a:rPr lang="en-AU" baseline="0" dirty="0"/>
              <a:t> project name “greeter-tutorial”. </a:t>
            </a:r>
          </a:p>
          <a:p>
            <a:r>
              <a:rPr lang="en-AU" baseline="0" dirty="0"/>
              <a:t>Select New | Python File</a:t>
            </a:r>
          </a:p>
          <a:p>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51</a:t>
            </a:fld>
            <a:endParaRPr lang="en-US" dirty="0"/>
          </a:p>
        </p:txBody>
      </p:sp>
    </p:spTree>
    <p:extLst>
      <p:ext uri="{BB962C8B-B14F-4D97-AF65-F5344CB8AC3E}">
        <p14:creationId xmlns:p14="http://schemas.microsoft.com/office/powerpoint/2010/main" val="14038936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Type the name greeter. </a:t>
            </a:r>
          </a:p>
          <a:p>
            <a:r>
              <a:rPr lang="en-AU" dirty="0"/>
              <a:t>You do not have to provide the extension .</a:t>
            </a:r>
            <a:r>
              <a:rPr lang="en-AU" dirty="0" err="1"/>
              <a:t>py</a:t>
            </a:r>
            <a:r>
              <a:rPr lang="en-AU" dirty="0"/>
              <a:t> as that</a:t>
            </a:r>
            <a:r>
              <a:rPr lang="en-AU" baseline="0" dirty="0"/>
              <a:t> will be done by PyCharm. ONLY when you create a “New Python file”, though.</a:t>
            </a:r>
          </a:p>
          <a:p>
            <a:r>
              <a:rPr lang="en-AU" baseline="0" dirty="0"/>
              <a:t>Press enter to have PyCharm create the file.</a:t>
            </a:r>
          </a:p>
          <a:p>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52</a:t>
            </a:fld>
            <a:endParaRPr lang="en-US" dirty="0"/>
          </a:p>
        </p:txBody>
      </p:sp>
    </p:spTree>
    <p:extLst>
      <p:ext uri="{BB962C8B-B14F-4D97-AF65-F5344CB8AC3E}">
        <p14:creationId xmlns:p14="http://schemas.microsoft.com/office/powerpoint/2010/main" val="16949743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Please</a:t>
            </a:r>
            <a:r>
              <a:rPr lang="en-AU" sz="1200" kern="1200" baseline="0" dirty="0">
                <a:solidFill>
                  <a:schemeClr val="tx1"/>
                </a:solidFill>
                <a:effectLst/>
                <a:latin typeface="+mn-lt"/>
                <a:ea typeface="+mn-ea"/>
                <a:cs typeface="+mn-cs"/>
              </a:rPr>
              <a:t> note that we do not need to instantiate an object if we use a static method. </a:t>
            </a:r>
            <a:endParaRPr lang="en-AU" sz="1200" kern="1200" dirty="0">
              <a:solidFill>
                <a:schemeClr val="tx1"/>
              </a:solidFill>
              <a:effectLst/>
              <a:latin typeface="+mn-lt"/>
              <a:ea typeface="+mn-ea"/>
              <a:cs typeface="+mn-cs"/>
            </a:endParaRP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class </a:t>
            </a:r>
            <a:r>
              <a:rPr lang="en-AU" dirty="0"/>
              <a:t>Greeter:</a:t>
            </a:r>
            <a:br>
              <a:rPr lang="en-AU" dirty="0"/>
            </a:br>
            <a:r>
              <a:rPr lang="en-AU" dirty="0"/>
              <a:t>    </a:t>
            </a:r>
            <a:r>
              <a:rPr lang="en-AU" sz="1200" kern="1200" dirty="0">
                <a:solidFill>
                  <a:schemeClr val="tx1"/>
                </a:solidFill>
                <a:effectLst/>
                <a:latin typeface="+mn-lt"/>
                <a:ea typeface="+mn-ea"/>
                <a:cs typeface="+mn-cs"/>
              </a:rPr>
              <a:t>@</a:t>
            </a:r>
            <a:r>
              <a:rPr lang="en-AU" sz="1200" kern="1200" dirty="0" err="1">
                <a:solidFill>
                  <a:schemeClr val="tx1"/>
                </a:solidFill>
                <a:effectLst/>
                <a:latin typeface="+mn-lt"/>
                <a:ea typeface="+mn-ea"/>
                <a:cs typeface="+mn-cs"/>
              </a:rPr>
              <a:t>staticmethod</a:t>
            </a:r>
            <a:br>
              <a:rPr lang="en-AU" sz="1200" kern="1200" dirty="0">
                <a:solidFill>
                  <a:schemeClr val="tx1"/>
                </a:solidFill>
                <a:effectLst/>
                <a:latin typeface="+mn-lt"/>
                <a:ea typeface="+mn-ea"/>
                <a:cs typeface="+mn-cs"/>
              </a:rPr>
            </a:br>
            <a:r>
              <a:rPr lang="en-AU" sz="1200" kern="1200" dirty="0">
                <a:solidFill>
                  <a:schemeClr val="tx1"/>
                </a:solidFill>
                <a:effectLst/>
                <a:latin typeface="+mn-lt"/>
                <a:ea typeface="+mn-ea"/>
                <a:cs typeface="+mn-cs"/>
              </a:rPr>
              <a:t>    </a:t>
            </a:r>
            <a:r>
              <a:rPr lang="en-AU" sz="1200" kern="1200" dirty="0" err="1">
                <a:solidFill>
                  <a:schemeClr val="tx1"/>
                </a:solidFill>
                <a:effectLst/>
                <a:latin typeface="+mn-lt"/>
                <a:ea typeface="+mn-ea"/>
                <a:cs typeface="+mn-cs"/>
              </a:rPr>
              <a:t>def</a:t>
            </a:r>
            <a:r>
              <a:rPr lang="en-AU" sz="1200" kern="1200" dirty="0">
                <a:solidFill>
                  <a:schemeClr val="tx1"/>
                </a:solidFill>
                <a:effectLst/>
                <a:latin typeface="+mn-lt"/>
                <a:ea typeface="+mn-ea"/>
                <a:cs typeface="+mn-cs"/>
              </a:rPr>
              <a:t> </a:t>
            </a:r>
            <a:r>
              <a:rPr lang="en-AU" sz="1200" kern="1200" dirty="0" err="1">
                <a:solidFill>
                  <a:schemeClr val="tx1"/>
                </a:solidFill>
                <a:effectLst/>
                <a:latin typeface="+mn-lt"/>
                <a:ea typeface="+mn-ea"/>
                <a:cs typeface="+mn-cs"/>
              </a:rPr>
              <a:t>greet_user</a:t>
            </a:r>
            <a:r>
              <a:rPr lang="en-AU" dirty="0"/>
              <a:t>():</a:t>
            </a:r>
            <a:br>
              <a:rPr lang="en-AU" dirty="0"/>
            </a:br>
            <a:r>
              <a:rPr lang="en-AU" dirty="0"/>
              <a:t>        </a:t>
            </a:r>
            <a:r>
              <a:rPr lang="en-AU" sz="1200" kern="1200" dirty="0">
                <a:solidFill>
                  <a:schemeClr val="tx1"/>
                </a:solidFill>
                <a:effectLst/>
                <a:latin typeface="+mn-lt"/>
                <a:ea typeface="+mn-ea"/>
                <a:cs typeface="+mn-cs"/>
              </a:rPr>
              <a:t>print</a:t>
            </a:r>
            <a:r>
              <a:rPr lang="en-AU" dirty="0"/>
              <a:t>(</a:t>
            </a:r>
            <a:r>
              <a:rPr lang="en-AU" sz="1200" kern="1200" dirty="0">
                <a:solidFill>
                  <a:schemeClr val="tx1"/>
                </a:solidFill>
                <a:effectLst/>
                <a:latin typeface="+mn-lt"/>
                <a:ea typeface="+mn-ea"/>
                <a:cs typeface="+mn-cs"/>
              </a:rPr>
              <a:t>'Hello, world!'</a:t>
            </a:r>
            <a:r>
              <a:rPr lang="en-AU" dirty="0"/>
              <a:t>)</a:t>
            </a:r>
            <a:br>
              <a:rPr lang="en-AU" dirty="0"/>
            </a:br>
            <a:br>
              <a:rPr lang="en-AU" dirty="0"/>
            </a:br>
            <a:br>
              <a:rPr lang="en-AU" dirty="0"/>
            </a:br>
            <a:r>
              <a:rPr lang="en-AU" sz="1200" kern="1200" dirty="0">
                <a:solidFill>
                  <a:schemeClr val="tx1"/>
                </a:solidFill>
                <a:effectLst/>
                <a:latin typeface="+mn-lt"/>
                <a:ea typeface="+mn-ea"/>
                <a:cs typeface="+mn-cs"/>
              </a:rPr>
              <a:t>if </a:t>
            </a:r>
            <a:r>
              <a:rPr lang="en-AU" dirty="0"/>
              <a:t>__name__ == </a:t>
            </a:r>
            <a:r>
              <a:rPr lang="en-AU" sz="1200" kern="1200" dirty="0">
                <a:solidFill>
                  <a:schemeClr val="tx1"/>
                </a:solidFill>
                <a:effectLst/>
                <a:latin typeface="+mn-lt"/>
                <a:ea typeface="+mn-ea"/>
                <a:cs typeface="+mn-cs"/>
              </a:rPr>
              <a:t>'__main__'</a:t>
            </a:r>
            <a:r>
              <a:rPr lang="en-AU" dirty="0"/>
              <a:t>:</a:t>
            </a:r>
            <a:br>
              <a:rPr lang="en-AU" dirty="0"/>
            </a:br>
            <a:r>
              <a:rPr lang="en-AU" dirty="0"/>
              <a:t>    </a:t>
            </a:r>
            <a:r>
              <a:rPr lang="en-AU" dirty="0" err="1"/>
              <a:t>Greeter.greet_user</a:t>
            </a:r>
            <a:r>
              <a:rPr lang="en-AU" dirty="0"/>
              <a:t>()</a:t>
            </a:r>
            <a:br>
              <a:rPr lang="en-AU" dirty="0"/>
            </a:br>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53</a:t>
            </a:fld>
            <a:endParaRPr lang="en-US" dirty="0"/>
          </a:p>
        </p:txBody>
      </p:sp>
    </p:spTree>
    <p:extLst>
      <p:ext uri="{BB962C8B-B14F-4D97-AF65-F5344CB8AC3E}">
        <p14:creationId xmlns:p14="http://schemas.microsoft.com/office/powerpoint/2010/main" val="2390652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output is shown at</a:t>
            </a:r>
            <a:r>
              <a:rPr lang="en-AU" baseline="0" dirty="0"/>
              <a:t> the bottom of the screen. </a:t>
            </a:r>
          </a:p>
          <a:p>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54</a:t>
            </a:fld>
            <a:endParaRPr lang="en-US" dirty="0"/>
          </a:p>
        </p:txBody>
      </p:sp>
    </p:spTree>
    <p:extLst>
      <p:ext uri="{BB962C8B-B14F-4D97-AF65-F5344CB8AC3E}">
        <p14:creationId xmlns:p14="http://schemas.microsoft.com/office/powerpoint/2010/main" val="26100990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IoT is an ecosystem of parts that work together. Devices, servers, websites, etc.</a:t>
            </a:r>
          </a:p>
          <a:p>
            <a:r>
              <a:rPr lang="en-AU" dirty="0"/>
              <a:t>Things are physical items that communicate with each other &amp; people (but mostly with each other).</a:t>
            </a:r>
          </a:p>
          <a:p>
            <a:r>
              <a:rPr lang="en-AU" dirty="0"/>
              <a:t>Computers that communicate with people (PC’s, laptops, etc.) are usually not considered part of IoT ecosystem.</a:t>
            </a:r>
          </a:p>
          <a:p>
            <a:r>
              <a:rPr lang="en-AU" dirty="0"/>
              <a:t>However, mobile phones may be the exception: e.g., they communicate with Apple/Google so their mapping software know, for instance, where a traffic jam is. Also: keep track of busy times at shops. This does not need human interaction, so this can be considered machine-to-machine communication. </a:t>
            </a:r>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56</a:t>
            </a:fld>
            <a:endParaRPr lang="en-US" dirty="0"/>
          </a:p>
        </p:txBody>
      </p:sp>
    </p:spTree>
    <p:extLst>
      <p:ext uri="{BB962C8B-B14F-4D97-AF65-F5344CB8AC3E}">
        <p14:creationId xmlns:p14="http://schemas.microsoft.com/office/powerpoint/2010/main" val="2127959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When you combine a thing with a controller, you gain the ability to read/write and transfer data to and from the Internet.</a:t>
            </a:r>
          </a:p>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In the case of a light bulb, it can only be turned on/off (dimming might be an option). The controller simply forms the interface with the outside world (normally, this would be a simple on/off-switch or a dimmer switch).</a:t>
            </a:r>
            <a:br>
              <a:rPr lang="en-AU" dirty="0"/>
            </a:br>
            <a:br>
              <a:rPr lang="en-AU" dirty="0"/>
            </a:br>
            <a:r>
              <a:rPr lang="en-AU" dirty="0"/>
              <a:t>Example: Light bulb</a:t>
            </a:r>
            <a:br>
              <a:rPr lang="en-AU" dirty="0"/>
            </a:br>
            <a:br>
              <a:rPr lang="en-AU" dirty="0"/>
            </a:br>
            <a:r>
              <a:rPr lang="en-AU" dirty="0"/>
              <a:t>    +------------------------+ </a:t>
            </a:r>
            <a:br>
              <a:rPr lang="en-AU" dirty="0"/>
            </a:br>
            <a:r>
              <a:rPr lang="en-AU" dirty="0"/>
              <a:t>    |         &lt;==            | &lt;==          &lt;==</a:t>
            </a:r>
            <a:br>
              <a:rPr lang="en-AU" dirty="0"/>
            </a:br>
            <a:r>
              <a:rPr lang="en-AU" dirty="0"/>
              <a:t>    | bulb(s)     controller |     Internet     User(s)</a:t>
            </a:r>
            <a:br>
              <a:rPr lang="en-AU" dirty="0"/>
            </a:br>
            <a:r>
              <a:rPr lang="en-AU" dirty="0"/>
              <a:t>    |         ==&gt;            | ==&gt;          ==&gt;</a:t>
            </a:r>
            <a:br>
              <a:rPr lang="en-AU" dirty="0"/>
            </a:br>
            <a:r>
              <a:rPr lang="en-AU" dirty="0"/>
              <a:t>    +----- smart device -----+ </a:t>
            </a:r>
            <a:br>
              <a:rPr lang="en-AU" dirty="0"/>
            </a:br>
            <a:endParaRPr lang="en-AU" dirty="0"/>
          </a:p>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57</a:t>
            </a:fld>
            <a:endParaRPr lang="en-US" dirty="0"/>
          </a:p>
        </p:txBody>
      </p:sp>
    </p:spTree>
    <p:extLst>
      <p:ext uri="{BB962C8B-B14F-4D97-AF65-F5344CB8AC3E}">
        <p14:creationId xmlns:p14="http://schemas.microsoft.com/office/powerpoint/2010/main" val="31532218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approx. 20 minutes. After that, collate any findings on the whiteboard. </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58</a:t>
            </a:fld>
            <a:endParaRPr lang="en-US" dirty="0"/>
          </a:p>
        </p:txBody>
      </p:sp>
    </p:spTree>
    <p:extLst>
      <p:ext uri="{BB962C8B-B14F-4D97-AF65-F5344CB8AC3E}">
        <p14:creationId xmlns:p14="http://schemas.microsoft.com/office/powerpoint/2010/main" val="28538159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ESP32</a:t>
            </a:r>
          </a:p>
          <a:p>
            <a:r>
              <a:rPr lang="en-US" dirty="0"/>
              <a:t>Raspberry Pi</a:t>
            </a:r>
          </a:p>
          <a:p>
            <a:r>
              <a:rPr lang="en-US" dirty="0"/>
              <a:t>NEST thermostat</a:t>
            </a:r>
          </a:p>
          <a:p>
            <a:r>
              <a:rPr lang="en-US" dirty="0"/>
              <a:t>Philips Hue lights</a:t>
            </a:r>
          </a:p>
          <a:p>
            <a:r>
              <a:rPr lang="en-US" dirty="0"/>
              <a:t>Nest doorbell</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59</a:t>
            </a:fld>
            <a:endParaRPr lang="en-US" dirty="0"/>
          </a:p>
        </p:txBody>
      </p:sp>
    </p:spTree>
    <p:extLst>
      <p:ext uri="{BB962C8B-B14F-4D97-AF65-F5344CB8AC3E}">
        <p14:creationId xmlns:p14="http://schemas.microsoft.com/office/powerpoint/2010/main" val="41879505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1" kern="1200" dirty="0">
                <a:solidFill>
                  <a:schemeClr val="tx1"/>
                </a:solidFill>
                <a:latin typeface="+mn-lt"/>
                <a:ea typeface="+mn-ea"/>
                <a:cs typeface="+mn-cs"/>
              </a:rPr>
              <a:t>- </a:t>
            </a:r>
            <a:r>
              <a:rPr lang="en-AU" sz="1200" b="0" i="0" kern="1200" dirty="0">
                <a:solidFill>
                  <a:schemeClr val="tx1"/>
                </a:solidFill>
                <a:latin typeface="+mn-lt"/>
                <a:ea typeface="+mn-ea"/>
                <a:cs typeface="+mn-cs"/>
              </a:rPr>
              <a:t>Sensors input data from the environment. Examples of different types of</a:t>
            </a:r>
            <a:br>
              <a:rPr lang="en-AU" sz="1200" b="0" i="0" kern="1200" dirty="0">
                <a:solidFill>
                  <a:schemeClr val="tx1"/>
                </a:solidFill>
                <a:latin typeface="+mn-lt"/>
                <a:ea typeface="+mn-ea"/>
                <a:cs typeface="+mn-cs"/>
              </a:rPr>
            </a:br>
            <a:r>
              <a:rPr lang="en-AU" sz="1200" b="0" i="0" kern="1200" dirty="0">
                <a:solidFill>
                  <a:schemeClr val="tx1"/>
                </a:solidFill>
                <a:latin typeface="+mn-lt"/>
                <a:ea typeface="+mn-ea"/>
                <a:cs typeface="+mn-cs"/>
              </a:rPr>
              <a:t> sensor include:</a:t>
            </a:r>
            <a:br>
              <a:rPr lang="en-AU" sz="1200" b="0" i="0" kern="1200" dirty="0">
                <a:solidFill>
                  <a:schemeClr val="tx1"/>
                </a:solidFill>
                <a:latin typeface="+mn-lt"/>
                <a:ea typeface="+mn-ea"/>
                <a:cs typeface="+mn-cs"/>
              </a:rPr>
            </a:br>
            <a:r>
              <a:rPr lang="en-AU" sz="1200" b="0" i="0" kern="1200" dirty="0">
                <a:solidFill>
                  <a:schemeClr val="tx1"/>
                </a:solidFill>
                <a:latin typeface="+mn-lt"/>
                <a:ea typeface="+mn-ea"/>
                <a:cs typeface="+mn-cs"/>
              </a:rPr>
              <a:t>  </a:t>
            </a:r>
            <a:r>
              <a:rPr lang="en-AU" sz="1200" b="0" i="1" kern="1200" dirty="0">
                <a:solidFill>
                  <a:schemeClr val="tx1"/>
                </a:solidFill>
                <a:latin typeface="+mn-lt"/>
                <a:ea typeface="+mn-ea"/>
                <a:cs typeface="+mn-cs"/>
              </a:rPr>
              <a:t>  - </a:t>
            </a:r>
            <a:r>
              <a:rPr lang="en-AU" sz="1200" b="0" i="0" kern="1200" dirty="0">
                <a:solidFill>
                  <a:schemeClr val="tx1"/>
                </a:solidFill>
                <a:latin typeface="+mn-lt"/>
                <a:ea typeface="+mn-ea"/>
                <a:cs typeface="+mn-cs"/>
              </a:rPr>
              <a:t>IR</a:t>
            </a:r>
            <a:br>
              <a:rPr lang="en-AU" sz="1200" b="0" i="0" kern="1200" dirty="0">
                <a:solidFill>
                  <a:schemeClr val="tx1"/>
                </a:solidFill>
                <a:latin typeface="+mn-lt"/>
                <a:ea typeface="+mn-ea"/>
                <a:cs typeface="+mn-cs"/>
              </a:rPr>
            </a:br>
            <a:r>
              <a:rPr lang="en-AU" sz="1200" b="0" i="0" kern="1200" dirty="0">
                <a:solidFill>
                  <a:schemeClr val="tx1"/>
                </a:solidFill>
                <a:latin typeface="+mn-lt"/>
                <a:ea typeface="+mn-ea"/>
                <a:cs typeface="+mn-cs"/>
              </a:rPr>
              <a:t>  </a:t>
            </a:r>
            <a:r>
              <a:rPr lang="en-AU" sz="1200" b="0" i="1" kern="1200" dirty="0">
                <a:solidFill>
                  <a:schemeClr val="tx1"/>
                </a:solidFill>
                <a:latin typeface="+mn-lt"/>
                <a:ea typeface="+mn-ea"/>
                <a:cs typeface="+mn-cs"/>
              </a:rPr>
              <a:t>  - </a:t>
            </a:r>
            <a:r>
              <a:rPr lang="en-AU" sz="1200" b="0" i="0" kern="1200" dirty="0">
                <a:solidFill>
                  <a:schemeClr val="tx1"/>
                </a:solidFill>
                <a:latin typeface="+mn-lt"/>
                <a:ea typeface="+mn-ea"/>
                <a:cs typeface="+mn-cs"/>
              </a:rPr>
              <a:t>Switch / button</a:t>
            </a:r>
            <a:br>
              <a:rPr lang="en-AU" sz="1200" b="0" i="0" kern="1200" dirty="0">
                <a:solidFill>
                  <a:schemeClr val="tx1"/>
                </a:solidFill>
                <a:latin typeface="+mn-lt"/>
                <a:ea typeface="+mn-ea"/>
                <a:cs typeface="+mn-cs"/>
              </a:rPr>
            </a:br>
            <a:r>
              <a:rPr lang="en-AU" sz="1200" b="0" i="0" kern="1200" dirty="0">
                <a:solidFill>
                  <a:schemeClr val="tx1"/>
                </a:solidFill>
                <a:latin typeface="+mn-lt"/>
                <a:ea typeface="+mn-ea"/>
                <a:cs typeface="+mn-cs"/>
              </a:rPr>
              <a:t>  </a:t>
            </a:r>
            <a:r>
              <a:rPr lang="en-AU" sz="1200" b="0" i="1" kern="1200" dirty="0">
                <a:solidFill>
                  <a:schemeClr val="tx1"/>
                </a:solidFill>
                <a:latin typeface="+mn-lt"/>
                <a:ea typeface="+mn-ea"/>
                <a:cs typeface="+mn-cs"/>
              </a:rPr>
              <a:t>  - </a:t>
            </a:r>
            <a:r>
              <a:rPr lang="en-AU" sz="1200" b="0" i="0" kern="1200" dirty="0">
                <a:solidFill>
                  <a:schemeClr val="tx1"/>
                </a:solidFill>
                <a:latin typeface="+mn-lt"/>
                <a:ea typeface="+mn-ea"/>
                <a:cs typeface="+mn-cs"/>
              </a:rPr>
              <a:t>touch / pressure</a:t>
            </a:r>
            <a:br>
              <a:rPr lang="en-AU" sz="1200" b="0" i="0" kern="1200" dirty="0">
                <a:solidFill>
                  <a:schemeClr val="tx1"/>
                </a:solidFill>
                <a:latin typeface="+mn-lt"/>
                <a:ea typeface="+mn-ea"/>
                <a:cs typeface="+mn-cs"/>
              </a:rPr>
            </a:br>
            <a:r>
              <a:rPr lang="en-AU" sz="1200" b="0" i="0" kern="1200" dirty="0">
                <a:solidFill>
                  <a:schemeClr val="tx1"/>
                </a:solidFill>
                <a:latin typeface="+mn-lt"/>
                <a:ea typeface="+mn-ea"/>
                <a:cs typeface="+mn-cs"/>
              </a:rPr>
              <a:t>  </a:t>
            </a:r>
            <a:r>
              <a:rPr lang="en-AU" sz="1200" b="0" i="1" kern="1200" dirty="0">
                <a:solidFill>
                  <a:schemeClr val="tx1"/>
                </a:solidFill>
                <a:latin typeface="+mn-lt"/>
                <a:ea typeface="+mn-ea"/>
                <a:cs typeface="+mn-cs"/>
              </a:rPr>
              <a:t>  - </a:t>
            </a:r>
            <a:r>
              <a:rPr lang="en-AU" sz="1200" b="0" i="0" kern="1200" dirty="0">
                <a:solidFill>
                  <a:schemeClr val="tx1"/>
                </a:solidFill>
                <a:latin typeface="+mn-lt"/>
                <a:ea typeface="+mn-ea"/>
                <a:cs typeface="+mn-cs"/>
              </a:rPr>
              <a:t>temperature</a:t>
            </a:r>
            <a:br>
              <a:rPr lang="en-AU" sz="1200" b="0" i="0" kern="1200" dirty="0">
                <a:solidFill>
                  <a:schemeClr val="tx1"/>
                </a:solidFill>
                <a:latin typeface="+mn-lt"/>
                <a:ea typeface="+mn-ea"/>
                <a:cs typeface="+mn-cs"/>
              </a:rPr>
            </a:br>
            <a:r>
              <a:rPr lang="en-AU" sz="1200" b="0" i="0" kern="1200" dirty="0">
                <a:solidFill>
                  <a:schemeClr val="tx1"/>
                </a:solidFill>
                <a:latin typeface="+mn-lt"/>
                <a:ea typeface="+mn-ea"/>
                <a:cs typeface="+mn-cs"/>
              </a:rPr>
              <a:t>  </a:t>
            </a:r>
            <a:r>
              <a:rPr lang="en-AU" sz="1200" b="0" i="1" kern="1200" dirty="0">
                <a:solidFill>
                  <a:schemeClr val="tx1"/>
                </a:solidFill>
                <a:latin typeface="+mn-lt"/>
                <a:ea typeface="+mn-ea"/>
                <a:cs typeface="+mn-cs"/>
              </a:rPr>
              <a:t>  - </a:t>
            </a:r>
            <a:r>
              <a:rPr lang="en-AU" sz="1200" b="0" i="0" kern="1200" dirty="0">
                <a:solidFill>
                  <a:schemeClr val="tx1"/>
                </a:solidFill>
                <a:latin typeface="+mn-lt"/>
                <a:ea typeface="+mn-ea"/>
                <a:cs typeface="+mn-cs"/>
              </a:rPr>
              <a:t>atmospheric pressure</a:t>
            </a:r>
            <a:br>
              <a:rPr lang="en-AU" sz="1200" b="0" i="0" kern="1200" dirty="0">
                <a:solidFill>
                  <a:schemeClr val="tx1"/>
                </a:solidFill>
                <a:latin typeface="+mn-lt"/>
                <a:ea typeface="+mn-ea"/>
                <a:cs typeface="+mn-cs"/>
              </a:rPr>
            </a:br>
            <a:r>
              <a:rPr lang="en-AU" sz="1200" b="0" i="0" kern="1200" dirty="0">
                <a:solidFill>
                  <a:schemeClr val="tx1"/>
                </a:solidFill>
                <a:latin typeface="+mn-lt"/>
                <a:ea typeface="+mn-ea"/>
                <a:cs typeface="+mn-cs"/>
              </a:rPr>
              <a:t>  </a:t>
            </a:r>
            <a:r>
              <a:rPr lang="en-AU" sz="1200" b="0" i="1" kern="1200" dirty="0">
                <a:solidFill>
                  <a:schemeClr val="tx1"/>
                </a:solidFill>
                <a:latin typeface="+mn-lt"/>
                <a:ea typeface="+mn-ea"/>
                <a:cs typeface="+mn-cs"/>
              </a:rPr>
              <a:t>  - </a:t>
            </a:r>
            <a:r>
              <a:rPr lang="en-AU" sz="1200" b="0" i="0" kern="1200" dirty="0">
                <a:solidFill>
                  <a:schemeClr val="tx1"/>
                </a:solidFill>
                <a:latin typeface="+mn-lt"/>
                <a:ea typeface="+mn-ea"/>
                <a:cs typeface="+mn-cs"/>
              </a:rPr>
              <a:t>light</a:t>
            </a:r>
            <a:br>
              <a:rPr lang="en-AU" sz="1200" b="0" i="0" kern="1200" dirty="0">
                <a:solidFill>
                  <a:schemeClr val="tx1"/>
                </a:solidFill>
                <a:latin typeface="+mn-lt"/>
                <a:ea typeface="+mn-ea"/>
                <a:cs typeface="+mn-cs"/>
              </a:rPr>
            </a:br>
            <a:r>
              <a:rPr lang="en-AU" sz="1200" b="0" i="0" kern="1200" dirty="0">
                <a:solidFill>
                  <a:schemeClr val="tx1"/>
                </a:solidFill>
                <a:latin typeface="+mn-lt"/>
                <a:ea typeface="+mn-ea"/>
                <a:cs typeface="+mn-cs"/>
              </a:rPr>
              <a:t>  </a:t>
            </a:r>
            <a:r>
              <a:rPr lang="en-AU" sz="1200" b="0" i="1" kern="1200" dirty="0">
                <a:solidFill>
                  <a:schemeClr val="tx1"/>
                </a:solidFill>
                <a:latin typeface="+mn-lt"/>
                <a:ea typeface="+mn-ea"/>
                <a:cs typeface="+mn-cs"/>
              </a:rPr>
              <a:t>  - </a:t>
            </a:r>
            <a:r>
              <a:rPr lang="en-AU" sz="1200" b="0" i="0" kern="1200" dirty="0">
                <a:solidFill>
                  <a:schemeClr val="tx1"/>
                </a:solidFill>
                <a:latin typeface="+mn-lt"/>
                <a:ea typeface="+mn-ea"/>
                <a:cs typeface="+mn-cs"/>
              </a:rPr>
              <a:t>humidity</a:t>
            </a:r>
            <a:br>
              <a:rPr lang="en-AU" sz="1200" b="0" i="0" kern="1200" dirty="0">
                <a:solidFill>
                  <a:schemeClr val="tx1"/>
                </a:solidFill>
                <a:latin typeface="+mn-lt"/>
                <a:ea typeface="+mn-ea"/>
                <a:cs typeface="+mn-cs"/>
              </a:rPr>
            </a:br>
            <a:r>
              <a:rPr lang="en-AU" sz="1200" b="0" i="0" kern="1200" dirty="0">
                <a:solidFill>
                  <a:schemeClr val="tx1"/>
                </a:solidFill>
                <a:latin typeface="+mn-lt"/>
                <a:ea typeface="+mn-ea"/>
                <a:cs typeface="+mn-cs"/>
              </a:rPr>
              <a:t>  </a:t>
            </a:r>
            <a:r>
              <a:rPr lang="en-AU" sz="1200" b="0" i="1" kern="1200" dirty="0">
                <a:solidFill>
                  <a:schemeClr val="tx1"/>
                </a:solidFill>
                <a:latin typeface="+mn-lt"/>
                <a:ea typeface="+mn-ea"/>
                <a:cs typeface="+mn-cs"/>
              </a:rPr>
              <a:t>  - </a:t>
            </a:r>
            <a:r>
              <a:rPr lang="en-AU" sz="1200" b="0" i="0" kern="1200" dirty="0">
                <a:solidFill>
                  <a:schemeClr val="tx1"/>
                </a:solidFill>
                <a:latin typeface="+mn-lt"/>
                <a:ea typeface="+mn-ea"/>
                <a:cs typeface="+mn-cs"/>
              </a:rPr>
              <a:t>RFID</a:t>
            </a:r>
          </a:p>
        </p:txBody>
      </p:sp>
      <p:sp>
        <p:nvSpPr>
          <p:cNvPr id="4" name="Slide Number Placeholder 3"/>
          <p:cNvSpPr>
            <a:spLocks noGrp="1"/>
          </p:cNvSpPr>
          <p:nvPr>
            <p:ph type="sldNum" sz="quarter" idx="10"/>
          </p:nvPr>
        </p:nvSpPr>
        <p:spPr/>
        <p:txBody>
          <a:bodyPr/>
          <a:lstStyle/>
          <a:p>
            <a:fld id="{BA3E024E-F835-6D45-89C3-0E2F93EE799A}" type="slidenum">
              <a:rPr lang="en-US" smtClean="0"/>
              <a:t>61</a:t>
            </a:fld>
            <a:endParaRPr lang="en-US" dirty="0"/>
          </a:p>
        </p:txBody>
      </p:sp>
    </p:spTree>
    <p:extLst>
      <p:ext uri="{BB962C8B-B14F-4D97-AF65-F5344CB8AC3E}">
        <p14:creationId xmlns:p14="http://schemas.microsoft.com/office/powerpoint/2010/main" val="854246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1" kern="1200" dirty="0">
                <a:solidFill>
                  <a:schemeClr val="tx1"/>
                </a:solidFill>
                <a:latin typeface="+mn-lt"/>
                <a:ea typeface="+mn-ea"/>
                <a:cs typeface="+mn-cs"/>
              </a:rPr>
              <a:t>- </a:t>
            </a:r>
            <a:r>
              <a:rPr lang="en-AU" sz="1200" b="0" i="0" kern="1200" dirty="0">
                <a:solidFill>
                  <a:schemeClr val="tx1"/>
                </a:solidFill>
                <a:latin typeface="+mn-lt"/>
                <a:ea typeface="+mn-ea"/>
                <a:cs typeface="+mn-cs"/>
              </a:rPr>
              <a:t>bulb</a:t>
            </a:r>
            <a:br>
              <a:rPr lang="en-AU" sz="1200" b="0" i="0" kern="1200" dirty="0">
                <a:solidFill>
                  <a:schemeClr val="tx1"/>
                </a:solidFill>
                <a:latin typeface="+mn-lt"/>
                <a:ea typeface="+mn-ea"/>
                <a:cs typeface="+mn-cs"/>
              </a:rPr>
            </a:br>
            <a:r>
              <a:rPr lang="en-AU" sz="1200" b="0" i="1" kern="1200" dirty="0">
                <a:solidFill>
                  <a:schemeClr val="tx1"/>
                </a:solidFill>
                <a:latin typeface="+mn-lt"/>
                <a:ea typeface="+mn-ea"/>
                <a:cs typeface="+mn-cs"/>
              </a:rPr>
              <a:t>- </a:t>
            </a:r>
            <a:r>
              <a:rPr lang="en-AU" sz="1200" b="0" i="0" kern="1200" dirty="0">
                <a:solidFill>
                  <a:schemeClr val="tx1"/>
                </a:solidFill>
                <a:latin typeface="+mn-lt"/>
                <a:ea typeface="+mn-ea"/>
                <a:cs typeface="+mn-cs"/>
              </a:rPr>
              <a:t>motor</a:t>
            </a:r>
            <a:br>
              <a:rPr lang="en-AU" sz="1200" b="0" i="0" kern="1200" dirty="0">
                <a:solidFill>
                  <a:schemeClr val="tx1"/>
                </a:solidFill>
                <a:latin typeface="+mn-lt"/>
                <a:ea typeface="+mn-ea"/>
                <a:cs typeface="+mn-cs"/>
              </a:rPr>
            </a:br>
            <a:r>
              <a:rPr lang="en-AU" sz="1200" b="0" i="1" kern="1200" dirty="0">
                <a:solidFill>
                  <a:schemeClr val="tx1"/>
                </a:solidFill>
                <a:latin typeface="+mn-lt"/>
                <a:ea typeface="+mn-ea"/>
                <a:cs typeface="+mn-cs"/>
              </a:rPr>
              <a:t>- </a:t>
            </a:r>
            <a:r>
              <a:rPr lang="en-AU" sz="1200" b="0" i="0" kern="1200" dirty="0">
                <a:solidFill>
                  <a:schemeClr val="tx1"/>
                </a:solidFill>
                <a:latin typeface="+mn-lt"/>
                <a:ea typeface="+mn-ea"/>
                <a:cs typeface="+mn-cs"/>
              </a:rPr>
              <a:t>monitor</a:t>
            </a:r>
            <a:br>
              <a:rPr lang="en-AU" sz="1200" b="0" i="0" kern="1200" dirty="0">
                <a:solidFill>
                  <a:schemeClr val="tx1"/>
                </a:solidFill>
                <a:latin typeface="+mn-lt"/>
                <a:ea typeface="+mn-ea"/>
                <a:cs typeface="+mn-cs"/>
              </a:rPr>
            </a:br>
            <a:r>
              <a:rPr lang="en-AU" sz="1200" b="0" i="1" kern="1200" dirty="0">
                <a:solidFill>
                  <a:schemeClr val="tx1"/>
                </a:solidFill>
                <a:latin typeface="+mn-lt"/>
                <a:ea typeface="+mn-ea"/>
                <a:cs typeface="+mn-cs"/>
              </a:rPr>
              <a:t>- </a:t>
            </a:r>
            <a:r>
              <a:rPr lang="en-AU" sz="1200" b="0" i="0" kern="1200" dirty="0">
                <a:solidFill>
                  <a:schemeClr val="tx1"/>
                </a:solidFill>
                <a:latin typeface="+mn-lt"/>
                <a:ea typeface="+mn-ea"/>
                <a:cs typeface="+mn-cs"/>
              </a:rPr>
              <a:t>buzzer</a:t>
            </a:r>
            <a:br>
              <a:rPr lang="en-AU" sz="1200" b="0" i="0" kern="1200" dirty="0">
                <a:solidFill>
                  <a:schemeClr val="tx1"/>
                </a:solidFill>
                <a:latin typeface="+mn-lt"/>
                <a:ea typeface="+mn-ea"/>
                <a:cs typeface="+mn-cs"/>
              </a:rPr>
            </a:br>
            <a:r>
              <a:rPr lang="en-AU" sz="1200" b="0" i="1" kern="1200" dirty="0">
                <a:solidFill>
                  <a:schemeClr val="tx1"/>
                </a:solidFill>
                <a:latin typeface="+mn-lt"/>
                <a:ea typeface="+mn-ea"/>
                <a:cs typeface="+mn-cs"/>
              </a:rPr>
              <a:t>- </a:t>
            </a:r>
            <a:r>
              <a:rPr lang="en-AU" sz="1200" b="0" i="0" kern="1200" dirty="0">
                <a:solidFill>
                  <a:schemeClr val="tx1"/>
                </a:solidFill>
                <a:latin typeface="+mn-lt"/>
                <a:ea typeface="+mn-ea"/>
                <a:cs typeface="+mn-cs"/>
              </a:rPr>
              <a:t>RFID</a:t>
            </a:r>
            <a:br>
              <a:rPr lang="en-AU" sz="1200" b="0" i="0" kern="1200" dirty="0">
                <a:solidFill>
                  <a:schemeClr val="tx1"/>
                </a:solidFill>
                <a:latin typeface="+mn-lt"/>
                <a:ea typeface="+mn-ea"/>
                <a:cs typeface="+mn-cs"/>
              </a:rPr>
            </a:br>
            <a:r>
              <a:rPr lang="en-AU" sz="1200" b="0" i="1" kern="1200" dirty="0">
                <a:solidFill>
                  <a:schemeClr val="tx1"/>
                </a:solidFill>
                <a:latin typeface="+mn-lt"/>
                <a:ea typeface="+mn-ea"/>
                <a:cs typeface="+mn-cs"/>
              </a:rPr>
              <a:t>- </a:t>
            </a:r>
            <a:r>
              <a:rPr lang="en-AU" sz="1200" b="0" i="0" kern="1200" dirty="0">
                <a:solidFill>
                  <a:schemeClr val="tx1"/>
                </a:solidFill>
                <a:latin typeface="+mn-lt"/>
                <a:ea typeface="+mn-ea"/>
                <a:cs typeface="+mn-cs"/>
              </a:rPr>
              <a:t>relay</a:t>
            </a:r>
          </a:p>
        </p:txBody>
      </p:sp>
      <p:sp>
        <p:nvSpPr>
          <p:cNvPr id="4" name="Slide Number Placeholder 3"/>
          <p:cNvSpPr>
            <a:spLocks noGrp="1"/>
          </p:cNvSpPr>
          <p:nvPr>
            <p:ph type="sldNum" sz="quarter" idx="10"/>
          </p:nvPr>
        </p:nvSpPr>
        <p:spPr/>
        <p:txBody>
          <a:bodyPr/>
          <a:lstStyle/>
          <a:p>
            <a:fld id="{BA3E024E-F835-6D45-89C3-0E2F93EE799A}" type="slidenum">
              <a:rPr lang="en-US" smtClean="0"/>
              <a:t>62</a:t>
            </a:fld>
            <a:endParaRPr lang="en-US" dirty="0"/>
          </a:p>
        </p:txBody>
      </p:sp>
    </p:spTree>
    <p:extLst>
      <p:ext uri="{BB962C8B-B14F-4D97-AF65-F5344CB8AC3E}">
        <p14:creationId xmlns:p14="http://schemas.microsoft.com/office/powerpoint/2010/main" val="36962623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A3E024E-F835-6D45-89C3-0E2F93EE799A}" type="slidenum">
              <a:rPr lang="en-US" smtClean="0"/>
              <a:t>64</a:t>
            </a:fld>
            <a:endParaRPr lang="en-US" dirty="0"/>
          </a:p>
        </p:txBody>
      </p:sp>
    </p:spTree>
    <p:extLst>
      <p:ext uri="{BB962C8B-B14F-4D97-AF65-F5344CB8AC3E}">
        <p14:creationId xmlns:p14="http://schemas.microsoft.com/office/powerpoint/2010/main" val="19027757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A3E024E-F835-6D45-89C3-0E2F93EE799A}" type="slidenum">
              <a:rPr lang="en-US" smtClean="0"/>
              <a:t>65</a:t>
            </a:fld>
            <a:endParaRPr lang="en-US" dirty="0"/>
          </a:p>
        </p:txBody>
      </p:sp>
    </p:spTree>
    <p:extLst>
      <p:ext uri="{BB962C8B-B14F-4D97-AF65-F5344CB8AC3E}">
        <p14:creationId xmlns:p14="http://schemas.microsoft.com/office/powerpoint/2010/main" val="34242553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latin typeface="+mn-lt"/>
                <a:ea typeface="+mn-ea"/>
                <a:cs typeface="+mn-cs"/>
              </a:rPr>
              <a:t>MQTT = </a:t>
            </a:r>
            <a:r>
              <a:rPr lang="en-AU" b="0" dirty="0"/>
              <a:t>Message Queuing Telemetry Transport</a:t>
            </a:r>
          </a:p>
          <a:p>
            <a:r>
              <a:rPr lang="en-AU" sz="1200" b="0" i="0" kern="1200" dirty="0">
                <a:solidFill>
                  <a:schemeClr val="tx1"/>
                </a:solidFill>
                <a:latin typeface="+mn-lt"/>
                <a:ea typeface="+mn-ea"/>
                <a:cs typeface="+mn-cs"/>
              </a:rPr>
              <a:t>WebSocket = communications protocol, which provides full-duplex communication channels over a single TCP connection. It is distinct from HTTP, but compatible with it.</a:t>
            </a:r>
          </a:p>
          <a:p>
            <a:r>
              <a:rPr lang="en-AU" sz="1200" b="0" i="0" kern="1200" dirty="0">
                <a:solidFill>
                  <a:schemeClr val="tx1"/>
                </a:solidFill>
                <a:latin typeface="+mn-lt"/>
                <a:ea typeface="+mn-ea"/>
                <a:cs typeface="+mn-cs"/>
              </a:rPr>
              <a:t>SOAP and JSON are more “data wrappers” than protocols.</a:t>
            </a:r>
          </a:p>
        </p:txBody>
      </p:sp>
      <p:sp>
        <p:nvSpPr>
          <p:cNvPr id="4" name="Slide Number Placeholder 3"/>
          <p:cNvSpPr>
            <a:spLocks noGrp="1"/>
          </p:cNvSpPr>
          <p:nvPr>
            <p:ph type="sldNum" sz="quarter" idx="10"/>
          </p:nvPr>
        </p:nvSpPr>
        <p:spPr/>
        <p:txBody>
          <a:bodyPr/>
          <a:lstStyle/>
          <a:p>
            <a:fld id="{BA3E024E-F835-6D45-89C3-0E2F93EE799A}" type="slidenum">
              <a:rPr lang="en-US" smtClean="0"/>
              <a:t>66</a:t>
            </a:fld>
            <a:endParaRPr lang="en-US" dirty="0"/>
          </a:p>
        </p:txBody>
      </p:sp>
    </p:spTree>
    <p:extLst>
      <p:ext uri="{BB962C8B-B14F-4D97-AF65-F5344CB8AC3E}">
        <p14:creationId xmlns:p14="http://schemas.microsoft.com/office/powerpoint/2010/main" val="11070945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latin typeface="+mn-lt"/>
                <a:ea typeface="+mn-ea"/>
                <a:cs typeface="+mn-cs"/>
              </a:rPr>
              <a:t>Philips Hue: the lights connect to the local server, which itself connects to the internet.</a:t>
            </a: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r>
              <a:rPr lang="en-AU">
                <a:hlinkClick r:id="rId3"/>
              </a:rPr>
              <a:t>Image from: https://www.philips-hue.com/en-au</a:t>
            </a:r>
            <a:endParaRPr lang="en-AU" sz="1200" b="0" i="0" kern="120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A3E024E-F835-6D45-89C3-0E2F93EE799A}" type="slidenum">
              <a:rPr lang="en-US" smtClean="0"/>
              <a:t>67</a:t>
            </a:fld>
            <a:endParaRPr lang="en-US" dirty="0"/>
          </a:p>
        </p:txBody>
      </p:sp>
    </p:spTree>
    <p:extLst>
      <p:ext uri="{BB962C8B-B14F-4D97-AF65-F5344CB8AC3E}">
        <p14:creationId xmlns:p14="http://schemas.microsoft.com/office/powerpoint/2010/main" val="41113255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A3E024E-F835-6D45-89C3-0E2F93EE799A}" type="slidenum">
              <a:rPr lang="en-US" smtClean="0"/>
              <a:t>69</a:t>
            </a:fld>
            <a:endParaRPr lang="en-US" dirty="0"/>
          </a:p>
        </p:txBody>
      </p:sp>
    </p:spTree>
    <p:extLst>
      <p:ext uri="{BB962C8B-B14F-4D97-AF65-F5344CB8AC3E}">
        <p14:creationId xmlns:p14="http://schemas.microsoft.com/office/powerpoint/2010/main" val="29971281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latin typeface="+mn-lt"/>
                <a:ea typeface="+mn-ea"/>
                <a:cs typeface="+mn-cs"/>
              </a:rPr>
              <a:t>The simulator can be found in the Simulators folder in Blackboard’s Learning Materials. </a:t>
            </a:r>
          </a:p>
          <a:p>
            <a:endParaRPr lang="en-AU" sz="1200" b="0" i="0" kern="1200" dirty="0">
              <a:solidFill>
                <a:schemeClr val="tx1"/>
              </a:solidFill>
              <a:latin typeface="+mn-lt"/>
              <a:ea typeface="+mn-ea"/>
              <a:cs typeface="+mn-cs"/>
            </a:endParaRPr>
          </a:p>
          <a:p>
            <a:r>
              <a:rPr lang="en-AU" sz="1200" b="0" i="0" kern="1200" dirty="0">
                <a:solidFill>
                  <a:schemeClr val="tx1"/>
                </a:solidFill>
                <a:latin typeface="+mn-lt"/>
                <a:ea typeface="+mn-ea"/>
                <a:cs typeface="+mn-cs"/>
              </a:rPr>
              <a:t>You can find the </a:t>
            </a:r>
            <a:r>
              <a:rPr lang="en-AU" sz="1200" b="0" i="0" kern="1200" dirty="0" err="1">
                <a:solidFill>
                  <a:schemeClr val="tx1"/>
                </a:solidFill>
                <a:latin typeface="+mn-lt"/>
                <a:ea typeface="+mn-ea"/>
                <a:cs typeface="+mn-cs"/>
              </a:rPr>
              <a:t>SenseHat</a:t>
            </a:r>
            <a:r>
              <a:rPr lang="en-AU" sz="1200" b="0" i="0" kern="1200" dirty="0">
                <a:solidFill>
                  <a:schemeClr val="tx1"/>
                </a:solidFill>
                <a:latin typeface="+mn-lt"/>
                <a:ea typeface="+mn-ea"/>
                <a:cs typeface="+mn-cs"/>
              </a:rPr>
              <a:t> simulator documentation: https://sense-emu.readthedocs.io/en/v1.0/api.html</a:t>
            </a:r>
          </a:p>
          <a:p>
            <a:endParaRPr lang="en-AU"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A3E024E-F835-6D45-89C3-0E2F93EE799A}" type="slidenum">
              <a:rPr lang="en-US" smtClean="0"/>
              <a:t>70</a:t>
            </a:fld>
            <a:endParaRPr lang="en-US" dirty="0"/>
          </a:p>
        </p:txBody>
      </p:sp>
    </p:spTree>
    <p:extLst>
      <p:ext uri="{BB962C8B-B14F-4D97-AF65-F5344CB8AC3E}">
        <p14:creationId xmlns:p14="http://schemas.microsoft.com/office/powerpoint/2010/main" val="31364551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a:t>
            </a:r>
            <a:r>
              <a:rPr lang="en-AU" baseline="0" dirty="0"/>
              <a:t> Use Case Diagram shows interaction of users (or other systems) with a (software) system. The system, in this case, is a Raspberry Pi.</a:t>
            </a:r>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71</a:t>
            </a:fld>
            <a:endParaRPr lang="en-US" dirty="0"/>
          </a:p>
        </p:txBody>
      </p:sp>
    </p:spTree>
    <p:extLst>
      <p:ext uri="{BB962C8B-B14F-4D97-AF65-F5344CB8AC3E}">
        <p14:creationId xmlns:p14="http://schemas.microsoft.com/office/powerpoint/2010/main" val="33495805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72</a:t>
            </a:fld>
            <a:endParaRPr lang="en-US" dirty="0"/>
          </a:p>
        </p:txBody>
      </p:sp>
    </p:spTree>
    <p:extLst>
      <p:ext uri="{BB962C8B-B14F-4D97-AF65-F5344CB8AC3E}">
        <p14:creationId xmlns:p14="http://schemas.microsoft.com/office/powerpoint/2010/main" val="24849441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 keep the Greeter class, but now it uses a</a:t>
            </a:r>
            <a:r>
              <a:rPr lang="en-AU" baseline="0" dirty="0"/>
              <a:t> </a:t>
            </a:r>
            <a:r>
              <a:rPr lang="en-AU" baseline="0" dirty="0" err="1"/>
              <a:t>SenseHat</a:t>
            </a:r>
            <a:r>
              <a:rPr lang="en-AU" baseline="0" dirty="0"/>
              <a:t>. The closed diamond shape means that the </a:t>
            </a:r>
            <a:r>
              <a:rPr lang="en-AU" baseline="0" dirty="0" err="1"/>
              <a:t>SenseHat</a:t>
            </a:r>
            <a:r>
              <a:rPr lang="en-AU" baseline="0" dirty="0"/>
              <a:t> is “owned” by the Greeter.</a:t>
            </a:r>
          </a:p>
          <a:p>
            <a:endParaRPr lang="en-AU" baseline="0" dirty="0"/>
          </a:p>
          <a:p>
            <a:r>
              <a:rPr lang="en-AU" baseline="0" dirty="0"/>
              <a:t>Please note that the </a:t>
            </a:r>
            <a:r>
              <a:rPr lang="en-AU" baseline="0" dirty="0" err="1"/>
              <a:t>greet_user</a:t>
            </a:r>
            <a:r>
              <a:rPr lang="en-AU" baseline="0" dirty="0"/>
              <a:t> method is no longer underlined, so it is not a static method any more. This also means that we need to actually instantiate an object of class Greeter.</a:t>
            </a:r>
          </a:p>
          <a:p>
            <a:endParaRPr lang="en-AU" baseline="0" dirty="0"/>
          </a:p>
          <a:p>
            <a:r>
              <a:rPr lang="en-AU" baseline="0" dirty="0"/>
              <a:t>We’ll dive into more detail later in the course.</a:t>
            </a:r>
          </a:p>
          <a:p>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73</a:t>
            </a:fld>
            <a:endParaRPr lang="en-US" dirty="0"/>
          </a:p>
        </p:txBody>
      </p:sp>
    </p:spTree>
    <p:extLst>
      <p:ext uri="{BB962C8B-B14F-4D97-AF65-F5344CB8AC3E}">
        <p14:creationId xmlns:p14="http://schemas.microsoft.com/office/powerpoint/2010/main" val="29837174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from </a:t>
            </a:r>
            <a:r>
              <a:rPr lang="en-AU" dirty="0" err="1"/>
              <a:t>sense_hat</a:t>
            </a:r>
            <a:r>
              <a:rPr lang="en-AU" dirty="0"/>
              <a:t> </a:t>
            </a:r>
            <a:r>
              <a:rPr lang="en-AU" sz="1200" kern="1200" dirty="0">
                <a:solidFill>
                  <a:schemeClr val="tx1"/>
                </a:solidFill>
                <a:effectLst/>
                <a:latin typeface="+mn-lt"/>
                <a:ea typeface="+mn-ea"/>
                <a:cs typeface="+mn-cs"/>
              </a:rPr>
              <a:t>import </a:t>
            </a:r>
            <a:r>
              <a:rPr lang="en-AU" dirty="0" err="1"/>
              <a:t>SenseHat</a:t>
            </a:r>
            <a:br>
              <a:rPr lang="en-AU" dirty="0"/>
            </a:br>
            <a:br>
              <a:rPr lang="en-AU" dirty="0"/>
            </a:br>
            <a:br>
              <a:rPr lang="en-AU" dirty="0"/>
            </a:br>
            <a:r>
              <a:rPr lang="en-AU" sz="1200" kern="1200" dirty="0">
                <a:solidFill>
                  <a:schemeClr val="tx1"/>
                </a:solidFill>
                <a:effectLst/>
                <a:latin typeface="+mn-lt"/>
                <a:ea typeface="+mn-ea"/>
                <a:cs typeface="+mn-cs"/>
              </a:rPr>
              <a:t>class </a:t>
            </a:r>
            <a:r>
              <a:rPr lang="en-AU" dirty="0"/>
              <a:t>Greeter:</a:t>
            </a:r>
            <a:br>
              <a:rPr lang="en-AU" dirty="0"/>
            </a:br>
            <a:r>
              <a:rPr lang="en-AU" dirty="0"/>
              <a:t>    </a:t>
            </a:r>
            <a:r>
              <a:rPr lang="en-AU" sz="1200" kern="1200" dirty="0" err="1">
                <a:solidFill>
                  <a:schemeClr val="tx1"/>
                </a:solidFill>
                <a:effectLst/>
                <a:latin typeface="+mn-lt"/>
                <a:ea typeface="+mn-ea"/>
                <a:cs typeface="+mn-cs"/>
              </a:rPr>
              <a:t>def</a:t>
            </a:r>
            <a:r>
              <a:rPr lang="en-AU" sz="1200" kern="1200" dirty="0">
                <a:solidFill>
                  <a:schemeClr val="tx1"/>
                </a:solidFill>
                <a:effectLst/>
                <a:latin typeface="+mn-lt"/>
                <a:ea typeface="+mn-ea"/>
                <a:cs typeface="+mn-cs"/>
              </a:rPr>
              <a:t> __</a:t>
            </a:r>
            <a:r>
              <a:rPr lang="en-AU" sz="1200" kern="1200" dirty="0" err="1">
                <a:solidFill>
                  <a:schemeClr val="tx1"/>
                </a:solidFill>
                <a:effectLst/>
                <a:latin typeface="+mn-lt"/>
                <a:ea typeface="+mn-ea"/>
                <a:cs typeface="+mn-cs"/>
              </a:rPr>
              <a:t>init</a:t>
            </a:r>
            <a:r>
              <a:rPr lang="en-AU" sz="1200" kern="1200" dirty="0">
                <a:solidFill>
                  <a:schemeClr val="tx1"/>
                </a:solidFill>
                <a:effectLst/>
                <a:latin typeface="+mn-lt"/>
                <a:ea typeface="+mn-ea"/>
                <a:cs typeface="+mn-cs"/>
              </a:rPr>
              <a:t>__</a:t>
            </a:r>
            <a:r>
              <a:rPr lang="en-AU" dirty="0"/>
              <a:t>(</a:t>
            </a:r>
            <a:r>
              <a:rPr lang="en-AU" sz="1200" kern="1200" dirty="0">
                <a:solidFill>
                  <a:schemeClr val="tx1"/>
                </a:solidFill>
                <a:effectLst/>
                <a:latin typeface="+mn-lt"/>
                <a:ea typeface="+mn-ea"/>
                <a:cs typeface="+mn-cs"/>
              </a:rPr>
              <a:t>self</a:t>
            </a:r>
            <a:r>
              <a:rPr lang="en-AU" dirty="0"/>
              <a:t>):</a:t>
            </a:r>
            <a:br>
              <a:rPr lang="en-AU" dirty="0"/>
            </a:br>
            <a:r>
              <a:rPr lang="en-AU" dirty="0"/>
              <a:t>        </a:t>
            </a:r>
            <a:r>
              <a:rPr lang="en-AU" sz="1200" kern="1200" dirty="0" err="1">
                <a:solidFill>
                  <a:schemeClr val="tx1"/>
                </a:solidFill>
                <a:effectLst/>
                <a:latin typeface="+mn-lt"/>
                <a:ea typeface="+mn-ea"/>
                <a:cs typeface="+mn-cs"/>
              </a:rPr>
              <a:t>self</a:t>
            </a:r>
            <a:r>
              <a:rPr lang="en-AU" dirty="0" err="1"/>
              <a:t>.sense_hat</a:t>
            </a:r>
            <a:r>
              <a:rPr lang="en-AU" dirty="0"/>
              <a:t> = </a:t>
            </a:r>
            <a:r>
              <a:rPr lang="en-AU" dirty="0" err="1"/>
              <a:t>SenseHat</a:t>
            </a:r>
            <a:r>
              <a:rPr lang="en-AU" dirty="0"/>
              <a:t>()</a:t>
            </a:r>
            <a:br>
              <a:rPr lang="en-AU" dirty="0"/>
            </a:br>
            <a:br>
              <a:rPr lang="en-AU" dirty="0"/>
            </a:br>
            <a:r>
              <a:rPr lang="en-AU" dirty="0"/>
              <a:t>    </a:t>
            </a:r>
            <a:r>
              <a:rPr lang="en-AU" sz="1200" kern="1200" dirty="0" err="1">
                <a:solidFill>
                  <a:schemeClr val="tx1"/>
                </a:solidFill>
                <a:effectLst/>
                <a:latin typeface="+mn-lt"/>
                <a:ea typeface="+mn-ea"/>
                <a:cs typeface="+mn-cs"/>
              </a:rPr>
              <a:t>def</a:t>
            </a:r>
            <a:r>
              <a:rPr lang="en-AU" sz="1200" kern="1200" dirty="0">
                <a:solidFill>
                  <a:schemeClr val="tx1"/>
                </a:solidFill>
                <a:effectLst/>
                <a:latin typeface="+mn-lt"/>
                <a:ea typeface="+mn-ea"/>
                <a:cs typeface="+mn-cs"/>
              </a:rPr>
              <a:t> </a:t>
            </a:r>
            <a:r>
              <a:rPr lang="en-AU" sz="1200" kern="1200" dirty="0" err="1">
                <a:solidFill>
                  <a:schemeClr val="tx1"/>
                </a:solidFill>
                <a:effectLst/>
                <a:latin typeface="+mn-lt"/>
                <a:ea typeface="+mn-ea"/>
                <a:cs typeface="+mn-cs"/>
              </a:rPr>
              <a:t>greet_user</a:t>
            </a:r>
            <a:r>
              <a:rPr lang="en-AU" dirty="0"/>
              <a:t>(</a:t>
            </a:r>
            <a:r>
              <a:rPr lang="en-AU" sz="1200" kern="1200" dirty="0">
                <a:solidFill>
                  <a:schemeClr val="tx1"/>
                </a:solidFill>
                <a:effectLst/>
                <a:latin typeface="+mn-lt"/>
                <a:ea typeface="+mn-ea"/>
                <a:cs typeface="+mn-cs"/>
              </a:rPr>
              <a:t>self</a:t>
            </a:r>
            <a:r>
              <a:rPr lang="en-AU" dirty="0"/>
              <a:t>):</a:t>
            </a:r>
            <a:br>
              <a:rPr lang="en-AU" dirty="0"/>
            </a:br>
            <a:r>
              <a:rPr lang="en-AU" dirty="0"/>
              <a:t>        </a:t>
            </a:r>
            <a:r>
              <a:rPr lang="en-AU" sz="1200" kern="1200" dirty="0" err="1">
                <a:solidFill>
                  <a:schemeClr val="tx1"/>
                </a:solidFill>
                <a:effectLst/>
                <a:latin typeface="+mn-lt"/>
                <a:ea typeface="+mn-ea"/>
                <a:cs typeface="+mn-cs"/>
              </a:rPr>
              <a:t>self</a:t>
            </a:r>
            <a:r>
              <a:rPr lang="en-AU" dirty="0" err="1"/>
              <a:t>.sense_hat.show_message</a:t>
            </a:r>
            <a:r>
              <a:rPr lang="en-AU" dirty="0"/>
              <a:t>(</a:t>
            </a:r>
            <a:r>
              <a:rPr lang="en-AU" sz="1200" kern="1200" dirty="0">
                <a:solidFill>
                  <a:schemeClr val="tx1"/>
                </a:solidFill>
                <a:effectLst/>
                <a:latin typeface="+mn-lt"/>
                <a:ea typeface="+mn-ea"/>
                <a:cs typeface="+mn-cs"/>
              </a:rPr>
              <a:t>'Hello, world!', </a:t>
            </a:r>
            <a:r>
              <a:rPr lang="en-AU" sz="1200" kern="1200" dirty="0" err="1">
                <a:solidFill>
                  <a:schemeClr val="tx1"/>
                </a:solidFill>
                <a:effectLst/>
                <a:latin typeface="+mn-lt"/>
                <a:ea typeface="+mn-ea"/>
                <a:cs typeface="+mn-cs"/>
              </a:rPr>
              <a:t>scroll_speed</a:t>
            </a:r>
            <a:r>
              <a:rPr lang="en-AU" dirty="0"/>
              <a:t>=</a:t>
            </a:r>
            <a:r>
              <a:rPr lang="en-AU" sz="1200" kern="1200" dirty="0">
                <a:solidFill>
                  <a:schemeClr val="tx1"/>
                </a:solidFill>
                <a:effectLst/>
                <a:latin typeface="+mn-lt"/>
                <a:ea typeface="+mn-ea"/>
                <a:cs typeface="+mn-cs"/>
              </a:rPr>
              <a:t>0.05</a:t>
            </a:r>
            <a:r>
              <a:rPr lang="en-AU" dirty="0"/>
              <a:t>)</a:t>
            </a:r>
            <a:br>
              <a:rPr lang="en-AU" dirty="0"/>
            </a:br>
            <a:br>
              <a:rPr lang="en-AU" dirty="0"/>
            </a:br>
            <a:br>
              <a:rPr lang="en-AU" dirty="0"/>
            </a:br>
            <a:r>
              <a:rPr lang="en-AU" sz="1200" kern="1200" dirty="0">
                <a:solidFill>
                  <a:schemeClr val="tx1"/>
                </a:solidFill>
                <a:effectLst/>
                <a:latin typeface="+mn-lt"/>
                <a:ea typeface="+mn-ea"/>
                <a:cs typeface="+mn-cs"/>
              </a:rPr>
              <a:t>if </a:t>
            </a:r>
            <a:r>
              <a:rPr lang="en-AU" dirty="0"/>
              <a:t>__name__ == </a:t>
            </a:r>
            <a:r>
              <a:rPr lang="en-AU" sz="1200" kern="1200" dirty="0">
                <a:solidFill>
                  <a:schemeClr val="tx1"/>
                </a:solidFill>
                <a:effectLst/>
                <a:latin typeface="+mn-lt"/>
                <a:ea typeface="+mn-ea"/>
                <a:cs typeface="+mn-cs"/>
              </a:rPr>
              <a:t>'__main__'</a:t>
            </a:r>
            <a:r>
              <a:rPr lang="en-AU" dirty="0"/>
              <a:t>:</a:t>
            </a:r>
            <a:br>
              <a:rPr lang="en-AU" dirty="0"/>
            </a:br>
            <a:r>
              <a:rPr lang="en-AU" dirty="0"/>
              <a:t>    </a:t>
            </a:r>
            <a:r>
              <a:rPr lang="en-AU" sz="1200" kern="1200" dirty="0">
                <a:solidFill>
                  <a:schemeClr val="tx1"/>
                </a:solidFill>
                <a:effectLst/>
                <a:latin typeface="+mn-lt"/>
                <a:ea typeface="+mn-ea"/>
                <a:cs typeface="+mn-cs"/>
              </a:rPr>
              <a:t># Instantiate a Greeter object</a:t>
            </a:r>
            <a:br>
              <a:rPr lang="en-AU" sz="1200" kern="1200" dirty="0">
                <a:solidFill>
                  <a:schemeClr val="tx1"/>
                </a:solidFill>
                <a:effectLst/>
                <a:latin typeface="+mn-lt"/>
                <a:ea typeface="+mn-ea"/>
                <a:cs typeface="+mn-cs"/>
              </a:rPr>
            </a:br>
            <a:r>
              <a:rPr lang="en-AU" sz="1200" kern="1200" dirty="0">
                <a:solidFill>
                  <a:schemeClr val="tx1"/>
                </a:solidFill>
                <a:effectLst/>
                <a:latin typeface="+mn-lt"/>
                <a:ea typeface="+mn-ea"/>
                <a:cs typeface="+mn-cs"/>
              </a:rPr>
              <a:t>    </a:t>
            </a:r>
            <a:r>
              <a:rPr lang="en-AU" dirty="0"/>
              <a:t>greeter = Greeter()</a:t>
            </a:r>
            <a:br>
              <a:rPr lang="en-AU" dirty="0"/>
            </a:br>
            <a:br>
              <a:rPr lang="en-AU" dirty="0"/>
            </a:br>
            <a:r>
              <a:rPr lang="en-AU" dirty="0"/>
              <a:t>    </a:t>
            </a:r>
            <a:r>
              <a:rPr lang="en-AU" sz="1200" kern="1200" dirty="0">
                <a:solidFill>
                  <a:schemeClr val="tx1"/>
                </a:solidFill>
                <a:effectLst/>
                <a:latin typeface="+mn-lt"/>
                <a:ea typeface="+mn-ea"/>
                <a:cs typeface="+mn-cs"/>
              </a:rPr>
              <a:t># Call the instance method {</a:t>
            </a:r>
            <a:r>
              <a:rPr lang="en-AU" sz="1200" kern="1200" dirty="0" err="1">
                <a:solidFill>
                  <a:schemeClr val="tx1"/>
                </a:solidFill>
                <a:effectLst/>
                <a:latin typeface="+mn-lt"/>
                <a:ea typeface="+mn-ea"/>
                <a:cs typeface="+mn-cs"/>
              </a:rPr>
              <a:t>greet_user</a:t>
            </a:r>
            <a:r>
              <a:rPr lang="en-AU" sz="1200" kern="1200" dirty="0">
                <a:solidFill>
                  <a:schemeClr val="tx1"/>
                </a:solidFill>
                <a:effectLst/>
                <a:latin typeface="+mn-lt"/>
                <a:ea typeface="+mn-ea"/>
                <a:cs typeface="+mn-cs"/>
              </a:rPr>
              <a:t>}</a:t>
            </a:r>
            <a:br>
              <a:rPr lang="en-AU" sz="1200" kern="1200" dirty="0">
                <a:solidFill>
                  <a:schemeClr val="tx1"/>
                </a:solidFill>
                <a:effectLst/>
                <a:latin typeface="+mn-lt"/>
                <a:ea typeface="+mn-ea"/>
                <a:cs typeface="+mn-cs"/>
              </a:rPr>
            </a:br>
            <a:r>
              <a:rPr lang="en-AU" sz="1200" kern="1200" dirty="0">
                <a:solidFill>
                  <a:schemeClr val="tx1"/>
                </a:solidFill>
                <a:effectLst/>
                <a:latin typeface="+mn-lt"/>
                <a:ea typeface="+mn-ea"/>
                <a:cs typeface="+mn-cs"/>
              </a:rPr>
              <a:t>    </a:t>
            </a:r>
            <a:r>
              <a:rPr lang="en-AU" dirty="0" err="1"/>
              <a:t>greeter.greet_user</a:t>
            </a:r>
            <a:r>
              <a:rPr lang="en-AU" dirty="0"/>
              <a:t>()</a:t>
            </a:r>
            <a:br>
              <a:rPr lang="en-AU" dirty="0"/>
            </a:br>
            <a:endParaRPr lang="en-AU" dirty="0"/>
          </a:p>
          <a:p>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74</a:t>
            </a:fld>
            <a:endParaRPr lang="en-US" dirty="0"/>
          </a:p>
        </p:txBody>
      </p:sp>
    </p:spTree>
    <p:extLst>
      <p:ext uri="{BB962C8B-B14F-4D97-AF65-F5344CB8AC3E}">
        <p14:creationId xmlns:p14="http://schemas.microsoft.com/office/powerpoint/2010/main" val="14461216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from </a:t>
            </a:r>
            <a:r>
              <a:rPr lang="en-AU" dirty="0" err="1"/>
              <a:t>sense_hat</a:t>
            </a:r>
            <a:r>
              <a:rPr lang="en-AU" dirty="0"/>
              <a:t> </a:t>
            </a:r>
            <a:r>
              <a:rPr lang="en-AU" sz="1200" kern="1200" dirty="0">
                <a:solidFill>
                  <a:schemeClr val="tx1"/>
                </a:solidFill>
                <a:effectLst/>
                <a:latin typeface="+mn-lt"/>
                <a:ea typeface="+mn-ea"/>
                <a:cs typeface="+mn-cs"/>
              </a:rPr>
              <a:t>import </a:t>
            </a:r>
            <a:r>
              <a:rPr lang="en-AU" dirty="0" err="1"/>
              <a:t>SenseHat</a:t>
            </a:r>
            <a:br>
              <a:rPr lang="en-AU" dirty="0"/>
            </a:br>
            <a:br>
              <a:rPr lang="en-AU" dirty="0"/>
            </a:br>
            <a:br>
              <a:rPr lang="en-AU" dirty="0"/>
            </a:br>
            <a:r>
              <a:rPr lang="en-AU" sz="1200" kern="1200" dirty="0">
                <a:solidFill>
                  <a:schemeClr val="tx1"/>
                </a:solidFill>
                <a:effectLst/>
                <a:latin typeface="+mn-lt"/>
                <a:ea typeface="+mn-ea"/>
                <a:cs typeface="+mn-cs"/>
              </a:rPr>
              <a:t>class </a:t>
            </a:r>
            <a:r>
              <a:rPr lang="en-AU" dirty="0"/>
              <a:t>Greeter:</a:t>
            </a:r>
            <a:br>
              <a:rPr lang="en-AU" dirty="0"/>
            </a:br>
            <a:r>
              <a:rPr lang="en-AU" dirty="0"/>
              <a:t>    </a:t>
            </a:r>
            <a:r>
              <a:rPr lang="en-AU" sz="1200" kern="1200" dirty="0" err="1">
                <a:solidFill>
                  <a:schemeClr val="tx1"/>
                </a:solidFill>
                <a:effectLst/>
                <a:latin typeface="+mn-lt"/>
                <a:ea typeface="+mn-ea"/>
                <a:cs typeface="+mn-cs"/>
              </a:rPr>
              <a:t>def</a:t>
            </a:r>
            <a:r>
              <a:rPr lang="en-AU" sz="1200" kern="1200" dirty="0">
                <a:solidFill>
                  <a:schemeClr val="tx1"/>
                </a:solidFill>
                <a:effectLst/>
                <a:latin typeface="+mn-lt"/>
                <a:ea typeface="+mn-ea"/>
                <a:cs typeface="+mn-cs"/>
              </a:rPr>
              <a:t> __</a:t>
            </a:r>
            <a:r>
              <a:rPr lang="en-AU" sz="1200" kern="1200" dirty="0" err="1">
                <a:solidFill>
                  <a:schemeClr val="tx1"/>
                </a:solidFill>
                <a:effectLst/>
                <a:latin typeface="+mn-lt"/>
                <a:ea typeface="+mn-ea"/>
                <a:cs typeface="+mn-cs"/>
              </a:rPr>
              <a:t>init</a:t>
            </a:r>
            <a:r>
              <a:rPr lang="en-AU" sz="1200" kern="1200" dirty="0">
                <a:solidFill>
                  <a:schemeClr val="tx1"/>
                </a:solidFill>
                <a:effectLst/>
                <a:latin typeface="+mn-lt"/>
                <a:ea typeface="+mn-ea"/>
                <a:cs typeface="+mn-cs"/>
              </a:rPr>
              <a:t>__</a:t>
            </a:r>
            <a:r>
              <a:rPr lang="en-AU" dirty="0"/>
              <a:t>(</a:t>
            </a:r>
            <a:r>
              <a:rPr lang="en-AU" sz="1200" kern="1200" dirty="0">
                <a:solidFill>
                  <a:schemeClr val="tx1"/>
                </a:solidFill>
                <a:effectLst/>
                <a:latin typeface="+mn-lt"/>
                <a:ea typeface="+mn-ea"/>
                <a:cs typeface="+mn-cs"/>
              </a:rPr>
              <a:t>self</a:t>
            </a:r>
            <a:r>
              <a:rPr lang="en-AU" dirty="0"/>
              <a:t>):</a:t>
            </a:r>
            <a:br>
              <a:rPr lang="en-AU" dirty="0"/>
            </a:br>
            <a:r>
              <a:rPr lang="en-AU" dirty="0"/>
              <a:t>        </a:t>
            </a:r>
            <a:r>
              <a:rPr lang="en-AU" sz="1200" kern="1200" dirty="0" err="1">
                <a:solidFill>
                  <a:schemeClr val="tx1"/>
                </a:solidFill>
                <a:effectLst/>
                <a:latin typeface="+mn-lt"/>
                <a:ea typeface="+mn-ea"/>
                <a:cs typeface="+mn-cs"/>
              </a:rPr>
              <a:t>self</a:t>
            </a:r>
            <a:r>
              <a:rPr lang="en-AU" dirty="0" err="1"/>
              <a:t>.sense_hat</a:t>
            </a:r>
            <a:r>
              <a:rPr lang="en-AU" dirty="0"/>
              <a:t> = </a:t>
            </a:r>
            <a:r>
              <a:rPr lang="en-AU" dirty="0" err="1"/>
              <a:t>SenseHat</a:t>
            </a:r>
            <a:r>
              <a:rPr lang="en-AU" dirty="0"/>
              <a:t>()</a:t>
            </a:r>
            <a:br>
              <a:rPr lang="en-AU" dirty="0"/>
            </a:br>
            <a:br>
              <a:rPr lang="en-AU" dirty="0"/>
            </a:br>
            <a:r>
              <a:rPr lang="en-AU" dirty="0"/>
              <a:t>    </a:t>
            </a:r>
            <a:r>
              <a:rPr lang="en-AU" sz="1200" kern="1200" dirty="0" err="1">
                <a:solidFill>
                  <a:schemeClr val="tx1"/>
                </a:solidFill>
                <a:effectLst/>
                <a:latin typeface="+mn-lt"/>
                <a:ea typeface="+mn-ea"/>
                <a:cs typeface="+mn-cs"/>
              </a:rPr>
              <a:t>def</a:t>
            </a:r>
            <a:r>
              <a:rPr lang="en-AU" sz="1200" kern="1200" dirty="0">
                <a:solidFill>
                  <a:schemeClr val="tx1"/>
                </a:solidFill>
                <a:effectLst/>
                <a:latin typeface="+mn-lt"/>
                <a:ea typeface="+mn-ea"/>
                <a:cs typeface="+mn-cs"/>
              </a:rPr>
              <a:t> </a:t>
            </a:r>
            <a:r>
              <a:rPr lang="en-AU" sz="1200" kern="1200" dirty="0" err="1">
                <a:solidFill>
                  <a:schemeClr val="tx1"/>
                </a:solidFill>
                <a:effectLst/>
                <a:latin typeface="+mn-lt"/>
                <a:ea typeface="+mn-ea"/>
                <a:cs typeface="+mn-cs"/>
              </a:rPr>
              <a:t>greet_user</a:t>
            </a:r>
            <a:r>
              <a:rPr lang="en-AU" dirty="0"/>
              <a:t>(</a:t>
            </a:r>
            <a:r>
              <a:rPr lang="en-AU" sz="1200" kern="1200" dirty="0">
                <a:solidFill>
                  <a:schemeClr val="tx1"/>
                </a:solidFill>
                <a:effectLst/>
                <a:latin typeface="+mn-lt"/>
                <a:ea typeface="+mn-ea"/>
                <a:cs typeface="+mn-cs"/>
              </a:rPr>
              <a:t>self</a:t>
            </a:r>
            <a:r>
              <a:rPr lang="en-AU" dirty="0"/>
              <a:t>):</a:t>
            </a:r>
            <a:br>
              <a:rPr lang="en-AU" dirty="0"/>
            </a:br>
            <a:r>
              <a:rPr lang="en-AU" dirty="0"/>
              <a:t>        </a:t>
            </a:r>
            <a:r>
              <a:rPr lang="en-AU" sz="1200" kern="1200" dirty="0" err="1">
                <a:solidFill>
                  <a:schemeClr val="tx1"/>
                </a:solidFill>
                <a:effectLst/>
                <a:latin typeface="+mn-lt"/>
                <a:ea typeface="+mn-ea"/>
                <a:cs typeface="+mn-cs"/>
              </a:rPr>
              <a:t>self</a:t>
            </a:r>
            <a:r>
              <a:rPr lang="en-AU" dirty="0" err="1"/>
              <a:t>.sense_hat.show_message</a:t>
            </a:r>
            <a:r>
              <a:rPr lang="en-AU" dirty="0"/>
              <a:t>(</a:t>
            </a:r>
            <a:r>
              <a:rPr lang="en-AU" sz="1200" kern="1200" dirty="0">
                <a:solidFill>
                  <a:schemeClr val="tx1"/>
                </a:solidFill>
                <a:effectLst/>
                <a:latin typeface="+mn-lt"/>
                <a:ea typeface="+mn-ea"/>
                <a:cs typeface="+mn-cs"/>
              </a:rPr>
              <a:t>'Hello, world!', </a:t>
            </a:r>
            <a:r>
              <a:rPr lang="en-AU" sz="1200" kern="1200" dirty="0" err="1">
                <a:solidFill>
                  <a:schemeClr val="tx1"/>
                </a:solidFill>
                <a:effectLst/>
                <a:latin typeface="+mn-lt"/>
                <a:ea typeface="+mn-ea"/>
                <a:cs typeface="+mn-cs"/>
              </a:rPr>
              <a:t>scroll_speed</a:t>
            </a:r>
            <a:r>
              <a:rPr lang="en-AU" dirty="0"/>
              <a:t>=</a:t>
            </a:r>
            <a:r>
              <a:rPr lang="en-AU" sz="1200" kern="1200" dirty="0">
                <a:solidFill>
                  <a:schemeClr val="tx1"/>
                </a:solidFill>
                <a:effectLst/>
                <a:latin typeface="+mn-lt"/>
                <a:ea typeface="+mn-ea"/>
                <a:cs typeface="+mn-cs"/>
              </a:rPr>
              <a:t>0.05</a:t>
            </a:r>
            <a:r>
              <a:rPr lang="en-AU" dirty="0"/>
              <a:t>)</a:t>
            </a:r>
            <a:br>
              <a:rPr lang="en-AU" dirty="0"/>
            </a:br>
            <a:br>
              <a:rPr lang="en-AU" dirty="0"/>
            </a:br>
            <a:br>
              <a:rPr lang="en-AU" dirty="0"/>
            </a:br>
            <a:r>
              <a:rPr lang="en-AU" sz="1200" kern="1200" dirty="0">
                <a:solidFill>
                  <a:schemeClr val="tx1"/>
                </a:solidFill>
                <a:effectLst/>
                <a:latin typeface="+mn-lt"/>
                <a:ea typeface="+mn-ea"/>
                <a:cs typeface="+mn-cs"/>
              </a:rPr>
              <a:t>if </a:t>
            </a:r>
            <a:r>
              <a:rPr lang="en-AU" dirty="0"/>
              <a:t>__name__ == </a:t>
            </a:r>
            <a:r>
              <a:rPr lang="en-AU" sz="1200" kern="1200" dirty="0">
                <a:solidFill>
                  <a:schemeClr val="tx1"/>
                </a:solidFill>
                <a:effectLst/>
                <a:latin typeface="+mn-lt"/>
                <a:ea typeface="+mn-ea"/>
                <a:cs typeface="+mn-cs"/>
              </a:rPr>
              <a:t>'__main__'</a:t>
            </a:r>
            <a:r>
              <a:rPr lang="en-AU" dirty="0"/>
              <a:t>:</a:t>
            </a:r>
            <a:br>
              <a:rPr lang="en-AU" dirty="0"/>
            </a:br>
            <a:r>
              <a:rPr lang="en-AU" dirty="0"/>
              <a:t>    </a:t>
            </a:r>
            <a:r>
              <a:rPr lang="en-AU" sz="1200" kern="1200" dirty="0">
                <a:solidFill>
                  <a:schemeClr val="tx1"/>
                </a:solidFill>
                <a:effectLst/>
                <a:latin typeface="+mn-lt"/>
                <a:ea typeface="+mn-ea"/>
                <a:cs typeface="+mn-cs"/>
              </a:rPr>
              <a:t># Instantiate a Greeter object</a:t>
            </a:r>
            <a:br>
              <a:rPr lang="en-AU" sz="1200" kern="1200" dirty="0">
                <a:solidFill>
                  <a:schemeClr val="tx1"/>
                </a:solidFill>
                <a:effectLst/>
                <a:latin typeface="+mn-lt"/>
                <a:ea typeface="+mn-ea"/>
                <a:cs typeface="+mn-cs"/>
              </a:rPr>
            </a:br>
            <a:r>
              <a:rPr lang="en-AU" sz="1200" kern="1200" dirty="0">
                <a:solidFill>
                  <a:schemeClr val="tx1"/>
                </a:solidFill>
                <a:effectLst/>
                <a:latin typeface="+mn-lt"/>
                <a:ea typeface="+mn-ea"/>
                <a:cs typeface="+mn-cs"/>
              </a:rPr>
              <a:t>    </a:t>
            </a:r>
            <a:r>
              <a:rPr lang="en-AU" dirty="0"/>
              <a:t>greeter = Greeter()</a:t>
            </a:r>
            <a:br>
              <a:rPr lang="en-AU" dirty="0"/>
            </a:br>
            <a:br>
              <a:rPr lang="en-AU" dirty="0"/>
            </a:br>
            <a:r>
              <a:rPr lang="en-AU" dirty="0"/>
              <a:t>    </a:t>
            </a:r>
            <a:r>
              <a:rPr lang="en-AU" sz="1200" kern="1200" dirty="0">
                <a:solidFill>
                  <a:schemeClr val="tx1"/>
                </a:solidFill>
                <a:effectLst/>
                <a:latin typeface="+mn-lt"/>
                <a:ea typeface="+mn-ea"/>
                <a:cs typeface="+mn-cs"/>
              </a:rPr>
              <a:t># Call the instance method {</a:t>
            </a:r>
            <a:r>
              <a:rPr lang="en-AU" sz="1200" kern="1200" dirty="0" err="1">
                <a:solidFill>
                  <a:schemeClr val="tx1"/>
                </a:solidFill>
                <a:effectLst/>
                <a:latin typeface="+mn-lt"/>
                <a:ea typeface="+mn-ea"/>
                <a:cs typeface="+mn-cs"/>
              </a:rPr>
              <a:t>greet_user</a:t>
            </a:r>
            <a:r>
              <a:rPr lang="en-AU" sz="1200" kern="1200" dirty="0">
                <a:solidFill>
                  <a:schemeClr val="tx1"/>
                </a:solidFill>
                <a:effectLst/>
                <a:latin typeface="+mn-lt"/>
                <a:ea typeface="+mn-ea"/>
                <a:cs typeface="+mn-cs"/>
              </a:rPr>
              <a:t>}</a:t>
            </a:r>
            <a:br>
              <a:rPr lang="en-AU" sz="1200" kern="1200" dirty="0">
                <a:solidFill>
                  <a:schemeClr val="tx1"/>
                </a:solidFill>
                <a:effectLst/>
                <a:latin typeface="+mn-lt"/>
                <a:ea typeface="+mn-ea"/>
                <a:cs typeface="+mn-cs"/>
              </a:rPr>
            </a:br>
            <a:r>
              <a:rPr lang="en-AU" sz="1200" kern="1200" dirty="0">
                <a:solidFill>
                  <a:schemeClr val="tx1"/>
                </a:solidFill>
                <a:effectLst/>
                <a:latin typeface="+mn-lt"/>
                <a:ea typeface="+mn-ea"/>
                <a:cs typeface="+mn-cs"/>
              </a:rPr>
              <a:t>    </a:t>
            </a:r>
            <a:r>
              <a:rPr lang="en-AU" dirty="0" err="1"/>
              <a:t>greeter.greet_user</a:t>
            </a:r>
            <a:r>
              <a:rPr lang="en-AU" dirty="0"/>
              <a:t>()</a:t>
            </a:r>
            <a:br>
              <a:rPr lang="en-AU" dirty="0"/>
            </a:br>
            <a:endParaRPr lang="en-AU" dirty="0"/>
          </a:p>
          <a:p>
            <a:endParaRPr lang="en-AU" dirty="0"/>
          </a:p>
        </p:txBody>
      </p:sp>
      <p:sp>
        <p:nvSpPr>
          <p:cNvPr id="4" name="Header Placeholder 3"/>
          <p:cNvSpPr>
            <a:spLocks noGrp="1"/>
          </p:cNvSpPr>
          <p:nvPr>
            <p:ph type="hdr" sz="quarter" idx="10"/>
          </p:nvPr>
        </p:nvSpPr>
        <p:spPr/>
        <p:txBody>
          <a:bodyPr/>
          <a:lstStyle/>
          <a:p>
            <a:r>
              <a:rPr lang="en-US"/>
              <a:t>IoT Week 02</a:t>
            </a:r>
            <a:endParaRPr lang="en-US" dirty="0"/>
          </a:p>
        </p:txBody>
      </p:sp>
      <p:sp>
        <p:nvSpPr>
          <p:cNvPr id="5" name="Date Placeholder 4"/>
          <p:cNvSpPr>
            <a:spLocks noGrp="1"/>
          </p:cNvSpPr>
          <p:nvPr>
            <p:ph type="dt" idx="11"/>
          </p:nvPr>
        </p:nvSpPr>
        <p:spPr/>
        <p:txBody>
          <a:bodyPr/>
          <a:lstStyle/>
          <a:p>
            <a:fld id="{EAF1312F-A309-4725-95E4-25A93289DE51}" type="datetime1">
              <a:rPr lang="en-AU" smtClean="0"/>
              <a:t>4/11/2024</a:t>
            </a:fld>
            <a:endParaRPr lang="en-US" dirty="0"/>
          </a:p>
        </p:txBody>
      </p:sp>
      <p:sp>
        <p:nvSpPr>
          <p:cNvPr id="6" name="Slide Number Placeholder 5"/>
          <p:cNvSpPr>
            <a:spLocks noGrp="1"/>
          </p:cNvSpPr>
          <p:nvPr>
            <p:ph type="sldNum" sz="quarter" idx="12"/>
          </p:nvPr>
        </p:nvSpPr>
        <p:spPr/>
        <p:txBody>
          <a:bodyPr/>
          <a:lstStyle/>
          <a:p>
            <a:fld id="{BA3E024E-F835-6D45-89C3-0E2F93EE799A}" type="slidenum">
              <a:rPr lang="en-US" smtClean="0"/>
              <a:t>75</a:t>
            </a:fld>
            <a:endParaRPr lang="en-US" dirty="0"/>
          </a:p>
        </p:txBody>
      </p:sp>
    </p:spTree>
    <p:extLst>
      <p:ext uri="{BB962C8B-B14F-4D97-AF65-F5344CB8AC3E}">
        <p14:creationId xmlns:p14="http://schemas.microsoft.com/office/powerpoint/2010/main" val="29568775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77</a:t>
            </a:fld>
            <a:endParaRPr lang="en-US" dirty="0"/>
          </a:p>
        </p:txBody>
      </p:sp>
      <p:sp>
        <p:nvSpPr>
          <p:cNvPr id="5" name="Date Placeholder 4"/>
          <p:cNvSpPr>
            <a:spLocks noGrp="1"/>
          </p:cNvSpPr>
          <p:nvPr>
            <p:ph type="dt" idx="11"/>
          </p:nvPr>
        </p:nvSpPr>
        <p:spPr/>
        <p:txBody>
          <a:bodyPr/>
          <a:lstStyle/>
          <a:p>
            <a:fld id="{86B1B025-7642-4C3E-AEDE-299B887BA0A0}" type="datetime1">
              <a:rPr lang="en-AU" smtClean="0"/>
              <a:t>4/11/2024</a:t>
            </a:fld>
            <a:endParaRPr lang="en-US" dirty="0"/>
          </a:p>
        </p:txBody>
      </p:sp>
      <p:sp>
        <p:nvSpPr>
          <p:cNvPr id="6" name="Header Placeholder 5"/>
          <p:cNvSpPr>
            <a:spLocks noGrp="1"/>
          </p:cNvSpPr>
          <p:nvPr>
            <p:ph type="hdr" sz="quarter" idx="12"/>
          </p:nvPr>
        </p:nvSpPr>
        <p:spPr/>
        <p:txBody>
          <a:bodyPr/>
          <a:lstStyle/>
          <a:p>
            <a:r>
              <a:rPr lang="en-US"/>
              <a:t>IoT Week 02</a:t>
            </a:r>
            <a:endParaRPr lang="en-US" dirty="0"/>
          </a:p>
        </p:txBody>
      </p:sp>
    </p:spTree>
    <p:extLst>
      <p:ext uri="{BB962C8B-B14F-4D97-AF65-F5344CB8AC3E}">
        <p14:creationId xmlns:p14="http://schemas.microsoft.com/office/powerpoint/2010/main" val="238503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4/11/2024</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11/4/24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11/4/24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11/4/24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11/4/24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11/4/24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11/4/24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11/4/24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11/4/24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11/4/24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11/4/24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11/4/24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11/4/24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11/4/24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11/4/24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11/4/24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dirty="0"/>
              <a:t>Session/Presentation Title</a:t>
            </a:r>
          </a:p>
        </p:txBody>
      </p:sp>
      <p:sp>
        <p:nvSpPr>
          <p:cNvPr id="10" name="Table Placeholder 9"/>
          <p:cNvSpPr>
            <a:spLocks noGrp="1"/>
          </p:cNvSpPr>
          <p:nvPr>
            <p:ph type="tbl" sz="quarter" idx="13" hasCustomPrompt="1"/>
          </p:nvPr>
        </p:nvSpPr>
        <p:spPr>
          <a:xfrm>
            <a:off x="1051131" y="4572000"/>
            <a:ext cx="10084039" cy="1610037"/>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dirty="0"/>
              <a:t>Week/Session 00</a:t>
            </a:r>
          </a:p>
        </p:txBody>
      </p:sp>
      <p:sp>
        <p:nvSpPr>
          <p:cNvPr id="8" name="Text Placeholder 7"/>
          <p:cNvSpPr>
            <a:spLocks noGrp="1"/>
          </p:cNvSpPr>
          <p:nvPr>
            <p:ph type="body" sz="quarter" idx="15" hasCustomPrompt="1"/>
          </p:nvPr>
        </p:nvSpPr>
        <p:spPr>
          <a:xfrm>
            <a:off x="1051130" y="4119576"/>
            <a:ext cx="10084038" cy="360698"/>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dirty="0"/>
              <a:t>Cluster Name</a:t>
            </a:r>
            <a:endParaRPr lang="en-AU" dirty="0"/>
          </a:p>
        </p:txBody>
      </p:sp>
      <p:sp>
        <p:nvSpPr>
          <p:cNvPr id="9" name="TextBox 8"/>
          <p:cNvSpPr txBox="1"/>
          <p:nvPr userDrawn="1"/>
        </p:nvSpPr>
        <p:spPr>
          <a:xfrm>
            <a:off x="1051132" y="2852738"/>
            <a:ext cx="1939896"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dirty="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dirty="0">
                <a:solidFill>
                  <a:schemeClr val="bg1">
                    <a:lumMod val="85000"/>
                  </a:schemeClr>
                </a:solidFill>
              </a:rPr>
              <a:t>Course ID and Title</a:t>
            </a:r>
          </a:p>
        </p:txBody>
      </p:sp>
    </p:spTree>
    <p:extLst>
      <p:ext uri="{BB962C8B-B14F-4D97-AF65-F5344CB8AC3E}">
        <p14:creationId xmlns:p14="http://schemas.microsoft.com/office/powerpoint/2010/main" val="17150056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74">
          <p15:clr>
            <a:srgbClr val="FBAE40"/>
          </p15:clr>
        </p15:guide>
        <p15:guide id="4" pos="7106">
          <p15:clr>
            <a:srgbClr val="FBAE40"/>
          </p15:clr>
        </p15:guide>
        <p15:guide id="5" orient="horz" pos="436">
          <p15:clr>
            <a:srgbClr val="FBAE40"/>
          </p15:clr>
        </p15:guide>
        <p15:guide id="6" orient="horz" pos="3974">
          <p15:clr>
            <a:srgbClr val="FBAE40"/>
          </p15:clr>
        </p15:guide>
        <p15:guide id="7" orient="horz" pos="179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11/4/24</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
        <p:nvSpPr>
          <p:cNvPr id="7" name="TextBox 6">
            <a:extLst>
              <a:ext uri="{FF2B5EF4-FFF2-40B4-BE49-F238E27FC236}">
                <a16:creationId xmlns:a16="http://schemas.microsoft.com/office/drawing/2014/main" id="{B5111D06-E96A-A236-9AC1-FF4D8952E5E7}"/>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US"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51" r:id="rId1"/>
    <p:sldLayoutId id="2147483650" r:id="rId2"/>
    <p:sldLayoutId id="2147483665" r:id="rId3"/>
    <p:sldLayoutId id="2147483652" r:id="rId4"/>
    <p:sldLayoutId id="2147483653" r:id="rId5"/>
    <p:sldLayoutId id="2147483661" r:id="rId6"/>
    <p:sldLayoutId id="2147483662" r:id="rId7"/>
    <p:sldLayoutId id="2147483654" r:id="rId8"/>
    <p:sldLayoutId id="2147483663" r:id="rId9"/>
    <p:sldLayoutId id="2147483664" r:id="rId10"/>
    <p:sldLayoutId id="2147483660" r:id="rId11"/>
    <p:sldLayoutId id="2147483668" r:id="rId12"/>
    <p:sldLayoutId id="2147483655" r:id="rId13"/>
    <p:sldLayoutId id="2147483656" r:id="rId14"/>
    <p:sldLayoutId id="2147483657" r:id="rId15"/>
    <p:sldLayoutId id="2147483669"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11.jpeg"/><Relationship Id="rId4" Type="http://schemas.openxmlformats.org/officeDocument/2006/relationships/image" Target="../media/image13.svg"/></Relationships>
</file>

<file path=ppt/slides/_rels/slide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3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4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29.jpe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Object-Oriented Programming</a:t>
            </a:r>
            <a:endParaRPr lang="en-AU" dirty="0"/>
          </a:p>
        </p:txBody>
      </p:sp>
      <p:sp>
        <p:nvSpPr>
          <p:cNvPr id="5" name="Text Placeholder 4"/>
          <p:cNvSpPr>
            <a:spLocks noGrp="1"/>
          </p:cNvSpPr>
          <p:nvPr>
            <p:ph type="body" sz="quarter" idx="14"/>
          </p:nvPr>
        </p:nvSpPr>
        <p:spPr/>
        <p:txBody>
          <a:bodyPr/>
          <a:lstStyle/>
          <a:p>
            <a:r>
              <a:rPr lang="en-US" dirty="0"/>
              <a:t> </a:t>
            </a:r>
            <a:endParaRPr lang="en-AU" dirty="0"/>
          </a:p>
        </p:txBody>
      </p:sp>
      <p:sp>
        <p:nvSpPr>
          <p:cNvPr id="17" name="Text Placeholder 16"/>
          <p:cNvSpPr>
            <a:spLocks noGrp="1"/>
          </p:cNvSpPr>
          <p:nvPr>
            <p:ph type="body" sz="quarter" idx="15"/>
          </p:nvPr>
        </p:nvSpPr>
        <p:spPr>
          <a:xfrm>
            <a:off x="1050687" y="4615059"/>
            <a:ext cx="10084038" cy="360698"/>
          </a:xfrm>
        </p:spPr>
        <p:txBody>
          <a:bodyPr/>
          <a:lstStyle/>
          <a:p>
            <a:r>
              <a:rPr lang="en-AU" dirty="0"/>
              <a:t>Cluster Intermediate IOT</a:t>
            </a:r>
          </a:p>
        </p:txBody>
      </p:sp>
      <p:sp>
        <p:nvSpPr>
          <p:cNvPr id="40" name="Text Placeholder 39"/>
          <p:cNvSpPr>
            <a:spLocks noGrp="1"/>
          </p:cNvSpPr>
          <p:nvPr>
            <p:ph type="body" sz="quarter" idx="16"/>
          </p:nvPr>
        </p:nvSpPr>
        <p:spPr/>
        <p:txBody>
          <a:bodyPr/>
          <a:lstStyle/>
          <a:p>
            <a:r>
              <a:rPr lang="en-AU" dirty="0"/>
              <a:t>Various</a:t>
            </a:r>
          </a:p>
        </p:txBody>
      </p:sp>
      <p:sp>
        <p:nvSpPr>
          <p:cNvPr id="41" name="Content Placeholder 40"/>
          <p:cNvSpPr>
            <a:spLocks noGrp="1"/>
          </p:cNvSpPr>
          <p:nvPr>
            <p:ph sz="quarter" idx="17"/>
          </p:nvPr>
        </p:nvSpPr>
        <p:spPr>
          <a:xfrm>
            <a:off x="1051371" y="3916294"/>
            <a:ext cx="10083800" cy="440205"/>
          </a:xfrm>
        </p:spPr>
        <p:txBody>
          <a:bodyPr/>
          <a:lstStyle/>
          <a:p>
            <a:r>
              <a:rPr lang="en-AU" sz="1800" dirty="0"/>
              <a:t>ICT40220 – Cert IV of Information Technology</a:t>
            </a:r>
          </a:p>
        </p:txBody>
      </p:sp>
      <p:graphicFrame>
        <p:nvGraphicFramePr>
          <p:cNvPr id="4" name="Table 5">
            <a:extLst>
              <a:ext uri="{FF2B5EF4-FFF2-40B4-BE49-F238E27FC236}">
                <a16:creationId xmlns:a16="http://schemas.microsoft.com/office/drawing/2014/main" id="{331411AE-D22C-6F40-B5EE-B6E28F242582}"/>
              </a:ext>
            </a:extLst>
          </p:cNvPr>
          <p:cNvGraphicFramePr>
            <a:graphicFrameLocks noGrp="1"/>
          </p:cNvGraphicFramePr>
          <p:nvPr>
            <p:ph type="tbl" sz="quarter" idx="13"/>
            <p:extLst>
              <p:ext uri="{D42A27DB-BD31-4B8C-83A1-F6EECF244321}">
                <p14:modId xmlns:p14="http://schemas.microsoft.com/office/powerpoint/2010/main" val="3500571698"/>
              </p:ext>
            </p:extLst>
          </p:nvPr>
        </p:nvGraphicFramePr>
        <p:xfrm>
          <a:off x="1050925" y="5035136"/>
          <a:ext cx="10083800" cy="1112520"/>
        </p:xfrm>
        <a:graphic>
          <a:graphicData uri="http://schemas.openxmlformats.org/drawingml/2006/table">
            <a:tbl>
              <a:tblPr firstRow="1" bandRow="1">
                <a:tableStyleId>{5C22544A-7EE6-4342-B048-85BDC9FD1C3A}</a:tableStyleId>
              </a:tblPr>
              <a:tblGrid>
                <a:gridCol w="1742151">
                  <a:extLst>
                    <a:ext uri="{9D8B030D-6E8A-4147-A177-3AD203B41FA5}">
                      <a16:colId xmlns:a16="http://schemas.microsoft.com/office/drawing/2014/main" val="2892505985"/>
                    </a:ext>
                  </a:extLst>
                </a:gridCol>
                <a:gridCol w="8341649">
                  <a:extLst>
                    <a:ext uri="{9D8B030D-6E8A-4147-A177-3AD203B41FA5}">
                      <a16:colId xmlns:a16="http://schemas.microsoft.com/office/drawing/2014/main" val="2551358764"/>
                    </a:ext>
                  </a:extLst>
                </a:gridCol>
              </a:tblGrid>
              <a:tr h="370840">
                <a:tc>
                  <a:txBody>
                    <a:bodyPr/>
                    <a:lstStyle/>
                    <a:p>
                      <a:r>
                        <a:rPr lang="en-US" b="1" dirty="0"/>
                        <a:t>Unit code</a:t>
                      </a:r>
                    </a:p>
                  </a:txBody>
                  <a:tcPr/>
                </a:tc>
                <a:tc>
                  <a:txBody>
                    <a:bodyPr/>
                    <a:lstStyle/>
                    <a:p>
                      <a:r>
                        <a:rPr lang="en-US" b="1" dirty="0"/>
                        <a:t>Unit title</a:t>
                      </a:r>
                    </a:p>
                  </a:txBody>
                  <a:tcPr/>
                </a:tc>
                <a:extLst>
                  <a:ext uri="{0D108BD9-81ED-4DB2-BD59-A6C34878D82A}">
                    <a16:rowId xmlns:a16="http://schemas.microsoft.com/office/drawing/2014/main" val="2625584345"/>
                  </a:ext>
                </a:extLst>
              </a:tr>
              <a:tr h="370840">
                <a:tc>
                  <a:txBody>
                    <a:bodyPr/>
                    <a:lstStyle/>
                    <a:p>
                      <a:r>
                        <a:rPr lang="en-US" b="0" dirty="0"/>
                        <a:t>ICTPRG430</a:t>
                      </a:r>
                    </a:p>
                  </a:txBody>
                  <a:tcPr/>
                </a:tc>
                <a:tc>
                  <a:txBody>
                    <a:bodyPr/>
                    <a:lstStyle/>
                    <a:p>
                      <a:r>
                        <a:rPr lang="en-US" dirty="0"/>
                        <a:t>Apply introductory object-oriented language skills</a:t>
                      </a:r>
                    </a:p>
                  </a:txBody>
                  <a:tcPr/>
                </a:tc>
                <a:extLst>
                  <a:ext uri="{0D108BD9-81ED-4DB2-BD59-A6C34878D82A}">
                    <a16:rowId xmlns:a16="http://schemas.microsoft.com/office/drawing/2014/main" val="2131607036"/>
                  </a:ext>
                </a:extLst>
              </a:tr>
              <a:tr h="370840">
                <a:tc>
                  <a:txBody>
                    <a:bodyPr/>
                    <a:lstStyle/>
                    <a:p>
                      <a:r>
                        <a:rPr lang="en-US" b="0" dirty="0"/>
                        <a:t>ICTICT449</a:t>
                      </a:r>
                    </a:p>
                  </a:txBody>
                  <a:tcPr/>
                </a:tc>
                <a:tc>
                  <a:txBody>
                    <a:bodyPr/>
                    <a:lstStyle/>
                    <a:p>
                      <a:r>
                        <a:rPr lang="en-AU" dirty="0"/>
                        <a:t>Use version control systems in development environments</a:t>
                      </a:r>
                      <a:endParaRPr lang="en-US" dirty="0"/>
                    </a:p>
                  </a:txBody>
                  <a:tcPr/>
                </a:tc>
                <a:extLst>
                  <a:ext uri="{0D108BD9-81ED-4DB2-BD59-A6C34878D82A}">
                    <a16:rowId xmlns:a16="http://schemas.microsoft.com/office/drawing/2014/main" val="2603873653"/>
                  </a:ext>
                </a:extLst>
              </a:tr>
            </a:tbl>
          </a:graphicData>
        </a:graphic>
      </p:graphicFrame>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PREAMBLE: ICTPRG302 KEY REVISION</a:t>
            </a:r>
          </a:p>
        </p:txBody>
      </p:sp>
      <p:sp>
        <p:nvSpPr>
          <p:cNvPr id="3" name="Text Placeholder 2"/>
          <p:cNvSpPr>
            <a:spLocks noGrp="1"/>
          </p:cNvSpPr>
          <p:nvPr>
            <p:ph type="body" idx="1"/>
          </p:nvPr>
        </p:nvSpPr>
        <p:spPr/>
        <p:txBody>
          <a:bodyPr/>
          <a:lstStyle/>
          <a:p>
            <a:r>
              <a:rPr lang="en-AU" dirty="0"/>
              <a:t>Part 0</a:t>
            </a:r>
          </a:p>
        </p:txBody>
      </p:sp>
    </p:spTree>
    <p:extLst>
      <p:ext uri="{BB962C8B-B14F-4D97-AF65-F5344CB8AC3E}">
        <p14:creationId xmlns:p14="http://schemas.microsoft.com/office/powerpoint/2010/main" val="3786166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4C52B-687E-B1C2-3ECB-F857C93F21BD}"/>
              </a:ext>
            </a:extLst>
          </p:cNvPr>
          <p:cNvSpPr>
            <a:spLocks noGrp="1"/>
          </p:cNvSpPr>
          <p:nvPr>
            <p:ph type="title"/>
          </p:nvPr>
        </p:nvSpPr>
        <p:spPr/>
        <p:txBody>
          <a:bodyPr/>
          <a:lstStyle/>
          <a:p>
            <a:r>
              <a:rPr lang="en-US" dirty="0"/>
              <a:t>Overview: Modularity and Python</a:t>
            </a:r>
          </a:p>
        </p:txBody>
      </p:sp>
      <p:sp>
        <p:nvSpPr>
          <p:cNvPr id="3" name="Content Placeholder 2">
            <a:extLst>
              <a:ext uri="{FF2B5EF4-FFF2-40B4-BE49-F238E27FC236}">
                <a16:creationId xmlns:a16="http://schemas.microsoft.com/office/drawing/2014/main" id="{C6F4E0BD-BD89-D3BB-9D94-249B395189AA}"/>
              </a:ext>
            </a:extLst>
          </p:cNvPr>
          <p:cNvSpPr>
            <a:spLocks noGrp="1"/>
          </p:cNvSpPr>
          <p:nvPr>
            <p:ph idx="1"/>
          </p:nvPr>
        </p:nvSpPr>
        <p:spPr/>
        <p:txBody>
          <a:bodyPr/>
          <a:lstStyle/>
          <a:p>
            <a:r>
              <a:rPr lang="en-US" dirty="0"/>
              <a:t>Revision on two key concepts: functions and modules</a:t>
            </a:r>
          </a:p>
          <a:p>
            <a:r>
              <a:rPr lang="en-US" dirty="0"/>
              <a:t>Ensure you understand the fundamentals of modularity before tackling the object-oriented approach to it</a:t>
            </a:r>
          </a:p>
        </p:txBody>
      </p:sp>
    </p:spTree>
    <p:extLst>
      <p:ext uri="{BB962C8B-B14F-4D97-AF65-F5344CB8AC3E}">
        <p14:creationId xmlns:p14="http://schemas.microsoft.com/office/powerpoint/2010/main" val="2769258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1F0D-2A18-AF5D-9A05-92E055892720}"/>
              </a:ext>
            </a:extLst>
          </p:cNvPr>
          <p:cNvSpPr>
            <a:spLocks noGrp="1"/>
          </p:cNvSpPr>
          <p:nvPr>
            <p:ph type="title"/>
          </p:nvPr>
        </p:nvSpPr>
        <p:spPr/>
        <p:txBody>
          <a:bodyPr/>
          <a:lstStyle/>
          <a:p>
            <a:r>
              <a:rPr lang="en-US" dirty="0"/>
              <a:t>Functions: revision</a:t>
            </a:r>
          </a:p>
        </p:txBody>
      </p:sp>
      <p:sp>
        <p:nvSpPr>
          <p:cNvPr id="3" name="Content Placeholder 2">
            <a:extLst>
              <a:ext uri="{FF2B5EF4-FFF2-40B4-BE49-F238E27FC236}">
                <a16:creationId xmlns:a16="http://schemas.microsoft.com/office/drawing/2014/main" id="{6473CB20-4DE6-9B2E-DC7C-994B6168702D}"/>
              </a:ext>
            </a:extLst>
          </p:cNvPr>
          <p:cNvSpPr>
            <a:spLocks noGrp="1"/>
          </p:cNvSpPr>
          <p:nvPr>
            <p:ph idx="1"/>
          </p:nvPr>
        </p:nvSpPr>
        <p:spPr/>
        <p:txBody>
          <a:bodyPr/>
          <a:lstStyle/>
          <a:p>
            <a:pPr algn="l">
              <a:buFont typeface="Arial" panose="020B0604020202020204" pitchFamily="34" charset="0"/>
              <a:buChar char="•"/>
            </a:pPr>
            <a:r>
              <a:rPr lang="en-US" b="0" i="0" dirty="0">
                <a:solidFill>
                  <a:srgbClr val="FFFFFF"/>
                </a:solidFill>
                <a:effectLst/>
                <a:latin typeface="Source Sans Pro" panose="020B0503030403020204" pitchFamily="34" charset="0"/>
              </a:rPr>
              <a:t>Define a function with the ___ keyword</a:t>
            </a:r>
          </a:p>
          <a:p>
            <a:pPr algn="l">
              <a:buFont typeface="Arial" panose="020B0604020202020204" pitchFamily="34" charset="0"/>
              <a:buChar char="•"/>
            </a:pPr>
            <a:r>
              <a:rPr lang="en-US" dirty="0">
                <a:solidFill>
                  <a:srgbClr val="FFFFFF"/>
                </a:solidFill>
                <a:latin typeface="Source Sans Pro" panose="020B0503030403020204" pitchFamily="34" charset="0"/>
              </a:rPr>
              <a:t>Inside the definition, we use round brackets to define the______ that the function accepts</a:t>
            </a:r>
            <a:endParaRPr lang="en-US" b="0" i="0" dirty="0">
              <a:solidFill>
                <a:srgbClr val="FFFFFF"/>
              </a:solidFill>
              <a:effectLst/>
              <a:latin typeface="Source Sans Pro" panose="020B0503030403020204" pitchFamily="34" charset="0"/>
            </a:endParaRPr>
          </a:p>
          <a:p>
            <a:pPr algn="l">
              <a:buFont typeface="Arial" panose="020B0604020202020204" pitchFamily="34" charset="0"/>
              <a:buChar char="•"/>
            </a:pPr>
            <a:r>
              <a:rPr lang="en-US" b="0" i="0" dirty="0">
                <a:solidFill>
                  <a:srgbClr val="FFFFFF"/>
                </a:solidFill>
                <a:effectLst/>
                <a:latin typeface="Source Sans Pro" panose="020B0503030403020204" pitchFamily="34" charset="0"/>
              </a:rPr>
              <a:t>A function </a:t>
            </a:r>
            <a:r>
              <a:rPr lang="en-US" b="0" i="1" dirty="0">
                <a:solidFill>
                  <a:srgbClr val="FFFFFF"/>
                </a:solidFill>
                <a:effectLst/>
                <a:latin typeface="Source Sans Pro" panose="020B0503030403020204" pitchFamily="34" charset="0"/>
              </a:rPr>
              <a:t>definition</a:t>
            </a:r>
            <a:r>
              <a:rPr lang="en-US" b="0" i="0" dirty="0">
                <a:solidFill>
                  <a:srgbClr val="FFFFFF"/>
                </a:solidFill>
                <a:effectLst/>
                <a:latin typeface="Source Sans Pro" panose="020B0503030403020204" pitchFamily="34" charset="0"/>
              </a:rPr>
              <a:t> is just that: a definition</a:t>
            </a:r>
          </a:p>
          <a:p>
            <a:pPr algn="l">
              <a:buFont typeface="Arial" panose="020B0604020202020204" pitchFamily="34" charset="0"/>
              <a:buChar char="•"/>
            </a:pPr>
            <a:r>
              <a:rPr lang="en-US" b="0" i="0" dirty="0">
                <a:solidFill>
                  <a:srgbClr val="FFFFFF"/>
                </a:solidFill>
                <a:effectLst/>
                <a:latin typeface="Source Sans Pro" panose="020B0503030403020204" pitchFamily="34" charset="0"/>
              </a:rPr>
              <a:t>To execute a function, we </a:t>
            </a:r>
            <a:r>
              <a:rPr lang="en-US" b="1" i="0" dirty="0">
                <a:solidFill>
                  <a:srgbClr val="FFFFFF"/>
                </a:solidFill>
                <a:effectLst/>
                <a:latin typeface="Source Sans Pro" panose="020B0503030403020204" pitchFamily="34" charset="0"/>
              </a:rPr>
              <a:t>call</a:t>
            </a:r>
            <a:r>
              <a:rPr lang="en-US" b="0" i="0" dirty="0">
                <a:solidFill>
                  <a:srgbClr val="FFFFFF"/>
                </a:solidFill>
                <a:effectLst/>
                <a:latin typeface="Source Sans Pro" panose="020B0503030403020204" pitchFamily="34" charset="0"/>
              </a:rPr>
              <a:t> it by referencing the name and then we use  _____ brackets and include any </a:t>
            </a:r>
            <a:r>
              <a:rPr lang="en-US" b="0" i="1" dirty="0">
                <a:solidFill>
                  <a:srgbClr val="FFFFFF"/>
                </a:solidFill>
                <a:effectLst/>
                <a:latin typeface="Source Sans Pro" panose="020B0503030403020204" pitchFamily="34" charset="0"/>
              </a:rPr>
              <a:t>arguments</a:t>
            </a:r>
            <a:endParaRPr lang="en-US" b="0" i="0" dirty="0">
              <a:solidFill>
                <a:srgbClr val="FFFFFF"/>
              </a:solidFill>
              <a:effectLst/>
              <a:latin typeface="Source Sans Pro" panose="020B0503030403020204" pitchFamily="34" charset="0"/>
            </a:endParaRPr>
          </a:p>
        </p:txBody>
      </p:sp>
    </p:spTree>
    <p:extLst>
      <p:ext uri="{BB962C8B-B14F-4D97-AF65-F5344CB8AC3E}">
        <p14:creationId xmlns:p14="http://schemas.microsoft.com/office/powerpoint/2010/main" val="3750565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51370-822F-548C-E644-EA5ED71F3788}"/>
              </a:ext>
            </a:extLst>
          </p:cNvPr>
          <p:cNvSpPr>
            <a:spLocks noGrp="1"/>
          </p:cNvSpPr>
          <p:nvPr>
            <p:ph type="title"/>
          </p:nvPr>
        </p:nvSpPr>
        <p:spPr/>
        <p:txBody>
          <a:bodyPr/>
          <a:lstStyle/>
          <a:p>
            <a:r>
              <a:rPr lang="en-US" dirty="0"/>
              <a:t>Discussion: why write functions?</a:t>
            </a:r>
          </a:p>
        </p:txBody>
      </p:sp>
      <p:sp>
        <p:nvSpPr>
          <p:cNvPr id="3" name="Content Placeholder 2">
            <a:extLst>
              <a:ext uri="{FF2B5EF4-FFF2-40B4-BE49-F238E27FC236}">
                <a16:creationId xmlns:a16="http://schemas.microsoft.com/office/drawing/2014/main" id="{43FEBABC-E042-FA5B-17D7-27E526BE3FD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80148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24309-83B6-2BF1-A055-B99CE068F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EDFBD-1514-045D-5DBB-8264175553E5}"/>
              </a:ext>
            </a:extLst>
          </p:cNvPr>
          <p:cNvSpPr>
            <a:spLocks noGrp="1"/>
          </p:cNvSpPr>
          <p:nvPr>
            <p:ph type="title"/>
          </p:nvPr>
        </p:nvSpPr>
        <p:spPr/>
        <p:txBody>
          <a:bodyPr/>
          <a:lstStyle/>
          <a:p>
            <a:r>
              <a:rPr lang="en-US" dirty="0"/>
              <a:t>Why write functions?</a:t>
            </a:r>
          </a:p>
        </p:txBody>
      </p:sp>
      <p:sp>
        <p:nvSpPr>
          <p:cNvPr id="3" name="Content Placeholder 2">
            <a:extLst>
              <a:ext uri="{FF2B5EF4-FFF2-40B4-BE49-F238E27FC236}">
                <a16:creationId xmlns:a16="http://schemas.microsoft.com/office/drawing/2014/main" id="{EDC473F5-D549-F1CA-DC49-AD9F9BD5967F}"/>
              </a:ext>
            </a:extLst>
          </p:cNvPr>
          <p:cNvSpPr>
            <a:spLocks noGrp="1"/>
          </p:cNvSpPr>
          <p:nvPr>
            <p:ph idx="1"/>
          </p:nvPr>
        </p:nvSpPr>
        <p:spPr/>
        <p:txBody>
          <a:bodyPr/>
          <a:lstStyle/>
          <a:p>
            <a:r>
              <a:rPr lang="en-US" dirty="0"/>
              <a:t>… to reuse code, but why:</a:t>
            </a:r>
          </a:p>
          <a:p>
            <a:pPr lvl="1"/>
            <a:r>
              <a:rPr lang="en-US" dirty="0"/>
              <a:t>The </a:t>
            </a:r>
            <a:r>
              <a:rPr lang="en-US" b="1" dirty="0"/>
              <a:t>least</a:t>
            </a:r>
            <a:r>
              <a:rPr lang="en-US" dirty="0"/>
              <a:t> important reason is to </a:t>
            </a:r>
            <a:r>
              <a:rPr lang="en-US" i="1" dirty="0"/>
              <a:t>write </a:t>
            </a:r>
            <a:r>
              <a:rPr lang="en-US" dirty="0"/>
              <a:t>less code (copy/paste can do it more easily!)</a:t>
            </a:r>
          </a:p>
          <a:p>
            <a:pPr lvl="1"/>
            <a:r>
              <a:rPr lang="en-US" dirty="0"/>
              <a:t>Maintain less code is a better explanation</a:t>
            </a:r>
          </a:p>
          <a:p>
            <a:pPr lvl="2"/>
            <a:r>
              <a:rPr lang="en-US" dirty="0"/>
              <a:t>Fewer lines</a:t>
            </a:r>
          </a:p>
          <a:p>
            <a:pPr lvl="2"/>
            <a:r>
              <a:rPr lang="en-US" dirty="0"/>
              <a:t>Reuse in different contexts</a:t>
            </a:r>
          </a:p>
          <a:p>
            <a:pPr lvl="1"/>
            <a:r>
              <a:rPr lang="en-US" dirty="0"/>
              <a:t>Make one big problem into many small problems</a:t>
            </a:r>
          </a:p>
          <a:p>
            <a:pPr lvl="1"/>
            <a:endParaRPr lang="en-US" dirty="0"/>
          </a:p>
        </p:txBody>
      </p:sp>
    </p:spTree>
    <p:extLst>
      <p:ext uri="{BB962C8B-B14F-4D97-AF65-F5344CB8AC3E}">
        <p14:creationId xmlns:p14="http://schemas.microsoft.com/office/powerpoint/2010/main" val="177530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A6680-8849-7992-6E7F-FC3281EAD3D1}"/>
              </a:ext>
            </a:extLst>
          </p:cNvPr>
          <p:cNvSpPr>
            <a:spLocks noGrp="1"/>
          </p:cNvSpPr>
          <p:nvPr>
            <p:ph type="title"/>
          </p:nvPr>
        </p:nvSpPr>
        <p:spPr/>
        <p:txBody>
          <a:bodyPr/>
          <a:lstStyle/>
          <a:p>
            <a:r>
              <a:rPr lang="en-US" dirty="0"/>
              <a:t>The big problem with small problems</a:t>
            </a:r>
          </a:p>
        </p:txBody>
      </p:sp>
      <p:sp>
        <p:nvSpPr>
          <p:cNvPr id="3" name="Content Placeholder 2">
            <a:extLst>
              <a:ext uri="{FF2B5EF4-FFF2-40B4-BE49-F238E27FC236}">
                <a16:creationId xmlns:a16="http://schemas.microsoft.com/office/drawing/2014/main" id="{E9151109-9A01-5334-BB9B-9C5A28890FFC}"/>
              </a:ext>
            </a:extLst>
          </p:cNvPr>
          <p:cNvSpPr>
            <a:spLocks noGrp="1"/>
          </p:cNvSpPr>
          <p:nvPr>
            <p:ph idx="1"/>
          </p:nvPr>
        </p:nvSpPr>
        <p:spPr/>
        <p:txBody>
          <a:bodyPr/>
          <a:lstStyle/>
          <a:p>
            <a:r>
              <a:rPr lang="en-US" dirty="0"/>
              <a:t>Making a big problem into small problems is harder than it sounds</a:t>
            </a:r>
          </a:p>
          <a:p>
            <a:r>
              <a:rPr lang="en-US" dirty="0"/>
              <a:t>One part is to do with how we think, reason, and </a:t>
            </a:r>
            <a:r>
              <a:rPr lang="en-US" i="1" dirty="0"/>
              <a:t>decompose</a:t>
            </a:r>
            <a:r>
              <a:rPr lang="en-US" dirty="0"/>
              <a:t> our big problem</a:t>
            </a:r>
          </a:p>
          <a:p>
            <a:r>
              <a:rPr lang="en-US" dirty="0"/>
              <a:t>The other part is to do with </a:t>
            </a:r>
            <a:r>
              <a:rPr lang="en-US" i="1" dirty="0"/>
              <a:t>how </a:t>
            </a:r>
            <a:r>
              <a:rPr lang="en-US" dirty="0"/>
              <a:t>we write functions</a:t>
            </a:r>
          </a:p>
        </p:txBody>
      </p:sp>
    </p:spTree>
    <p:extLst>
      <p:ext uri="{BB962C8B-B14F-4D97-AF65-F5344CB8AC3E}">
        <p14:creationId xmlns:p14="http://schemas.microsoft.com/office/powerpoint/2010/main" val="973612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1F894-A892-68D5-C727-9938D2104732}"/>
              </a:ext>
            </a:extLst>
          </p:cNvPr>
          <p:cNvSpPr>
            <a:spLocks noGrp="1"/>
          </p:cNvSpPr>
          <p:nvPr>
            <p:ph type="title"/>
          </p:nvPr>
        </p:nvSpPr>
        <p:spPr/>
        <p:txBody>
          <a:bodyPr/>
          <a:lstStyle/>
          <a:p>
            <a:r>
              <a:rPr lang="en-US" dirty="0"/>
              <a:t>Pure functions</a:t>
            </a:r>
          </a:p>
        </p:txBody>
      </p:sp>
      <p:sp>
        <p:nvSpPr>
          <p:cNvPr id="3" name="Content Placeholder 2">
            <a:extLst>
              <a:ext uri="{FF2B5EF4-FFF2-40B4-BE49-F238E27FC236}">
                <a16:creationId xmlns:a16="http://schemas.microsoft.com/office/drawing/2014/main" id="{C5313A93-1778-81C8-DE7D-55ABB41400D1}"/>
              </a:ext>
            </a:extLst>
          </p:cNvPr>
          <p:cNvSpPr>
            <a:spLocks noGrp="1"/>
          </p:cNvSpPr>
          <p:nvPr>
            <p:ph idx="1"/>
          </p:nvPr>
        </p:nvSpPr>
        <p:spPr/>
        <p:txBody>
          <a:bodyPr>
            <a:normAutofit lnSpcReduction="10000"/>
          </a:bodyPr>
          <a:lstStyle/>
          <a:p>
            <a:r>
              <a:rPr lang="en-US" dirty="0"/>
              <a:t>The ideal function only interacts with the outside world via </a:t>
            </a:r>
            <a:r>
              <a:rPr lang="en-US" i="1" dirty="0"/>
              <a:t>arguments </a:t>
            </a:r>
            <a:r>
              <a:rPr lang="en-US" dirty="0"/>
              <a:t>and </a:t>
            </a:r>
            <a:r>
              <a:rPr lang="en-US" i="1" dirty="0"/>
              <a:t>return </a:t>
            </a:r>
            <a:r>
              <a:rPr lang="en-US" dirty="0"/>
              <a:t>values</a:t>
            </a:r>
          </a:p>
          <a:p>
            <a:r>
              <a:rPr lang="en-US" dirty="0"/>
              <a:t>That means:</a:t>
            </a:r>
          </a:p>
          <a:p>
            <a:pPr lvl="1"/>
            <a:r>
              <a:rPr lang="en-US" dirty="0"/>
              <a:t>No referencing global variables</a:t>
            </a:r>
          </a:p>
          <a:p>
            <a:pPr lvl="1"/>
            <a:r>
              <a:rPr lang="en-US" dirty="0"/>
              <a:t>No creating global variables</a:t>
            </a:r>
          </a:p>
          <a:p>
            <a:r>
              <a:rPr lang="en-US" dirty="0"/>
              <a:t>A function that doesn’t affect the outside world in any other way but returning a value and that always produces the same output for the same input is called a pure function</a:t>
            </a:r>
          </a:p>
        </p:txBody>
      </p:sp>
    </p:spTree>
    <p:extLst>
      <p:ext uri="{BB962C8B-B14F-4D97-AF65-F5344CB8AC3E}">
        <p14:creationId xmlns:p14="http://schemas.microsoft.com/office/powerpoint/2010/main" val="619647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7B7F-8D3F-D5D4-5B39-2F8CC879C203}"/>
              </a:ext>
            </a:extLst>
          </p:cNvPr>
          <p:cNvSpPr>
            <a:spLocks noGrp="1"/>
          </p:cNvSpPr>
          <p:nvPr>
            <p:ph type="title"/>
          </p:nvPr>
        </p:nvSpPr>
        <p:spPr/>
        <p:txBody>
          <a:bodyPr/>
          <a:lstStyle/>
          <a:p>
            <a:r>
              <a:rPr lang="en-US" dirty="0"/>
              <a:t>Side effects</a:t>
            </a:r>
          </a:p>
        </p:txBody>
      </p:sp>
      <p:sp>
        <p:nvSpPr>
          <p:cNvPr id="3" name="Content Placeholder 2">
            <a:extLst>
              <a:ext uri="{FF2B5EF4-FFF2-40B4-BE49-F238E27FC236}">
                <a16:creationId xmlns:a16="http://schemas.microsoft.com/office/drawing/2014/main" id="{1638E746-AE99-1C9B-0347-6E5DAE2A088E}"/>
              </a:ext>
            </a:extLst>
          </p:cNvPr>
          <p:cNvSpPr>
            <a:spLocks noGrp="1"/>
          </p:cNvSpPr>
          <p:nvPr>
            <p:ph idx="1"/>
          </p:nvPr>
        </p:nvSpPr>
        <p:spPr/>
        <p:txBody>
          <a:bodyPr/>
          <a:lstStyle/>
          <a:p>
            <a:r>
              <a:rPr lang="en-US" dirty="0"/>
              <a:t>Anything a function does, that affects the world outside the function, except returning a value, is a side effect</a:t>
            </a:r>
          </a:p>
          <a:p>
            <a:r>
              <a:rPr lang="en-US" dirty="0"/>
              <a:t>Displaying/printing/emailing/actuating a motor/servo are all side effects</a:t>
            </a:r>
          </a:p>
          <a:p>
            <a:r>
              <a:rPr lang="en-US" dirty="0"/>
              <a:t>It is a bit odd, because if you think about it, the only reason to run a program is to affect something in the outside world (outside the CPU that is!)</a:t>
            </a:r>
          </a:p>
          <a:p>
            <a:r>
              <a:rPr lang="en-US" dirty="0"/>
              <a:t>Something, somewhere must cause a side effect</a:t>
            </a:r>
          </a:p>
          <a:p>
            <a:pPr lvl="1"/>
            <a:endParaRPr lang="en-US" i="1" dirty="0"/>
          </a:p>
        </p:txBody>
      </p:sp>
    </p:spTree>
    <p:extLst>
      <p:ext uri="{BB962C8B-B14F-4D97-AF65-F5344CB8AC3E}">
        <p14:creationId xmlns:p14="http://schemas.microsoft.com/office/powerpoint/2010/main" val="1006252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0D7D-5786-DC44-E323-B7EE6A0C7AE5}"/>
              </a:ext>
            </a:extLst>
          </p:cNvPr>
          <p:cNvSpPr>
            <a:spLocks noGrp="1"/>
          </p:cNvSpPr>
          <p:nvPr>
            <p:ph type="title"/>
          </p:nvPr>
        </p:nvSpPr>
        <p:spPr/>
        <p:txBody>
          <a:bodyPr/>
          <a:lstStyle/>
          <a:p>
            <a:r>
              <a:rPr lang="en-US" dirty="0"/>
              <a:t>So why?</a:t>
            </a:r>
          </a:p>
        </p:txBody>
      </p:sp>
      <p:sp>
        <p:nvSpPr>
          <p:cNvPr id="3" name="Content Placeholder 2">
            <a:extLst>
              <a:ext uri="{FF2B5EF4-FFF2-40B4-BE49-F238E27FC236}">
                <a16:creationId xmlns:a16="http://schemas.microsoft.com/office/drawing/2014/main" id="{FBCF26A0-3D19-9754-2A80-0FE3C7F9344E}"/>
              </a:ext>
            </a:extLst>
          </p:cNvPr>
          <p:cNvSpPr>
            <a:spLocks noGrp="1"/>
          </p:cNvSpPr>
          <p:nvPr>
            <p:ph idx="1"/>
          </p:nvPr>
        </p:nvSpPr>
        <p:spPr/>
        <p:txBody>
          <a:bodyPr>
            <a:normAutofit fontScale="92500"/>
          </a:bodyPr>
          <a:lstStyle/>
          <a:p>
            <a:r>
              <a:rPr lang="en-US" dirty="0"/>
              <a:t>We encourage you to write pure functions and limit where in your program you create side effects to allow you to reason about functions independently of the rest of the code</a:t>
            </a:r>
          </a:p>
          <a:p>
            <a:r>
              <a:rPr lang="en-US" dirty="0"/>
              <a:t>If you take a big problem and create lots of small problems that interact with other parts of the code in complex or implicit ways, you now have an even bigger problem!</a:t>
            </a:r>
          </a:p>
          <a:p>
            <a:r>
              <a:rPr lang="en-US" dirty="0"/>
              <a:t>This problem: of how we breakdown big problems into smaller problems without creating even bigger problems is something we’ll revisit with OOP</a:t>
            </a:r>
          </a:p>
        </p:txBody>
      </p:sp>
    </p:spTree>
    <p:extLst>
      <p:ext uri="{BB962C8B-B14F-4D97-AF65-F5344CB8AC3E}">
        <p14:creationId xmlns:p14="http://schemas.microsoft.com/office/powerpoint/2010/main" val="3611194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0CBE6-8E58-D750-C9DD-0A783CB2DEFB}"/>
              </a:ext>
            </a:extLst>
          </p:cNvPr>
          <p:cNvSpPr>
            <a:spLocks noGrp="1"/>
          </p:cNvSpPr>
          <p:nvPr>
            <p:ph type="title"/>
          </p:nvPr>
        </p:nvSpPr>
        <p:spPr/>
        <p:txBody>
          <a:bodyPr/>
          <a:lstStyle/>
          <a:p>
            <a:r>
              <a:rPr lang="en-US" dirty="0"/>
              <a:t>What’s wrong with this function?</a:t>
            </a:r>
          </a:p>
        </p:txBody>
      </p:sp>
      <p:sp>
        <p:nvSpPr>
          <p:cNvPr id="4" name="TextBox 3">
            <a:extLst>
              <a:ext uri="{FF2B5EF4-FFF2-40B4-BE49-F238E27FC236}">
                <a16:creationId xmlns:a16="http://schemas.microsoft.com/office/drawing/2014/main" id="{DD4915F1-D581-ECFA-F50A-EBE4011842EB}"/>
              </a:ext>
            </a:extLst>
          </p:cNvPr>
          <p:cNvSpPr txBox="1"/>
          <p:nvPr/>
        </p:nvSpPr>
        <p:spPr>
          <a:xfrm>
            <a:off x="13680141" y="5432612"/>
            <a:ext cx="184731" cy="369332"/>
          </a:xfrm>
          <a:prstGeom prst="rect">
            <a:avLst/>
          </a:prstGeom>
          <a:noFill/>
        </p:spPr>
        <p:txBody>
          <a:bodyPr wrap="none" rtlCol="0">
            <a:spAutoFit/>
          </a:bodyPr>
          <a:lstStyle/>
          <a:p>
            <a:endParaRPr lang="en-US" dirty="0"/>
          </a:p>
        </p:txBody>
      </p:sp>
      <p:pic>
        <p:nvPicPr>
          <p:cNvPr id="9" name="Picture 8">
            <a:extLst>
              <a:ext uri="{FF2B5EF4-FFF2-40B4-BE49-F238E27FC236}">
                <a16:creationId xmlns:a16="http://schemas.microsoft.com/office/drawing/2014/main" id="{9B8F21DD-27ED-D5FF-49FD-722E89EA84EA}"/>
              </a:ext>
            </a:extLst>
          </p:cNvPr>
          <p:cNvPicPr>
            <a:picLocks noChangeAspect="1"/>
          </p:cNvPicPr>
          <p:nvPr/>
        </p:nvPicPr>
        <p:blipFill>
          <a:blip r:embed="rId3"/>
          <a:stretch>
            <a:fillRect/>
          </a:stretch>
        </p:blipFill>
        <p:spPr>
          <a:xfrm>
            <a:off x="2235200" y="1500123"/>
            <a:ext cx="7721600" cy="4533900"/>
          </a:xfrm>
          <a:prstGeom prst="rect">
            <a:avLst/>
          </a:prstGeom>
        </p:spPr>
      </p:pic>
    </p:spTree>
    <p:extLst>
      <p:ext uri="{BB962C8B-B14F-4D97-AF65-F5344CB8AC3E}">
        <p14:creationId xmlns:p14="http://schemas.microsoft.com/office/powerpoint/2010/main" val="1642077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9569F-5955-0E71-771D-C15D3CC24958}"/>
              </a:ext>
            </a:extLst>
          </p:cNvPr>
          <p:cNvSpPr>
            <a:spLocks noGrp="1"/>
          </p:cNvSpPr>
          <p:nvPr>
            <p:ph type="title"/>
          </p:nvPr>
        </p:nvSpPr>
        <p:spPr/>
        <p:txBody>
          <a:bodyPr/>
          <a:lstStyle/>
          <a:p>
            <a:r>
              <a:rPr lang="en-US" dirty="0"/>
              <a:t>Compare to</a:t>
            </a:r>
          </a:p>
        </p:txBody>
      </p:sp>
      <p:pic>
        <p:nvPicPr>
          <p:cNvPr id="6" name="Picture 5">
            <a:extLst>
              <a:ext uri="{FF2B5EF4-FFF2-40B4-BE49-F238E27FC236}">
                <a16:creationId xmlns:a16="http://schemas.microsoft.com/office/drawing/2014/main" id="{27B9199C-E20D-41F4-6C92-33F4056F892B}"/>
              </a:ext>
            </a:extLst>
          </p:cNvPr>
          <p:cNvPicPr>
            <a:picLocks noChangeAspect="1"/>
          </p:cNvPicPr>
          <p:nvPr/>
        </p:nvPicPr>
        <p:blipFill>
          <a:blip r:embed="rId3"/>
          <a:stretch>
            <a:fillRect/>
          </a:stretch>
        </p:blipFill>
        <p:spPr>
          <a:xfrm>
            <a:off x="2559050" y="1811991"/>
            <a:ext cx="7073900" cy="4381500"/>
          </a:xfrm>
          <a:prstGeom prst="rect">
            <a:avLst/>
          </a:prstGeom>
        </p:spPr>
      </p:pic>
    </p:spTree>
    <p:extLst>
      <p:ext uri="{BB962C8B-B14F-4D97-AF65-F5344CB8AC3E}">
        <p14:creationId xmlns:p14="http://schemas.microsoft.com/office/powerpoint/2010/main" val="1066348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DC847-94D4-B0A5-4364-CCC82030A4FE}"/>
              </a:ext>
            </a:extLst>
          </p:cNvPr>
          <p:cNvSpPr>
            <a:spLocks noGrp="1"/>
          </p:cNvSpPr>
          <p:nvPr>
            <p:ph type="title"/>
          </p:nvPr>
        </p:nvSpPr>
        <p:spPr/>
        <p:txBody>
          <a:bodyPr/>
          <a:lstStyle/>
          <a:p>
            <a:r>
              <a:rPr lang="en-US" dirty="0"/>
              <a:t>Python Modules</a:t>
            </a:r>
          </a:p>
        </p:txBody>
      </p:sp>
      <p:sp>
        <p:nvSpPr>
          <p:cNvPr id="3" name="Content Placeholder 2">
            <a:extLst>
              <a:ext uri="{FF2B5EF4-FFF2-40B4-BE49-F238E27FC236}">
                <a16:creationId xmlns:a16="http://schemas.microsoft.com/office/drawing/2014/main" id="{90670CC0-22EE-4F08-3342-8E8B03D734F6}"/>
              </a:ext>
            </a:extLst>
          </p:cNvPr>
          <p:cNvSpPr>
            <a:spLocks noGrp="1"/>
          </p:cNvSpPr>
          <p:nvPr>
            <p:ph idx="1"/>
          </p:nvPr>
        </p:nvSpPr>
        <p:spPr/>
        <p:txBody>
          <a:bodyPr>
            <a:normAutofit fontScale="92500" lnSpcReduction="20000"/>
          </a:bodyPr>
          <a:lstStyle/>
          <a:p>
            <a:r>
              <a:rPr lang="en-US" dirty="0"/>
              <a:t>Any Python file can be treated as a module</a:t>
            </a:r>
          </a:p>
          <a:p>
            <a:r>
              <a:rPr lang="en-US" dirty="0"/>
              <a:t>A module is a collection of definitions that can be imported into another module or script</a:t>
            </a:r>
          </a:p>
          <a:p>
            <a:r>
              <a:rPr lang="en-US" dirty="0"/>
              <a:t>In Python a script is:</a:t>
            </a:r>
          </a:p>
          <a:p>
            <a:pPr lvl="1"/>
            <a:r>
              <a:rPr lang="en-US" dirty="0"/>
              <a:t>A python file that can be executed from the command line</a:t>
            </a:r>
          </a:p>
          <a:p>
            <a:r>
              <a:rPr lang="en-US" dirty="0"/>
              <a:t>A module is:</a:t>
            </a:r>
          </a:p>
          <a:p>
            <a:pPr lvl="1"/>
            <a:r>
              <a:rPr lang="en-US" dirty="0"/>
              <a:t>A collection of definitions that can be reused in multiple scripts</a:t>
            </a:r>
          </a:p>
          <a:p>
            <a:pPr lvl="1"/>
            <a:r>
              <a:rPr lang="en-US" dirty="0"/>
              <a:t>They might not have standalone value (e.g. can’t be executed as a script)</a:t>
            </a:r>
          </a:p>
          <a:p>
            <a:r>
              <a:rPr lang="en-US" dirty="0"/>
              <a:t>A package, btw, is a collection of modules, but we won’t look at this until next year/semester</a:t>
            </a:r>
          </a:p>
        </p:txBody>
      </p:sp>
    </p:spTree>
    <p:extLst>
      <p:ext uri="{BB962C8B-B14F-4D97-AF65-F5344CB8AC3E}">
        <p14:creationId xmlns:p14="http://schemas.microsoft.com/office/powerpoint/2010/main" val="1016837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63D82-414F-B630-44EC-8126728A9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D1441-5C59-7EB0-56E8-15280DC44320}"/>
              </a:ext>
            </a:extLst>
          </p:cNvPr>
          <p:cNvSpPr>
            <a:spLocks noGrp="1"/>
          </p:cNvSpPr>
          <p:nvPr>
            <p:ph type="title"/>
          </p:nvPr>
        </p:nvSpPr>
        <p:spPr/>
        <p:txBody>
          <a:bodyPr/>
          <a:lstStyle/>
          <a:p>
            <a:r>
              <a:rPr lang="en-US" dirty="0"/>
              <a:t>if/name/main allows one file to be both</a:t>
            </a:r>
          </a:p>
        </p:txBody>
      </p:sp>
      <p:sp>
        <p:nvSpPr>
          <p:cNvPr id="3" name="Content Placeholder 2">
            <a:extLst>
              <a:ext uri="{FF2B5EF4-FFF2-40B4-BE49-F238E27FC236}">
                <a16:creationId xmlns:a16="http://schemas.microsoft.com/office/drawing/2014/main" id="{09A7B410-0C93-B2C5-520A-B18650CF15B2}"/>
              </a:ext>
            </a:extLst>
          </p:cNvPr>
          <p:cNvSpPr>
            <a:spLocks noGrp="1"/>
          </p:cNvSpPr>
          <p:nvPr>
            <p:ph idx="1"/>
          </p:nvPr>
        </p:nvSpPr>
        <p:spPr/>
        <p:txBody>
          <a:bodyPr/>
          <a:lstStyle/>
          <a:p>
            <a:r>
              <a:rPr lang="en-US" dirty="0"/>
              <a:t>A Python file can be </a:t>
            </a:r>
            <a:r>
              <a:rPr lang="en-US" b="1" dirty="0"/>
              <a:t>both </a:t>
            </a:r>
            <a:r>
              <a:rPr lang="en-US" dirty="0"/>
              <a:t>a script and a module using the if/name/main pattern</a:t>
            </a:r>
          </a:p>
          <a:p>
            <a:r>
              <a:rPr lang="en-US" dirty="0"/>
              <a:t>The __name__ variable is set to ‘__main__’ when executed as a script and set to the module name when imported</a:t>
            </a:r>
          </a:p>
          <a:p>
            <a:endParaRPr lang="en-US" dirty="0"/>
          </a:p>
        </p:txBody>
      </p:sp>
      <p:pic>
        <p:nvPicPr>
          <p:cNvPr id="4" name="Picture 3">
            <a:extLst>
              <a:ext uri="{FF2B5EF4-FFF2-40B4-BE49-F238E27FC236}">
                <a16:creationId xmlns:a16="http://schemas.microsoft.com/office/drawing/2014/main" id="{F39CE1FC-A61D-6284-6B01-165AD76E61B5}"/>
              </a:ext>
            </a:extLst>
          </p:cNvPr>
          <p:cNvPicPr>
            <a:picLocks noChangeAspect="1"/>
          </p:cNvPicPr>
          <p:nvPr/>
        </p:nvPicPr>
        <p:blipFill>
          <a:blip r:embed="rId2"/>
          <a:stretch>
            <a:fillRect/>
          </a:stretch>
        </p:blipFill>
        <p:spPr>
          <a:xfrm>
            <a:off x="5489015" y="3982628"/>
            <a:ext cx="6413500" cy="2667000"/>
          </a:xfrm>
          <a:prstGeom prst="rect">
            <a:avLst/>
          </a:prstGeom>
        </p:spPr>
      </p:pic>
    </p:spTree>
    <p:extLst>
      <p:ext uri="{BB962C8B-B14F-4D97-AF65-F5344CB8AC3E}">
        <p14:creationId xmlns:p14="http://schemas.microsoft.com/office/powerpoint/2010/main" val="2845782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0E8A5-AF38-1DB3-C573-F1E8ABE012C3}"/>
              </a:ext>
            </a:extLst>
          </p:cNvPr>
          <p:cNvSpPr>
            <a:spLocks noGrp="1"/>
          </p:cNvSpPr>
          <p:nvPr>
            <p:ph type="title"/>
          </p:nvPr>
        </p:nvSpPr>
        <p:spPr>
          <a:xfrm>
            <a:off x="609600" y="499892"/>
            <a:ext cx="10972800" cy="1003205"/>
          </a:xfrm>
        </p:spPr>
        <p:txBody>
          <a:bodyPr anchor="ctr">
            <a:normAutofit/>
          </a:bodyPr>
          <a:lstStyle/>
          <a:p>
            <a:r>
              <a:rPr lang="en-US" dirty="0"/>
              <a:t>Structuring a python program </a:t>
            </a:r>
          </a:p>
        </p:txBody>
      </p:sp>
      <p:sp>
        <p:nvSpPr>
          <p:cNvPr id="9" name="Text Placeholder 3">
            <a:extLst>
              <a:ext uri="{FF2B5EF4-FFF2-40B4-BE49-F238E27FC236}">
                <a16:creationId xmlns:a16="http://schemas.microsoft.com/office/drawing/2014/main" id="{A31AC695-78DE-2D93-A923-88F4DDD9226F}"/>
              </a:ext>
            </a:extLst>
          </p:cNvPr>
          <p:cNvSpPr>
            <a:spLocks noGrp="1"/>
          </p:cNvSpPr>
          <p:nvPr>
            <p:ph sz="half" idx="1"/>
          </p:nvPr>
        </p:nvSpPr>
        <p:spPr>
          <a:xfrm>
            <a:off x="609600" y="1600203"/>
            <a:ext cx="5384800" cy="4525963"/>
          </a:xfrm>
        </p:spPr>
        <p:txBody>
          <a:bodyPr>
            <a:normAutofit/>
          </a:bodyPr>
          <a:lstStyle/>
          <a:p>
            <a:r>
              <a:rPr lang="en-US" dirty="0"/>
              <a:t>We define before we execute</a:t>
            </a:r>
          </a:p>
          <a:p>
            <a:r>
              <a:rPr lang="en-US" dirty="0"/>
              <a:t>We place if/name/main last</a:t>
            </a:r>
          </a:p>
          <a:p>
            <a:r>
              <a:rPr lang="en-US" dirty="0"/>
              <a:t>To avoid namespace contamination, we place the script logic in a main function</a:t>
            </a:r>
          </a:p>
        </p:txBody>
      </p:sp>
      <p:sp>
        <p:nvSpPr>
          <p:cNvPr id="6" name="Content Placeholder 5">
            <a:extLst>
              <a:ext uri="{FF2B5EF4-FFF2-40B4-BE49-F238E27FC236}">
                <a16:creationId xmlns:a16="http://schemas.microsoft.com/office/drawing/2014/main" id="{471376A5-B673-0CF6-E762-00DEA5FC547A}"/>
              </a:ext>
            </a:extLst>
          </p:cNvPr>
          <p:cNvSpPr>
            <a:spLocks noGrp="1"/>
          </p:cNvSpPr>
          <p:nvPr>
            <p:ph sz="half" idx="2"/>
          </p:nvPr>
        </p:nvSpPr>
        <p:spPr/>
        <p:txBody>
          <a:bodyPr/>
          <a:lstStyle/>
          <a:p>
            <a:endParaRPr lang="en-US"/>
          </a:p>
        </p:txBody>
      </p:sp>
      <p:pic>
        <p:nvPicPr>
          <p:cNvPr id="7" name="Picture 6">
            <a:extLst>
              <a:ext uri="{FF2B5EF4-FFF2-40B4-BE49-F238E27FC236}">
                <a16:creationId xmlns:a16="http://schemas.microsoft.com/office/drawing/2014/main" id="{82E3606A-60E7-DACF-DD3E-FCC4811B9012}"/>
              </a:ext>
            </a:extLst>
          </p:cNvPr>
          <p:cNvPicPr>
            <a:picLocks noChangeAspect="1"/>
          </p:cNvPicPr>
          <p:nvPr/>
        </p:nvPicPr>
        <p:blipFill>
          <a:blip r:embed="rId3"/>
          <a:stretch>
            <a:fillRect/>
          </a:stretch>
        </p:blipFill>
        <p:spPr>
          <a:xfrm>
            <a:off x="6624153" y="1503097"/>
            <a:ext cx="4830656" cy="5031569"/>
          </a:xfrm>
          <a:prstGeom prst="rect">
            <a:avLst/>
          </a:prstGeom>
        </p:spPr>
      </p:pic>
    </p:spTree>
    <p:extLst>
      <p:ext uri="{BB962C8B-B14F-4D97-AF65-F5344CB8AC3E}">
        <p14:creationId xmlns:p14="http://schemas.microsoft.com/office/powerpoint/2010/main" val="3041579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C085-F764-D744-E636-8F51A814198F}"/>
              </a:ext>
            </a:extLst>
          </p:cNvPr>
          <p:cNvSpPr>
            <a:spLocks noGrp="1"/>
          </p:cNvSpPr>
          <p:nvPr>
            <p:ph type="title"/>
          </p:nvPr>
        </p:nvSpPr>
        <p:spPr/>
        <p:txBody>
          <a:bodyPr/>
          <a:lstStyle/>
          <a:p>
            <a:r>
              <a:rPr lang="en-US" dirty="0"/>
              <a:t>Namespaces</a:t>
            </a:r>
          </a:p>
        </p:txBody>
      </p:sp>
      <p:sp>
        <p:nvSpPr>
          <p:cNvPr id="5" name="Content Placeholder 4">
            <a:extLst>
              <a:ext uri="{FF2B5EF4-FFF2-40B4-BE49-F238E27FC236}">
                <a16:creationId xmlns:a16="http://schemas.microsoft.com/office/drawing/2014/main" id="{73930078-5592-86BC-02DB-2C071C4F4492}"/>
              </a:ext>
            </a:extLst>
          </p:cNvPr>
          <p:cNvSpPr>
            <a:spLocks noGrp="1"/>
          </p:cNvSpPr>
          <p:nvPr>
            <p:ph idx="1"/>
          </p:nvPr>
        </p:nvSpPr>
        <p:spPr/>
        <p:txBody>
          <a:bodyPr>
            <a:normAutofit/>
          </a:bodyPr>
          <a:lstStyle/>
          <a:p>
            <a:r>
              <a:rPr lang="en-US" dirty="0"/>
              <a:t>A namespace is a way of partitioning variable names into categories</a:t>
            </a:r>
          </a:p>
          <a:p>
            <a:r>
              <a:rPr lang="en-US" dirty="0"/>
              <a:t>In practice it just means we use a . (accessor) after a name to access the names associated with a given name</a:t>
            </a:r>
          </a:p>
          <a:p>
            <a:r>
              <a:rPr lang="en-US" dirty="0"/>
              <a:t>Folders are to files what namespaces are to names (variables)</a:t>
            </a:r>
          </a:p>
          <a:p>
            <a:pPr lvl="1"/>
            <a:r>
              <a:rPr lang="en-US" dirty="0"/>
              <a:t>Just like Documents/</a:t>
            </a:r>
            <a:r>
              <a:rPr lang="en-US" dirty="0" err="1"/>
              <a:t>my_doc.txt</a:t>
            </a:r>
            <a:r>
              <a:rPr lang="en-US" dirty="0"/>
              <a:t> is different from Desktop/</a:t>
            </a:r>
            <a:r>
              <a:rPr lang="en-US" dirty="0" err="1"/>
              <a:t>my_doc.txt</a:t>
            </a:r>
            <a:r>
              <a:rPr lang="en-US" dirty="0"/>
              <a:t> so too are namespaces</a:t>
            </a:r>
          </a:p>
        </p:txBody>
      </p:sp>
    </p:spTree>
    <p:extLst>
      <p:ext uri="{BB962C8B-B14F-4D97-AF65-F5344CB8AC3E}">
        <p14:creationId xmlns:p14="http://schemas.microsoft.com/office/powerpoint/2010/main" val="3872040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CC72-8F51-6E50-16F0-B92E1EC344CE}"/>
              </a:ext>
            </a:extLst>
          </p:cNvPr>
          <p:cNvSpPr>
            <a:spLocks noGrp="1"/>
          </p:cNvSpPr>
          <p:nvPr>
            <p:ph type="title"/>
          </p:nvPr>
        </p:nvSpPr>
        <p:spPr/>
        <p:txBody>
          <a:bodyPr/>
          <a:lstStyle/>
          <a:p>
            <a:r>
              <a:rPr lang="en-US" dirty="0"/>
              <a:t>Namespace categories</a:t>
            </a:r>
          </a:p>
        </p:txBody>
      </p:sp>
      <p:sp>
        <p:nvSpPr>
          <p:cNvPr id="3" name="Content Placeholder 2">
            <a:extLst>
              <a:ext uri="{FF2B5EF4-FFF2-40B4-BE49-F238E27FC236}">
                <a16:creationId xmlns:a16="http://schemas.microsoft.com/office/drawing/2014/main" id="{2E6926CC-1259-C594-FEAF-4D0496DA4D61}"/>
              </a:ext>
            </a:extLst>
          </p:cNvPr>
          <p:cNvSpPr>
            <a:spLocks noGrp="1"/>
          </p:cNvSpPr>
          <p:nvPr>
            <p:ph idx="1"/>
          </p:nvPr>
        </p:nvSpPr>
        <p:spPr/>
        <p:txBody>
          <a:bodyPr/>
          <a:lstStyle/>
          <a:p>
            <a:r>
              <a:rPr lang="en-US" dirty="0"/>
              <a:t>Global: the global namespace is available to all parts of the program and may include additional qualifications (“explicit namespaces”)</a:t>
            </a:r>
          </a:p>
          <a:p>
            <a:r>
              <a:rPr lang="en-US" dirty="0"/>
              <a:t>Local: the local namespace is only available inside the scope of a function</a:t>
            </a:r>
          </a:p>
        </p:txBody>
      </p:sp>
    </p:spTree>
    <p:extLst>
      <p:ext uri="{BB962C8B-B14F-4D97-AF65-F5344CB8AC3E}">
        <p14:creationId xmlns:p14="http://schemas.microsoft.com/office/powerpoint/2010/main" val="2658451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882C9-B461-CB74-467F-7D826847C8A1}"/>
              </a:ext>
            </a:extLst>
          </p:cNvPr>
          <p:cNvSpPr>
            <a:spLocks noGrp="1"/>
          </p:cNvSpPr>
          <p:nvPr>
            <p:ph type="title"/>
          </p:nvPr>
        </p:nvSpPr>
        <p:spPr/>
        <p:txBody>
          <a:bodyPr>
            <a:normAutofit fontScale="90000"/>
          </a:bodyPr>
          <a:lstStyle/>
          <a:p>
            <a:r>
              <a:rPr lang="en-US" dirty="0"/>
              <a:t>Importing names from one module to another</a:t>
            </a:r>
          </a:p>
        </p:txBody>
      </p:sp>
      <p:sp>
        <p:nvSpPr>
          <p:cNvPr id="3" name="Content Placeholder 2">
            <a:extLst>
              <a:ext uri="{FF2B5EF4-FFF2-40B4-BE49-F238E27FC236}">
                <a16:creationId xmlns:a16="http://schemas.microsoft.com/office/drawing/2014/main" id="{6DDEBF45-F2A2-CDC1-1336-F072BC8A7806}"/>
              </a:ext>
            </a:extLst>
          </p:cNvPr>
          <p:cNvSpPr>
            <a:spLocks noGrp="1"/>
          </p:cNvSpPr>
          <p:nvPr>
            <p:ph idx="1"/>
          </p:nvPr>
        </p:nvSpPr>
        <p:spPr/>
        <p:txBody>
          <a:bodyPr>
            <a:normAutofit fontScale="92500" lnSpcReduction="10000"/>
          </a:bodyPr>
          <a:lstStyle/>
          <a:p>
            <a:r>
              <a:rPr lang="en-US" dirty="0"/>
              <a:t>To import a module, use import &lt;</a:t>
            </a:r>
            <a:r>
              <a:rPr lang="en-US" dirty="0" err="1"/>
              <a:t>module_name</a:t>
            </a:r>
            <a:r>
              <a:rPr lang="en-US" dirty="0"/>
              <a:t>&gt; where </a:t>
            </a:r>
            <a:r>
              <a:rPr lang="en-US" dirty="0" err="1">
                <a:latin typeface="3270-MEDIUM" panose="02000609000000000000" pitchFamily="49" charset="77"/>
                <a:ea typeface="3270-MEDIUM" panose="02000609000000000000" pitchFamily="49" charset="77"/>
              </a:rPr>
              <a:t>module_name</a:t>
            </a:r>
            <a:r>
              <a:rPr lang="en-US" dirty="0">
                <a:latin typeface="3270-MEDIUM" panose="02000609000000000000" pitchFamily="49" charset="77"/>
                <a:ea typeface="3270-MEDIUM" panose="02000609000000000000" pitchFamily="49" charset="77"/>
              </a:rPr>
              <a:t> </a:t>
            </a:r>
            <a:r>
              <a:rPr lang="en-US" dirty="0"/>
              <a:t>is the filename minus .</a:t>
            </a:r>
            <a:r>
              <a:rPr lang="en-US" dirty="0" err="1"/>
              <a:t>py</a:t>
            </a:r>
            <a:endParaRPr lang="en-US" dirty="0"/>
          </a:p>
          <a:p>
            <a:r>
              <a:rPr lang="en-US" dirty="0"/>
              <a:t>Importing a module causes its code to be executed!</a:t>
            </a:r>
          </a:p>
          <a:p>
            <a:r>
              <a:rPr lang="en-US" dirty="0"/>
              <a:t>By default, names/definitions in a module are imported into the </a:t>
            </a:r>
            <a:r>
              <a:rPr lang="en-US" dirty="0" err="1">
                <a:latin typeface="3270-MEDIUM" panose="02000609000000000000" pitchFamily="49" charset="77"/>
                <a:ea typeface="3270-MEDIUM" panose="02000609000000000000" pitchFamily="49" charset="77"/>
              </a:rPr>
              <a:t>module_name</a:t>
            </a:r>
            <a:r>
              <a:rPr lang="en-US" dirty="0">
                <a:latin typeface="3270-MEDIUM" panose="02000609000000000000" pitchFamily="49" charset="77"/>
                <a:ea typeface="3270-MEDIUM" panose="02000609000000000000" pitchFamily="49" charset="77"/>
              </a:rPr>
              <a:t> </a:t>
            </a:r>
            <a:r>
              <a:rPr lang="en-US" dirty="0"/>
              <a:t>namespace</a:t>
            </a:r>
          </a:p>
          <a:p>
            <a:r>
              <a:rPr lang="en-US" dirty="0"/>
              <a:t>for example:</a:t>
            </a:r>
          </a:p>
          <a:p>
            <a:pPr lvl="1"/>
            <a:r>
              <a:rPr lang="en-US" dirty="0"/>
              <a:t>import random, imports the random module into a namespace called random</a:t>
            </a:r>
          </a:p>
          <a:p>
            <a:r>
              <a:rPr lang="en-US" dirty="0"/>
              <a:t>You can import from any .</a:t>
            </a:r>
            <a:r>
              <a:rPr lang="en-US" dirty="0" err="1"/>
              <a:t>py</a:t>
            </a:r>
            <a:r>
              <a:rPr lang="en-US" dirty="0"/>
              <a:t> file in the PYTHON_PATH or PATH </a:t>
            </a:r>
          </a:p>
        </p:txBody>
      </p:sp>
    </p:spTree>
    <p:extLst>
      <p:ext uri="{BB962C8B-B14F-4D97-AF65-F5344CB8AC3E}">
        <p14:creationId xmlns:p14="http://schemas.microsoft.com/office/powerpoint/2010/main" val="3147570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9B44-2AF3-9B40-F3F3-3F5C5F86F9A2}"/>
              </a:ext>
            </a:extLst>
          </p:cNvPr>
          <p:cNvSpPr>
            <a:spLocks noGrp="1"/>
          </p:cNvSpPr>
          <p:nvPr>
            <p:ph type="title"/>
          </p:nvPr>
        </p:nvSpPr>
        <p:spPr/>
        <p:txBody>
          <a:bodyPr/>
          <a:lstStyle/>
          <a:p>
            <a:r>
              <a:rPr lang="en-US" dirty="0"/>
              <a:t>DEMO</a:t>
            </a:r>
          </a:p>
        </p:txBody>
      </p:sp>
      <p:sp>
        <p:nvSpPr>
          <p:cNvPr id="3" name="Content Placeholder 2">
            <a:extLst>
              <a:ext uri="{FF2B5EF4-FFF2-40B4-BE49-F238E27FC236}">
                <a16:creationId xmlns:a16="http://schemas.microsoft.com/office/drawing/2014/main" id="{EA418AAD-6851-F47E-0E90-0C0AE1426FE2}"/>
              </a:ext>
            </a:extLst>
          </p:cNvPr>
          <p:cNvSpPr>
            <a:spLocks noGrp="1"/>
          </p:cNvSpPr>
          <p:nvPr>
            <p:ph idx="1"/>
          </p:nvPr>
        </p:nvSpPr>
        <p:spPr/>
        <p:txBody>
          <a:bodyPr/>
          <a:lstStyle/>
          <a:p>
            <a:r>
              <a:rPr lang="en-US" dirty="0"/>
              <a:t>See the current </a:t>
            </a:r>
            <a:r>
              <a:rPr lang="en-US" dirty="0" err="1"/>
              <a:t>github</a:t>
            </a:r>
            <a:r>
              <a:rPr lang="en-US" dirty="0"/>
              <a:t> repository for a demonstration of this</a:t>
            </a:r>
          </a:p>
        </p:txBody>
      </p:sp>
    </p:spTree>
    <p:extLst>
      <p:ext uri="{BB962C8B-B14F-4D97-AF65-F5344CB8AC3E}">
        <p14:creationId xmlns:p14="http://schemas.microsoft.com/office/powerpoint/2010/main" val="1676915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48662-543E-67F8-E28E-C4C699BB38F0}"/>
              </a:ext>
            </a:extLst>
          </p:cNvPr>
          <p:cNvSpPr>
            <a:spLocks noGrp="1"/>
          </p:cNvSpPr>
          <p:nvPr>
            <p:ph type="title"/>
          </p:nvPr>
        </p:nvSpPr>
        <p:spPr/>
        <p:txBody>
          <a:bodyPr/>
          <a:lstStyle/>
          <a:p>
            <a:r>
              <a:rPr lang="en-US" dirty="0"/>
              <a:t>Importing into a custom namespace</a:t>
            </a:r>
          </a:p>
        </p:txBody>
      </p:sp>
      <p:sp>
        <p:nvSpPr>
          <p:cNvPr id="3" name="Content Placeholder 2">
            <a:extLst>
              <a:ext uri="{FF2B5EF4-FFF2-40B4-BE49-F238E27FC236}">
                <a16:creationId xmlns:a16="http://schemas.microsoft.com/office/drawing/2014/main" id="{FE19D0C7-CE28-48A3-561A-1031564C09B1}"/>
              </a:ext>
            </a:extLst>
          </p:cNvPr>
          <p:cNvSpPr>
            <a:spLocks noGrp="1"/>
          </p:cNvSpPr>
          <p:nvPr>
            <p:ph idx="1"/>
          </p:nvPr>
        </p:nvSpPr>
        <p:spPr/>
        <p:txBody>
          <a:bodyPr/>
          <a:lstStyle/>
          <a:p>
            <a:r>
              <a:rPr lang="en-US" dirty="0"/>
              <a:t>Use the </a:t>
            </a:r>
            <a:r>
              <a:rPr lang="en-US" b="1" dirty="0"/>
              <a:t>as</a:t>
            </a:r>
            <a:r>
              <a:rPr lang="en-US" dirty="0"/>
              <a:t> keyword to import into a custom namespace</a:t>
            </a:r>
          </a:p>
          <a:p>
            <a:r>
              <a:rPr lang="en-US" dirty="0"/>
              <a:t>For example:</a:t>
            </a:r>
          </a:p>
        </p:txBody>
      </p:sp>
      <p:pic>
        <p:nvPicPr>
          <p:cNvPr id="4" name="Picture 3">
            <a:extLst>
              <a:ext uri="{FF2B5EF4-FFF2-40B4-BE49-F238E27FC236}">
                <a16:creationId xmlns:a16="http://schemas.microsoft.com/office/drawing/2014/main" id="{D619BA52-9A02-5CC5-E9FA-A02941DB3939}"/>
              </a:ext>
            </a:extLst>
          </p:cNvPr>
          <p:cNvPicPr>
            <a:picLocks noChangeAspect="1"/>
          </p:cNvPicPr>
          <p:nvPr/>
        </p:nvPicPr>
        <p:blipFill>
          <a:blip r:embed="rId2"/>
          <a:stretch>
            <a:fillRect/>
          </a:stretch>
        </p:blipFill>
        <p:spPr>
          <a:xfrm>
            <a:off x="2347632" y="3268009"/>
            <a:ext cx="6134100" cy="2832100"/>
          </a:xfrm>
          <a:prstGeom prst="rect">
            <a:avLst/>
          </a:prstGeom>
        </p:spPr>
      </p:pic>
    </p:spTree>
    <p:extLst>
      <p:ext uri="{BB962C8B-B14F-4D97-AF65-F5344CB8AC3E}">
        <p14:creationId xmlns:p14="http://schemas.microsoft.com/office/powerpoint/2010/main" val="2461406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B88F5-61D3-FFDA-48FF-1F43683AD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E1ABF-4B1E-1AF8-1342-B36DFCC794B5}"/>
              </a:ext>
            </a:extLst>
          </p:cNvPr>
          <p:cNvSpPr>
            <a:spLocks noGrp="1"/>
          </p:cNvSpPr>
          <p:nvPr>
            <p:ph type="title"/>
          </p:nvPr>
        </p:nvSpPr>
        <p:spPr/>
        <p:txBody>
          <a:bodyPr/>
          <a:lstStyle/>
          <a:p>
            <a:r>
              <a:rPr lang="en-US" dirty="0"/>
              <a:t>Importing into the global namespace</a:t>
            </a:r>
          </a:p>
        </p:txBody>
      </p:sp>
      <p:sp>
        <p:nvSpPr>
          <p:cNvPr id="3" name="Content Placeholder 2">
            <a:extLst>
              <a:ext uri="{FF2B5EF4-FFF2-40B4-BE49-F238E27FC236}">
                <a16:creationId xmlns:a16="http://schemas.microsoft.com/office/drawing/2014/main" id="{1DCFD2D9-BE1A-FDFB-71E7-937211C2FCFD}"/>
              </a:ext>
            </a:extLst>
          </p:cNvPr>
          <p:cNvSpPr>
            <a:spLocks noGrp="1"/>
          </p:cNvSpPr>
          <p:nvPr>
            <p:ph idx="1"/>
          </p:nvPr>
        </p:nvSpPr>
        <p:spPr/>
        <p:txBody>
          <a:bodyPr/>
          <a:lstStyle/>
          <a:p>
            <a:r>
              <a:rPr lang="en-US" dirty="0"/>
              <a:t>You can also import into the global/current namespace with from module</a:t>
            </a:r>
          </a:p>
          <a:p>
            <a:endParaRPr lang="en-US" dirty="0"/>
          </a:p>
        </p:txBody>
      </p:sp>
      <p:pic>
        <p:nvPicPr>
          <p:cNvPr id="6" name="Picture 5">
            <a:extLst>
              <a:ext uri="{FF2B5EF4-FFF2-40B4-BE49-F238E27FC236}">
                <a16:creationId xmlns:a16="http://schemas.microsoft.com/office/drawing/2014/main" id="{A98D1538-6417-8B59-24FE-FAC3FFD77EEC}"/>
              </a:ext>
            </a:extLst>
          </p:cNvPr>
          <p:cNvPicPr>
            <a:picLocks noChangeAspect="1"/>
          </p:cNvPicPr>
          <p:nvPr/>
        </p:nvPicPr>
        <p:blipFill>
          <a:blip r:embed="rId3"/>
          <a:stretch>
            <a:fillRect/>
          </a:stretch>
        </p:blipFill>
        <p:spPr>
          <a:xfrm>
            <a:off x="4520453" y="2878418"/>
            <a:ext cx="6629400" cy="3073400"/>
          </a:xfrm>
          <a:prstGeom prst="rect">
            <a:avLst/>
          </a:prstGeom>
        </p:spPr>
      </p:pic>
    </p:spTree>
    <p:extLst>
      <p:ext uri="{BB962C8B-B14F-4D97-AF65-F5344CB8AC3E}">
        <p14:creationId xmlns:p14="http://schemas.microsoft.com/office/powerpoint/2010/main" val="3359645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FC730-3E85-43E4-2132-4640C59EF34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7B9A0B3-06BA-7A86-4C53-19242E7AFE27}"/>
              </a:ext>
            </a:extLst>
          </p:cNvPr>
          <p:cNvSpPr>
            <a:spLocks noGrp="1"/>
          </p:cNvSpPr>
          <p:nvPr>
            <p:ph idx="1"/>
          </p:nvPr>
        </p:nvSpPr>
        <p:spPr/>
        <p:txBody>
          <a:bodyPr>
            <a:normAutofit fontScale="92500"/>
          </a:bodyPr>
          <a:lstStyle/>
          <a:p>
            <a:r>
              <a:rPr lang="en-US" dirty="0"/>
              <a:t>Functions and modules allow us to make our code reusable</a:t>
            </a:r>
          </a:p>
          <a:p>
            <a:r>
              <a:rPr lang="en-US" dirty="0"/>
              <a:t>They break down complex problems into simpler problems*</a:t>
            </a:r>
          </a:p>
          <a:p>
            <a:r>
              <a:rPr lang="en-US" dirty="0"/>
              <a:t>*But it depends on </a:t>
            </a:r>
            <a:r>
              <a:rPr lang="en-US" i="1" dirty="0"/>
              <a:t>how </a:t>
            </a:r>
            <a:r>
              <a:rPr lang="en-US" dirty="0"/>
              <a:t>we do it.</a:t>
            </a:r>
          </a:p>
          <a:p>
            <a:r>
              <a:rPr lang="en-US" dirty="0"/>
              <a:t>There are ways of </a:t>
            </a:r>
            <a:r>
              <a:rPr lang="en-US" i="1" dirty="0"/>
              <a:t>decomposing </a:t>
            </a:r>
            <a:r>
              <a:rPr lang="en-US" dirty="0"/>
              <a:t>problems that reduce complexity and there are ways that can increase complexity</a:t>
            </a:r>
          </a:p>
          <a:p>
            <a:r>
              <a:rPr lang="en-US" dirty="0"/>
              <a:t>Are there other ways to think of this problem of decomposition?</a:t>
            </a:r>
          </a:p>
        </p:txBody>
      </p:sp>
    </p:spTree>
    <p:extLst>
      <p:ext uri="{BB962C8B-B14F-4D97-AF65-F5344CB8AC3E}">
        <p14:creationId xmlns:p14="http://schemas.microsoft.com/office/powerpoint/2010/main" val="2780062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BF12-2BC5-A690-6253-29E5465F34F5}"/>
              </a:ext>
            </a:extLst>
          </p:cNvPr>
          <p:cNvSpPr>
            <a:spLocks noGrp="1"/>
          </p:cNvSpPr>
          <p:nvPr>
            <p:ph type="title"/>
          </p:nvPr>
        </p:nvSpPr>
        <p:spPr/>
        <p:txBody>
          <a:bodyPr/>
          <a:lstStyle/>
          <a:p>
            <a:r>
              <a:rPr lang="en-US" dirty="0"/>
              <a:t>Self-test exercise</a:t>
            </a:r>
          </a:p>
        </p:txBody>
      </p:sp>
      <p:sp>
        <p:nvSpPr>
          <p:cNvPr id="3" name="Content Placeholder 2">
            <a:extLst>
              <a:ext uri="{FF2B5EF4-FFF2-40B4-BE49-F238E27FC236}">
                <a16:creationId xmlns:a16="http://schemas.microsoft.com/office/drawing/2014/main" id="{A3045B6E-D962-B867-61EE-E647CA4E4A88}"/>
              </a:ext>
            </a:extLst>
          </p:cNvPr>
          <p:cNvSpPr>
            <a:spLocks noGrp="1"/>
          </p:cNvSpPr>
          <p:nvPr>
            <p:ph idx="1"/>
          </p:nvPr>
        </p:nvSpPr>
        <p:spPr/>
        <p:txBody>
          <a:bodyPr/>
          <a:lstStyle/>
          <a:p>
            <a:r>
              <a:rPr lang="en-US" dirty="0"/>
              <a:t>Note down all the reasons why you think it is important to be able to decompose (break down) big problems into discrete sub-problems</a:t>
            </a:r>
          </a:p>
          <a:p>
            <a:r>
              <a:rPr lang="en-US" dirty="0"/>
              <a:t>Think about it both from the point of view of problem solving in general and software development in particular</a:t>
            </a:r>
          </a:p>
          <a:p>
            <a:r>
              <a:rPr lang="en-US" dirty="0"/>
              <a:t>Consider what you know about version control and best practices in your notes</a:t>
            </a:r>
          </a:p>
        </p:txBody>
      </p:sp>
    </p:spTree>
    <p:extLst>
      <p:ext uri="{BB962C8B-B14F-4D97-AF65-F5344CB8AC3E}">
        <p14:creationId xmlns:p14="http://schemas.microsoft.com/office/powerpoint/2010/main" val="1704313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C1AA2-CCFC-36E1-5A6B-D3AAA314BE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8D743-1111-481E-9B16-4CF61FB0F40D}"/>
              </a:ext>
            </a:extLst>
          </p:cNvPr>
          <p:cNvSpPr>
            <a:spLocks noGrp="1"/>
          </p:cNvSpPr>
          <p:nvPr>
            <p:ph type="title"/>
          </p:nvPr>
        </p:nvSpPr>
        <p:spPr/>
        <p:txBody>
          <a:bodyPr/>
          <a:lstStyle/>
          <a:p>
            <a:r>
              <a:rPr lang="en-AU" dirty="0"/>
              <a:t>Introduction</a:t>
            </a:r>
          </a:p>
        </p:txBody>
      </p:sp>
      <p:sp>
        <p:nvSpPr>
          <p:cNvPr id="3" name="Text Placeholder 2">
            <a:extLst>
              <a:ext uri="{FF2B5EF4-FFF2-40B4-BE49-F238E27FC236}">
                <a16:creationId xmlns:a16="http://schemas.microsoft.com/office/drawing/2014/main" id="{A0D8AE69-7EC6-B7CD-E8E2-949F29A9BA31}"/>
              </a:ext>
            </a:extLst>
          </p:cNvPr>
          <p:cNvSpPr>
            <a:spLocks noGrp="1"/>
          </p:cNvSpPr>
          <p:nvPr>
            <p:ph type="body" idx="1"/>
          </p:nvPr>
        </p:nvSpPr>
        <p:spPr/>
        <p:txBody>
          <a:bodyPr/>
          <a:lstStyle/>
          <a:p>
            <a:r>
              <a:rPr lang="en-AU" dirty="0"/>
              <a:t>Session 1</a:t>
            </a:r>
          </a:p>
        </p:txBody>
      </p:sp>
    </p:spTree>
    <p:extLst>
      <p:ext uri="{BB962C8B-B14F-4D97-AF65-F5344CB8AC3E}">
        <p14:creationId xmlns:p14="http://schemas.microsoft.com/office/powerpoint/2010/main" val="556354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A2197-7346-29F7-6579-09C2358D3BAC}"/>
              </a:ext>
            </a:extLst>
          </p:cNvPr>
          <p:cNvSpPr>
            <a:spLocks noGrp="1"/>
          </p:cNvSpPr>
          <p:nvPr>
            <p:ph type="title"/>
          </p:nvPr>
        </p:nvSpPr>
        <p:spPr/>
        <p:txBody>
          <a:bodyPr/>
          <a:lstStyle/>
          <a:p>
            <a:r>
              <a:rPr lang="en-US" dirty="0"/>
              <a:t>Object Oriented Programming</a:t>
            </a:r>
          </a:p>
        </p:txBody>
      </p:sp>
      <p:sp>
        <p:nvSpPr>
          <p:cNvPr id="3" name="Content Placeholder 2">
            <a:extLst>
              <a:ext uri="{FF2B5EF4-FFF2-40B4-BE49-F238E27FC236}">
                <a16:creationId xmlns:a16="http://schemas.microsoft.com/office/drawing/2014/main" id="{E3D3C3DE-0A8E-7025-187D-4F718CB5B5FA}"/>
              </a:ext>
            </a:extLst>
          </p:cNvPr>
          <p:cNvSpPr>
            <a:spLocks noGrp="1"/>
          </p:cNvSpPr>
          <p:nvPr>
            <p:ph idx="1"/>
          </p:nvPr>
        </p:nvSpPr>
        <p:spPr/>
        <p:txBody>
          <a:bodyPr/>
          <a:lstStyle/>
          <a:p>
            <a:r>
              <a:rPr lang="en-US" dirty="0"/>
              <a:t>Programming Paradigms</a:t>
            </a:r>
          </a:p>
          <a:p>
            <a:r>
              <a:rPr lang="en-US" dirty="0"/>
              <a:t>What kind of problems is OOP trying to solve?</a:t>
            </a:r>
          </a:p>
          <a:p>
            <a:r>
              <a:rPr lang="en-US" dirty="0"/>
              <a:t>The challenges of learning OOP</a:t>
            </a:r>
          </a:p>
          <a:p>
            <a:r>
              <a:rPr lang="en-US" dirty="0"/>
              <a:t>Basic OOP in Python</a:t>
            </a:r>
          </a:p>
          <a:p>
            <a:endParaRPr lang="en-US" dirty="0"/>
          </a:p>
        </p:txBody>
      </p:sp>
    </p:spTree>
    <p:extLst>
      <p:ext uri="{BB962C8B-B14F-4D97-AF65-F5344CB8AC3E}">
        <p14:creationId xmlns:p14="http://schemas.microsoft.com/office/powerpoint/2010/main" val="1409557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CD9C-F2F1-D7CE-D299-985C9B5B5CD8}"/>
              </a:ext>
            </a:extLst>
          </p:cNvPr>
          <p:cNvSpPr>
            <a:spLocks noGrp="1"/>
          </p:cNvSpPr>
          <p:nvPr>
            <p:ph type="title"/>
          </p:nvPr>
        </p:nvSpPr>
        <p:spPr/>
        <p:txBody>
          <a:bodyPr/>
          <a:lstStyle/>
          <a:p>
            <a:r>
              <a:rPr lang="en-US" dirty="0"/>
              <a:t>Programming facts</a:t>
            </a:r>
          </a:p>
        </p:txBody>
      </p:sp>
      <p:sp>
        <p:nvSpPr>
          <p:cNvPr id="3" name="Content Placeholder 2">
            <a:extLst>
              <a:ext uri="{FF2B5EF4-FFF2-40B4-BE49-F238E27FC236}">
                <a16:creationId xmlns:a16="http://schemas.microsoft.com/office/drawing/2014/main" id="{733CA759-26C0-512D-E1E0-C007AF17BB54}"/>
              </a:ext>
            </a:extLst>
          </p:cNvPr>
          <p:cNvSpPr>
            <a:spLocks noGrp="1"/>
          </p:cNvSpPr>
          <p:nvPr>
            <p:ph idx="1"/>
          </p:nvPr>
        </p:nvSpPr>
        <p:spPr/>
        <p:txBody>
          <a:bodyPr/>
          <a:lstStyle/>
          <a:p>
            <a:r>
              <a:rPr lang="en-US" dirty="0"/>
              <a:t>Programming is complex</a:t>
            </a:r>
          </a:p>
          <a:p>
            <a:r>
              <a:rPr lang="en-US" dirty="0"/>
              <a:t>Programming is inventive</a:t>
            </a:r>
          </a:p>
          <a:p>
            <a:r>
              <a:rPr lang="en-US" dirty="0"/>
              <a:t>Programming is collaborative</a:t>
            </a:r>
          </a:p>
          <a:p>
            <a:r>
              <a:rPr lang="en-US" dirty="0"/>
              <a:t>Programming is </a:t>
            </a:r>
            <a:r>
              <a:rPr lang="en-US" b="1" dirty="0"/>
              <a:t>combinatorial</a:t>
            </a:r>
            <a:r>
              <a:rPr lang="en-US" dirty="0"/>
              <a:t> </a:t>
            </a:r>
          </a:p>
        </p:txBody>
      </p:sp>
      <p:sp>
        <p:nvSpPr>
          <p:cNvPr id="4" name="TextBox 3">
            <a:extLst>
              <a:ext uri="{FF2B5EF4-FFF2-40B4-BE49-F238E27FC236}">
                <a16:creationId xmlns:a16="http://schemas.microsoft.com/office/drawing/2014/main" id="{19082662-0C51-494F-17CB-6796F81705CC}"/>
              </a:ext>
            </a:extLst>
          </p:cNvPr>
          <p:cNvSpPr txBox="1"/>
          <p:nvPr/>
        </p:nvSpPr>
        <p:spPr>
          <a:xfrm>
            <a:off x="1169811" y="4876800"/>
            <a:ext cx="9852377" cy="523220"/>
          </a:xfrm>
          <a:prstGeom prst="rect">
            <a:avLst/>
          </a:prstGeom>
          <a:noFill/>
        </p:spPr>
        <p:txBody>
          <a:bodyPr wrap="none" rtlCol="0">
            <a:spAutoFit/>
          </a:bodyPr>
          <a:lstStyle/>
          <a:p>
            <a:r>
              <a:rPr lang="en-US" sz="2800" b="1" dirty="0">
                <a:solidFill>
                  <a:schemeClr val="bg1"/>
                </a:solidFill>
              </a:rPr>
              <a:t>The larger the program, the more apparent this becomes</a:t>
            </a:r>
          </a:p>
        </p:txBody>
      </p:sp>
    </p:spTree>
    <p:extLst>
      <p:ext uri="{BB962C8B-B14F-4D97-AF65-F5344CB8AC3E}">
        <p14:creationId xmlns:p14="http://schemas.microsoft.com/office/powerpoint/2010/main" val="3770281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EE327-FF01-BB73-08F9-37352FFE4E1A}"/>
              </a:ext>
            </a:extLst>
          </p:cNvPr>
          <p:cNvSpPr>
            <a:spLocks noGrp="1"/>
          </p:cNvSpPr>
          <p:nvPr>
            <p:ph type="title"/>
          </p:nvPr>
        </p:nvSpPr>
        <p:spPr/>
        <p:txBody>
          <a:bodyPr/>
          <a:lstStyle/>
          <a:p>
            <a:r>
              <a:rPr lang="en-US" dirty="0"/>
              <a:t>Addressing the challenges</a:t>
            </a:r>
          </a:p>
        </p:txBody>
      </p:sp>
      <p:sp>
        <p:nvSpPr>
          <p:cNvPr id="3" name="Content Placeholder 2">
            <a:extLst>
              <a:ext uri="{FF2B5EF4-FFF2-40B4-BE49-F238E27FC236}">
                <a16:creationId xmlns:a16="http://schemas.microsoft.com/office/drawing/2014/main" id="{B2023B86-5B4D-9C9C-2BB2-6BD48240ECFF}"/>
              </a:ext>
            </a:extLst>
          </p:cNvPr>
          <p:cNvSpPr>
            <a:spLocks noGrp="1"/>
          </p:cNvSpPr>
          <p:nvPr>
            <p:ph idx="1"/>
          </p:nvPr>
        </p:nvSpPr>
        <p:spPr/>
        <p:txBody>
          <a:bodyPr/>
          <a:lstStyle/>
          <a:p>
            <a:r>
              <a:rPr lang="en-US" dirty="0"/>
              <a:t>Since the origins of programming, programmers and scientists have tried to identify concepts and patterns to help address these challenges</a:t>
            </a:r>
          </a:p>
        </p:txBody>
      </p:sp>
    </p:spTree>
    <p:extLst>
      <p:ext uri="{BB962C8B-B14F-4D97-AF65-F5344CB8AC3E}">
        <p14:creationId xmlns:p14="http://schemas.microsoft.com/office/powerpoint/2010/main" val="3164554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EE327-FF01-BB73-08F9-37352FFE4E1A}"/>
              </a:ext>
            </a:extLst>
          </p:cNvPr>
          <p:cNvSpPr>
            <a:spLocks noGrp="1"/>
          </p:cNvSpPr>
          <p:nvPr>
            <p:ph type="title"/>
          </p:nvPr>
        </p:nvSpPr>
        <p:spPr/>
        <p:txBody>
          <a:bodyPr/>
          <a:lstStyle/>
          <a:p>
            <a:r>
              <a:rPr lang="en-US" dirty="0"/>
              <a:t>Addressing the challenges</a:t>
            </a:r>
          </a:p>
        </p:txBody>
      </p:sp>
      <p:sp>
        <p:nvSpPr>
          <p:cNvPr id="3" name="Content Placeholder 2">
            <a:extLst>
              <a:ext uri="{FF2B5EF4-FFF2-40B4-BE49-F238E27FC236}">
                <a16:creationId xmlns:a16="http://schemas.microsoft.com/office/drawing/2014/main" id="{B2023B86-5B4D-9C9C-2BB2-6BD48240ECFF}"/>
              </a:ext>
            </a:extLst>
          </p:cNvPr>
          <p:cNvSpPr>
            <a:spLocks noGrp="1"/>
          </p:cNvSpPr>
          <p:nvPr>
            <p:ph idx="1"/>
          </p:nvPr>
        </p:nvSpPr>
        <p:spPr/>
        <p:txBody>
          <a:bodyPr/>
          <a:lstStyle/>
          <a:p>
            <a:r>
              <a:rPr lang="en-US" b="1" dirty="0"/>
              <a:t>Modularity</a:t>
            </a:r>
            <a:r>
              <a:rPr lang="en-US" dirty="0"/>
              <a:t> :</a:t>
            </a:r>
          </a:p>
          <a:p>
            <a:pPr lvl="1"/>
            <a:r>
              <a:rPr lang="en-US" dirty="0"/>
              <a:t>Identifying clear boundaries within an application with discrete responsibilities</a:t>
            </a:r>
          </a:p>
          <a:p>
            <a:r>
              <a:rPr lang="en-US" b="1" dirty="0"/>
              <a:t>Decomposition</a:t>
            </a:r>
            <a:r>
              <a:rPr lang="en-US" dirty="0"/>
              <a:t> :</a:t>
            </a:r>
          </a:p>
          <a:p>
            <a:pPr lvl="1"/>
            <a:r>
              <a:rPr lang="en-US" dirty="0"/>
              <a:t>Making one big problem into lots of smaller problems</a:t>
            </a:r>
          </a:p>
          <a:p>
            <a:r>
              <a:rPr lang="en-US" b="1" dirty="0"/>
              <a:t>Reuse:</a:t>
            </a:r>
          </a:p>
          <a:p>
            <a:pPr lvl="1"/>
            <a:r>
              <a:rPr lang="en-US" b="1" dirty="0"/>
              <a:t>Finding multiple contexts and applications for the same code</a:t>
            </a:r>
          </a:p>
        </p:txBody>
      </p:sp>
    </p:spTree>
    <p:extLst>
      <p:ext uri="{BB962C8B-B14F-4D97-AF65-F5344CB8AC3E}">
        <p14:creationId xmlns:p14="http://schemas.microsoft.com/office/powerpoint/2010/main" val="3563943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8F420-2C38-EA2D-D942-3F967251EA33}"/>
              </a:ext>
            </a:extLst>
          </p:cNvPr>
          <p:cNvSpPr>
            <a:spLocks noGrp="1"/>
          </p:cNvSpPr>
          <p:nvPr>
            <p:ph type="title"/>
          </p:nvPr>
        </p:nvSpPr>
        <p:spPr/>
        <p:txBody>
          <a:bodyPr/>
          <a:lstStyle/>
          <a:p>
            <a:r>
              <a:rPr lang="en-US" dirty="0"/>
              <a:t>Programming Paradigms*</a:t>
            </a:r>
          </a:p>
        </p:txBody>
      </p:sp>
      <p:sp>
        <p:nvSpPr>
          <p:cNvPr id="3" name="Content Placeholder 2">
            <a:extLst>
              <a:ext uri="{FF2B5EF4-FFF2-40B4-BE49-F238E27FC236}">
                <a16:creationId xmlns:a16="http://schemas.microsoft.com/office/drawing/2014/main" id="{ADFE8742-B501-D785-C757-5E8BF77DD621}"/>
              </a:ext>
            </a:extLst>
          </p:cNvPr>
          <p:cNvSpPr>
            <a:spLocks noGrp="1"/>
          </p:cNvSpPr>
          <p:nvPr>
            <p:ph idx="1"/>
          </p:nvPr>
        </p:nvSpPr>
        <p:spPr/>
        <p:txBody>
          <a:bodyPr/>
          <a:lstStyle/>
          <a:p>
            <a:r>
              <a:rPr lang="en-US" dirty="0"/>
              <a:t>Procedural</a:t>
            </a:r>
          </a:p>
          <a:p>
            <a:r>
              <a:rPr lang="en-US" dirty="0"/>
              <a:t>Functional</a:t>
            </a:r>
          </a:p>
          <a:p>
            <a:r>
              <a:rPr lang="en-US" dirty="0"/>
              <a:t>Object-Oriented</a:t>
            </a:r>
          </a:p>
          <a:p>
            <a:r>
              <a:rPr lang="en-US" dirty="0"/>
              <a:t>Event-Oriented</a:t>
            </a:r>
          </a:p>
          <a:p>
            <a:r>
              <a:rPr lang="en-US" dirty="0"/>
              <a:t>More…</a:t>
            </a:r>
          </a:p>
          <a:p>
            <a:endParaRPr lang="en-US" dirty="0"/>
          </a:p>
        </p:txBody>
      </p:sp>
      <p:sp>
        <p:nvSpPr>
          <p:cNvPr id="4" name="TextBox 3">
            <a:extLst>
              <a:ext uri="{FF2B5EF4-FFF2-40B4-BE49-F238E27FC236}">
                <a16:creationId xmlns:a16="http://schemas.microsoft.com/office/drawing/2014/main" id="{16EF6C31-19EF-92EB-054D-99C30AAE22C8}"/>
              </a:ext>
            </a:extLst>
          </p:cNvPr>
          <p:cNvSpPr txBox="1"/>
          <p:nvPr/>
        </p:nvSpPr>
        <p:spPr>
          <a:xfrm>
            <a:off x="6574971" y="6173442"/>
            <a:ext cx="6096000" cy="369332"/>
          </a:xfrm>
          <a:prstGeom prst="rect">
            <a:avLst/>
          </a:prstGeom>
          <a:noFill/>
        </p:spPr>
        <p:txBody>
          <a:bodyPr wrap="square">
            <a:spAutoFit/>
          </a:bodyPr>
          <a:lstStyle/>
          <a:p>
            <a:r>
              <a:rPr lang="en-US" dirty="0">
                <a:solidFill>
                  <a:schemeClr val="bg1"/>
                </a:solidFill>
              </a:rPr>
              <a:t>*distinct set of organized concepts/thought patterns</a:t>
            </a:r>
          </a:p>
        </p:txBody>
      </p:sp>
    </p:spTree>
    <p:extLst>
      <p:ext uri="{BB962C8B-B14F-4D97-AF65-F5344CB8AC3E}">
        <p14:creationId xmlns:p14="http://schemas.microsoft.com/office/powerpoint/2010/main" val="1849430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8F420-2C38-EA2D-D942-3F967251EA33}"/>
              </a:ext>
            </a:extLst>
          </p:cNvPr>
          <p:cNvSpPr>
            <a:spLocks noGrp="1"/>
          </p:cNvSpPr>
          <p:nvPr>
            <p:ph type="title"/>
          </p:nvPr>
        </p:nvSpPr>
        <p:spPr/>
        <p:txBody>
          <a:bodyPr/>
          <a:lstStyle/>
          <a:p>
            <a:r>
              <a:rPr lang="en-US" dirty="0"/>
              <a:t>Programming Paradigms</a:t>
            </a:r>
          </a:p>
        </p:txBody>
      </p:sp>
      <p:sp>
        <p:nvSpPr>
          <p:cNvPr id="3" name="Content Placeholder 2">
            <a:extLst>
              <a:ext uri="{FF2B5EF4-FFF2-40B4-BE49-F238E27FC236}">
                <a16:creationId xmlns:a16="http://schemas.microsoft.com/office/drawing/2014/main" id="{ADFE8742-B501-D785-C757-5E8BF77DD621}"/>
              </a:ext>
            </a:extLst>
          </p:cNvPr>
          <p:cNvSpPr>
            <a:spLocks noGrp="1"/>
          </p:cNvSpPr>
          <p:nvPr>
            <p:ph idx="1"/>
          </p:nvPr>
        </p:nvSpPr>
        <p:spPr/>
        <p:txBody>
          <a:bodyPr/>
          <a:lstStyle/>
          <a:p>
            <a:r>
              <a:rPr lang="en-US" dirty="0">
                <a:solidFill>
                  <a:schemeClr val="tx1">
                    <a:lumMod val="75000"/>
                    <a:lumOff val="25000"/>
                  </a:schemeClr>
                </a:solidFill>
              </a:rPr>
              <a:t>Procedural</a:t>
            </a:r>
          </a:p>
          <a:p>
            <a:r>
              <a:rPr lang="en-US" dirty="0">
                <a:solidFill>
                  <a:schemeClr val="tx1">
                    <a:lumMod val="75000"/>
                    <a:lumOff val="25000"/>
                  </a:schemeClr>
                </a:solidFill>
              </a:rPr>
              <a:t>Functional</a:t>
            </a:r>
          </a:p>
          <a:p>
            <a:r>
              <a:rPr lang="en-US" dirty="0">
                <a:solidFill>
                  <a:schemeClr val="tx1">
                    <a:lumMod val="75000"/>
                    <a:lumOff val="25000"/>
                  </a:schemeClr>
                </a:solidFill>
              </a:rPr>
              <a:t>Object-Oriented</a:t>
            </a:r>
          </a:p>
          <a:p>
            <a:r>
              <a:rPr lang="en-US" dirty="0">
                <a:solidFill>
                  <a:schemeClr val="tx1">
                    <a:lumMod val="75000"/>
                    <a:lumOff val="25000"/>
                  </a:schemeClr>
                </a:solidFill>
              </a:rPr>
              <a:t>Event-Oriented</a:t>
            </a:r>
          </a:p>
          <a:p>
            <a:r>
              <a:rPr lang="en-US" dirty="0">
                <a:solidFill>
                  <a:schemeClr val="tx1">
                    <a:lumMod val="75000"/>
                    <a:lumOff val="25000"/>
                  </a:schemeClr>
                </a:solidFill>
              </a:rPr>
              <a:t>More…</a:t>
            </a:r>
          </a:p>
          <a:p>
            <a:endParaRPr lang="en-US" dirty="0">
              <a:solidFill>
                <a:schemeClr val="tx1">
                  <a:lumMod val="75000"/>
                  <a:lumOff val="25000"/>
                </a:schemeClr>
              </a:solidFill>
            </a:endParaRPr>
          </a:p>
        </p:txBody>
      </p:sp>
      <p:sp>
        <p:nvSpPr>
          <p:cNvPr id="4" name="TextBox 3">
            <a:extLst>
              <a:ext uri="{FF2B5EF4-FFF2-40B4-BE49-F238E27FC236}">
                <a16:creationId xmlns:a16="http://schemas.microsoft.com/office/drawing/2014/main" id="{AC3B70E0-041D-941B-9390-9524A6B688EA}"/>
              </a:ext>
            </a:extLst>
          </p:cNvPr>
          <p:cNvSpPr txBox="1"/>
          <p:nvPr/>
        </p:nvSpPr>
        <p:spPr>
          <a:xfrm>
            <a:off x="2190227" y="2615776"/>
            <a:ext cx="7811545" cy="2677656"/>
          </a:xfrm>
          <a:prstGeom prst="rect">
            <a:avLst/>
          </a:prstGeom>
          <a:solidFill>
            <a:schemeClr val="tx1"/>
          </a:solidFill>
          <a:ln>
            <a:solidFill>
              <a:schemeClr val="bg1"/>
            </a:solidFill>
          </a:ln>
        </p:spPr>
        <p:txBody>
          <a:bodyPr wrap="square" rtlCol="0">
            <a:spAutoFit/>
          </a:bodyPr>
          <a:lstStyle/>
          <a:p>
            <a:r>
              <a:rPr lang="en-US" sz="2800" dirty="0">
                <a:solidFill>
                  <a:schemeClr val="bg1"/>
                </a:solidFill>
              </a:rPr>
              <a:t>They are designed to help solve the problem of </a:t>
            </a:r>
            <a:r>
              <a:rPr lang="en-US" sz="2800" b="1" dirty="0">
                <a:solidFill>
                  <a:schemeClr val="bg1"/>
                </a:solidFill>
              </a:rPr>
              <a:t>modularity</a:t>
            </a:r>
            <a:r>
              <a:rPr lang="en-US" sz="2800" dirty="0">
                <a:solidFill>
                  <a:schemeClr val="bg1"/>
                </a:solidFill>
              </a:rPr>
              <a:t>, </a:t>
            </a:r>
            <a:r>
              <a:rPr lang="en-US" sz="2800" b="1" dirty="0">
                <a:solidFill>
                  <a:schemeClr val="bg1"/>
                </a:solidFill>
              </a:rPr>
              <a:t>decomposition</a:t>
            </a:r>
            <a:r>
              <a:rPr lang="en-US" sz="2800" dirty="0">
                <a:solidFill>
                  <a:schemeClr val="bg1"/>
                </a:solidFill>
              </a:rPr>
              <a:t>, and </a:t>
            </a:r>
            <a:r>
              <a:rPr lang="en-US" sz="2800" b="1" dirty="0">
                <a:solidFill>
                  <a:schemeClr val="bg1"/>
                </a:solidFill>
              </a:rPr>
              <a:t>reuse</a:t>
            </a:r>
            <a:r>
              <a:rPr lang="en-US" sz="2800" dirty="0">
                <a:solidFill>
                  <a:schemeClr val="bg1"/>
                </a:solidFill>
              </a:rPr>
              <a:t>. </a:t>
            </a:r>
            <a:br>
              <a:rPr lang="en-US" sz="2800" dirty="0">
                <a:solidFill>
                  <a:schemeClr val="bg1"/>
                </a:solidFill>
              </a:rPr>
            </a:br>
            <a:br>
              <a:rPr lang="en-US" sz="2800" dirty="0">
                <a:solidFill>
                  <a:schemeClr val="bg1"/>
                </a:solidFill>
              </a:rPr>
            </a:br>
            <a:r>
              <a:rPr lang="en-US" sz="2800" dirty="0">
                <a:solidFill>
                  <a:schemeClr val="bg1"/>
                </a:solidFill>
              </a:rPr>
              <a:t>In other words, </a:t>
            </a:r>
            <a:r>
              <a:rPr lang="en-US" sz="2800" b="1" dirty="0">
                <a:solidFill>
                  <a:schemeClr val="bg1"/>
                </a:solidFill>
              </a:rPr>
              <a:t>they are attempts at solving the problem of </a:t>
            </a:r>
            <a:r>
              <a:rPr lang="en-US" sz="2800" b="1" u="sng" dirty="0">
                <a:solidFill>
                  <a:schemeClr val="bg1"/>
                </a:solidFill>
              </a:rPr>
              <a:t>how</a:t>
            </a:r>
            <a:r>
              <a:rPr lang="en-US" sz="2800" b="1" dirty="0">
                <a:solidFill>
                  <a:schemeClr val="bg1"/>
                </a:solidFill>
              </a:rPr>
              <a:t> to solve programming problems.</a:t>
            </a:r>
          </a:p>
        </p:txBody>
      </p:sp>
    </p:spTree>
    <p:extLst>
      <p:ext uri="{BB962C8B-B14F-4D97-AF65-F5344CB8AC3E}">
        <p14:creationId xmlns:p14="http://schemas.microsoft.com/office/powerpoint/2010/main" val="3357968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8F420-2C38-EA2D-D942-3F967251EA33}"/>
              </a:ext>
            </a:extLst>
          </p:cNvPr>
          <p:cNvSpPr>
            <a:spLocks noGrp="1"/>
          </p:cNvSpPr>
          <p:nvPr>
            <p:ph type="title"/>
          </p:nvPr>
        </p:nvSpPr>
        <p:spPr/>
        <p:txBody>
          <a:bodyPr/>
          <a:lstStyle/>
          <a:p>
            <a:r>
              <a:rPr lang="en-US" dirty="0"/>
              <a:t>Hot (controversial) take</a:t>
            </a:r>
          </a:p>
        </p:txBody>
      </p:sp>
      <p:sp>
        <p:nvSpPr>
          <p:cNvPr id="4" name="TextBox 3">
            <a:extLst>
              <a:ext uri="{FF2B5EF4-FFF2-40B4-BE49-F238E27FC236}">
                <a16:creationId xmlns:a16="http://schemas.microsoft.com/office/drawing/2014/main" id="{AC3B70E0-041D-941B-9390-9524A6B688EA}"/>
              </a:ext>
            </a:extLst>
          </p:cNvPr>
          <p:cNvSpPr txBox="1"/>
          <p:nvPr/>
        </p:nvSpPr>
        <p:spPr>
          <a:xfrm>
            <a:off x="2393428" y="2949606"/>
            <a:ext cx="7811545" cy="1815882"/>
          </a:xfrm>
          <a:prstGeom prst="rect">
            <a:avLst/>
          </a:prstGeom>
          <a:solidFill>
            <a:schemeClr val="tx1"/>
          </a:solidFill>
          <a:ln w="28575">
            <a:solidFill>
              <a:schemeClr val="bg1"/>
            </a:solidFill>
          </a:ln>
        </p:spPr>
        <p:txBody>
          <a:bodyPr wrap="square" rtlCol="0">
            <a:spAutoFit/>
          </a:bodyPr>
          <a:lstStyle/>
          <a:p>
            <a:r>
              <a:rPr lang="en-US" sz="2800" dirty="0">
                <a:solidFill>
                  <a:schemeClr val="bg1"/>
                </a:solidFill>
              </a:rPr>
              <a:t>OOP is possibly the </a:t>
            </a:r>
            <a:r>
              <a:rPr lang="en-US" sz="2800" i="1" dirty="0">
                <a:solidFill>
                  <a:schemeClr val="bg1"/>
                </a:solidFill>
              </a:rPr>
              <a:t>least</a:t>
            </a:r>
            <a:r>
              <a:rPr lang="en-US" sz="2800" dirty="0">
                <a:solidFill>
                  <a:schemeClr val="bg1"/>
                </a:solidFill>
              </a:rPr>
              <a:t> intuitive of these patterns. But it was far and away the most dominant throughout most of the late 90’s and 2000’s and remains dominant to this day.</a:t>
            </a:r>
            <a:endParaRPr lang="en-US" sz="2800" b="1" dirty="0">
              <a:solidFill>
                <a:schemeClr val="bg1"/>
              </a:solidFill>
            </a:endParaRPr>
          </a:p>
        </p:txBody>
      </p:sp>
      <p:sp>
        <p:nvSpPr>
          <p:cNvPr id="7" name="Triangle 6">
            <a:extLst>
              <a:ext uri="{FF2B5EF4-FFF2-40B4-BE49-F238E27FC236}">
                <a16:creationId xmlns:a16="http://schemas.microsoft.com/office/drawing/2014/main" id="{B7650B4C-A466-4CAC-5AF2-50C5971F01FE}"/>
              </a:ext>
            </a:extLst>
          </p:cNvPr>
          <p:cNvSpPr/>
          <p:nvPr/>
        </p:nvSpPr>
        <p:spPr>
          <a:xfrm>
            <a:off x="9637485" y="4227286"/>
            <a:ext cx="538459" cy="506717"/>
          </a:xfrm>
          <a:prstGeom prst="triangle">
            <a:avLst>
              <a:gd name="adj" fmla="val 100000"/>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59608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8F420-2C38-EA2D-D942-3F967251EA33}"/>
              </a:ext>
            </a:extLst>
          </p:cNvPr>
          <p:cNvSpPr>
            <a:spLocks noGrp="1"/>
          </p:cNvSpPr>
          <p:nvPr>
            <p:ph type="title"/>
          </p:nvPr>
        </p:nvSpPr>
        <p:spPr/>
        <p:txBody>
          <a:bodyPr/>
          <a:lstStyle/>
          <a:p>
            <a:r>
              <a:rPr lang="en-US" dirty="0"/>
              <a:t>Object-Oriented</a:t>
            </a:r>
          </a:p>
        </p:txBody>
      </p:sp>
      <p:sp>
        <p:nvSpPr>
          <p:cNvPr id="3" name="Content Placeholder 2">
            <a:extLst>
              <a:ext uri="{FF2B5EF4-FFF2-40B4-BE49-F238E27FC236}">
                <a16:creationId xmlns:a16="http://schemas.microsoft.com/office/drawing/2014/main" id="{ADFE8742-B501-D785-C757-5E8BF77DD621}"/>
              </a:ext>
            </a:extLst>
          </p:cNvPr>
          <p:cNvSpPr>
            <a:spLocks noGrp="1"/>
          </p:cNvSpPr>
          <p:nvPr>
            <p:ph idx="1"/>
          </p:nvPr>
        </p:nvSpPr>
        <p:spPr/>
        <p:txBody>
          <a:bodyPr/>
          <a:lstStyle/>
          <a:p>
            <a:r>
              <a:rPr lang="en-US" dirty="0"/>
              <a:t>Focus on the </a:t>
            </a:r>
            <a:r>
              <a:rPr lang="en-US" b="1" dirty="0"/>
              <a:t>things</a:t>
            </a:r>
            <a:r>
              <a:rPr lang="en-US" dirty="0"/>
              <a:t> in your problem domain</a:t>
            </a:r>
          </a:p>
          <a:p>
            <a:r>
              <a:rPr lang="en-US" dirty="0"/>
              <a:t>Define their attributes and behaviors</a:t>
            </a:r>
          </a:p>
          <a:p>
            <a:pPr lvl="1"/>
            <a:r>
              <a:rPr lang="en-US" dirty="0"/>
              <a:t>A grouping of related attributes and behaviors is called an object</a:t>
            </a:r>
          </a:p>
          <a:p>
            <a:r>
              <a:rPr lang="en-US" dirty="0"/>
              <a:t>Objects interact with each other through clearly defined </a:t>
            </a:r>
            <a:r>
              <a:rPr lang="en-US" b="1" dirty="0"/>
              <a:t>boundaries</a:t>
            </a:r>
          </a:p>
          <a:p>
            <a:pPr marL="0" indent="0">
              <a:buNone/>
            </a:pPr>
            <a:endParaRPr lang="en-US" b="1" dirty="0"/>
          </a:p>
          <a:p>
            <a:endParaRPr lang="en-US" dirty="0"/>
          </a:p>
          <a:p>
            <a:endParaRPr lang="en-US" dirty="0"/>
          </a:p>
          <a:p>
            <a:endParaRPr lang="en-US" dirty="0"/>
          </a:p>
        </p:txBody>
      </p:sp>
    </p:spTree>
    <p:extLst>
      <p:ext uri="{BB962C8B-B14F-4D97-AF65-F5344CB8AC3E}">
        <p14:creationId xmlns:p14="http://schemas.microsoft.com/office/powerpoint/2010/main" val="446250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omestic cat">
            <a:extLst>
              <a:ext uri="{FF2B5EF4-FFF2-40B4-BE49-F238E27FC236}">
                <a16:creationId xmlns:a16="http://schemas.microsoft.com/office/drawing/2014/main" id="{6C547E4D-DA45-9F79-3448-9429D7810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98171"/>
            <a:ext cx="5159829" cy="51598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E69E87-67E6-06DE-278F-84024E59E857}"/>
              </a:ext>
            </a:extLst>
          </p:cNvPr>
          <p:cNvSpPr txBox="1"/>
          <p:nvPr/>
        </p:nvSpPr>
        <p:spPr>
          <a:xfrm>
            <a:off x="910771" y="1051840"/>
            <a:ext cx="2653290"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cat object</a:t>
            </a:r>
          </a:p>
        </p:txBody>
      </p:sp>
      <p:sp>
        <p:nvSpPr>
          <p:cNvPr id="5" name="TextBox 4">
            <a:extLst>
              <a:ext uri="{FF2B5EF4-FFF2-40B4-BE49-F238E27FC236}">
                <a16:creationId xmlns:a16="http://schemas.microsoft.com/office/drawing/2014/main" id="{018DC7CD-DC0B-BC8D-724F-9326EB8294B7}"/>
              </a:ext>
            </a:extLst>
          </p:cNvPr>
          <p:cNvSpPr txBox="1"/>
          <p:nvPr/>
        </p:nvSpPr>
        <p:spPr>
          <a:xfrm>
            <a:off x="4631068" y="1051840"/>
            <a:ext cx="2653290"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attributes</a:t>
            </a:r>
          </a:p>
        </p:txBody>
      </p:sp>
      <p:sp>
        <p:nvSpPr>
          <p:cNvPr id="6" name="TextBox 5">
            <a:extLst>
              <a:ext uri="{FF2B5EF4-FFF2-40B4-BE49-F238E27FC236}">
                <a16:creationId xmlns:a16="http://schemas.microsoft.com/office/drawing/2014/main" id="{E0693847-6D3B-6CD9-F307-5A4DFACE2BB9}"/>
              </a:ext>
            </a:extLst>
          </p:cNvPr>
          <p:cNvSpPr txBox="1"/>
          <p:nvPr/>
        </p:nvSpPr>
        <p:spPr>
          <a:xfrm>
            <a:off x="8351365" y="1051840"/>
            <a:ext cx="2406428"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behaviors</a:t>
            </a:r>
          </a:p>
        </p:txBody>
      </p:sp>
      <p:sp>
        <p:nvSpPr>
          <p:cNvPr id="7" name="TextBox 6">
            <a:extLst>
              <a:ext uri="{FF2B5EF4-FFF2-40B4-BE49-F238E27FC236}">
                <a16:creationId xmlns:a16="http://schemas.microsoft.com/office/drawing/2014/main" id="{DA1756ED-3E24-03FE-75F3-460482256DAC}"/>
              </a:ext>
            </a:extLst>
          </p:cNvPr>
          <p:cNvSpPr txBox="1"/>
          <p:nvPr/>
        </p:nvSpPr>
        <p:spPr>
          <a:xfrm>
            <a:off x="4626028" y="2228671"/>
            <a:ext cx="3192132" cy="1938992"/>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a (very) cute cat that is 2 years old and has a tabby coat and nine lives</a:t>
            </a:r>
          </a:p>
        </p:txBody>
      </p:sp>
      <p:sp>
        <p:nvSpPr>
          <p:cNvPr id="8" name="TextBox 7">
            <a:extLst>
              <a:ext uri="{FF2B5EF4-FFF2-40B4-BE49-F238E27FC236}">
                <a16:creationId xmlns:a16="http://schemas.microsoft.com/office/drawing/2014/main" id="{94225680-1073-690C-E3CA-579B79FF9F35}"/>
              </a:ext>
            </a:extLst>
          </p:cNvPr>
          <p:cNvSpPr txBox="1"/>
          <p:nvPr/>
        </p:nvSpPr>
        <p:spPr>
          <a:xfrm>
            <a:off x="8351365" y="2228671"/>
            <a:ext cx="3192132" cy="830997"/>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this cat can purr, meow, and eat</a:t>
            </a:r>
          </a:p>
        </p:txBody>
      </p:sp>
    </p:spTree>
    <p:extLst>
      <p:ext uri="{BB962C8B-B14F-4D97-AF65-F5344CB8AC3E}">
        <p14:creationId xmlns:p14="http://schemas.microsoft.com/office/powerpoint/2010/main" val="2814895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omestic cat">
            <a:extLst>
              <a:ext uri="{FF2B5EF4-FFF2-40B4-BE49-F238E27FC236}">
                <a16:creationId xmlns:a16="http://schemas.microsoft.com/office/drawing/2014/main" id="{6C547E4D-DA45-9F79-3448-9429D7810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98171"/>
            <a:ext cx="5159829" cy="51598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E69E87-67E6-06DE-278F-84024E59E857}"/>
              </a:ext>
            </a:extLst>
          </p:cNvPr>
          <p:cNvSpPr txBox="1"/>
          <p:nvPr/>
        </p:nvSpPr>
        <p:spPr>
          <a:xfrm>
            <a:off x="910771" y="1051840"/>
            <a:ext cx="2653290"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cat object</a:t>
            </a:r>
          </a:p>
        </p:txBody>
      </p:sp>
      <p:sp>
        <p:nvSpPr>
          <p:cNvPr id="5" name="TextBox 4">
            <a:extLst>
              <a:ext uri="{FF2B5EF4-FFF2-40B4-BE49-F238E27FC236}">
                <a16:creationId xmlns:a16="http://schemas.microsoft.com/office/drawing/2014/main" id="{018DC7CD-DC0B-BC8D-724F-9326EB8294B7}"/>
              </a:ext>
            </a:extLst>
          </p:cNvPr>
          <p:cNvSpPr txBox="1"/>
          <p:nvPr/>
        </p:nvSpPr>
        <p:spPr>
          <a:xfrm>
            <a:off x="4631068" y="1051840"/>
            <a:ext cx="2653290"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attributes</a:t>
            </a:r>
          </a:p>
        </p:txBody>
      </p:sp>
      <p:sp>
        <p:nvSpPr>
          <p:cNvPr id="6" name="TextBox 5">
            <a:extLst>
              <a:ext uri="{FF2B5EF4-FFF2-40B4-BE49-F238E27FC236}">
                <a16:creationId xmlns:a16="http://schemas.microsoft.com/office/drawing/2014/main" id="{E0693847-6D3B-6CD9-F307-5A4DFACE2BB9}"/>
              </a:ext>
            </a:extLst>
          </p:cNvPr>
          <p:cNvSpPr txBox="1"/>
          <p:nvPr/>
        </p:nvSpPr>
        <p:spPr>
          <a:xfrm>
            <a:off x="8351365" y="1051840"/>
            <a:ext cx="2406428"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behaviors</a:t>
            </a:r>
          </a:p>
        </p:txBody>
      </p:sp>
      <p:sp>
        <p:nvSpPr>
          <p:cNvPr id="7" name="TextBox 6">
            <a:extLst>
              <a:ext uri="{FF2B5EF4-FFF2-40B4-BE49-F238E27FC236}">
                <a16:creationId xmlns:a16="http://schemas.microsoft.com/office/drawing/2014/main" id="{DA1756ED-3E24-03FE-75F3-460482256DAC}"/>
              </a:ext>
            </a:extLst>
          </p:cNvPr>
          <p:cNvSpPr txBox="1"/>
          <p:nvPr/>
        </p:nvSpPr>
        <p:spPr>
          <a:xfrm>
            <a:off x="4626028" y="2228671"/>
            <a:ext cx="3192132" cy="1569660"/>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 </a:t>
            </a:r>
            <a:r>
              <a:rPr lang="en-US" sz="2400" dirty="0" err="1">
                <a:solidFill>
                  <a:schemeClr val="bg1"/>
                </a:solidFill>
                <a:latin typeface="3270-MEDIUM" panose="02000609000000000000" pitchFamily="49" charset="77"/>
                <a:ea typeface="3270-MEDIUM" panose="02000609000000000000" pitchFamily="49" charset="77"/>
              </a:rPr>
              <a:t>is_cute</a:t>
            </a:r>
            <a:r>
              <a:rPr lang="en-US" sz="2400" dirty="0">
                <a:solidFill>
                  <a:schemeClr val="bg1"/>
                </a:solidFill>
                <a:latin typeface="3270-MEDIUM" panose="02000609000000000000" pitchFamily="49" charset="77"/>
                <a:ea typeface="3270-MEDIUM" panose="02000609000000000000" pitchFamily="49" charset="77"/>
              </a:rPr>
              <a:t> = True</a:t>
            </a:r>
          </a:p>
          <a:p>
            <a:r>
              <a:rPr lang="en-US" sz="2400" dirty="0">
                <a:solidFill>
                  <a:schemeClr val="bg1"/>
                </a:solidFill>
                <a:latin typeface="3270-MEDIUM" panose="02000609000000000000" pitchFamily="49" charset="77"/>
                <a:ea typeface="3270-MEDIUM" panose="02000609000000000000" pitchFamily="49" charset="77"/>
              </a:rPr>
              <a:t>- age = 2</a:t>
            </a:r>
          </a:p>
          <a:p>
            <a:pPr marL="342900" indent="-342900">
              <a:buFontTx/>
              <a:buChar char="-"/>
            </a:pPr>
            <a:r>
              <a:rPr lang="en-US" sz="2400" dirty="0">
                <a:solidFill>
                  <a:schemeClr val="bg1"/>
                </a:solidFill>
                <a:latin typeface="3270-MEDIUM" panose="02000609000000000000" pitchFamily="49" charset="77"/>
                <a:ea typeface="3270-MEDIUM" panose="02000609000000000000" pitchFamily="49" charset="77"/>
              </a:rPr>
              <a:t>coat = ‘tabby’</a:t>
            </a:r>
          </a:p>
          <a:p>
            <a:pPr marL="342900" indent="-342900">
              <a:buFontTx/>
              <a:buChar char="-"/>
            </a:pPr>
            <a:r>
              <a:rPr lang="en-US" sz="2400" dirty="0">
                <a:solidFill>
                  <a:schemeClr val="bg1"/>
                </a:solidFill>
                <a:latin typeface="3270-MEDIUM" panose="02000609000000000000" pitchFamily="49" charset="77"/>
                <a:ea typeface="3270-MEDIUM" panose="02000609000000000000" pitchFamily="49" charset="77"/>
              </a:rPr>
              <a:t>lives = 9</a:t>
            </a:r>
          </a:p>
        </p:txBody>
      </p:sp>
      <p:sp>
        <p:nvSpPr>
          <p:cNvPr id="8" name="TextBox 7">
            <a:extLst>
              <a:ext uri="{FF2B5EF4-FFF2-40B4-BE49-F238E27FC236}">
                <a16:creationId xmlns:a16="http://schemas.microsoft.com/office/drawing/2014/main" id="{94225680-1073-690C-E3CA-579B79FF9F35}"/>
              </a:ext>
            </a:extLst>
          </p:cNvPr>
          <p:cNvSpPr txBox="1"/>
          <p:nvPr/>
        </p:nvSpPr>
        <p:spPr>
          <a:xfrm>
            <a:off x="8189791" y="2228671"/>
            <a:ext cx="3192132" cy="1200329"/>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“purr!”</a:t>
            </a:r>
          </a:p>
          <a:p>
            <a:r>
              <a:rPr lang="en-US" sz="2400" dirty="0">
                <a:solidFill>
                  <a:schemeClr val="bg1"/>
                </a:solidFill>
                <a:latin typeface="3270-MEDIUM" panose="02000609000000000000" pitchFamily="49" charset="77"/>
                <a:ea typeface="3270-MEDIUM" panose="02000609000000000000" pitchFamily="49" charset="77"/>
              </a:rPr>
              <a:t>“meow!”</a:t>
            </a:r>
          </a:p>
          <a:p>
            <a:r>
              <a:rPr lang="en-US" sz="2400" dirty="0">
                <a:solidFill>
                  <a:schemeClr val="bg1"/>
                </a:solidFill>
                <a:latin typeface="3270-MEDIUM" panose="02000609000000000000" pitchFamily="49" charset="77"/>
                <a:ea typeface="3270-MEDIUM" panose="02000609000000000000" pitchFamily="49" charset="77"/>
              </a:rPr>
              <a:t>“Gobble, gobble”</a:t>
            </a:r>
          </a:p>
        </p:txBody>
      </p:sp>
    </p:spTree>
    <p:extLst>
      <p:ext uri="{BB962C8B-B14F-4D97-AF65-F5344CB8AC3E}">
        <p14:creationId xmlns:p14="http://schemas.microsoft.com/office/powerpoint/2010/main" val="1350362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5C503-8D91-5248-B817-7EB32F721BA1}"/>
              </a:ext>
            </a:extLst>
          </p:cNvPr>
          <p:cNvSpPr>
            <a:spLocks noGrp="1"/>
          </p:cNvSpPr>
          <p:nvPr>
            <p:ph type="title"/>
          </p:nvPr>
        </p:nvSpPr>
        <p:spPr>
          <a:xfrm>
            <a:off x="609600" y="2927397"/>
            <a:ext cx="10972800" cy="1003205"/>
          </a:xfrm>
        </p:spPr>
        <p:txBody>
          <a:bodyPr>
            <a:normAutofit fontScale="90000"/>
          </a:bodyPr>
          <a:lstStyle/>
          <a:p>
            <a:r>
              <a:rPr lang="en-US" dirty="0"/>
              <a:t>Notice that the values change for each object, but we can say that all objects of a given type have these attributes and behaviors!</a:t>
            </a:r>
          </a:p>
        </p:txBody>
      </p:sp>
    </p:spTree>
    <p:extLst>
      <p:ext uri="{BB962C8B-B14F-4D97-AF65-F5344CB8AC3E}">
        <p14:creationId xmlns:p14="http://schemas.microsoft.com/office/powerpoint/2010/main" val="2945273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omestic cat">
            <a:extLst>
              <a:ext uri="{FF2B5EF4-FFF2-40B4-BE49-F238E27FC236}">
                <a16:creationId xmlns:a16="http://schemas.microsoft.com/office/drawing/2014/main" id="{6C547E4D-DA45-9F79-3448-9429D7810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98171"/>
            <a:ext cx="5159829" cy="51598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E69E87-67E6-06DE-278F-84024E59E857}"/>
              </a:ext>
            </a:extLst>
          </p:cNvPr>
          <p:cNvSpPr txBox="1"/>
          <p:nvPr/>
        </p:nvSpPr>
        <p:spPr>
          <a:xfrm>
            <a:off x="910771" y="1051840"/>
            <a:ext cx="2653290"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cat object</a:t>
            </a:r>
          </a:p>
        </p:txBody>
      </p:sp>
      <p:sp>
        <p:nvSpPr>
          <p:cNvPr id="5" name="TextBox 4">
            <a:extLst>
              <a:ext uri="{FF2B5EF4-FFF2-40B4-BE49-F238E27FC236}">
                <a16:creationId xmlns:a16="http://schemas.microsoft.com/office/drawing/2014/main" id="{018DC7CD-DC0B-BC8D-724F-9326EB8294B7}"/>
              </a:ext>
            </a:extLst>
          </p:cNvPr>
          <p:cNvSpPr txBox="1"/>
          <p:nvPr/>
        </p:nvSpPr>
        <p:spPr>
          <a:xfrm>
            <a:off x="4631068" y="1051840"/>
            <a:ext cx="2653290"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attributes</a:t>
            </a:r>
          </a:p>
        </p:txBody>
      </p:sp>
      <p:sp>
        <p:nvSpPr>
          <p:cNvPr id="6" name="TextBox 5">
            <a:extLst>
              <a:ext uri="{FF2B5EF4-FFF2-40B4-BE49-F238E27FC236}">
                <a16:creationId xmlns:a16="http://schemas.microsoft.com/office/drawing/2014/main" id="{E0693847-6D3B-6CD9-F307-5A4DFACE2BB9}"/>
              </a:ext>
            </a:extLst>
          </p:cNvPr>
          <p:cNvSpPr txBox="1"/>
          <p:nvPr/>
        </p:nvSpPr>
        <p:spPr>
          <a:xfrm>
            <a:off x="8351365" y="1051840"/>
            <a:ext cx="2406428"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behaviors</a:t>
            </a:r>
          </a:p>
        </p:txBody>
      </p:sp>
      <p:sp>
        <p:nvSpPr>
          <p:cNvPr id="7" name="TextBox 6">
            <a:extLst>
              <a:ext uri="{FF2B5EF4-FFF2-40B4-BE49-F238E27FC236}">
                <a16:creationId xmlns:a16="http://schemas.microsoft.com/office/drawing/2014/main" id="{DA1756ED-3E24-03FE-75F3-460482256DAC}"/>
              </a:ext>
            </a:extLst>
          </p:cNvPr>
          <p:cNvSpPr txBox="1"/>
          <p:nvPr/>
        </p:nvSpPr>
        <p:spPr>
          <a:xfrm>
            <a:off x="4626028" y="2228671"/>
            <a:ext cx="3192132" cy="1200329"/>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 </a:t>
            </a:r>
            <a:r>
              <a:rPr lang="en-US" sz="2400" dirty="0" err="1">
                <a:solidFill>
                  <a:schemeClr val="bg1"/>
                </a:solidFill>
                <a:latin typeface="3270-MEDIUM" panose="02000609000000000000" pitchFamily="49" charset="77"/>
                <a:ea typeface="3270-MEDIUM" panose="02000609000000000000" pitchFamily="49" charset="77"/>
              </a:rPr>
              <a:t>is_cute</a:t>
            </a:r>
            <a:r>
              <a:rPr lang="en-US" sz="2400" dirty="0">
                <a:solidFill>
                  <a:schemeClr val="bg1"/>
                </a:solidFill>
                <a:latin typeface="3270-MEDIUM" panose="02000609000000000000" pitchFamily="49" charset="77"/>
                <a:ea typeface="3270-MEDIUM" panose="02000609000000000000" pitchFamily="49" charset="77"/>
              </a:rPr>
              <a:t>: bool</a:t>
            </a:r>
          </a:p>
          <a:p>
            <a:r>
              <a:rPr lang="en-US" sz="2400" dirty="0">
                <a:solidFill>
                  <a:schemeClr val="bg1"/>
                </a:solidFill>
                <a:latin typeface="3270-MEDIUM" panose="02000609000000000000" pitchFamily="49" charset="77"/>
                <a:ea typeface="3270-MEDIUM" panose="02000609000000000000" pitchFamily="49" charset="77"/>
              </a:rPr>
              <a:t>- age: int</a:t>
            </a:r>
          </a:p>
          <a:p>
            <a:r>
              <a:rPr lang="en-US" sz="2400" dirty="0">
                <a:solidFill>
                  <a:schemeClr val="bg1"/>
                </a:solidFill>
                <a:latin typeface="3270-MEDIUM" panose="02000609000000000000" pitchFamily="49" charset="77"/>
                <a:ea typeface="3270-MEDIUM" panose="02000609000000000000" pitchFamily="49" charset="77"/>
              </a:rPr>
              <a:t>- coat: str</a:t>
            </a:r>
          </a:p>
        </p:txBody>
      </p:sp>
      <p:sp>
        <p:nvSpPr>
          <p:cNvPr id="8" name="TextBox 7">
            <a:extLst>
              <a:ext uri="{FF2B5EF4-FFF2-40B4-BE49-F238E27FC236}">
                <a16:creationId xmlns:a16="http://schemas.microsoft.com/office/drawing/2014/main" id="{94225680-1073-690C-E3CA-579B79FF9F35}"/>
              </a:ext>
            </a:extLst>
          </p:cNvPr>
          <p:cNvSpPr txBox="1"/>
          <p:nvPr/>
        </p:nvSpPr>
        <p:spPr>
          <a:xfrm>
            <a:off x="8189791" y="2228671"/>
            <a:ext cx="3192132" cy="1200329"/>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 purr() </a:t>
            </a:r>
          </a:p>
          <a:p>
            <a:r>
              <a:rPr lang="en-US" sz="2400" dirty="0">
                <a:solidFill>
                  <a:schemeClr val="bg1"/>
                </a:solidFill>
                <a:latin typeface="3270-MEDIUM" panose="02000609000000000000" pitchFamily="49" charset="77"/>
                <a:ea typeface="3270-MEDIUM" panose="02000609000000000000" pitchFamily="49" charset="77"/>
              </a:rPr>
              <a:t>+ meow() </a:t>
            </a:r>
          </a:p>
          <a:p>
            <a:r>
              <a:rPr lang="en-US" sz="2400" dirty="0">
                <a:solidFill>
                  <a:schemeClr val="bg1"/>
                </a:solidFill>
                <a:latin typeface="3270-MEDIUM" panose="02000609000000000000" pitchFamily="49" charset="77"/>
                <a:ea typeface="3270-MEDIUM" panose="02000609000000000000" pitchFamily="49" charset="77"/>
              </a:rPr>
              <a:t>+ eat()</a:t>
            </a:r>
          </a:p>
        </p:txBody>
      </p:sp>
    </p:spTree>
    <p:extLst>
      <p:ext uri="{BB962C8B-B14F-4D97-AF65-F5344CB8AC3E}">
        <p14:creationId xmlns:p14="http://schemas.microsoft.com/office/powerpoint/2010/main" val="1207163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Cat with solid fill">
            <a:extLst>
              <a:ext uri="{FF2B5EF4-FFF2-40B4-BE49-F238E27FC236}">
                <a16:creationId xmlns:a16="http://schemas.microsoft.com/office/drawing/2014/main" id="{0B81365D-948E-61CD-00AB-389621F4695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933" y="3006672"/>
            <a:ext cx="4138047" cy="4138047"/>
          </a:xfrm>
          <a:prstGeom prst="rect">
            <a:avLst/>
          </a:prstGeom>
        </p:spPr>
      </p:pic>
      <p:pic>
        <p:nvPicPr>
          <p:cNvPr id="1026" name="Picture 2" descr="Domestic cat">
            <a:extLst>
              <a:ext uri="{FF2B5EF4-FFF2-40B4-BE49-F238E27FC236}">
                <a16:creationId xmlns:a16="http://schemas.microsoft.com/office/drawing/2014/main" id="{6C547E4D-DA45-9F79-3448-9429D78108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698171"/>
            <a:ext cx="5159829" cy="51598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E69E87-67E6-06DE-278F-84024E59E857}"/>
              </a:ext>
            </a:extLst>
          </p:cNvPr>
          <p:cNvSpPr txBox="1"/>
          <p:nvPr/>
        </p:nvSpPr>
        <p:spPr>
          <a:xfrm>
            <a:off x="8075680" y="1887961"/>
            <a:ext cx="3192131" cy="646331"/>
          </a:xfrm>
          <a:prstGeom prst="rect">
            <a:avLst/>
          </a:prstGeom>
          <a:noFill/>
          <a:ln>
            <a:solidFill>
              <a:schemeClr val="bg1"/>
            </a:solidFill>
          </a:ln>
        </p:spPr>
        <p:txBody>
          <a:bodyPr wrap="square" rtlCol="0">
            <a:spAutoFit/>
          </a:bodyPr>
          <a:lstStyle/>
          <a:p>
            <a:pPr algn="ctr"/>
            <a:r>
              <a:rPr lang="en-US" sz="3600" dirty="0">
                <a:solidFill>
                  <a:schemeClr val="bg1"/>
                </a:solidFill>
                <a:latin typeface="3270-MEDIUM" panose="02000609000000000000" pitchFamily="49" charset="77"/>
                <a:ea typeface="3270-MEDIUM" panose="02000609000000000000" pitchFamily="49" charset="77"/>
              </a:rPr>
              <a:t>Cat</a:t>
            </a:r>
          </a:p>
        </p:txBody>
      </p:sp>
      <p:sp>
        <p:nvSpPr>
          <p:cNvPr id="5" name="TextBox 4">
            <a:extLst>
              <a:ext uri="{FF2B5EF4-FFF2-40B4-BE49-F238E27FC236}">
                <a16:creationId xmlns:a16="http://schemas.microsoft.com/office/drawing/2014/main" id="{018DC7CD-DC0B-BC8D-724F-9326EB8294B7}"/>
              </a:ext>
            </a:extLst>
          </p:cNvPr>
          <p:cNvSpPr txBox="1"/>
          <p:nvPr/>
        </p:nvSpPr>
        <p:spPr>
          <a:xfrm>
            <a:off x="4895448" y="-632877"/>
            <a:ext cx="2653290"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attributes</a:t>
            </a:r>
          </a:p>
        </p:txBody>
      </p:sp>
      <p:sp>
        <p:nvSpPr>
          <p:cNvPr id="6" name="TextBox 5">
            <a:extLst>
              <a:ext uri="{FF2B5EF4-FFF2-40B4-BE49-F238E27FC236}">
                <a16:creationId xmlns:a16="http://schemas.microsoft.com/office/drawing/2014/main" id="{E0693847-6D3B-6CD9-F307-5A4DFACE2BB9}"/>
              </a:ext>
            </a:extLst>
          </p:cNvPr>
          <p:cNvSpPr txBox="1"/>
          <p:nvPr/>
        </p:nvSpPr>
        <p:spPr>
          <a:xfrm>
            <a:off x="13512301" y="1564796"/>
            <a:ext cx="2406428" cy="646331"/>
          </a:xfrm>
          <a:prstGeom prst="rect">
            <a:avLst/>
          </a:prstGeom>
          <a:noFill/>
        </p:spPr>
        <p:txBody>
          <a:bodyPr wrap="none" rtlCol="0">
            <a:spAutoFit/>
          </a:bodyPr>
          <a:lstStyle/>
          <a:p>
            <a:r>
              <a:rPr lang="en-US" sz="3600" dirty="0">
                <a:solidFill>
                  <a:schemeClr val="bg1"/>
                </a:solidFill>
                <a:latin typeface="3270-MEDIUM" panose="02000609000000000000" pitchFamily="49" charset="77"/>
                <a:ea typeface="3270-MEDIUM" panose="02000609000000000000" pitchFamily="49" charset="77"/>
              </a:rPr>
              <a:t>behaviors</a:t>
            </a:r>
          </a:p>
        </p:txBody>
      </p:sp>
      <p:sp>
        <p:nvSpPr>
          <p:cNvPr id="7" name="TextBox 6">
            <a:extLst>
              <a:ext uri="{FF2B5EF4-FFF2-40B4-BE49-F238E27FC236}">
                <a16:creationId xmlns:a16="http://schemas.microsoft.com/office/drawing/2014/main" id="{DA1756ED-3E24-03FE-75F3-460482256DAC}"/>
              </a:ext>
            </a:extLst>
          </p:cNvPr>
          <p:cNvSpPr txBox="1"/>
          <p:nvPr/>
        </p:nvSpPr>
        <p:spPr>
          <a:xfrm>
            <a:off x="8075680" y="2551835"/>
            <a:ext cx="3192132" cy="1200329"/>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 </a:t>
            </a:r>
            <a:r>
              <a:rPr lang="en-US" sz="2400" dirty="0" err="1">
                <a:solidFill>
                  <a:schemeClr val="bg1"/>
                </a:solidFill>
                <a:latin typeface="3270-MEDIUM" panose="02000609000000000000" pitchFamily="49" charset="77"/>
                <a:ea typeface="3270-MEDIUM" panose="02000609000000000000" pitchFamily="49" charset="77"/>
              </a:rPr>
              <a:t>is_cute</a:t>
            </a:r>
            <a:r>
              <a:rPr lang="en-US" sz="2400" dirty="0">
                <a:solidFill>
                  <a:schemeClr val="bg1"/>
                </a:solidFill>
                <a:latin typeface="3270-MEDIUM" panose="02000609000000000000" pitchFamily="49" charset="77"/>
                <a:ea typeface="3270-MEDIUM" panose="02000609000000000000" pitchFamily="49" charset="77"/>
              </a:rPr>
              <a:t>: bool</a:t>
            </a:r>
          </a:p>
          <a:p>
            <a:r>
              <a:rPr lang="en-US" sz="2400" dirty="0">
                <a:solidFill>
                  <a:schemeClr val="bg1"/>
                </a:solidFill>
                <a:latin typeface="3270-MEDIUM" panose="02000609000000000000" pitchFamily="49" charset="77"/>
                <a:ea typeface="3270-MEDIUM" panose="02000609000000000000" pitchFamily="49" charset="77"/>
              </a:rPr>
              <a:t>- age: int</a:t>
            </a:r>
          </a:p>
          <a:p>
            <a:r>
              <a:rPr lang="en-US" sz="2400" dirty="0">
                <a:solidFill>
                  <a:schemeClr val="bg1"/>
                </a:solidFill>
                <a:latin typeface="3270-MEDIUM" panose="02000609000000000000" pitchFamily="49" charset="77"/>
                <a:ea typeface="3270-MEDIUM" panose="02000609000000000000" pitchFamily="49" charset="77"/>
              </a:rPr>
              <a:t>- coat: str</a:t>
            </a:r>
          </a:p>
        </p:txBody>
      </p:sp>
      <p:sp>
        <p:nvSpPr>
          <p:cNvPr id="8" name="TextBox 7">
            <a:extLst>
              <a:ext uri="{FF2B5EF4-FFF2-40B4-BE49-F238E27FC236}">
                <a16:creationId xmlns:a16="http://schemas.microsoft.com/office/drawing/2014/main" id="{94225680-1073-690C-E3CA-579B79FF9F35}"/>
              </a:ext>
            </a:extLst>
          </p:cNvPr>
          <p:cNvSpPr txBox="1"/>
          <p:nvPr/>
        </p:nvSpPr>
        <p:spPr>
          <a:xfrm>
            <a:off x="8075680" y="3749079"/>
            <a:ext cx="3192132" cy="1200329"/>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 purr() </a:t>
            </a:r>
          </a:p>
          <a:p>
            <a:r>
              <a:rPr lang="en-US" sz="2400" dirty="0">
                <a:solidFill>
                  <a:schemeClr val="bg1"/>
                </a:solidFill>
                <a:latin typeface="3270-MEDIUM" panose="02000609000000000000" pitchFamily="49" charset="77"/>
                <a:ea typeface="3270-MEDIUM" panose="02000609000000000000" pitchFamily="49" charset="77"/>
              </a:rPr>
              <a:t>+ meow() </a:t>
            </a:r>
          </a:p>
          <a:p>
            <a:r>
              <a:rPr lang="en-US" sz="2400" dirty="0">
                <a:solidFill>
                  <a:schemeClr val="bg1"/>
                </a:solidFill>
                <a:latin typeface="3270-MEDIUM" panose="02000609000000000000" pitchFamily="49" charset="77"/>
                <a:ea typeface="3270-MEDIUM" panose="02000609000000000000" pitchFamily="49" charset="77"/>
              </a:rPr>
              <a:t>+ eat()</a:t>
            </a:r>
          </a:p>
        </p:txBody>
      </p:sp>
      <p:sp>
        <p:nvSpPr>
          <p:cNvPr id="2" name="Rectangular Callout 1">
            <a:extLst>
              <a:ext uri="{FF2B5EF4-FFF2-40B4-BE49-F238E27FC236}">
                <a16:creationId xmlns:a16="http://schemas.microsoft.com/office/drawing/2014/main" id="{DE60F611-6868-2EB0-0E42-A59AE14AB79C}"/>
              </a:ext>
            </a:extLst>
          </p:cNvPr>
          <p:cNvSpPr/>
          <p:nvPr/>
        </p:nvSpPr>
        <p:spPr>
          <a:xfrm>
            <a:off x="4076032" y="2908551"/>
            <a:ext cx="2278251" cy="733551"/>
          </a:xfrm>
          <a:prstGeom prst="wedgeRectCallout">
            <a:avLst>
              <a:gd name="adj1" fmla="val -63370"/>
              <a:gd name="adj2" fmla="val 164454"/>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t>“meow!”</a:t>
            </a:r>
          </a:p>
        </p:txBody>
      </p:sp>
    </p:spTree>
    <p:extLst>
      <p:ext uri="{BB962C8B-B14F-4D97-AF65-F5344CB8AC3E}">
        <p14:creationId xmlns:p14="http://schemas.microsoft.com/office/powerpoint/2010/main" val="1260155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Cat with solid fill">
            <a:extLst>
              <a:ext uri="{FF2B5EF4-FFF2-40B4-BE49-F238E27FC236}">
                <a16:creationId xmlns:a16="http://schemas.microsoft.com/office/drawing/2014/main" id="{C8DA516E-A9B4-0A30-7364-897D70C6C1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933" y="3006672"/>
            <a:ext cx="4138047" cy="4138047"/>
          </a:xfrm>
          <a:prstGeom prst="rect">
            <a:avLst/>
          </a:prstGeom>
        </p:spPr>
      </p:pic>
      <p:pic>
        <p:nvPicPr>
          <p:cNvPr id="4" name="Picture 2" descr="Domestic cat">
            <a:extLst>
              <a:ext uri="{FF2B5EF4-FFF2-40B4-BE49-F238E27FC236}">
                <a16:creationId xmlns:a16="http://schemas.microsoft.com/office/drawing/2014/main" id="{B070D85E-13BF-A0ED-5E81-F2ECD63D7648}"/>
              </a:ext>
            </a:extLst>
          </p:cNvPr>
          <p:cNvPicPr>
            <a:picLocks noChangeAspect="1" noChangeArrowheads="1"/>
          </p:cNvPicPr>
          <p:nvPr/>
        </p:nvPicPr>
        <p:blipFill>
          <a:blip r:embed="rId4">
            <a:alphaModFix amt="5000"/>
            <a:extLst>
              <a:ext uri="{28A0092B-C50C-407E-A947-70E740481C1C}">
                <a14:useLocalDpi xmlns:a14="http://schemas.microsoft.com/office/drawing/2010/main" val="0"/>
              </a:ext>
            </a:extLst>
          </a:blip>
          <a:srcRect/>
          <a:stretch>
            <a:fillRect/>
          </a:stretch>
        </p:blipFill>
        <p:spPr bwMode="auto">
          <a:xfrm>
            <a:off x="8474990" y="3040894"/>
            <a:ext cx="3518112" cy="351811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165754-FBFE-45A7-E512-7743B4DCE64D}"/>
              </a:ext>
            </a:extLst>
          </p:cNvPr>
          <p:cNvSpPr txBox="1"/>
          <p:nvPr/>
        </p:nvSpPr>
        <p:spPr>
          <a:xfrm>
            <a:off x="3210991" y="3535912"/>
            <a:ext cx="3192131" cy="646331"/>
          </a:xfrm>
          <a:prstGeom prst="rect">
            <a:avLst/>
          </a:prstGeom>
          <a:noFill/>
          <a:ln>
            <a:solidFill>
              <a:schemeClr val="bg1"/>
            </a:solidFill>
          </a:ln>
        </p:spPr>
        <p:txBody>
          <a:bodyPr wrap="square" rtlCol="0">
            <a:spAutoFit/>
          </a:bodyPr>
          <a:lstStyle/>
          <a:p>
            <a:pPr algn="ctr"/>
            <a:r>
              <a:rPr lang="en-US" sz="3600" dirty="0">
                <a:solidFill>
                  <a:schemeClr val="bg1"/>
                </a:solidFill>
                <a:latin typeface="3270-MEDIUM" panose="02000609000000000000" pitchFamily="49" charset="77"/>
                <a:ea typeface="3270-MEDIUM" panose="02000609000000000000" pitchFamily="49" charset="77"/>
              </a:rPr>
              <a:t>Cat</a:t>
            </a:r>
          </a:p>
        </p:txBody>
      </p:sp>
      <p:sp>
        <p:nvSpPr>
          <p:cNvPr id="6" name="TextBox 5">
            <a:extLst>
              <a:ext uri="{FF2B5EF4-FFF2-40B4-BE49-F238E27FC236}">
                <a16:creationId xmlns:a16="http://schemas.microsoft.com/office/drawing/2014/main" id="{93CB920C-7BEB-764C-A28C-9D0605BACFDD}"/>
              </a:ext>
            </a:extLst>
          </p:cNvPr>
          <p:cNvSpPr txBox="1"/>
          <p:nvPr/>
        </p:nvSpPr>
        <p:spPr>
          <a:xfrm>
            <a:off x="3210991" y="4199786"/>
            <a:ext cx="3192132" cy="1200329"/>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 </a:t>
            </a:r>
            <a:r>
              <a:rPr lang="en-US" sz="2400" dirty="0" err="1">
                <a:solidFill>
                  <a:schemeClr val="bg1"/>
                </a:solidFill>
                <a:latin typeface="3270-MEDIUM" panose="02000609000000000000" pitchFamily="49" charset="77"/>
                <a:ea typeface="3270-MEDIUM" panose="02000609000000000000" pitchFamily="49" charset="77"/>
              </a:rPr>
              <a:t>is_cute</a:t>
            </a:r>
            <a:r>
              <a:rPr lang="en-US" sz="2400" dirty="0">
                <a:solidFill>
                  <a:schemeClr val="bg1"/>
                </a:solidFill>
                <a:latin typeface="3270-MEDIUM" panose="02000609000000000000" pitchFamily="49" charset="77"/>
                <a:ea typeface="3270-MEDIUM" panose="02000609000000000000" pitchFamily="49" charset="77"/>
              </a:rPr>
              <a:t>: bool</a:t>
            </a:r>
          </a:p>
          <a:p>
            <a:r>
              <a:rPr lang="en-US" sz="2400" dirty="0">
                <a:solidFill>
                  <a:schemeClr val="bg1"/>
                </a:solidFill>
                <a:latin typeface="3270-MEDIUM" panose="02000609000000000000" pitchFamily="49" charset="77"/>
                <a:ea typeface="3270-MEDIUM" panose="02000609000000000000" pitchFamily="49" charset="77"/>
              </a:rPr>
              <a:t>- age: int</a:t>
            </a:r>
          </a:p>
          <a:p>
            <a:r>
              <a:rPr lang="en-US" sz="2400" dirty="0">
                <a:solidFill>
                  <a:schemeClr val="bg1"/>
                </a:solidFill>
                <a:latin typeface="3270-MEDIUM" panose="02000609000000000000" pitchFamily="49" charset="77"/>
                <a:ea typeface="3270-MEDIUM" panose="02000609000000000000" pitchFamily="49" charset="77"/>
              </a:rPr>
              <a:t>- coat: str</a:t>
            </a:r>
          </a:p>
        </p:txBody>
      </p:sp>
      <p:sp>
        <p:nvSpPr>
          <p:cNvPr id="7" name="TextBox 6">
            <a:extLst>
              <a:ext uri="{FF2B5EF4-FFF2-40B4-BE49-F238E27FC236}">
                <a16:creationId xmlns:a16="http://schemas.microsoft.com/office/drawing/2014/main" id="{962066F9-A920-BBC9-0927-3C229417C05F}"/>
              </a:ext>
            </a:extLst>
          </p:cNvPr>
          <p:cNvSpPr txBox="1"/>
          <p:nvPr/>
        </p:nvSpPr>
        <p:spPr>
          <a:xfrm>
            <a:off x="3210991" y="5397030"/>
            <a:ext cx="3192132" cy="1200329"/>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 purr() </a:t>
            </a:r>
          </a:p>
          <a:p>
            <a:r>
              <a:rPr lang="en-US" sz="2400" dirty="0">
                <a:solidFill>
                  <a:schemeClr val="bg1"/>
                </a:solidFill>
                <a:latin typeface="3270-MEDIUM" panose="02000609000000000000" pitchFamily="49" charset="77"/>
                <a:ea typeface="3270-MEDIUM" panose="02000609000000000000" pitchFamily="49" charset="77"/>
              </a:rPr>
              <a:t>+ meow() </a:t>
            </a:r>
          </a:p>
          <a:p>
            <a:r>
              <a:rPr lang="en-US" sz="2400" dirty="0">
                <a:solidFill>
                  <a:schemeClr val="bg1"/>
                </a:solidFill>
                <a:latin typeface="3270-MEDIUM" panose="02000609000000000000" pitchFamily="49" charset="77"/>
                <a:ea typeface="3270-MEDIUM" panose="02000609000000000000" pitchFamily="49" charset="77"/>
              </a:rPr>
              <a:t>+ eat()</a:t>
            </a:r>
          </a:p>
        </p:txBody>
      </p:sp>
      <p:sp>
        <p:nvSpPr>
          <p:cNvPr id="8" name="TextBox 7">
            <a:extLst>
              <a:ext uri="{FF2B5EF4-FFF2-40B4-BE49-F238E27FC236}">
                <a16:creationId xmlns:a16="http://schemas.microsoft.com/office/drawing/2014/main" id="{C08D6E07-90A5-822A-17AD-92FBEF1D349E}"/>
              </a:ext>
            </a:extLst>
          </p:cNvPr>
          <p:cNvSpPr txBox="1"/>
          <p:nvPr/>
        </p:nvSpPr>
        <p:spPr>
          <a:xfrm>
            <a:off x="438568" y="2016480"/>
            <a:ext cx="10085657" cy="954107"/>
          </a:xfrm>
          <a:prstGeom prst="rect">
            <a:avLst/>
          </a:prstGeom>
          <a:noFill/>
        </p:spPr>
        <p:txBody>
          <a:bodyPr wrap="square" rtlCol="0">
            <a:spAutoFit/>
          </a:bodyPr>
          <a:lstStyle/>
          <a:p>
            <a:r>
              <a:rPr lang="en-US" sz="2800" dirty="0">
                <a:solidFill>
                  <a:schemeClr val="bg1"/>
                </a:solidFill>
              </a:rPr>
              <a:t>“That which is of type Cat shall have cuteness, age, and a coat pattern. It shall be able to purr, meow, </a:t>
            </a:r>
            <a:r>
              <a:rPr lang="en-US" sz="2800">
                <a:solidFill>
                  <a:schemeClr val="bg1"/>
                </a:solidFill>
              </a:rPr>
              <a:t>and eat”</a:t>
            </a:r>
            <a:endParaRPr lang="en-US" sz="2800" dirty="0">
              <a:solidFill>
                <a:schemeClr val="bg1"/>
              </a:solidFill>
            </a:endParaRPr>
          </a:p>
        </p:txBody>
      </p:sp>
      <p:sp>
        <p:nvSpPr>
          <p:cNvPr id="9" name="TextBox 8">
            <a:extLst>
              <a:ext uri="{FF2B5EF4-FFF2-40B4-BE49-F238E27FC236}">
                <a16:creationId xmlns:a16="http://schemas.microsoft.com/office/drawing/2014/main" id="{81C5DB9F-55B8-30B9-86C9-70ED26522A94}"/>
              </a:ext>
            </a:extLst>
          </p:cNvPr>
          <p:cNvSpPr txBox="1"/>
          <p:nvPr/>
        </p:nvSpPr>
        <p:spPr>
          <a:xfrm>
            <a:off x="438568" y="819236"/>
            <a:ext cx="10085657" cy="769441"/>
          </a:xfrm>
          <a:prstGeom prst="rect">
            <a:avLst/>
          </a:prstGeom>
          <a:noFill/>
        </p:spPr>
        <p:txBody>
          <a:bodyPr wrap="square" rtlCol="0">
            <a:spAutoFit/>
          </a:bodyPr>
          <a:lstStyle/>
          <a:p>
            <a:r>
              <a:rPr lang="en-US" sz="4400" dirty="0">
                <a:solidFill>
                  <a:schemeClr val="bg1"/>
                </a:solidFill>
              </a:rPr>
              <a:t>Class: a blueprint for an object</a:t>
            </a:r>
          </a:p>
        </p:txBody>
      </p:sp>
    </p:spTree>
    <p:extLst>
      <p:ext uri="{BB962C8B-B14F-4D97-AF65-F5344CB8AC3E}">
        <p14:creationId xmlns:p14="http://schemas.microsoft.com/office/powerpoint/2010/main" val="1072615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Cat with solid fill">
            <a:extLst>
              <a:ext uri="{FF2B5EF4-FFF2-40B4-BE49-F238E27FC236}">
                <a16:creationId xmlns:a16="http://schemas.microsoft.com/office/drawing/2014/main" id="{C8DA516E-A9B4-0A30-7364-897D70C6C1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933" y="3006672"/>
            <a:ext cx="4138047" cy="4138047"/>
          </a:xfrm>
          <a:prstGeom prst="rect">
            <a:avLst/>
          </a:prstGeom>
        </p:spPr>
      </p:pic>
      <p:pic>
        <p:nvPicPr>
          <p:cNvPr id="4" name="Picture 2" descr="Domestic cat">
            <a:extLst>
              <a:ext uri="{FF2B5EF4-FFF2-40B4-BE49-F238E27FC236}">
                <a16:creationId xmlns:a16="http://schemas.microsoft.com/office/drawing/2014/main" id="{B070D85E-13BF-A0ED-5E81-F2ECD63D7648}"/>
              </a:ext>
            </a:extLst>
          </p:cNvPr>
          <p:cNvPicPr>
            <a:picLocks noChangeAspect="1" noChangeArrowheads="1"/>
          </p:cNvPicPr>
          <p:nvPr/>
        </p:nvPicPr>
        <p:blipFill>
          <a:blip r:embed="rId4">
            <a:alphaModFix amt="50000"/>
            <a:extLst>
              <a:ext uri="{28A0092B-C50C-407E-A947-70E740481C1C}">
                <a14:useLocalDpi xmlns:a14="http://schemas.microsoft.com/office/drawing/2010/main" val="0"/>
              </a:ext>
            </a:extLst>
          </a:blip>
          <a:srcRect/>
          <a:stretch>
            <a:fillRect/>
          </a:stretch>
        </p:blipFill>
        <p:spPr bwMode="auto">
          <a:xfrm>
            <a:off x="0" y="2772541"/>
            <a:ext cx="4085459" cy="408545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165754-FBFE-45A7-E512-7743B4DCE64D}"/>
              </a:ext>
            </a:extLst>
          </p:cNvPr>
          <p:cNvSpPr txBox="1"/>
          <p:nvPr/>
        </p:nvSpPr>
        <p:spPr>
          <a:xfrm>
            <a:off x="3768225" y="3181292"/>
            <a:ext cx="3192131" cy="646331"/>
          </a:xfrm>
          <a:prstGeom prst="rect">
            <a:avLst/>
          </a:prstGeom>
          <a:noFill/>
          <a:ln>
            <a:solidFill>
              <a:schemeClr val="bg1"/>
            </a:solidFill>
          </a:ln>
        </p:spPr>
        <p:txBody>
          <a:bodyPr wrap="square" rtlCol="0">
            <a:spAutoFit/>
          </a:bodyPr>
          <a:lstStyle/>
          <a:p>
            <a:pPr algn="ctr"/>
            <a:r>
              <a:rPr lang="en-US" sz="3600" dirty="0">
                <a:solidFill>
                  <a:schemeClr val="bg1"/>
                </a:solidFill>
                <a:latin typeface="3270-MEDIUM" panose="02000609000000000000" pitchFamily="49" charset="77"/>
                <a:ea typeface="3270-MEDIUM" panose="02000609000000000000" pitchFamily="49" charset="77"/>
              </a:rPr>
              <a:t>:cat</a:t>
            </a:r>
          </a:p>
        </p:txBody>
      </p:sp>
      <p:sp>
        <p:nvSpPr>
          <p:cNvPr id="8" name="TextBox 7">
            <a:extLst>
              <a:ext uri="{FF2B5EF4-FFF2-40B4-BE49-F238E27FC236}">
                <a16:creationId xmlns:a16="http://schemas.microsoft.com/office/drawing/2014/main" id="{C08D6E07-90A5-822A-17AD-92FBEF1D349E}"/>
              </a:ext>
            </a:extLst>
          </p:cNvPr>
          <p:cNvSpPr txBox="1"/>
          <p:nvPr/>
        </p:nvSpPr>
        <p:spPr>
          <a:xfrm>
            <a:off x="473075" y="1809428"/>
            <a:ext cx="8826200" cy="523220"/>
          </a:xfrm>
          <a:prstGeom prst="rect">
            <a:avLst/>
          </a:prstGeom>
          <a:noFill/>
        </p:spPr>
        <p:txBody>
          <a:bodyPr wrap="square" rtlCol="0">
            <a:spAutoFit/>
          </a:bodyPr>
          <a:lstStyle/>
          <a:p>
            <a:r>
              <a:rPr lang="en-US" sz="2800" dirty="0">
                <a:solidFill>
                  <a:schemeClr val="bg1"/>
                </a:solidFill>
              </a:rPr>
              <a:t>“</a:t>
            </a:r>
            <a:r>
              <a:rPr lang="en-US" sz="2800" b="1" dirty="0">
                <a:solidFill>
                  <a:schemeClr val="bg1"/>
                </a:solidFill>
              </a:rPr>
              <a:t>this</a:t>
            </a:r>
            <a:r>
              <a:rPr lang="en-US" sz="2800" dirty="0">
                <a:solidFill>
                  <a:schemeClr val="bg1"/>
                </a:solidFill>
              </a:rPr>
              <a:t> cat is a tabby, aged 2, that is definitely cute.</a:t>
            </a:r>
          </a:p>
        </p:txBody>
      </p:sp>
      <p:sp>
        <p:nvSpPr>
          <p:cNvPr id="2" name="TextBox 1">
            <a:extLst>
              <a:ext uri="{FF2B5EF4-FFF2-40B4-BE49-F238E27FC236}">
                <a16:creationId xmlns:a16="http://schemas.microsoft.com/office/drawing/2014/main" id="{620D477B-3FE1-B9FE-2D82-5817E4181FA3}"/>
              </a:ext>
            </a:extLst>
          </p:cNvPr>
          <p:cNvSpPr txBox="1"/>
          <p:nvPr/>
        </p:nvSpPr>
        <p:spPr>
          <a:xfrm>
            <a:off x="438568" y="819236"/>
            <a:ext cx="10085657" cy="769441"/>
          </a:xfrm>
          <a:prstGeom prst="rect">
            <a:avLst/>
          </a:prstGeom>
          <a:noFill/>
        </p:spPr>
        <p:txBody>
          <a:bodyPr wrap="square" rtlCol="0">
            <a:spAutoFit/>
          </a:bodyPr>
          <a:lstStyle/>
          <a:p>
            <a:r>
              <a:rPr lang="en-US" sz="4400" dirty="0">
                <a:solidFill>
                  <a:schemeClr val="bg1"/>
                </a:solidFill>
              </a:rPr>
              <a:t>Object: an instance of a class</a:t>
            </a:r>
          </a:p>
        </p:txBody>
      </p:sp>
      <p:pic>
        <p:nvPicPr>
          <p:cNvPr id="9" name="Picture 2" descr="Domestic cat">
            <a:extLst>
              <a:ext uri="{FF2B5EF4-FFF2-40B4-BE49-F238E27FC236}">
                <a16:creationId xmlns:a16="http://schemas.microsoft.com/office/drawing/2014/main" id="{B6976FE5-B0D8-59D9-B48F-843D06595091}"/>
              </a:ext>
            </a:extLst>
          </p:cNvPr>
          <p:cNvPicPr>
            <a:picLocks noChangeAspect="1" noChangeArrowheads="1"/>
          </p:cNvPicPr>
          <p:nvPr/>
        </p:nvPicPr>
        <p:blipFill>
          <a:blip r:embed="rId4">
            <a:alphaModFix amt="85000"/>
            <a:extLst>
              <a:ext uri="{28A0092B-C50C-407E-A947-70E740481C1C}">
                <a14:useLocalDpi xmlns:a14="http://schemas.microsoft.com/office/drawing/2010/main" val="0"/>
              </a:ext>
            </a:extLst>
          </a:blip>
          <a:srcRect/>
          <a:stretch>
            <a:fillRect/>
          </a:stretch>
        </p:blipFill>
        <p:spPr bwMode="auto">
          <a:xfrm>
            <a:off x="8106543" y="2772540"/>
            <a:ext cx="4085459" cy="4085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127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pic>
        <p:nvPicPr>
          <p:cNvPr id="1026" name="Picture 2" descr="Aristotle, the Ancient Greek Philosopher - The Ethics Centre">
            <a:extLst>
              <a:ext uri="{FF2B5EF4-FFF2-40B4-BE49-F238E27FC236}">
                <a16:creationId xmlns:a16="http://schemas.microsoft.com/office/drawing/2014/main" id="{CE0F5073-D5C8-545D-D9E4-A7C7CA38F674}"/>
              </a:ext>
            </a:extLst>
          </p:cNvPr>
          <p:cNvPicPr>
            <a:picLocks noChangeAspect="1" noChangeArrowheads="1"/>
          </p:cNvPicPr>
          <p:nvPr/>
        </p:nvPicPr>
        <p:blipFill>
          <a:blip r:embed="rId3">
            <a:alphaModFix amt="70000"/>
            <a:extLst>
              <a:ext uri="{28A0092B-C50C-407E-A947-70E740481C1C}">
                <a14:useLocalDpi xmlns:a14="http://schemas.microsoft.com/office/drawing/2010/main" val="0"/>
              </a:ext>
            </a:extLst>
          </a:blip>
          <a:srcRect/>
          <a:stretch>
            <a:fillRect/>
          </a:stretch>
        </p:blipFill>
        <p:spPr bwMode="auto">
          <a:xfrm>
            <a:off x="7588621" y="1659284"/>
            <a:ext cx="3539429" cy="35394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3525EFB-89EF-BF5D-1751-8462736CF35D}"/>
              </a:ext>
            </a:extLst>
          </p:cNvPr>
          <p:cNvSpPr txBox="1"/>
          <p:nvPr/>
        </p:nvSpPr>
        <p:spPr>
          <a:xfrm>
            <a:off x="1308846" y="1659285"/>
            <a:ext cx="6069106" cy="2677656"/>
          </a:xfrm>
          <a:prstGeom prst="rect">
            <a:avLst/>
          </a:prstGeom>
          <a:solidFill>
            <a:srgbClr val="7F7F7F">
              <a:alpha val="80000"/>
            </a:srgbClr>
          </a:solidFill>
        </p:spPr>
        <p:txBody>
          <a:bodyPr wrap="square">
            <a:spAutoFit/>
          </a:bodyPr>
          <a:lstStyle/>
          <a:p>
            <a:r>
              <a:rPr lang="en-US" sz="2800" b="1" i="1" dirty="0">
                <a:solidFill>
                  <a:schemeClr val="bg1"/>
                </a:solidFill>
                <a:effectLst/>
                <a:ea typeface="Helvetica Neue" panose="02000503000000020004" pitchFamily="2" charset="0"/>
                <a:cs typeface="Helvetica Neue" panose="02000503000000020004" pitchFamily="2" charset="0"/>
              </a:rPr>
              <a:t>“A substance — that which is called a substance most strictly, primarily, and most of all — is that which is neither said of a subject nor in a subject </a:t>
            </a:r>
            <a:br>
              <a:rPr lang="en-US" sz="2800" b="1" i="1" dirty="0">
                <a:solidFill>
                  <a:schemeClr val="bg1"/>
                </a:solidFill>
                <a:effectLst/>
                <a:ea typeface="Helvetica Neue" panose="02000503000000020004" pitchFamily="2" charset="0"/>
                <a:cs typeface="Helvetica Neue" panose="02000503000000020004" pitchFamily="2" charset="0"/>
              </a:rPr>
            </a:br>
            <a:r>
              <a:rPr lang="en-US" sz="2800" i="1" dirty="0">
                <a:solidFill>
                  <a:schemeClr val="bg1"/>
                </a:solidFill>
                <a:effectLst/>
                <a:ea typeface="Helvetica Neue" panose="02000503000000020004" pitchFamily="2" charset="0"/>
                <a:cs typeface="Helvetica Neue" panose="02000503000000020004" pitchFamily="2" charset="0"/>
              </a:rPr>
              <a:t>(Aristotle, Categories 2a)</a:t>
            </a:r>
          </a:p>
        </p:txBody>
      </p:sp>
      <p:sp>
        <p:nvSpPr>
          <p:cNvPr id="4" name="TextBox 3">
            <a:extLst>
              <a:ext uri="{FF2B5EF4-FFF2-40B4-BE49-F238E27FC236}">
                <a16:creationId xmlns:a16="http://schemas.microsoft.com/office/drawing/2014/main" id="{77CCE421-E085-ABB1-23F1-447FACD2F820}"/>
              </a:ext>
            </a:extLst>
          </p:cNvPr>
          <p:cNvSpPr txBox="1"/>
          <p:nvPr/>
        </p:nvSpPr>
        <p:spPr>
          <a:xfrm>
            <a:off x="0" y="5746376"/>
            <a:ext cx="12954001" cy="523220"/>
          </a:xfrm>
          <a:prstGeom prst="rect">
            <a:avLst/>
          </a:prstGeom>
          <a:solidFill>
            <a:srgbClr val="7F7F7F">
              <a:alpha val="80000"/>
            </a:srgbClr>
          </a:solidFill>
        </p:spPr>
        <p:txBody>
          <a:bodyPr wrap="square">
            <a:spAutoFit/>
          </a:bodyPr>
          <a:lstStyle/>
          <a:p>
            <a:r>
              <a:rPr lang="en-US" sz="2800" b="1" i="1" dirty="0">
                <a:solidFill>
                  <a:schemeClr val="bg1"/>
                </a:solidFill>
                <a:effectLst/>
                <a:ea typeface="Helvetica Neue" panose="02000503000000020004" pitchFamily="2" charset="0"/>
                <a:cs typeface="Helvetica Neue" panose="02000503000000020004" pitchFamily="2" charset="0"/>
              </a:rPr>
              <a:t>All objects are of a class, but the class is not the object</a:t>
            </a:r>
            <a:endParaRPr lang="en-US" sz="2800" i="1" dirty="0">
              <a:solidFill>
                <a:schemeClr val="bg1"/>
              </a:solidFill>
              <a:effectLst/>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42512074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5433E-6473-3E22-3C82-B404727DE469}"/>
              </a:ext>
            </a:extLst>
          </p:cNvPr>
          <p:cNvSpPr>
            <a:spLocks noGrp="1"/>
          </p:cNvSpPr>
          <p:nvPr>
            <p:ph type="title"/>
          </p:nvPr>
        </p:nvSpPr>
        <p:spPr/>
        <p:txBody>
          <a:bodyPr/>
          <a:lstStyle/>
          <a:p>
            <a:r>
              <a:rPr lang="en-US" dirty="0"/>
              <a:t>OOP in Python</a:t>
            </a:r>
          </a:p>
        </p:txBody>
      </p:sp>
      <p:sp>
        <p:nvSpPr>
          <p:cNvPr id="3" name="Content Placeholder 2">
            <a:extLst>
              <a:ext uri="{FF2B5EF4-FFF2-40B4-BE49-F238E27FC236}">
                <a16:creationId xmlns:a16="http://schemas.microsoft.com/office/drawing/2014/main" id="{3735070C-E70C-ECCB-DA33-2E30F8CDF490}"/>
              </a:ext>
            </a:extLst>
          </p:cNvPr>
          <p:cNvSpPr>
            <a:spLocks noGrp="1"/>
          </p:cNvSpPr>
          <p:nvPr>
            <p:ph idx="1"/>
          </p:nvPr>
        </p:nvSpPr>
        <p:spPr/>
        <p:txBody>
          <a:bodyPr>
            <a:normAutofit fontScale="92500" lnSpcReduction="10000"/>
          </a:bodyPr>
          <a:lstStyle/>
          <a:p>
            <a:r>
              <a:rPr lang="en-US" dirty="0"/>
              <a:t>Everything is an </a:t>
            </a:r>
            <a:r>
              <a:rPr lang="en-US" b="1" dirty="0"/>
              <a:t>object </a:t>
            </a:r>
            <a:r>
              <a:rPr lang="en-US" dirty="0"/>
              <a:t>in Python</a:t>
            </a:r>
          </a:p>
          <a:p>
            <a:r>
              <a:rPr lang="en-US" dirty="0"/>
              <a:t>Every object has a type (type = class)</a:t>
            </a:r>
          </a:p>
          <a:p>
            <a:r>
              <a:rPr lang="en-US" dirty="0"/>
              <a:t>What are the types of these objects:</a:t>
            </a:r>
          </a:p>
          <a:p>
            <a:pPr lvl="1"/>
            <a:r>
              <a:rPr lang="en-US" dirty="0"/>
              <a:t>“Hello”</a:t>
            </a:r>
          </a:p>
          <a:p>
            <a:pPr lvl="1"/>
            <a:r>
              <a:rPr lang="en-US" dirty="0"/>
              <a:t>42</a:t>
            </a:r>
          </a:p>
          <a:p>
            <a:pPr lvl="1"/>
            <a:r>
              <a:rPr lang="en-US" dirty="0"/>
              <a:t>42.0</a:t>
            </a:r>
          </a:p>
          <a:p>
            <a:pPr lvl="1"/>
            <a:r>
              <a:rPr lang="en-US" dirty="0"/>
              <a:t>True</a:t>
            </a:r>
          </a:p>
          <a:p>
            <a:pPr lvl="1"/>
            <a:r>
              <a:rPr lang="en-US" dirty="0"/>
              <a:t>None</a:t>
            </a:r>
          </a:p>
          <a:p>
            <a:pPr lvl="1"/>
            <a:r>
              <a:rPr lang="en-US" dirty="0"/>
              <a:t>print</a:t>
            </a:r>
          </a:p>
          <a:p>
            <a:pPr lvl="1"/>
            <a:r>
              <a:rPr lang="en-US" dirty="0"/>
              <a:t>def </a:t>
            </a:r>
            <a:r>
              <a:rPr lang="en-US" dirty="0" err="1"/>
              <a:t>my_func</a:t>
            </a:r>
            <a:r>
              <a:rPr lang="en-US" dirty="0"/>
              <a:t>(): …</a:t>
            </a:r>
          </a:p>
        </p:txBody>
      </p:sp>
    </p:spTree>
    <p:extLst>
      <p:ext uri="{BB962C8B-B14F-4D97-AF65-F5344CB8AC3E}">
        <p14:creationId xmlns:p14="http://schemas.microsoft.com/office/powerpoint/2010/main" val="12012458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88546-33E0-D21D-0050-DDB4CA2BABB7}"/>
              </a:ext>
            </a:extLst>
          </p:cNvPr>
          <p:cNvSpPr>
            <a:spLocks noGrp="1"/>
          </p:cNvSpPr>
          <p:nvPr>
            <p:ph type="title"/>
          </p:nvPr>
        </p:nvSpPr>
        <p:spPr/>
        <p:txBody>
          <a:bodyPr/>
          <a:lstStyle/>
          <a:p>
            <a:r>
              <a:rPr lang="en-US" dirty="0"/>
              <a:t>Predict</a:t>
            </a:r>
          </a:p>
        </p:txBody>
      </p:sp>
      <p:sp>
        <p:nvSpPr>
          <p:cNvPr id="3" name="Content Placeholder 2">
            <a:extLst>
              <a:ext uri="{FF2B5EF4-FFF2-40B4-BE49-F238E27FC236}">
                <a16:creationId xmlns:a16="http://schemas.microsoft.com/office/drawing/2014/main" id="{03D5A021-DD8E-419F-0337-EB7A682046C3}"/>
              </a:ext>
            </a:extLst>
          </p:cNvPr>
          <p:cNvSpPr>
            <a:spLocks noGrp="1"/>
          </p:cNvSpPr>
          <p:nvPr>
            <p:ph idx="1"/>
          </p:nvPr>
        </p:nvSpPr>
        <p:spPr/>
        <p:txBody>
          <a:bodyPr/>
          <a:lstStyle/>
          <a:p>
            <a:r>
              <a:rPr lang="en-US" dirty="0"/>
              <a:t>type(print) -&gt; </a:t>
            </a:r>
            <a:r>
              <a:rPr lang="en-US" dirty="0" err="1"/>
              <a:t>builtin_function_or_method</a:t>
            </a:r>
            <a:endParaRPr lang="en-US" dirty="0"/>
          </a:p>
          <a:p>
            <a:r>
              <a:rPr lang="en-US" dirty="0"/>
              <a:t>type(str) -&gt; ???</a:t>
            </a:r>
          </a:p>
        </p:txBody>
      </p:sp>
    </p:spTree>
    <p:extLst>
      <p:ext uri="{BB962C8B-B14F-4D97-AF65-F5344CB8AC3E}">
        <p14:creationId xmlns:p14="http://schemas.microsoft.com/office/powerpoint/2010/main" val="41923558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56E8-43DB-35CF-5CC0-8C5240764DFB}"/>
              </a:ext>
            </a:extLst>
          </p:cNvPr>
          <p:cNvSpPr>
            <a:spLocks noGrp="1"/>
          </p:cNvSpPr>
          <p:nvPr>
            <p:ph type="title"/>
          </p:nvPr>
        </p:nvSpPr>
        <p:spPr/>
        <p:txBody>
          <a:bodyPr/>
          <a:lstStyle/>
          <a:p>
            <a:r>
              <a:rPr lang="en-US" dirty="0"/>
              <a:t>Type type</a:t>
            </a:r>
          </a:p>
        </p:txBody>
      </p:sp>
      <p:sp>
        <p:nvSpPr>
          <p:cNvPr id="3" name="Content Placeholder 2">
            <a:extLst>
              <a:ext uri="{FF2B5EF4-FFF2-40B4-BE49-F238E27FC236}">
                <a16:creationId xmlns:a16="http://schemas.microsoft.com/office/drawing/2014/main" id="{2E176299-7D84-FE3A-EC09-7152E2D63717}"/>
              </a:ext>
            </a:extLst>
          </p:cNvPr>
          <p:cNvSpPr>
            <a:spLocks noGrp="1"/>
          </p:cNvSpPr>
          <p:nvPr>
            <p:ph idx="1"/>
          </p:nvPr>
        </p:nvSpPr>
        <p:spPr/>
        <p:txBody>
          <a:bodyPr>
            <a:normAutofit lnSpcReduction="10000"/>
          </a:bodyPr>
          <a:lstStyle/>
          <a:p>
            <a:r>
              <a:rPr lang="en-US" dirty="0"/>
              <a:t>Everything is an object (meaning it is of </a:t>
            </a:r>
            <a:r>
              <a:rPr lang="en-US" i="1" dirty="0"/>
              <a:t>type </a:t>
            </a:r>
            <a:r>
              <a:rPr lang="en-US" dirty="0"/>
              <a:t>object), not everything is a class</a:t>
            </a:r>
          </a:p>
          <a:p>
            <a:r>
              <a:rPr lang="en-US" dirty="0"/>
              <a:t>A class is an object of type type</a:t>
            </a:r>
          </a:p>
          <a:p>
            <a:r>
              <a:rPr lang="en-US" dirty="0"/>
              <a:t>There are built in classes we can use to construct (make) objects of a particular type: int, bool, str, float are all such examples </a:t>
            </a:r>
          </a:p>
          <a:p>
            <a:r>
              <a:rPr lang="en-US" dirty="0"/>
              <a:t>Just like we can create our own functions with the </a:t>
            </a:r>
            <a:r>
              <a:rPr lang="en-US" b="1" dirty="0"/>
              <a:t>def </a:t>
            </a:r>
            <a:r>
              <a:rPr lang="en-US" dirty="0"/>
              <a:t>keyword, we can create our own type with the </a:t>
            </a:r>
            <a:r>
              <a:rPr lang="en-US" b="1" dirty="0"/>
              <a:t>class </a:t>
            </a:r>
            <a:r>
              <a:rPr lang="en-US" dirty="0"/>
              <a:t>keyword. </a:t>
            </a:r>
          </a:p>
        </p:txBody>
      </p:sp>
    </p:spTree>
    <p:extLst>
      <p:ext uri="{BB962C8B-B14F-4D97-AF65-F5344CB8AC3E}">
        <p14:creationId xmlns:p14="http://schemas.microsoft.com/office/powerpoint/2010/main" val="23114962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F5617-5F68-6632-903E-499DFCD89BC5}"/>
              </a:ext>
            </a:extLst>
          </p:cNvPr>
          <p:cNvSpPr>
            <a:spLocks noGrp="1"/>
          </p:cNvSpPr>
          <p:nvPr>
            <p:ph type="title"/>
          </p:nvPr>
        </p:nvSpPr>
        <p:spPr/>
        <p:txBody>
          <a:bodyPr/>
          <a:lstStyle/>
          <a:p>
            <a:r>
              <a:rPr lang="en-US" dirty="0"/>
              <a:t>Demo</a:t>
            </a:r>
          </a:p>
        </p:txBody>
      </p:sp>
      <p:sp>
        <p:nvSpPr>
          <p:cNvPr id="3" name="Content Placeholder 2">
            <a:extLst>
              <a:ext uri="{FF2B5EF4-FFF2-40B4-BE49-F238E27FC236}">
                <a16:creationId xmlns:a16="http://schemas.microsoft.com/office/drawing/2014/main" id="{054A8BAF-6759-3375-E3CC-63CEC48911C6}"/>
              </a:ext>
            </a:extLst>
          </p:cNvPr>
          <p:cNvSpPr>
            <a:spLocks noGrp="1"/>
          </p:cNvSpPr>
          <p:nvPr>
            <p:ph idx="1"/>
          </p:nvPr>
        </p:nvSpPr>
        <p:spPr/>
        <p:txBody>
          <a:bodyPr/>
          <a:lstStyle/>
          <a:p>
            <a:r>
              <a:rPr lang="en-US" dirty="0"/>
              <a:t>Create a simple Cat class and </a:t>
            </a:r>
            <a:r>
              <a:rPr lang="en-US" i="1" dirty="0"/>
              <a:t>instantiate</a:t>
            </a:r>
            <a:r>
              <a:rPr lang="en-US" dirty="0"/>
              <a:t> a cat</a:t>
            </a:r>
          </a:p>
          <a:p>
            <a:r>
              <a:rPr lang="en-US" dirty="0"/>
              <a:t>Assign attributes to an instance of a cat</a:t>
            </a:r>
          </a:p>
          <a:p>
            <a:r>
              <a:rPr lang="en-US" dirty="0"/>
              <a:t>Not much of a template!</a:t>
            </a:r>
          </a:p>
          <a:p>
            <a:r>
              <a:rPr lang="en-US" dirty="0"/>
              <a:t>Create an __</a:t>
            </a:r>
            <a:r>
              <a:rPr lang="en-US" dirty="0" err="1"/>
              <a:t>init</a:t>
            </a:r>
            <a:r>
              <a:rPr lang="en-US" dirty="0"/>
              <a:t>__ method and explain self</a:t>
            </a:r>
          </a:p>
          <a:p>
            <a:r>
              <a:rPr lang="en-US" dirty="0"/>
              <a:t>Create a new cat with at least a name and coat</a:t>
            </a:r>
          </a:p>
          <a:p>
            <a:r>
              <a:rPr lang="en-US" dirty="0"/>
              <a:t>Define a method</a:t>
            </a:r>
          </a:p>
        </p:txBody>
      </p:sp>
    </p:spTree>
    <p:extLst>
      <p:ext uri="{BB962C8B-B14F-4D97-AF65-F5344CB8AC3E}">
        <p14:creationId xmlns:p14="http://schemas.microsoft.com/office/powerpoint/2010/main" val="884157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 simple example</a:t>
            </a:r>
          </a:p>
        </p:txBody>
      </p:sp>
      <p:sp>
        <p:nvSpPr>
          <p:cNvPr id="3" name="Content Placeholder 2"/>
          <p:cNvSpPr>
            <a:spLocks noGrp="1"/>
          </p:cNvSpPr>
          <p:nvPr>
            <p:ph idx="1"/>
          </p:nvPr>
        </p:nvSpPr>
        <p:spPr/>
        <p:txBody>
          <a:bodyPr>
            <a:normAutofit/>
          </a:bodyPr>
          <a:lstStyle/>
          <a:p>
            <a:r>
              <a:rPr lang="en-AU" dirty="0"/>
              <a:t>Let’s create a solution for greeting a person</a:t>
            </a:r>
          </a:p>
          <a:p>
            <a:endParaRPr lang="en-AU" dirty="0"/>
          </a:p>
          <a:p>
            <a:r>
              <a:rPr lang="en-AU" dirty="0"/>
              <a:t>This is called “Hello, World!”</a:t>
            </a:r>
          </a:p>
          <a:p>
            <a:endParaRPr lang="en-AU" dirty="0"/>
          </a:p>
          <a:p>
            <a:r>
              <a:rPr lang="en-AU" dirty="0"/>
              <a:t>What will the process look like?</a:t>
            </a:r>
          </a:p>
        </p:txBody>
      </p:sp>
    </p:spTree>
    <p:extLst>
      <p:ext uri="{BB962C8B-B14F-4D97-AF65-F5344CB8AC3E}">
        <p14:creationId xmlns:p14="http://schemas.microsoft.com/office/powerpoint/2010/main" val="2228013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requirement(s)</a:t>
            </a:r>
          </a:p>
        </p:txBody>
      </p:sp>
      <p:sp>
        <p:nvSpPr>
          <p:cNvPr id="3" name="Content Placeholder 2"/>
          <p:cNvSpPr>
            <a:spLocks noGrp="1"/>
          </p:cNvSpPr>
          <p:nvPr>
            <p:ph idx="1"/>
          </p:nvPr>
        </p:nvSpPr>
        <p:spPr>
          <a:xfrm>
            <a:off x="609600" y="1794617"/>
            <a:ext cx="10972800" cy="4563491"/>
          </a:xfrm>
        </p:spPr>
        <p:txBody>
          <a:bodyPr>
            <a:normAutofit/>
          </a:bodyPr>
          <a:lstStyle/>
          <a:p>
            <a:r>
              <a:rPr lang="en-AU" dirty="0"/>
              <a:t>The program should greet a person.</a:t>
            </a:r>
          </a:p>
          <a:p>
            <a:endParaRPr lang="en-AU" dirty="0"/>
          </a:p>
          <a:p>
            <a:r>
              <a:rPr lang="en-AU" dirty="0"/>
              <a:t>Here is the Use Case Diagram:</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339" y="3877714"/>
            <a:ext cx="5063661" cy="2480394"/>
          </a:xfrm>
          <a:prstGeom prst="rect">
            <a:avLst/>
          </a:prstGeom>
        </p:spPr>
      </p:pic>
    </p:spTree>
    <p:extLst>
      <p:ext uri="{BB962C8B-B14F-4D97-AF65-F5344CB8AC3E}">
        <p14:creationId xmlns:p14="http://schemas.microsoft.com/office/powerpoint/2010/main" val="22306711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domain model</a:t>
            </a:r>
          </a:p>
        </p:txBody>
      </p:sp>
      <p:sp>
        <p:nvSpPr>
          <p:cNvPr id="3" name="Content Placeholder 2"/>
          <p:cNvSpPr>
            <a:spLocks noGrp="1"/>
          </p:cNvSpPr>
          <p:nvPr>
            <p:ph idx="1"/>
          </p:nvPr>
        </p:nvSpPr>
        <p:spPr>
          <a:xfrm>
            <a:off x="609600" y="1794617"/>
            <a:ext cx="10972800" cy="4563491"/>
          </a:xfrm>
        </p:spPr>
        <p:txBody>
          <a:bodyPr>
            <a:normAutofit/>
          </a:bodyPr>
          <a:lstStyle/>
          <a:p>
            <a:r>
              <a:rPr lang="en-AU" dirty="0"/>
              <a:t>The Use Case is too simple to really warrant a domain model.</a:t>
            </a:r>
          </a:p>
          <a:p>
            <a:endParaRPr lang="en-AU" dirty="0"/>
          </a:p>
          <a:p>
            <a:r>
              <a:rPr lang="en-AU" dirty="0"/>
              <a:t>We can, however, say that we do need a “Greeter”:</a:t>
            </a:r>
          </a:p>
        </p:txBody>
      </p:sp>
      <p:sp>
        <p:nvSpPr>
          <p:cNvPr id="5" name="Rectangle 4"/>
          <p:cNvSpPr/>
          <p:nvPr/>
        </p:nvSpPr>
        <p:spPr>
          <a:xfrm>
            <a:off x="1066800" y="4508500"/>
            <a:ext cx="3378200" cy="1849608"/>
          </a:xfrm>
          <a:prstGeom prst="rect">
            <a:avLst/>
          </a:prstGeom>
          <a:noFill/>
          <a:ln w="28575">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 name="TextBox 5"/>
          <p:cNvSpPr txBox="1"/>
          <p:nvPr/>
        </p:nvSpPr>
        <p:spPr>
          <a:xfrm>
            <a:off x="1969467" y="5140916"/>
            <a:ext cx="1572866" cy="584775"/>
          </a:xfrm>
          <a:prstGeom prst="rect">
            <a:avLst/>
          </a:prstGeom>
          <a:noFill/>
        </p:spPr>
        <p:txBody>
          <a:bodyPr wrap="none" rtlCol="0">
            <a:spAutoFit/>
          </a:bodyPr>
          <a:lstStyle/>
          <a:p>
            <a:r>
              <a:rPr lang="en-AU" sz="3200" dirty="0">
                <a:solidFill>
                  <a:schemeClr val="bg1"/>
                </a:solidFill>
              </a:rPr>
              <a:t>Greeter</a:t>
            </a:r>
          </a:p>
        </p:txBody>
      </p:sp>
    </p:spTree>
    <p:extLst>
      <p:ext uri="{BB962C8B-B14F-4D97-AF65-F5344CB8AC3E}">
        <p14:creationId xmlns:p14="http://schemas.microsoft.com/office/powerpoint/2010/main" val="8838751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Class Diagram</a:t>
            </a:r>
          </a:p>
        </p:txBody>
      </p:sp>
      <p:sp>
        <p:nvSpPr>
          <p:cNvPr id="3" name="Content Placeholder 2"/>
          <p:cNvSpPr>
            <a:spLocks noGrp="1"/>
          </p:cNvSpPr>
          <p:nvPr>
            <p:ph idx="1"/>
          </p:nvPr>
        </p:nvSpPr>
        <p:spPr>
          <a:xfrm>
            <a:off x="609600" y="1794617"/>
            <a:ext cx="10972800" cy="4563491"/>
          </a:xfrm>
        </p:spPr>
        <p:txBody>
          <a:bodyPr>
            <a:normAutofit/>
          </a:bodyPr>
          <a:lstStyle/>
          <a:p>
            <a:r>
              <a:rPr lang="en-AU" dirty="0"/>
              <a:t>The Class Diagram is closely related to the Domain Model</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3580421"/>
            <a:ext cx="3715899" cy="2413979"/>
          </a:xfrm>
          <a:prstGeom prst="rect">
            <a:avLst/>
          </a:prstGeom>
        </p:spPr>
      </p:pic>
      <p:cxnSp>
        <p:nvCxnSpPr>
          <p:cNvPr id="8" name="Straight Arrow Connector 7"/>
          <p:cNvCxnSpPr/>
          <p:nvPr/>
        </p:nvCxnSpPr>
        <p:spPr>
          <a:xfrm flipH="1">
            <a:off x="2781300" y="3276600"/>
            <a:ext cx="3149600" cy="901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H="1">
            <a:off x="2426849" y="3727450"/>
            <a:ext cx="3149600" cy="901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H="1">
            <a:off x="2993148" y="4178300"/>
            <a:ext cx="3149600" cy="901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30900" y="2985080"/>
            <a:ext cx="2427268" cy="461665"/>
          </a:xfrm>
          <a:prstGeom prst="rect">
            <a:avLst/>
          </a:prstGeom>
          <a:noFill/>
        </p:spPr>
        <p:txBody>
          <a:bodyPr wrap="none" rtlCol="0">
            <a:spAutoFit/>
          </a:bodyPr>
          <a:lstStyle/>
          <a:p>
            <a:r>
              <a:rPr lang="en-AU" sz="2400" dirty="0">
                <a:solidFill>
                  <a:schemeClr val="bg1"/>
                </a:solidFill>
              </a:rPr>
              <a:t>The Class name</a:t>
            </a:r>
          </a:p>
        </p:txBody>
      </p:sp>
      <p:sp>
        <p:nvSpPr>
          <p:cNvPr id="12" name="TextBox 11"/>
          <p:cNvSpPr txBox="1"/>
          <p:nvPr/>
        </p:nvSpPr>
        <p:spPr>
          <a:xfrm>
            <a:off x="5588365" y="3507432"/>
            <a:ext cx="5489003" cy="461665"/>
          </a:xfrm>
          <a:prstGeom prst="rect">
            <a:avLst/>
          </a:prstGeom>
          <a:noFill/>
        </p:spPr>
        <p:txBody>
          <a:bodyPr wrap="none" rtlCol="0">
            <a:spAutoFit/>
          </a:bodyPr>
          <a:lstStyle/>
          <a:p>
            <a:r>
              <a:rPr lang="en-AU" sz="2400" dirty="0">
                <a:solidFill>
                  <a:schemeClr val="bg1"/>
                </a:solidFill>
              </a:rPr>
              <a:t>Attributes (fields, members, properties)</a:t>
            </a:r>
          </a:p>
        </p:txBody>
      </p:sp>
      <p:sp>
        <p:nvSpPr>
          <p:cNvPr id="13" name="TextBox 12"/>
          <p:cNvSpPr txBox="1"/>
          <p:nvPr/>
        </p:nvSpPr>
        <p:spPr>
          <a:xfrm>
            <a:off x="6171895" y="4029784"/>
            <a:ext cx="1366080" cy="461665"/>
          </a:xfrm>
          <a:prstGeom prst="rect">
            <a:avLst/>
          </a:prstGeom>
          <a:noFill/>
        </p:spPr>
        <p:txBody>
          <a:bodyPr wrap="none" rtlCol="0">
            <a:spAutoFit/>
          </a:bodyPr>
          <a:lstStyle/>
          <a:p>
            <a:r>
              <a:rPr lang="en-AU" sz="2400" dirty="0">
                <a:solidFill>
                  <a:schemeClr val="bg1"/>
                </a:solidFill>
              </a:rPr>
              <a:t>Methods</a:t>
            </a:r>
          </a:p>
        </p:txBody>
      </p:sp>
    </p:spTree>
    <p:extLst>
      <p:ext uri="{BB962C8B-B14F-4D97-AF65-F5344CB8AC3E}">
        <p14:creationId xmlns:p14="http://schemas.microsoft.com/office/powerpoint/2010/main" val="23868968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Let’s create our Greeter program</a:t>
            </a:r>
          </a:p>
        </p:txBody>
      </p:sp>
      <p:sp>
        <p:nvSpPr>
          <p:cNvPr id="3" name="Content Placeholder 2"/>
          <p:cNvSpPr>
            <a:spLocks noGrp="1"/>
          </p:cNvSpPr>
          <p:nvPr>
            <p:ph idx="1"/>
          </p:nvPr>
        </p:nvSpPr>
        <p:spPr/>
        <p:txBody>
          <a:bodyPr/>
          <a:lstStyle/>
          <a:p>
            <a:r>
              <a:rPr lang="en-AU" dirty="0"/>
              <a:t>We’ll be using PyCharm throughout this course</a:t>
            </a:r>
          </a:p>
          <a:p>
            <a:endParaRPr lang="en-AU" dirty="0"/>
          </a:p>
          <a:p>
            <a:endParaRPr lang="en-AU" dirty="0"/>
          </a:p>
        </p:txBody>
      </p:sp>
      <p:pic>
        <p:nvPicPr>
          <p:cNvPr id="4" name="Picture 3"/>
          <p:cNvPicPr>
            <a:picLocks noChangeAspect="1"/>
          </p:cNvPicPr>
          <p:nvPr/>
        </p:nvPicPr>
        <p:blipFill>
          <a:blip r:embed="rId3"/>
          <a:stretch>
            <a:fillRect/>
          </a:stretch>
        </p:blipFill>
        <p:spPr>
          <a:xfrm>
            <a:off x="3059860" y="2548907"/>
            <a:ext cx="6072279" cy="3809201"/>
          </a:xfrm>
          <a:prstGeom prst="rect">
            <a:avLst/>
          </a:prstGeom>
        </p:spPr>
      </p:pic>
    </p:spTree>
    <p:extLst>
      <p:ext uri="{BB962C8B-B14F-4D97-AF65-F5344CB8AC3E}">
        <p14:creationId xmlns:p14="http://schemas.microsoft.com/office/powerpoint/2010/main" val="899648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Let’s create our Greeter program</a:t>
            </a:r>
          </a:p>
        </p:txBody>
      </p:sp>
      <p:pic>
        <p:nvPicPr>
          <p:cNvPr id="6" name="Picture 5"/>
          <p:cNvPicPr>
            <a:picLocks noChangeAspect="1"/>
          </p:cNvPicPr>
          <p:nvPr/>
        </p:nvPicPr>
        <p:blipFill>
          <a:blip r:embed="rId3"/>
          <a:stretch>
            <a:fillRect/>
          </a:stretch>
        </p:blipFill>
        <p:spPr>
          <a:xfrm>
            <a:off x="2359216" y="1852931"/>
            <a:ext cx="7473567" cy="4688243"/>
          </a:xfrm>
          <a:prstGeom prst="rect">
            <a:avLst/>
          </a:prstGeom>
        </p:spPr>
      </p:pic>
      <p:sp>
        <p:nvSpPr>
          <p:cNvPr id="7" name="Rectangle 6"/>
          <p:cNvSpPr/>
          <p:nvPr/>
        </p:nvSpPr>
        <p:spPr>
          <a:xfrm>
            <a:off x="4928259" y="2208811"/>
            <a:ext cx="1080655" cy="285008"/>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Rectangle 7"/>
          <p:cNvSpPr/>
          <p:nvPr/>
        </p:nvSpPr>
        <p:spPr>
          <a:xfrm>
            <a:off x="3736767" y="3241765"/>
            <a:ext cx="5989123" cy="368135"/>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998093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Let’s create our Greeter program</a:t>
            </a:r>
          </a:p>
        </p:txBody>
      </p:sp>
      <p:pic>
        <p:nvPicPr>
          <p:cNvPr id="3" name="Picture 2"/>
          <p:cNvPicPr>
            <a:picLocks noChangeAspect="1"/>
          </p:cNvPicPr>
          <p:nvPr/>
        </p:nvPicPr>
        <p:blipFill>
          <a:blip r:embed="rId3"/>
          <a:stretch>
            <a:fillRect/>
          </a:stretch>
        </p:blipFill>
        <p:spPr>
          <a:xfrm>
            <a:off x="1733155" y="2441396"/>
            <a:ext cx="8725690" cy="3603145"/>
          </a:xfrm>
          <a:prstGeom prst="rect">
            <a:avLst/>
          </a:prstGeom>
        </p:spPr>
      </p:pic>
    </p:spTree>
    <p:extLst>
      <p:ext uri="{BB962C8B-B14F-4D97-AF65-F5344CB8AC3E}">
        <p14:creationId xmlns:p14="http://schemas.microsoft.com/office/powerpoint/2010/main" val="6363209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Let’s create our Greeter program</a:t>
            </a:r>
          </a:p>
        </p:txBody>
      </p:sp>
      <p:pic>
        <p:nvPicPr>
          <p:cNvPr id="5" name="Picture 4"/>
          <p:cNvPicPr>
            <a:picLocks noChangeAspect="1"/>
          </p:cNvPicPr>
          <p:nvPr/>
        </p:nvPicPr>
        <p:blipFill>
          <a:blip r:embed="rId3"/>
          <a:stretch>
            <a:fillRect/>
          </a:stretch>
        </p:blipFill>
        <p:spPr>
          <a:xfrm>
            <a:off x="3152364" y="1966708"/>
            <a:ext cx="5887272" cy="2924583"/>
          </a:xfrm>
          <a:prstGeom prst="rect">
            <a:avLst/>
          </a:prstGeom>
        </p:spPr>
      </p:pic>
    </p:spTree>
    <p:extLst>
      <p:ext uri="{BB962C8B-B14F-4D97-AF65-F5344CB8AC3E}">
        <p14:creationId xmlns:p14="http://schemas.microsoft.com/office/powerpoint/2010/main" val="35091970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Let’s create our Greeter program</a:t>
            </a:r>
          </a:p>
        </p:txBody>
      </p:sp>
      <p:sp>
        <p:nvSpPr>
          <p:cNvPr id="3" name="Rectangle 1"/>
          <p:cNvSpPr>
            <a:spLocks noChangeArrowheads="1"/>
          </p:cNvSpPr>
          <p:nvPr/>
        </p:nvSpPr>
        <p:spPr bwMode="auto">
          <a:xfrm>
            <a:off x="609599" y="1896407"/>
            <a:ext cx="6966857" cy="421653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CC7832"/>
                </a:solidFill>
                <a:effectLst/>
                <a:latin typeface="Fira Code"/>
              </a:rPr>
              <a:t>class </a:t>
            </a:r>
            <a:r>
              <a:rPr kumimoji="0" lang="en-US" altLang="en-US" sz="2800" b="0" i="0" u="none" strike="noStrike" cap="none" normalizeH="0" baseline="0" dirty="0">
                <a:ln>
                  <a:noFill/>
                </a:ln>
                <a:solidFill>
                  <a:srgbClr val="A9B7C6"/>
                </a:solidFill>
                <a:effectLst/>
                <a:latin typeface="Fira Code"/>
              </a:rPr>
              <a:t>Greeter:</a:t>
            </a:r>
            <a:br>
              <a:rPr kumimoji="0" lang="en-US" altLang="en-US" sz="2800" b="0" i="0" u="none" strike="noStrike" cap="none" normalizeH="0" baseline="0" dirty="0">
                <a:ln>
                  <a:noFill/>
                </a:ln>
                <a:solidFill>
                  <a:srgbClr val="A9B7C6"/>
                </a:solidFill>
                <a:effectLst/>
                <a:latin typeface="Fira Code"/>
              </a:rPr>
            </a:br>
            <a:r>
              <a:rPr kumimoji="0" lang="en-US" altLang="en-US" sz="2800" b="0" i="0" u="none" strike="noStrike" cap="none" normalizeH="0" baseline="0" dirty="0">
                <a:ln>
                  <a:noFill/>
                </a:ln>
                <a:solidFill>
                  <a:srgbClr val="A9B7C6"/>
                </a:solidFill>
                <a:effectLst/>
                <a:latin typeface="Fira Code"/>
              </a:rPr>
              <a:t>    </a:t>
            </a:r>
            <a:r>
              <a:rPr kumimoji="0" lang="en-US" altLang="en-US" sz="2800" b="0" i="0" u="none" strike="noStrike" cap="none" normalizeH="0" baseline="0" dirty="0">
                <a:ln>
                  <a:noFill/>
                </a:ln>
                <a:solidFill>
                  <a:srgbClr val="BBB529"/>
                </a:solidFill>
                <a:effectLst/>
                <a:latin typeface="Fira Code"/>
              </a:rPr>
              <a:t>@staticmethod</a:t>
            </a:r>
            <a:br>
              <a:rPr kumimoji="0" lang="en-US" altLang="en-US" sz="2800" b="0" i="0" u="none" strike="noStrike" cap="none" normalizeH="0" baseline="0" dirty="0">
                <a:ln>
                  <a:noFill/>
                </a:ln>
                <a:solidFill>
                  <a:srgbClr val="BBB529"/>
                </a:solidFill>
                <a:effectLst/>
                <a:latin typeface="Fira Code"/>
              </a:rPr>
            </a:br>
            <a:r>
              <a:rPr kumimoji="0" lang="en-US" altLang="en-US" sz="2800" b="0" i="0" u="none" strike="noStrike" cap="none" normalizeH="0" baseline="0" dirty="0">
                <a:ln>
                  <a:noFill/>
                </a:ln>
                <a:solidFill>
                  <a:srgbClr val="BBB529"/>
                </a:solidFill>
                <a:effectLst/>
                <a:latin typeface="Fira Code"/>
              </a:rPr>
              <a:t>    </a:t>
            </a:r>
            <a:r>
              <a:rPr kumimoji="0" lang="en-US" altLang="en-US" sz="2800" b="0" i="0" u="none" strike="noStrike" cap="none" normalizeH="0" baseline="0" dirty="0">
                <a:ln>
                  <a:noFill/>
                </a:ln>
                <a:solidFill>
                  <a:srgbClr val="CC7832"/>
                </a:solidFill>
                <a:effectLst/>
                <a:latin typeface="Fira Code"/>
              </a:rPr>
              <a:t>def </a:t>
            </a:r>
            <a:r>
              <a:rPr kumimoji="0" lang="en-US" altLang="en-US" sz="2800" b="0" i="0" u="none" strike="noStrike" cap="none" normalizeH="0" baseline="0" dirty="0">
                <a:ln>
                  <a:noFill/>
                </a:ln>
                <a:solidFill>
                  <a:srgbClr val="FFC66D"/>
                </a:solidFill>
                <a:effectLst/>
                <a:latin typeface="Fira Code"/>
              </a:rPr>
              <a:t>greet_user</a:t>
            </a:r>
            <a:r>
              <a:rPr kumimoji="0" lang="en-US" altLang="en-US" sz="2800" b="0" i="0" u="none" strike="noStrike" cap="none" normalizeH="0" baseline="0" dirty="0">
                <a:ln>
                  <a:noFill/>
                </a:ln>
                <a:solidFill>
                  <a:srgbClr val="A9B7C6"/>
                </a:solidFill>
                <a:effectLst/>
                <a:latin typeface="Fira Code"/>
              </a:rPr>
              <a:t>():</a:t>
            </a:r>
            <a:br>
              <a:rPr kumimoji="0" lang="en-US" altLang="en-US" sz="2800" b="0" i="0" u="none" strike="noStrike" cap="none" normalizeH="0" baseline="0" dirty="0">
                <a:ln>
                  <a:noFill/>
                </a:ln>
                <a:solidFill>
                  <a:srgbClr val="A9B7C6"/>
                </a:solidFill>
                <a:effectLst/>
                <a:latin typeface="Fira Code"/>
              </a:rPr>
            </a:br>
            <a:r>
              <a:rPr kumimoji="0" lang="en-US" altLang="en-US" sz="2800" b="0" i="0" u="none" strike="noStrike" cap="none" normalizeH="0" baseline="0" dirty="0">
                <a:ln>
                  <a:noFill/>
                </a:ln>
                <a:solidFill>
                  <a:srgbClr val="A9B7C6"/>
                </a:solidFill>
                <a:effectLst/>
                <a:latin typeface="Fira Code"/>
              </a:rPr>
              <a:t>        </a:t>
            </a:r>
            <a:r>
              <a:rPr kumimoji="0" lang="en-US" altLang="en-US" sz="2800" b="0" i="0" u="none" strike="noStrike" cap="none" normalizeH="0" baseline="0" dirty="0">
                <a:ln>
                  <a:noFill/>
                </a:ln>
                <a:solidFill>
                  <a:srgbClr val="8888C6"/>
                </a:solidFill>
                <a:effectLst/>
                <a:latin typeface="Fira Code"/>
              </a:rPr>
              <a:t>print</a:t>
            </a:r>
            <a:r>
              <a:rPr kumimoji="0" lang="en-US" altLang="en-US" sz="2800" b="0" i="0" u="none" strike="noStrike" cap="none" normalizeH="0" baseline="0" dirty="0">
                <a:ln>
                  <a:noFill/>
                </a:ln>
                <a:solidFill>
                  <a:srgbClr val="A9B7C6"/>
                </a:solidFill>
                <a:effectLst/>
                <a:latin typeface="Fira Code"/>
              </a:rPr>
              <a:t>(</a:t>
            </a:r>
            <a:r>
              <a:rPr kumimoji="0" lang="en-US" altLang="en-US" sz="2800" b="0" i="0" u="none" strike="noStrike" cap="none" normalizeH="0" baseline="0" dirty="0">
                <a:ln>
                  <a:noFill/>
                </a:ln>
                <a:solidFill>
                  <a:srgbClr val="6A8759"/>
                </a:solidFill>
                <a:effectLst/>
                <a:latin typeface="Fira Code"/>
              </a:rPr>
              <a:t>'Hello, world!'</a:t>
            </a:r>
            <a:r>
              <a:rPr kumimoji="0" lang="en-US" altLang="en-US" sz="2800" b="0" i="0" u="none" strike="noStrike" cap="none" normalizeH="0" baseline="0" dirty="0">
                <a:ln>
                  <a:noFill/>
                </a:ln>
                <a:solidFill>
                  <a:srgbClr val="A9B7C6"/>
                </a:solidFill>
                <a:effectLst/>
                <a:latin typeface="Fira Code"/>
              </a:rPr>
              <a:t>)</a:t>
            </a:r>
            <a:br>
              <a:rPr kumimoji="0" lang="en-US" altLang="en-US" sz="2800" b="0" i="0" u="none" strike="noStrike" cap="none" normalizeH="0" baseline="0" dirty="0">
                <a:ln>
                  <a:noFill/>
                </a:ln>
                <a:solidFill>
                  <a:srgbClr val="A9B7C6"/>
                </a:solidFill>
                <a:effectLst/>
                <a:latin typeface="Fira Code"/>
              </a:rPr>
            </a:br>
            <a:br>
              <a:rPr kumimoji="0" lang="en-US" altLang="en-US" sz="2800" b="0" i="0" u="none" strike="noStrike" cap="none" normalizeH="0" baseline="0" dirty="0">
                <a:ln>
                  <a:noFill/>
                </a:ln>
                <a:solidFill>
                  <a:srgbClr val="A9B7C6"/>
                </a:solidFill>
                <a:effectLst/>
                <a:latin typeface="Fira Code"/>
              </a:rPr>
            </a:br>
            <a:br>
              <a:rPr kumimoji="0" lang="en-US" altLang="en-US" sz="2800" b="0" i="0" u="none" strike="noStrike" cap="none" normalizeH="0" baseline="0" dirty="0">
                <a:ln>
                  <a:noFill/>
                </a:ln>
                <a:solidFill>
                  <a:srgbClr val="A9B7C6"/>
                </a:solidFill>
                <a:effectLst/>
                <a:latin typeface="Fira Code"/>
              </a:rPr>
            </a:br>
            <a:r>
              <a:rPr kumimoji="0" lang="en-US" altLang="en-US" sz="2800" b="0" i="0" u="none" strike="noStrike" cap="none" normalizeH="0" baseline="0" dirty="0">
                <a:ln>
                  <a:noFill/>
                </a:ln>
                <a:solidFill>
                  <a:srgbClr val="CC7832"/>
                </a:solidFill>
                <a:effectLst/>
                <a:latin typeface="Fira Code"/>
              </a:rPr>
              <a:t>if </a:t>
            </a:r>
            <a:r>
              <a:rPr kumimoji="0" lang="en-US" altLang="en-US" sz="2800" b="0" i="0" u="none" strike="noStrike" cap="none" normalizeH="0" baseline="0" dirty="0">
                <a:ln>
                  <a:noFill/>
                </a:ln>
                <a:solidFill>
                  <a:srgbClr val="A9B7C6"/>
                </a:solidFill>
                <a:effectLst/>
                <a:latin typeface="Fira Code"/>
              </a:rPr>
              <a:t>__name__ == </a:t>
            </a:r>
            <a:r>
              <a:rPr kumimoji="0" lang="en-US" altLang="en-US" sz="2800" b="0" i="0" u="none" strike="noStrike" cap="none" normalizeH="0" baseline="0" dirty="0">
                <a:ln>
                  <a:noFill/>
                </a:ln>
                <a:solidFill>
                  <a:srgbClr val="6A8759"/>
                </a:solidFill>
                <a:effectLst/>
                <a:latin typeface="Fira Code"/>
              </a:rPr>
              <a:t>'__main__'</a:t>
            </a:r>
            <a:r>
              <a:rPr kumimoji="0" lang="en-US" altLang="en-US" sz="2800" b="0" i="0" u="none" strike="noStrike" cap="none" normalizeH="0" baseline="0" dirty="0">
                <a:ln>
                  <a:noFill/>
                </a:ln>
                <a:solidFill>
                  <a:srgbClr val="A9B7C6"/>
                </a:solidFill>
                <a:effectLst/>
                <a:latin typeface="Fira Code"/>
              </a:rPr>
              <a:t>:</a:t>
            </a:r>
            <a:br>
              <a:rPr kumimoji="0" lang="en-US" altLang="en-US" sz="2800" b="0" i="0" u="none" strike="noStrike" cap="none" normalizeH="0" baseline="0" dirty="0">
                <a:ln>
                  <a:noFill/>
                </a:ln>
                <a:solidFill>
                  <a:srgbClr val="A9B7C6"/>
                </a:solidFill>
                <a:effectLst/>
                <a:latin typeface="Fira Code"/>
              </a:rPr>
            </a:br>
            <a:r>
              <a:rPr kumimoji="0" lang="en-US" altLang="en-US" sz="2800" b="0" i="0" u="none" strike="noStrike" cap="none" normalizeH="0" baseline="0" dirty="0">
                <a:ln>
                  <a:noFill/>
                </a:ln>
                <a:solidFill>
                  <a:srgbClr val="A9B7C6"/>
                </a:solidFill>
                <a:effectLst/>
                <a:latin typeface="Fira Code"/>
              </a:rPr>
              <a:t>    Greeter.greet_user()</a:t>
            </a:r>
            <a:br>
              <a:rPr kumimoji="0" lang="en-US" altLang="en-US" sz="2800" b="0" i="0" u="none" strike="noStrike" cap="none" normalizeH="0" baseline="0" dirty="0">
                <a:ln>
                  <a:noFill/>
                </a:ln>
                <a:solidFill>
                  <a:srgbClr val="A9B7C6"/>
                </a:solidFill>
                <a:effectLst/>
                <a:latin typeface="Fira Code"/>
              </a:rPr>
            </a:b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573639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Let’s run our Greeter program</a:t>
            </a:r>
          </a:p>
        </p:txBody>
      </p:sp>
      <p:pic>
        <p:nvPicPr>
          <p:cNvPr id="4" name="Picture 3"/>
          <p:cNvPicPr>
            <a:picLocks noChangeAspect="1"/>
          </p:cNvPicPr>
          <p:nvPr/>
        </p:nvPicPr>
        <p:blipFill>
          <a:blip r:embed="rId3"/>
          <a:stretch>
            <a:fillRect/>
          </a:stretch>
        </p:blipFill>
        <p:spPr>
          <a:xfrm>
            <a:off x="5347854" y="1774159"/>
            <a:ext cx="5268060" cy="3048425"/>
          </a:xfrm>
          <a:prstGeom prst="rect">
            <a:avLst/>
          </a:prstGeom>
        </p:spPr>
      </p:pic>
      <p:sp>
        <p:nvSpPr>
          <p:cNvPr id="5" name="Rectangle 4"/>
          <p:cNvSpPr/>
          <p:nvPr/>
        </p:nvSpPr>
        <p:spPr>
          <a:xfrm>
            <a:off x="5450774" y="3883232"/>
            <a:ext cx="498764" cy="285008"/>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7" name="Straight Arrow Connector 6"/>
          <p:cNvCxnSpPr>
            <a:stCxn id="9" idx="3"/>
          </p:cNvCxnSpPr>
          <p:nvPr/>
        </p:nvCxnSpPr>
        <p:spPr>
          <a:xfrm>
            <a:off x="3907560" y="3731275"/>
            <a:ext cx="1286188" cy="2340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924051" y="3469665"/>
            <a:ext cx="2983509" cy="523220"/>
          </a:xfrm>
          <a:prstGeom prst="rect">
            <a:avLst/>
          </a:prstGeom>
        </p:spPr>
        <p:txBody>
          <a:bodyPr wrap="none">
            <a:spAutoFit/>
          </a:bodyPr>
          <a:lstStyle/>
          <a:p>
            <a:r>
              <a:rPr lang="en-AU" sz="2800" dirty="0">
                <a:solidFill>
                  <a:schemeClr val="bg1"/>
                </a:solidFill>
              </a:rPr>
              <a:t>Start the program</a:t>
            </a:r>
          </a:p>
        </p:txBody>
      </p:sp>
      <p:pic>
        <p:nvPicPr>
          <p:cNvPr id="10" name="Picture 9"/>
          <p:cNvPicPr>
            <a:picLocks noChangeAspect="1"/>
          </p:cNvPicPr>
          <p:nvPr/>
        </p:nvPicPr>
        <p:blipFill>
          <a:blip r:embed="rId4"/>
          <a:stretch>
            <a:fillRect/>
          </a:stretch>
        </p:blipFill>
        <p:spPr>
          <a:xfrm>
            <a:off x="887847" y="5018077"/>
            <a:ext cx="4305901" cy="1619476"/>
          </a:xfrm>
          <a:prstGeom prst="rect">
            <a:avLst/>
          </a:prstGeom>
        </p:spPr>
      </p:pic>
      <p:sp>
        <p:nvSpPr>
          <p:cNvPr id="11" name="Rectangle 10"/>
          <p:cNvSpPr/>
          <p:nvPr/>
        </p:nvSpPr>
        <p:spPr>
          <a:xfrm>
            <a:off x="5700156" y="5735783"/>
            <a:ext cx="3063659" cy="523220"/>
          </a:xfrm>
          <a:prstGeom prst="rect">
            <a:avLst/>
          </a:prstGeom>
        </p:spPr>
        <p:txBody>
          <a:bodyPr wrap="none">
            <a:spAutoFit/>
          </a:bodyPr>
          <a:lstStyle/>
          <a:p>
            <a:r>
              <a:rPr lang="en-AU" sz="2800" dirty="0">
                <a:solidFill>
                  <a:schemeClr val="bg1"/>
                </a:solidFill>
              </a:rPr>
              <a:t>Review the output</a:t>
            </a:r>
          </a:p>
        </p:txBody>
      </p:sp>
      <p:cxnSp>
        <p:nvCxnSpPr>
          <p:cNvPr id="13" name="Straight Arrow Connector 12"/>
          <p:cNvCxnSpPr/>
          <p:nvPr/>
        </p:nvCxnSpPr>
        <p:spPr>
          <a:xfrm flipH="1" flipV="1">
            <a:off x="3158836" y="5735783"/>
            <a:ext cx="2541320" cy="2236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309756" y="2440045"/>
            <a:ext cx="1468582" cy="285008"/>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16" name="Straight Arrow Connector 15"/>
          <p:cNvCxnSpPr/>
          <p:nvPr/>
        </p:nvCxnSpPr>
        <p:spPr>
          <a:xfrm>
            <a:off x="4227616" y="2353393"/>
            <a:ext cx="1868384" cy="2024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664289" y="2097127"/>
            <a:ext cx="2741456" cy="523220"/>
          </a:xfrm>
          <a:prstGeom prst="rect">
            <a:avLst/>
          </a:prstGeom>
        </p:spPr>
        <p:txBody>
          <a:bodyPr wrap="none">
            <a:spAutoFit/>
          </a:bodyPr>
          <a:lstStyle/>
          <a:p>
            <a:r>
              <a:rPr lang="en-AU" sz="2800" dirty="0">
                <a:solidFill>
                  <a:schemeClr val="bg1"/>
                </a:solidFill>
              </a:rPr>
              <a:t>Static method…</a:t>
            </a:r>
          </a:p>
        </p:txBody>
      </p:sp>
    </p:spTree>
    <p:extLst>
      <p:ext uri="{BB962C8B-B14F-4D97-AF65-F5344CB8AC3E}">
        <p14:creationId xmlns:p14="http://schemas.microsoft.com/office/powerpoint/2010/main" val="1666385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IoT?</a:t>
            </a:r>
          </a:p>
        </p:txBody>
      </p:sp>
      <p:sp>
        <p:nvSpPr>
          <p:cNvPr id="3" name="Text Placeholder 2"/>
          <p:cNvSpPr>
            <a:spLocks noGrp="1"/>
          </p:cNvSpPr>
          <p:nvPr>
            <p:ph type="body" idx="1"/>
          </p:nvPr>
        </p:nvSpPr>
        <p:spPr/>
        <p:txBody>
          <a:bodyPr/>
          <a:lstStyle/>
          <a:p>
            <a:r>
              <a:rPr lang="en-AU" dirty="0"/>
              <a:t>Session 01</a:t>
            </a:r>
          </a:p>
        </p:txBody>
      </p:sp>
    </p:spTree>
    <p:extLst>
      <p:ext uri="{BB962C8B-B14F-4D97-AF65-F5344CB8AC3E}">
        <p14:creationId xmlns:p14="http://schemas.microsoft.com/office/powerpoint/2010/main" val="8378805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IoT?</a:t>
            </a:r>
          </a:p>
        </p:txBody>
      </p:sp>
      <p:sp>
        <p:nvSpPr>
          <p:cNvPr id="3" name="Content Placeholder 2"/>
          <p:cNvSpPr>
            <a:spLocks noGrp="1"/>
          </p:cNvSpPr>
          <p:nvPr>
            <p:ph idx="1"/>
          </p:nvPr>
        </p:nvSpPr>
        <p:spPr/>
        <p:txBody>
          <a:bodyPr>
            <a:normAutofit/>
          </a:bodyPr>
          <a:lstStyle/>
          <a:p>
            <a:r>
              <a:rPr lang="en-AU" u="sng" dirty="0"/>
              <a:t>I</a:t>
            </a:r>
            <a:r>
              <a:rPr lang="en-AU" dirty="0"/>
              <a:t>nternet </a:t>
            </a:r>
            <a:r>
              <a:rPr lang="en-AU" u="sng" dirty="0"/>
              <a:t>o</a:t>
            </a:r>
            <a:r>
              <a:rPr lang="en-AU" dirty="0"/>
              <a:t>f </a:t>
            </a:r>
            <a:r>
              <a:rPr lang="en-AU" u="sng" dirty="0"/>
              <a:t>T</a:t>
            </a:r>
            <a:r>
              <a:rPr lang="en-AU" dirty="0"/>
              <a:t>hings</a:t>
            </a:r>
          </a:p>
          <a:p>
            <a:r>
              <a:rPr lang="en-AU" dirty="0"/>
              <a:t>Ecosystem</a:t>
            </a:r>
          </a:p>
          <a:p>
            <a:r>
              <a:rPr lang="en-AU" dirty="0"/>
              <a:t>Things</a:t>
            </a:r>
          </a:p>
          <a:p>
            <a:pPr lvl="1"/>
            <a:r>
              <a:rPr lang="en-AU" dirty="0"/>
              <a:t>physical items</a:t>
            </a:r>
          </a:p>
          <a:p>
            <a:pPr lvl="1"/>
            <a:r>
              <a:rPr lang="en-AU" dirty="0"/>
              <a:t>communicate with each other &amp; people</a:t>
            </a:r>
          </a:p>
          <a:p>
            <a:pPr marL="0" indent="0">
              <a:buNone/>
            </a:pPr>
            <a:br>
              <a:rPr lang="en-AU" dirty="0"/>
            </a:br>
            <a:endParaRPr lang="en-AU" dirty="0"/>
          </a:p>
          <a:p>
            <a:endParaRPr lang="en-AU" dirty="0"/>
          </a:p>
          <a:p>
            <a:endParaRPr lang="en-AU" dirty="0"/>
          </a:p>
        </p:txBody>
      </p:sp>
    </p:spTree>
    <p:extLst>
      <p:ext uri="{BB962C8B-B14F-4D97-AF65-F5344CB8AC3E}">
        <p14:creationId xmlns:p14="http://schemas.microsoft.com/office/powerpoint/2010/main" val="26896259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IoT?</a:t>
            </a:r>
          </a:p>
        </p:txBody>
      </p:sp>
      <p:sp>
        <p:nvSpPr>
          <p:cNvPr id="3" name="Content Placeholder 2"/>
          <p:cNvSpPr>
            <a:spLocks noGrp="1"/>
          </p:cNvSpPr>
          <p:nvPr>
            <p:ph idx="1"/>
          </p:nvPr>
        </p:nvSpPr>
        <p:spPr/>
        <p:txBody>
          <a:bodyPr>
            <a:normAutofit/>
          </a:bodyPr>
          <a:lstStyle/>
          <a:p>
            <a:r>
              <a:rPr lang="en-AU" dirty="0"/>
              <a:t>Thing + Controller</a:t>
            </a:r>
          </a:p>
          <a:p>
            <a:pPr lvl="1"/>
            <a:r>
              <a:rPr lang="en-AU" dirty="0"/>
              <a:t>Read/write data</a:t>
            </a:r>
          </a:p>
          <a:p>
            <a:pPr lvl="1"/>
            <a:r>
              <a:rPr lang="en-AU" dirty="0"/>
              <a:t>Transfer data to and from the Internet</a:t>
            </a:r>
          </a:p>
        </p:txBody>
      </p:sp>
      <p:sp>
        <p:nvSpPr>
          <p:cNvPr id="4" name="Rounded Rectangle 3"/>
          <p:cNvSpPr/>
          <p:nvPr/>
        </p:nvSpPr>
        <p:spPr>
          <a:xfrm>
            <a:off x="1303020" y="3851910"/>
            <a:ext cx="4503420" cy="2240280"/>
          </a:xfrm>
          <a:prstGeom prst="roundRect">
            <a:avLst/>
          </a:prstGeom>
        </p:spPr>
        <p:style>
          <a:lnRef idx="3">
            <a:schemeClr val="lt1"/>
          </a:lnRef>
          <a:fillRef idx="1">
            <a:schemeClr val="dk1"/>
          </a:fillRef>
          <a:effectRef idx="1">
            <a:schemeClr val="dk1"/>
          </a:effectRef>
          <a:fontRef idx="minor">
            <a:schemeClr val="lt1"/>
          </a:fontRef>
        </p:style>
        <p:txBody>
          <a:bodyPr rtlCol="0" anchor="b" anchorCtr="1"/>
          <a:lstStyle/>
          <a:p>
            <a:pPr algn="ctr"/>
            <a:r>
              <a:rPr lang="en-AU" dirty="0"/>
              <a:t>Smart Device</a:t>
            </a:r>
          </a:p>
        </p:txBody>
      </p:sp>
      <p:sp>
        <p:nvSpPr>
          <p:cNvPr id="7" name="TextBox 6"/>
          <p:cNvSpPr txBox="1"/>
          <p:nvPr/>
        </p:nvSpPr>
        <p:spPr>
          <a:xfrm>
            <a:off x="1680210" y="4560570"/>
            <a:ext cx="1634490" cy="640515"/>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wrap="square" lIns="180000" tIns="180000" rIns="180000" bIns="180000" rtlCol="0" anchor="ctr" anchorCtr="0">
            <a:spAutoFit/>
          </a:bodyPr>
          <a:lstStyle/>
          <a:p>
            <a:pPr algn="ctr"/>
            <a:r>
              <a:rPr lang="en-AU" dirty="0">
                <a:solidFill>
                  <a:schemeClr val="bg1"/>
                </a:solidFill>
              </a:rPr>
              <a:t>Bulb</a:t>
            </a:r>
          </a:p>
        </p:txBody>
      </p:sp>
      <p:sp>
        <p:nvSpPr>
          <p:cNvPr id="8" name="TextBox 7"/>
          <p:cNvSpPr txBox="1"/>
          <p:nvPr/>
        </p:nvSpPr>
        <p:spPr>
          <a:xfrm>
            <a:off x="3810000" y="4583430"/>
            <a:ext cx="1634490" cy="640515"/>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wrap="square" lIns="180000" tIns="180000" rIns="180000" bIns="180000" rtlCol="0" anchor="ctr" anchorCtr="0">
            <a:spAutoFit/>
          </a:bodyPr>
          <a:lstStyle/>
          <a:p>
            <a:pPr algn="ctr"/>
            <a:r>
              <a:rPr lang="en-AU" dirty="0">
                <a:solidFill>
                  <a:schemeClr val="bg1"/>
                </a:solidFill>
              </a:rPr>
              <a:t>Controller</a:t>
            </a:r>
          </a:p>
        </p:txBody>
      </p:sp>
      <p:sp>
        <p:nvSpPr>
          <p:cNvPr id="9" name="Cloud 8"/>
          <p:cNvSpPr/>
          <p:nvPr/>
        </p:nvSpPr>
        <p:spPr>
          <a:xfrm>
            <a:off x="6499860" y="4206240"/>
            <a:ext cx="2457450" cy="1680210"/>
          </a:xfrm>
          <a:prstGeom prst="cloud">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AU" dirty="0"/>
              <a:t>Internet</a:t>
            </a:r>
          </a:p>
        </p:txBody>
      </p:sp>
      <p:cxnSp>
        <p:nvCxnSpPr>
          <p:cNvPr id="12" name="Straight Arrow Connector 11"/>
          <p:cNvCxnSpPr/>
          <p:nvPr/>
        </p:nvCxnSpPr>
        <p:spPr>
          <a:xfrm>
            <a:off x="5444490" y="4714240"/>
            <a:ext cx="1626870" cy="0"/>
          </a:xfrm>
          <a:prstGeom prst="straightConnector1">
            <a:avLst/>
          </a:prstGeom>
          <a:ln>
            <a:solidFill>
              <a:schemeClr val="bg1"/>
            </a:solidFill>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flipH="1">
            <a:off x="5444490" y="5130400"/>
            <a:ext cx="1626870" cy="0"/>
          </a:xfrm>
          <a:prstGeom prst="straightConnector1">
            <a:avLst/>
          </a:prstGeom>
          <a:ln>
            <a:solidFill>
              <a:schemeClr val="bg1"/>
            </a:solidFill>
            <a:tailEnd type="triangle"/>
          </a:ln>
        </p:spPr>
        <p:style>
          <a:lnRef idx="3">
            <a:schemeClr val="accent2"/>
          </a:lnRef>
          <a:fillRef idx="0">
            <a:schemeClr val="accent2"/>
          </a:fillRef>
          <a:effectRef idx="2">
            <a:schemeClr val="accent2"/>
          </a:effectRef>
          <a:fontRef idx="minor">
            <a:schemeClr val="tx1"/>
          </a:fontRef>
        </p:style>
      </p:cxnSp>
      <p:cxnSp>
        <p:nvCxnSpPr>
          <p:cNvPr id="19" name="Straight Arrow Connector 18"/>
          <p:cNvCxnSpPr/>
          <p:nvPr/>
        </p:nvCxnSpPr>
        <p:spPr>
          <a:xfrm>
            <a:off x="8554720" y="4714240"/>
            <a:ext cx="1046480" cy="0"/>
          </a:xfrm>
          <a:prstGeom prst="straightConnector1">
            <a:avLst/>
          </a:prstGeom>
          <a:ln>
            <a:solidFill>
              <a:schemeClr val="bg1"/>
            </a:solidFill>
            <a:tailEnd type="triangle"/>
          </a:ln>
        </p:spPr>
        <p:style>
          <a:lnRef idx="3">
            <a:schemeClr val="accent2"/>
          </a:lnRef>
          <a:fillRef idx="0">
            <a:schemeClr val="accent2"/>
          </a:fillRef>
          <a:effectRef idx="2">
            <a:schemeClr val="accent2"/>
          </a:effectRef>
          <a:fontRef idx="minor">
            <a:schemeClr val="tx1"/>
          </a:fontRef>
        </p:style>
      </p:cxnSp>
      <p:cxnSp>
        <p:nvCxnSpPr>
          <p:cNvPr id="20" name="Straight Arrow Connector 19"/>
          <p:cNvCxnSpPr/>
          <p:nvPr/>
        </p:nvCxnSpPr>
        <p:spPr>
          <a:xfrm flipH="1">
            <a:off x="8554720" y="5130400"/>
            <a:ext cx="1046480" cy="0"/>
          </a:xfrm>
          <a:prstGeom prst="straightConnector1">
            <a:avLst/>
          </a:prstGeom>
          <a:ln>
            <a:solidFill>
              <a:schemeClr val="bg1"/>
            </a:solidFill>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p:cNvCxnSpPr/>
          <p:nvPr/>
        </p:nvCxnSpPr>
        <p:spPr>
          <a:xfrm flipH="1">
            <a:off x="3154680" y="4914700"/>
            <a:ext cx="802640" cy="0"/>
          </a:xfrm>
          <a:prstGeom prst="straightConnector1">
            <a:avLst/>
          </a:prstGeom>
          <a:ln>
            <a:solidFill>
              <a:schemeClr val="bg1"/>
            </a:solidFill>
            <a:tailEnd type="triangle"/>
          </a:ln>
        </p:spPr>
        <p:style>
          <a:lnRef idx="3">
            <a:schemeClr val="accent2"/>
          </a:lnRef>
          <a:fillRef idx="0">
            <a:schemeClr val="accent2"/>
          </a:fillRef>
          <a:effectRef idx="2">
            <a:schemeClr val="accent2"/>
          </a:effectRef>
          <a:fontRef idx="minor">
            <a:schemeClr val="tx1"/>
          </a:fontRef>
        </p:style>
      </p:cxnSp>
      <p:sp>
        <p:nvSpPr>
          <p:cNvPr id="10" name="Rounded Rectangle 9"/>
          <p:cNvSpPr/>
          <p:nvPr/>
        </p:nvSpPr>
        <p:spPr>
          <a:xfrm>
            <a:off x="9601200" y="4166452"/>
            <a:ext cx="1849120" cy="1428750"/>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AU" dirty="0"/>
              <a:t>User</a:t>
            </a:r>
          </a:p>
        </p:txBody>
      </p:sp>
    </p:spTree>
    <p:extLst>
      <p:ext uri="{BB962C8B-B14F-4D97-AF65-F5344CB8AC3E}">
        <p14:creationId xmlns:p14="http://schemas.microsoft.com/office/powerpoint/2010/main" val="35427626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Exercise: </a:t>
            </a:r>
            <a:r>
              <a:rPr lang="en-AU" dirty="0" err="1"/>
              <a:t>IoT</a:t>
            </a:r>
            <a:r>
              <a:rPr lang="en-AU" dirty="0"/>
              <a:t> where?</a:t>
            </a:r>
          </a:p>
        </p:txBody>
      </p:sp>
      <p:sp>
        <p:nvSpPr>
          <p:cNvPr id="3" name="Content Placeholder 2"/>
          <p:cNvSpPr>
            <a:spLocks noGrp="1"/>
          </p:cNvSpPr>
          <p:nvPr>
            <p:ph idx="1"/>
          </p:nvPr>
        </p:nvSpPr>
        <p:spPr/>
        <p:txBody>
          <a:bodyPr/>
          <a:lstStyle/>
          <a:p>
            <a:r>
              <a:rPr lang="en-AU" dirty="0"/>
              <a:t>In groups of 2 or 3</a:t>
            </a:r>
          </a:p>
          <a:p>
            <a:pPr lvl="1"/>
            <a:r>
              <a:rPr lang="en-AU" i="1" dirty="0"/>
              <a:t>(unless COVID restrictions are in place)</a:t>
            </a:r>
          </a:p>
          <a:p>
            <a:pPr lvl="1"/>
            <a:endParaRPr lang="en-AU" i="1" dirty="0"/>
          </a:p>
          <a:p>
            <a:r>
              <a:rPr lang="en-AU" dirty="0"/>
              <a:t>Are you able to identify</a:t>
            </a:r>
          </a:p>
          <a:p>
            <a:pPr lvl="1"/>
            <a:r>
              <a:rPr lang="en-AU" dirty="0"/>
              <a:t>Some common </a:t>
            </a:r>
            <a:r>
              <a:rPr lang="en-AU" dirty="0" err="1"/>
              <a:t>IoT</a:t>
            </a:r>
            <a:r>
              <a:rPr lang="en-AU" dirty="0"/>
              <a:t> devices (products / prototyping solutions)</a:t>
            </a:r>
          </a:p>
          <a:p>
            <a:pPr lvl="1"/>
            <a:r>
              <a:rPr lang="en-AU" dirty="0"/>
              <a:t>How IoT could be used?</a:t>
            </a:r>
          </a:p>
          <a:p>
            <a:pPr lvl="1"/>
            <a:r>
              <a:rPr lang="en-AU" dirty="0"/>
              <a:t>How could IoT benefit us?</a:t>
            </a:r>
          </a:p>
        </p:txBody>
      </p:sp>
    </p:spTree>
    <p:extLst>
      <p:ext uri="{BB962C8B-B14F-4D97-AF65-F5344CB8AC3E}">
        <p14:creationId xmlns:p14="http://schemas.microsoft.com/office/powerpoint/2010/main" val="21717192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IoT Where?</a:t>
            </a:r>
          </a:p>
        </p:txBody>
      </p:sp>
      <p:pic>
        <p:nvPicPr>
          <p:cNvPr id="1026" name="Picture 2">
            <a:extLst>
              <a:ext uri="{FF2B5EF4-FFF2-40B4-BE49-F238E27FC236}">
                <a16:creationId xmlns:a16="http://schemas.microsoft.com/office/drawing/2014/main" id="{0D4F976A-68F7-D14C-9F49-0F0C3644FD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1120" y="1828800"/>
            <a:ext cx="2346960" cy="23469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IoT raspberry pi">
            <a:extLst>
              <a:ext uri="{FF2B5EF4-FFF2-40B4-BE49-F238E27FC236}">
                <a16:creationId xmlns:a16="http://schemas.microsoft.com/office/drawing/2014/main" id="{4D6735FD-2253-E041-BEE9-7FDDADE6E9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8100" y="1503097"/>
            <a:ext cx="3556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est T3021US Learning Thermostat Easy Temperature Control">
            <a:extLst>
              <a:ext uri="{FF2B5EF4-FFF2-40B4-BE49-F238E27FC236}">
                <a16:creationId xmlns:a16="http://schemas.microsoft.com/office/drawing/2014/main" id="{B7F369AB-0BF9-C14D-81B0-11F1207BCD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4420" y="4503513"/>
            <a:ext cx="2049780" cy="204978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ing Doorbells">
            <a:extLst>
              <a:ext uri="{FF2B5EF4-FFF2-40B4-BE49-F238E27FC236}">
                <a16:creationId xmlns:a16="http://schemas.microsoft.com/office/drawing/2014/main" id="{ED97F8BF-FC77-AA46-B2D5-E9B3E7C109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49758" y="2646097"/>
            <a:ext cx="1832642" cy="30289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hilips Hue Bulbs and Lighting System">
            <a:extLst>
              <a:ext uri="{FF2B5EF4-FFF2-40B4-BE49-F238E27FC236}">
                <a16:creationId xmlns:a16="http://schemas.microsoft.com/office/drawing/2014/main" id="{1EDAD507-FE12-344E-ABB8-45D6E269459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35518" y="4339155"/>
            <a:ext cx="4201164" cy="1748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82204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Sensors vs Actuators</a:t>
            </a:r>
          </a:p>
        </p:txBody>
      </p:sp>
      <p:sp>
        <p:nvSpPr>
          <p:cNvPr id="3" name="Text Placeholder 2"/>
          <p:cNvSpPr>
            <a:spLocks noGrp="1"/>
          </p:cNvSpPr>
          <p:nvPr>
            <p:ph type="body" idx="1"/>
          </p:nvPr>
        </p:nvSpPr>
        <p:spPr/>
        <p:txBody>
          <a:bodyPr/>
          <a:lstStyle/>
          <a:p>
            <a:r>
              <a:rPr lang="en-AU" dirty="0"/>
              <a:t>Session 01</a:t>
            </a:r>
          </a:p>
        </p:txBody>
      </p:sp>
    </p:spTree>
    <p:extLst>
      <p:ext uri="{BB962C8B-B14F-4D97-AF65-F5344CB8AC3E}">
        <p14:creationId xmlns:p14="http://schemas.microsoft.com/office/powerpoint/2010/main" val="32485128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Sensors</a:t>
            </a:r>
          </a:p>
        </p:txBody>
      </p:sp>
      <p:sp>
        <p:nvSpPr>
          <p:cNvPr id="3" name="Content Placeholder 2"/>
          <p:cNvSpPr>
            <a:spLocks noGrp="1"/>
          </p:cNvSpPr>
          <p:nvPr>
            <p:ph idx="1"/>
          </p:nvPr>
        </p:nvSpPr>
        <p:spPr/>
        <p:txBody>
          <a:bodyPr>
            <a:normAutofit fontScale="92500" lnSpcReduction="10000"/>
          </a:bodyPr>
          <a:lstStyle/>
          <a:p>
            <a:r>
              <a:rPr lang="en-AU" dirty="0"/>
              <a:t>Input data</a:t>
            </a:r>
          </a:p>
          <a:p>
            <a:r>
              <a:rPr lang="en-AU" dirty="0"/>
              <a:t>Examples:</a:t>
            </a:r>
          </a:p>
          <a:p>
            <a:pPr lvl="1"/>
            <a:r>
              <a:rPr lang="en-AU" dirty="0"/>
              <a:t>IR (infrared)</a:t>
            </a:r>
          </a:p>
          <a:p>
            <a:pPr lvl="1"/>
            <a:r>
              <a:rPr lang="en-AU" dirty="0"/>
              <a:t>Switch / button</a:t>
            </a:r>
          </a:p>
          <a:p>
            <a:pPr lvl="1"/>
            <a:r>
              <a:rPr lang="en-AU" dirty="0"/>
              <a:t>Touch / pressure</a:t>
            </a:r>
          </a:p>
          <a:p>
            <a:pPr lvl="1"/>
            <a:r>
              <a:rPr lang="en-AU" dirty="0"/>
              <a:t>Temperature</a:t>
            </a:r>
          </a:p>
          <a:p>
            <a:pPr lvl="1"/>
            <a:r>
              <a:rPr lang="en-AU" dirty="0"/>
              <a:t>Atmospheric pressure</a:t>
            </a:r>
          </a:p>
          <a:p>
            <a:pPr lvl="1"/>
            <a:r>
              <a:rPr lang="en-AU" dirty="0"/>
              <a:t>Light</a:t>
            </a:r>
          </a:p>
          <a:p>
            <a:pPr lvl="1"/>
            <a:r>
              <a:rPr lang="en-AU" dirty="0"/>
              <a:t>Humidity</a:t>
            </a:r>
          </a:p>
          <a:p>
            <a:pPr lvl="1"/>
            <a:r>
              <a:rPr lang="en-AU" dirty="0"/>
              <a:t>RFID</a:t>
            </a:r>
          </a:p>
          <a:p>
            <a:endParaRPr lang="en-AU" dirty="0"/>
          </a:p>
          <a:p>
            <a:endParaRPr lang="en-AU" dirty="0"/>
          </a:p>
        </p:txBody>
      </p:sp>
    </p:spTree>
    <p:extLst>
      <p:ext uri="{BB962C8B-B14F-4D97-AF65-F5344CB8AC3E}">
        <p14:creationId xmlns:p14="http://schemas.microsoft.com/office/powerpoint/2010/main" val="5696406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Actuators</a:t>
            </a:r>
          </a:p>
        </p:txBody>
      </p:sp>
      <p:sp>
        <p:nvSpPr>
          <p:cNvPr id="3" name="Content Placeholder 2"/>
          <p:cNvSpPr>
            <a:spLocks noGrp="1"/>
          </p:cNvSpPr>
          <p:nvPr>
            <p:ph idx="1"/>
          </p:nvPr>
        </p:nvSpPr>
        <p:spPr/>
        <p:txBody>
          <a:bodyPr>
            <a:normAutofit/>
          </a:bodyPr>
          <a:lstStyle/>
          <a:p>
            <a:r>
              <a:rPr lang="en-AU" dirty="0"/>
              <a:t>Output data</a:t>
            </a:r>
          </a:p>
          <a:p>
            <a:r>
              <a:rPr lang="en-AU" dirty="0"/>
              <a:t>Change state of environment</a:t>
            </a:r>
          </a:p>
          <a:p>
            <a:r>
              <a:rPr lang="en-AU" dirty="0"/>
              <a:t>Examples:</a:t>
            </a:r>
          </a:p>
          <a:p>
            <a:pPr lvl="1"/>
            <a:r>
              <a:rPr lang="en-AU" dirty="0"/>
              <a:t>Bulb (LED)</a:t>
            </a:r>
          </a:p>
          <a:p>
            <a:pPr lvl="1"/>
            <a:r>
              <a:rPr lang="en-AU" dirty="0"/>
              <a:t>Motor</a:t>
            </a:r>
          </a:p>
          <a:p>
            <a:pPr lvl="1"/>
            <a:r>
              <a:rPr lang="en-AU" dirty="0"/>
              <a:t>Monitor</a:t>
            </a:r>
          </a:p>
          <a:p>
            <a:pPr lvl="1"/>
            <a:r>
              <a:rPr lang="en-AU" dirty="0"/>
              <a:t>Buzzer / loudspeaker</a:t>
            </a:r>
          </a:p>
          <a:p>
            <a:pPr lvl="1"/>
            <a:r>
              <a:rPr lang="en-AU" dirty="0"/>
              <a:t>Relay</a:t>
            </a:r>
          </a:p>
          <a:p>
            <a:pPr lvl="1"/>
            <a:endParaRPr lang="en-AU" dirty="0"/>
          </a:p>
          <a:p>
            <a:endParaRPr lang="en-AU" dirty="0"/>
          </a:p>
          <a:p>
            <a:endParaRPr lang="en-AU" dirty="0"/>
          </a:p>
        </p:txBody>
      </p:sp>
    </p:spTree>
    <p:extLst>
      <p:ext uri="{BB962C8B-B14F-4D97-AF65-F5344CB8AC3E}">
        <p14:creationId xmlns:p14="http://schemas.microsoft.com/office/powerpoint/2010/main" val="15586743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Architecture</a:t>
            </a:r>
          </a:p>
        </p:txBody>
      </p:sp>
      <p:sp>
        <p:nvSpPr>
          <p:cNvPr id="3" name="Text Placeholder 2"/>
          <p:cNvSpPr>
            <a:spLocks noGrp="1"/>
          </p:cNvSpPr>
          <p:nvPr>
            <p:ph type="body" idx="1"/>
          </p:nvPr>
        </p:nvSpPr>
        <p:spPr/>
        <p:txBody>
          <a:bodyPr/>
          <a:lstStyle/>
          <a:p>
            <a:r>
              <a:rPr lang="en-AU" dirty="0"/>
              <a:t>Session 01</a:t>
            </a:r>
          </a:p>
        </p:txBody>
      </p:sp>
    </p:spTree>
    <p:extLst>
      <p:ext uri="{BB962C8B-B14F-4D97-AF65-F5344CB8AC3E}">
        <p14:creationId xmlns:p14="http://schemas.microsoft.com/office/powerpoint/2010/main" val="3174607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Architecture</a:t>
            </a:r>
          </a:p>
        </p:txBody>
      </p:sp>
      <p:sp>
        <p:nvSpPr>
          <p:cNvPr id="3" name="Content Placeholder 2"/>
          <p:cNvSpPr>
            <a:spLocks noGrp="1"/>
          </p:cNvSpPr>
          <p:nvPr>
            <p:ph idx="1"/>
          </p:nvPr>
        </p:nvSpPr>
        <p:spPr/>
        <p:txBody>
          <a:bodyPr>
            <a:normAutofit/>
          </a:bodyPr>
          <a:lstStyle/>
          <a:p>
            <a:r>
              <a:rPr lang="en-AU" sz="3600" dirty="0"/>
              <a:t>End to end architecture</a:t>
            </a:r>
          </a:p>
          <a:p>
            <a:pPr lvl="1"/>
            <a:r>
              <a:rPr lang="en-AU" sz="3200" dirty="0"/>
              <a:t>sensors / actuators</a:t>
            </a:r>
          </a:p>
          <a:p>
            <a:pPr lvl="1"/>
            <a:r>
              <a:rPr lang="en-AU" sz="3200" dirty="0"/>
              <a:t>servers</a:t>
            </a:r>
          </a:p>
          <a:p>
            <a:pPr lvl="1"/>
            <a:r>
              <a:rPr lang="en-AU" sz="3200" dirty="0"/>
              <a:t>communication channel </a:t>
            </a:r>
          </a:p>
          <a:p>
            <a:pPr lvl="1"/>
            <a:r>
              <a:rPr lang="en-AU" sz="3200" dirty="0"/>
              <a:t>applications consume the data</a:t>
            </a:r>
            <a:br>
              <a:rPr lang="en-AU" sz="3200" dirty="0"/>
            </a:br>
            <a:r>
              <a:rPr lang="en-AU" sz="3200" dirty="0"/>
              <a:t>and present to users</a:t>
            </a:r>
          </a:p>
          <a:p>
            <a:endParaRPr lang="en-AU" sz="3600" dirty="0"/>
          </a:p>
          <a:p>
            <a:endParaRPr lang="en-AU" sz="3600" dirty="0"/>
          </a:p>
        </p:txBody>
      </p:sp>
    </p:spTree>
    <p:extLst>
      <p:ext uri="{BB962C8B-B14F-4D97-AF65-F5344CB8AC3E}">
        <p14:creationId xmlns:p14="http://schemas.microsoft.com/office/powerpoint/2010/main" val="28831725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Communications Channels</a:t>
            </a:r>
          </a:p>
        </p:txBody>
      </p:sp>
      <p:sp>
        <p:nvSpPr>
          <p:cNvPr id="3" name="Content Placeholder 2"/>
          <p:cNvSpPr>
            <a:spLocks noGrp="1"/>
          </p:cNvSpPr>
          <p:nvPr>
            <p:ph idx="1"/>
          </p:nvPr>
        </p:nvSpPr>
        <p:spPr/>
        <p:txBody>
          <a:bodyPr>
            <a:normAutofit/>
          </a:bodyPr>
          <a:lstStyle/>
          <a:p>
            <a:r>
              <a:rPr lang="en-AU" dirty="0"/>
              <a:t>Cellular 3G/4G/5G</a:t>
            </a:r>
          </a:p>
          <a:p>
            <a:r>
              <a:rPr lang="en-AU" dirty="0" err="1"/>
              <a:t>WiFi</a:t>
            </a:r>
            <a:endParaRPr lang="en-AU" dirty="0"/>
          </a:p>
          <a:p>
            <a:r>
              <a:rPr lang="en-AU" dirty="0"/>
              <a:t>Ethernet</a:t>
            </a:r>
          </a:p>
          <a:p>
            <a:r>
              <a:rPr lang="en-AU" dirty="0"/>
              <a:t>Bluetooth</a:t>
            </a:r>
          </a:p>
          <a:p>
            <a:r>
              <a:rPr lang="en-AU" dirty="0"/>
              <a:t>Zig-Bee</a:t>
            </a:r>
          </a:p>
          <a:p>
            <a:r>
              <a:rPr lang="en-AU" dirty="0" err="1"/>
              <a:t>LoRaWAN</a:t>
            </a:r>
            <a:endParaRPr lang="en-AU" dirty="0"/>
          </a:p>
          <a:p>
            <a:endParaRPr lang="en-AU" sz="3600" dirty="0"/>
          </a:p>
          <a:p>
            <a:endParaRPr lang="en-AU" sz="3600" dirty="0"/>
          </a:p>
        </p:txBody>
      </p:sp>
    </p:spTree>
    <p:extLst>
      <p:ext uri="{BB962C8B-B14F-4D97-AF65-F5344CB8AC3E}">
        <p14:creationId xmlns:p14="http://schemas.microsoft.com/office/powerpoint/2010/main" val="3478076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Communications Protocols</a:t>
            </a:r>
          </a:p>
        </p:txBody>
      </p:sp>
      <p:sp>
        <p:nvSpPr>
          <p:cNvPr id="3" name="Content Placeholder 2"/>
          <p:cNvSpPr>
            <a:spLocks noGrp="1"/>
          </p:cNvSpPr>
          <p:nvPr>
            <p:ph idx="1"/>
          </p:nvPr>
        </p:nvSpPr>
        <p:spPr/>
        <p:txBody>
          <a:bodyPr>
            <a:normAutofit fontScale="92500" lnSpcReduction="10000"/>
          </a:bodyPr>
          <a:lstStyle/>
          <a:p>
            <a:r>
              <a:rPr lang="en-AU" dirty="0"/>
              <a:t>HTTP(S)</a:t>
            </a:r>
          </a:p>
          <a:p>
            <a:r>
              <a:rPr lang="en-AU" dirty="0"/>
              <a:t>MQTT</a:t>
            </a:r>
          </a:p>
          <a:p>
            <a:r>
              <a:rPr lang="en-AU" dirty="0" err="1"/>
              <a:t>WebSockets</a:t>
            </a:r>
            <a:endParaRPr lang="en-AU" dirty="0"/>
          </a:p>
          <a:p>
            <a:endParaRPr lang="en-AU" dirty="0"/>
          </a:p>
          <a:p>
            <a:endParaRPr lang="en-AU" dirty="0"/>
          </a:p>
          <a:p>
            <a:endParaRPr lang="en-AU" dirty="0"/>
          </a:p>
          <a:p>
            <a:endParaRPr lang="en-AU" dirty="0"/>
          </a:p>
          <a:p>
            <a:r>
              <a:rPr lang="en-AU" dirty="0"/>
              <a:t>SOAP</a:t>
            </a:r>
          </a:p>
          <a:p>
            <a:r>
              <a:rPr lang="en-AU" dirty="0"/>
              <a:t>JSON</a:t>
            </a:r>
          </a:p>
          <a:p>
            <a:endParaRPr lang="en-AU" sz="3600" dirty="0"/>
          </a:p>
          <a:p>
            <a:endParaRPr lang="en-AU" sz="3600" dirty="0"/>
          </a:p>
        </p:txBody>
      </p:sp>
      <p:sp>
        <p:nvSpPr>
          <p:cNvPr id="4" name="Rectangle 3">
            <a:extLst>
              <a:ext uri="{FF2B5EF4-FFF2-40B4-BE49-F238E27FC236}">
                <a16:creationId xmlns:a16="http://schemas.microsoft.com/office/drawing/2014/main" id="{2D247A57-C4DB-D546-B124-0B210D9835A3}"/>
              </a:ext>
            </a:extLst>
          </p:cNvPr>
          <p:cNvSpPr/>
          <p:nvPr/>
        </p:nvSpPr>
        <p:spPr>
          <a:xfrm>
            <a:off x="1432560" y="3383280"/>
            <a:ext cx="8564880" cy="1815882"/>
          </a:xfrm>
          <a:prstGeom prst="rect">
            <a:avLst/>
          </a:prstGeom>
        </p:spPr>
        <p:txBody>
          <a:bodyPr wrap="square">
            <a:spAutoFit/>
          </a:bodyPr>
          <a:lstStyle/>
          <a:p>
            <a:r>
              <a:rPr lang="en-AU" sz="1600" dirty="0">
                <a:solidFill>
                  <a:schemeClr val="accent3"/>
                </a:solidFill>
                <a:latin typeface="Lucida Console" panose="020B0609040504020204" pitchFamily="49" charset="0"/>
              </a:rPr>
              <a:t>const</a:t>
            </a:r>
            <a:r>
              <a:rPr lang="en-AU" sz="1600" dirty="0">
                <a:solidFill>
                  <a:schemeClr val="bg1"/>
                </a:solidFill>
                <a:latin typeface="Lucida Console" panose="020B0609040504020204" pitchFamily="49" charset="0"/>
              </a:rPr>
              <a:t> socket = </a:t>
            </a:r>
            <a:r>
              <a:rPr lang="en-AU" sz="1600" dirty="0">
                <a:solidFill>
                  <a:schemeClr val="accent3"/>
                </a:solidFill>
                <a:latin typeface="Lucida Console" panose="020B0609040504020204" pitchFamily="49" charset="0"/>
              </a:rPr>
              <a:t>new</a:t>
            </a:r>
            <a:r>
              <a:rPr lang="en-AU" sz="1600" dirty="0">
                <a:solidFill>
                  <a:schemeClr val="bg1"/>
                </a:solidFill>
                <a:latin typeface="Lucida Console" panose="020B0609040504020204" pitchFamily="49" charset="0"/>
              </a:rPr>
              <a:t> WebSocket(</a:t>
            </a:r>
            <a:r>
              <a:rPr lang="en-AU" sz="1600" dirty="0">
                <a:solidFill>
                  <a:srgbClr val="C00000"/>
                </a:solidFill>
                <a:latin typeface="Lucida Console" panose="020B0609040504020204" pitchFamily="49" charset="0"/>
              </a:rPr>
              <a:t>'</a:t>
            </a:r>
            <a:r>
              <a:rPr lang="en-AU" sz="1600" dirty="0" err="1">
                <a:solidFill>
                  <a:srgbClr val="C00000"/>
                </a:solidFill>
                <a:latin typeface="Lucida Console" panose="020B0609040504020204" pitchFamily="49" charset="0"/>
              </a:rPr>
              <a:t>ws</a:t>
            </a:r>
            <a:r>
              <a:rPr lang="en-AU" sz="1600" dirty="0">
                <a:solidFill>
                  <a:srgbClr val="C00000"/>
                </a:solidFill>
                <a:latin typeface="Lucida Console" panose="020B0609040504020204" pitchFamily="49" charset="0"/>
              </a:rPr>
              <a:t>://game.example.com:12010/updates'</a:t>
            </a:r>
            <a:r>
              <a:rPr lang="en-AU" sz="1600" dirty="0">
                <a:solidFill>
                  <a:schemeClr val="bg1"/>
                </a:solidFill>
                <a:latin typeface="Lucida Console" panose="020B0609040504020204" pitchFamily="49" charset="0"/>
              </a:rPr>
              <a:t>); </a:t>
            </a:r>
            <a:r>
              <a:rPr lang="en-AU" sz="1600" dirty="0" err="1">
                <a:solidFill>
                  <a:schemeClr val="bg1"/>
                </a:solidFill>
                <a:latin typeface="Lucida Console" panose="020B0609040504020204" pitchFamily="49" charset="0"/>
              </a:rPr>
              <a:t>socket.onopen</a:t>
            </a:r>
            <a:r>
              <a:rPr lang="en-AU" sz="1600" dirty="0">
                <a:solidFill>
                  <a:schemeClr val="bg1"/>
                </a:solidFill>
                <a:latin typeface="Lucida Console" panose="020B0609040504020204" pitchFamily="49" charset="0"/>
              </a:rPr>
              <a:t> = </a:t>
            </a:r>
            <a:r>
              <a:rPr lang="en-AU" sz="1600" dirty="0">
                <a:solidFill>
                  <a:schemeClr val="accent3"/>
                </a:solidFill>
                <a:latin typeface="Lucida Console" panose="020B0609040504020204" pitchFamily="49" charset="0"/>
              </a:rPr>
              <a:t>function</a:t>
            </a:r>
            <a:r>
              <a:rPr lang="en-AU" sz="1600" dirty="0">
                <a:solidFill>
                  <a:schemeClr val="bg1"/>
                </a:solidFill>
                <a:latin typeface="Lucida Console" panose="020B0609040504020204" pitchFamily="49" charset="0"/>
              </a:rPr>
              <a:t> () { </a:t>
            </a:r>
          </a:p>
          <a:p>
            <a:r>
              <a:rPr lang="en-AU" sz="1600" dirty="0">
                <a:solidFill>
                  <a:schemeClr val="bg1"/>
                </a:solidFill>
                <a:latin typeface="Lucida Console" panose="020B0609040504020204" pitchFamily="49" charset="0"/>
              </a:rPr>
              <a:t>    </a:t>
            </a:r>
            <a:r>
              <a:rPr lang="en-AU" sz="1600" dirty="0" err="1">
                <a:solidFill>
                  <a:schemeClr val="bg1"/>
                </a:solidFill>
                <a:latin typeface="Lucida Console" panose="020B0609040504020204" pitchFamily="49" charset="0"/>
              </a:rPr>
              <a:t>setInterval</a:t>
            </a:r>
            <a:r>
              <a:rPr lang="en-AU" sz="1600" dirty="0">
                <a:solidFill>
                  <a:schemeClr val="bg1"/>
                </a:solidFill>
                <a:latin typeface="Lucida Console" panose="020B0609040504020204" pitchFamily="49" charset="0"/>
              </a:rPr>
              <a:t>(</a:t>
            </a:r>
            <a:r>
              <a:rPr lang="en-AU" sz="1600" dirty="0">
                <a:solidFill>
                  <a:schemeClr val="accent3"/>
                </a:solidFill>
                <a:latin typeface="Lucida Console" panose="020B0609040504020204" pitchFamily="49" charset="0"/>
              </a:rPr>
              <a:t>function</a:t>
            </a:r>
            <a:r>
              <a:rPr lang="en-AU" sz="1600" dirty="0">
                <a:solidFill>
                  <a:schemeClr val="bg1"/>
                </a:solidFill>
                <a:latin typeface="Lucida Console" panose="020B0609040504020204" pitchFamily="49" charset="0"/>
              </a:rPr>
              <a:t>() { </a:t>
            </a:r>
          </a:p>
          <a:p>
            <a:r>
              <a:rPr lang="en-AU" sz="1600" dirty="0">
                <a:solidFill>
                  <a:schemeClr val="bg1"/>
                </a:solidFill>
                <a:latin typeface="Lucida Console" panose="020B0609040504020204" pitchFamily="49" charset="0"/>
              </a:rPr>
              <a:t>        if (</a:t>
            </a:r>
            <a:r>
              <a:rPr lang="en-AU" sz="1600" dirty="0" err="1">
                <a:solidFill>
                  <a:schemeClr val="bg1"/>
                </a:solidFill>
                <a:latin typeface="Lucida Console" panose="020B0609040504020204" pitchFamily="49" charset="0"/>
              </a:rPr>
              <a:t>socket.bufferedAmount</a:t>
            </a:r>
            <a:r>
              <a:rPr lang="en-AU" sz="1600" dirty="0">
                <a:solidFill>
                  <a:schemeClr val="bg1"/>
                </a:solidFill>
                <a:latin typeface="Lucida Console" panose="020B0609040504020204" pitchFamily="49" charset="0"/>
              </a:rPr>
              <a:t> == 0) </a:t>
            </a:r>
          </a:p>
          <a:p>
            <a:r>
              <a:rPr lang="en-AU" sz="1600" dirty="0">
                <a:solidFill>
                  <a:schemeClr val="bg1"/>
                </a:solidFill>
                <a:latin typeface="Lucida Console" panose="020B0609040504020204" pitchFamily="49" charset="0"/>
              </a:rPr>
              <a:t>            </a:t>
            </a:r>
            <a:r>
              <a:rPr lang="en-AU" sz="1600" dirty="0" err="1">
                <a:solidFill>
                  <a:schemeClr val="bg1"/>
                </a:solidFill>
                <a:latin typeface="Lucida Console" panose="020B0609040504020204" pitchFamily="49" charset="0"/>
              </a:rPr>
              <a:t>socket.send</a:t>
            </a:r>
            <a:r>
              <a:rPr lang="en-AU" sz="1600" dirty="0">
                <a:solidFill>
                  <a:schemeClr val="bg1"/>
                </a:solidFill>
                <a:latin typeface="Lucida Console" panose="020B0609040504020204" pitchFamily="49" charset="0"/>
              </a:rPr>
              <a:t>(</a:t>
            </a:r>
            <a:r>
              <a:rPr lang="en-AU" sz="1600" dirty="0" err="1">
                <a:solidFill>
                  <a:schemeClr val="bg1"/>
                </a:solidFill>
                <a:latin typeface="Lucida Console" panose="020B0609040504020204" pitchFamily="49" charset="0"/>
              </a:rPr>
              <a:t>getUpdateData</a:t>
            </a:r>
            <a:r>
              <a:rPr lang="en-AU" sz="1600" dirty="0">
                <a:solidFill>
                  <a:schemeClr val="bg1"/>
                </a:solidFill>
                <a:latin typeface="Lucida Console" panose="020B0609040504020204" pitchFamily="49" charset="0"/>
              </a:rPr>
              <a:t>()); </a:t>
            </a:r>
          </a:p>
          <a:p>
            <a:r>
              <a:rPr lang="en-AU" sz="1600" dirty="0">
                <a:solidFill>
                  <a:schemeClr val="bg1"/>
                </a:solidFill>
                <a:latin typeface="Lucida Console" panose="020B0609040504020204" pitchFamily="49" charset="0"/>
              </a:rPr>
              <a:t>    }, 50); </a:t>
            </a:r>
          </a:p>
          <a:p>
            <a:r>
              <a:rPr lang="en-AU" sz="1600" dirty="0">
                <a:solidFill>
                  <a:schemeClr val="bg1"/>
                </a:solidFill>
                <a:latin typeface="Lucida Console" panose="020B0609040504020204" pitchFamily="49" charset="0"/>
              </a:rPr>
              <a:t>};</a:t>
            </a:r>
            <a:endParaRPr lang="en-US" sz="1600" dirty="0">
              <a:solidFill>
                <a:schemeClr val="bg1"/>
              </a:solidFill>
              <a:latin typeface="Lucida Console" panose="020B0609040504020204" pitchFamily="49" charset="0"/>
            </a:endParaRPr>
          </a:p>
        </p:txBody>
      </p:sp>
    </p:spTree>
    <p:extLst>
      <p:ext uri="{BB962C8B-B14F-4D97-AF65-F5344CB8AC3E}">
        <p14:creationId xmlns:p14="http://schemas.microsoft.com/office/powerpoint/2010/main" val="6511699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p:spPr>
        <p:txBody>
          <a:bodyPr anchor="ctr">
            <a:normAutofit/>
          </a:bodyPr>
          <a:lstStyle/>
          <a:p>
            <a:r>
              <a:rPr lang="en-AU" dirty="0"/>
              <a:t>Communications Channels</a:t>
            </a:r>
          </a:p>
        </p:txBody>
      </p:sp>
      <p:sp>
        <p:nvSpPr>
          <p:cNvPr id="3" name="Content Placeholder 2"/>
          <p:cNvSpPr>
            <a:spLocks noGrp="1"/>
          </p:cNvSpPr>
          <p:nvPr>
            <p:ph sz="half" idx="1"/>
          </p:nvPr>
        </p:nvSpPr>
        <p:spPr>
          <a:xfrm>
            <a:off x="609600" y="1600203"/>
            <a:ext cx="5384800" cy="4525963"/>
          </a:xfrm>
        </p:spPr>
        <p:txBody>
          <a:bodyPr>
            <a:normAutofit/>
          </a:bodyPr>
          <a:lstStyle/>
          <a:p>
            <a:r>
              <a:rPr lang="en-AU" dirty="0"/>
              <a:t>IoT often has a hub that may be:</a:t>
            </a:r>
          </a:p>
          <a:p>
            <a:pPr lvl="1"/>
            <a:r>
              <a:rPr lang="en-AU" sz="2800" dirty="0"/>
              <a:t>Cloud servers, or</a:t>
            </a:r>
          </a:p>
          <a:p>
            <a:pPr lvl="1"/>
            <a:r>
              <a:rPr lang="en-AU" sz="2800" dirty="0"/>
              <a:t>Local server, or</a:t>
            </a:r>
          </a:p>
          <a:p>
            <a:pPr lvl="1"/>
            <a:r>
              <a:rPr lang="en-AU" sz="2800" dirty="0"/>
              <a:t>a combination.</a:t>
            </a:r>
          </a:p>
          <a:p>
            <a:endParaRPr lang="en-AU" dirty="0"/>
          </a:p>
          <a:p>
            <a:endParaRPr lang="en-AU" dirty="0"/>
          </a:p>
        </p:txBody>
      </p:sp>
      <p:sp>
        <p:nvSpPr>
          <p:cNvPr id="4" name="Rounded Rectangle 3"/>
          <p:cNvSpPr/>
          <p:nvPr/>
        </p:nvSpPr>
        <p:spPr>
          <a:xfrm>
            <a:off x="5762835" y="2211185"/>
            <a:ext cx="5819566" cy="3914981"/>
          </a:xfrm>
          <a:prstGeom prst="roundRect">
            <a:avLst>
              <a:gd name="adj" fmla="val 4167"/>
            </a:avLst>
          </a:prstGeom>
          <a:blipFill dpi="0" rotWithShape="1">
            <a:blip r:embed="rId3">
              <a:extLst>
                <a:ext uri="{28A0092B-C50C-407E-A947-70E740481C1C}">
                  <a14:useLocalDpi xmlns:a14="http://schemas.microsoft.com/office/drawing/2010/main" val="0"/>
                </a:ext>
              </a:extLst>
            </a:blip>
            <a:srcRect/>
            <a:stretch>
              <a:fillRect t="-7939" b="-7264"/>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526516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Raspberry Pi</a:t>
            </a:r>
          </a:p>
        </p:txBody>
      </p:sp>
      <p:sp>
        <p:nvSpPr>
          <p:cNvPr id="3" name="Text Placeholder 2"/>
          <p:cNvSpPr>
            <a:spLocks noGrp="1"/>
          </p:cNvSpPr>
          <p:nvPr>
            <p:ph type="body" idx="1"/>
          </p:nvPr>
        </p:nvSpPr>
        <p:spPr/>
        <p:txBody>
          <a:bodyPr/>
          <a:lstStyle/>
          <a:p>
            <a:r>
              <a:rPr lang="en-AU" dirty="0"/>
              <a:t>Session 01</a:t>
            </a:r>
          </a:p>
        </p:txBody>
      </p:sp>
    </p:spTree>
    <p:extLst>
      <p:ext uri="{BB962C8B-B14F-4D97-AF65-F5344CB8AC3E}">
        <p14:creationId xmlns:p14="http://schemas.microsoft.com/office/powerpoint/2010/main" val="36124345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Raspberry Pi 3B/4B</a:t>
            </a:r>
          </a:p>
        </p:txBody>
      </p:sp>
      <p:sp>
        <p:nvSpPr>
          <p:cNvPr id="3" name="Content Placeholder 2"/>
          <p:cNvSpPr>
            <a:spLocks noGrp="1"/>
          </p:cNvSpPr>
          <p:nvPr>
            <p:ph idx="1"/>
          </p:nvPr>
        </p:nvSpPr>
        <p:spPr>
          <a:xfrm>
            <a:off x="609600" y="1794617"/>
            <a:ext cx="6301839" cy="4563491"/>
          </a:xfrm>
        </p:spPr>
        <p:txBody>
          <a:bodyPr>
            <a:normAutofit/>
          </a:bodyPr>
          <a:lstStyle/>
          <a:p>
            <a:r>
              <a:rPr lang="en-AU" sz="3600" dirty="0"/>
              <a:t>The Raspberry Pi is a SBC</a:t>
            </a:r>
          </a:p>
          <a:p>
            <a:pPr lvl="1"/>
            <a:r>
              <a:rPr lang="en-AU" sz="3200" dirty="0"/>
              <a:t>Single-Board Computer</a:t>
            </a:r>
          </a:p>
          <a:p>
            <a:pPr lvl="1"/>
            <a:endParaRPr lang="en-AU" sz="3200" dirty="0"/>
          </a:p>
          <a:p>
            <a:r>
              <a:rPr lang="en-AU" sz="3600" dirty="0"/>
              <a:t>The CPU is contained in an </a:t>
            </a:r>
            <a:r>
              <a:rPr lang="en-AU" sz="3600" dirty="0" err="1"/>
              <a:t>SoC</a:t>
            </a:r>
            <a:endParaRPr lang="en-AU" sz="3600" dirty="0"/>
          </a:p>
          <a:p>
            <a:pPr lvl="1"/>
            <a:r>
              <a:rPr lang="en-AU" sz="3200" dirty="0"/>
              <a:t> System-on-a-chip</a:t>
            </a:r>
          </a:p>
        </p:txBody>
      </p:sp>
      <p:pic>
        <p:nvPicPr>
          <p:cNvPr id="7"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7550" y="1794617"/>
            <a:ext cx="4514850" cy="2657475"/>
          </a:xfrm>
          <a:prstGeom prst="rect">
            <a:avLst/>
          </a:prstGeom>
        </p:spPr>
      </p:pic>
    </p:spTree>
    <p:extLst>
      <p:ext uri="{BB962C8B-B14F-4D97-AF65-F5344CB8AC3E}">
        <p14:creationId xmlns:p14="http://schemas.microsoft.com/office/powerpoint/2010/main" val="9812221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Raspberry Pi </a:t>
            </a:r>
            <a:r>
              <a:rPr lang="en-AU" dirty="0" err="1"/>
              <a:t>SenseHat</a:t>
            </a:r>
            <a:r>
              <a:rPr lang="en-AU" dirty="0"/>
              <a:t> Simulator</a:t>
            </a:r>
          </a:p>
        </p:txBody>
      </p:sp>
      <p:pic>
        <p:nvPicPr>
          <p:cNvPr id="5" name="Picture 4"/>
          <p:cNvPicPr>
            <a:picLocks noChangeAspect="1"/>
          </p:cNvPicPr>
          <p:nvPr/>
        </p:nvPicPr>
        <p:blipFill>
          <a:blip r:embed="rId3"/>
          <a:stretch>
            <a:fillRect/>
          </a:stretch>
        </p:blipFill>
        <p:spPr>
          <a:xfrm>
            <a:off x="609600" y="1775899"/>
            <a:ext cx="10700369" cy="4553649"/>
          </a:xfrm>
          <a:prstGeom prst="rect">
            <a:avLst/>
          </a:prstGeom>
        </p:spPr>
      </p:pic>
    </p:spTree>
    <p:extLst>
      <p:ext uri="{BB962C8B-B14F-4D97-AF65-F5344CB8AC3E}">
        <p14:creationId xmlns:p14="http://schemas.microsoft.com/office/powerpoint/2010/main" val="274461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requirement(s): revisited</a:t>
            </a:r>
          </a:p>
        </p:txBody>
      </p:sp>
      <p:sp>
        <p:nvSpPr>
          <p:cNvPr id="3" name="Content Placeholder 2"/>
          <p:cNvSpPr>
            <a:spLocks noGrp="1"/>
          </p:cNvSpPr>
          <p:nvPr>
            <p:ph idx="1"/>
          </p:nvPr>
        </p:nvSpPr>
        <p:spPr>
          <a:xfrm>
            <a:off x="609600" y="1794617"/>
            <a:ext cx="10972800" cy="4563491"/>
          </a:xfrm>
        </p:spPr>
        <p:txBody>
          <a:bodyPr>
            <a:normAutofit/>
          </a:bodyPr>
          <a:lstStyle/>
          <a:p>
            <a:r>
              <a:rPr lang="en-AU" dirty="0"/>
              <a:t>The program should greet a person using a Raspberry Pi </a:t>
            </a:r>
            <a:r>
              <a:rPr lang="en-AU" dirty="0" err="1"/>
              <a:t>SenseHat</a:t>
            </a:r>
            <a:r>
              <a:rPr lang="en-AU" dirty="0"/>
              <a:t>.</a:t>
            </a:r>
          </a:p>
          <a:p>
            <a:r>
              <a:rPr lang="en-AU" dirty="0"/>
              <a:t>Here is the Use Case Diagram again:</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339" y="3877714"/>
            <a:ext cx="5063661" cy="2480394"/>
          </a:xfrm>
          <a:prstGeom prst="rect">
            <a:avLst/>
          </a:prstGeom>
        </p:spPr>
      </p:pic>
    </p:spTree>
    <p:extLst>
      <p:ext uri="{BB962C8B-B14F-4D97-AF65-F5344CB8AC3E}">
        <p14:creationId xmlns:p14="http://schemas.microsoft.com/office/powerpoint/2010/main" val="36448281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domain model</a:t>
            </a:r>
          </a:p>
        </p:txBody>
      </p:sp>
      <p:sp>
        <p:nvSpPr>
          <p:cNvPr id="3" name="Content Placeholder 2"/>
          <p:cNvSpPr>
            <a:spLocks noGrp="1"/>
          </p:cNvSpPr>
          <p:nvPr>
            <p:ph idx="1"/>
          </p:nvPr>
        </p:nvSpPr>
        <p:spPr>
          <a:xfrm>
            <a:off x="609600" y="1794617"/>
            <a:ext cx="10972800" cy="4563491"/>
          </a:xfrm>
        </p:spPr>
        <p:txBody>
          <a:bodyPr>
            <a:normAutofit/>
          </a:bodyPr>
          <a:lstStyle/>
          <a:p>
            <a:r>
              <a:rPr lang="en-AU" dirty="0"/>
              <a:t>We can still say that we do need a “Greeter”, but now we know we also need a “</a:t>
            </a:r>
            <a:r>
              <a:rPr lang="en-AU" dirty="0" err="1"/>
              <a:t>SenseHat</a:t>
            </a:r>
            <a:r>
              <a:rPr lang="en-AU" dirty="0"/>
              <a:t>”:</a:t>
            </a:r>
          </a:p>
        </p:txBody>
      </p:sp>
      <p:sp>
        <p:nvSpPr>
          <p:cNvPr id="5" name="Rectangle 4"/>
          <p:cNvSpPr/>
          <p:nvPr/>
        </p:nvSpPr>
        <p:spPr>
          <a:xfrm>
            <a:off x="1066800" y="3583696"/>
            <a:ext cx="3378200" cy="1849608"/>
          </a:xfrm>
          <a:prstGeom prst="rect">
            <a:avLst/>
          </a:prstGeom>
          <a:noFill/>
          <a:ln w="28575">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 name="TextBox 5"/>
          <p:cNvSpPr txBox="1"/>
          <p:nvPr/>
        </p:nvSpPr>
        <p:spPr>
          <a:xfrm>
            <a:off x="1969467" y="4216112"/>
            <a:ext cx="1572866" cy="584775"/>
          </a:xfrm>
          <a:prstGeom prst="rect">
            <a:avLst/>
          </a:prstGeom>
          <a:noFill/>
        </p:spPr>
        <p:txBody>
          <a:bodyPr wrap="none" rtlCol="0">
            <a:spAutoFit/>
          </a:bodyPr>
          <a:lstStyle/>
          <a:p>
            <a:r>
              <a:rPr lang="en-AU" sz="3200" dirty="0">
                <a:solidFill>
                  <a:schemeClr val="bg1"/>
                </a:solidFill>
              </a:rPr>
              <a:t>Greeter</a:t>
            </a:r>
          </a:p>
        </p:txBody>
      </p:sp>
      <p:sp>
        <p:nvSpPr>
          <p:cNvPr id="7" name="Rectangle 6"/>
          <p:cNvSpPr/>
          <p:nvPr/>
        </p:nvSpPr>
        <p:spPr>
          <a:xfrm>
            <a:off x="6096000" y="3577593"/>
            <a:ext cx="3378200" cy="1849608"/>
          </a:xfrm>
          <a:prstGeom prst="rect">
            <a:avLst/>
          </a:prstGeom>
          <a:noFill/>
          <a:ln w="28575">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TextBox 7"/>
          <p:cNvSpPr txBox="1"/>
          <p:nvPr/>
        </p:nvSpPr>
        <p:spPr>
          <a:xfrm>
            <a:off x="6880221" y="4216112"/>
            <a:ext cx="1984839" cy="584775"/>
          </a:xfrm>
          <a:prstGeom prst="rect">
            <a:avLst/>
          </a:prstGeom>
          <a:noFill/>
        </p:spPr>
        <p:txBody>
          <a:bodyPr wrap="none" rtlCol="0">
            <a:spAutoFit/>
          </a:bodyPr>
          <a:lstStyle/>
          <a:p>
            <a:r>
              <a:rPr lang="en-AU" sz="3200" dirty="0" err="1">
                <a:solidFill>
                  <a:schemeClr val="bg1"/>
                </a:solidFill>
              </a:rPr>
              <a:t>SenseHat</a:t>
            </a:r>
            <a:endParaRPr lang="en-AU" sz="3200" dirty="0">
              <a:solidFill>
                <a:schemeClr val="bg1"/>
              </a:solidFill>
            </a:endParaRPr>
          </a:p>
        </p:txBody>
      </p:sp>
      <p:cxnSp>
        <p:nvCxnSpPr>
          <p:cNvPr id="9" name="Straight Connector 8"/>
          <p:cNvCxnSpPr>
            <a:stCxn id="5" idx="3"/>
            <a:endCxn id="7" idx="1"/>
          </p:cNvCxnSpPr>
          <p:nvPr/>
        </p:nvCxnSpPr>
        <p:spPr>
          <a:xfrm flipV="1">
            <a:off x="4445000" y="4502397"/>
            <a:ext cx="1651000" cy="6103"/>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54305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dirty="0"/>
              <a:t>The Class Diagram</a:t>
            </a:r>
          </a:p>
        </p:txBody>
      </p:sp>
      <p:sp>
        <p:nvSpPr>
          <p:cNvPr id="7" name="AutoShape 2" descr="https://documents.lucid.app/documents/6425e281-fdef-4f5a-a301-7c226a7d9ead/pages/HWEp-vi-RSFO?a=556&amp;x=395&amp;y=386&amp;w=990&amp;h=308&amp;store=1&amp;accept=image%2F*&amp;auth=LCA%2087419dcf1e19f91993cb1f2a4d546cf77f667bd4-ts%3D1626666183"/>
          <p:cNvSpPr>
            <a:spLocks noChangeAspect="1" noChangeArrowheads="1"/>
          </p:cNvSpPr>
          <p:nvPr/>
        </p:nvSpPr>
        <p:spPr bwMode="auto">
          <a:xfrm>
            <a:off x="155575" y="-1050925"/>
            <a:ext cx="7077075" cy="22002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322409"/>
            <a:ext cx="9404976" cy="3460874"/>
          </a:xfrm>
          <a:prstGeom prst="rect">
            <a:avLst/>
          </a:prstGeom>
        </p:spPr>
      </p:pic>
    </p:spTree>
    <p:extLst>
      <p:ext uri="{BB962C8B-B14F-4D97-AF65-F5344CB8AC3E}">
        <p14:creationId xmlns:p14="http://schemas.microsoft.com/office/powerpoint/2010/main" val="8058093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Let’s update our Greeter program</a:t>
            </a:r>
          </a:p>
        </p:txBody>
      </p:sp>
      <p:sp>
        <p:nvSpPr>
          <p:cNvPr id="4" name="Rectangle 1"/>
          <p:cNvSpPr>
            <a:spLocks noChangeArrowheads="1"/>
          </p:cNvSpPr>
          <p:nvPr/>
        </p:nvSpPr>
        <p:spPr bwMode="auto">
          <a:xfrm>
            <a:off x="526473" y="1718541"/>
            <a:ext cx="7346867" cy="480131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CC7832"/>
                </a:solidFill>
                <a:effectLst/>
                <a:latin typeface="Fira Code"/>
              </a:rPr>
              <a:t>from </a:t>
            </a:r>
            <a:r>
              <a:rPr kumimoji="0" lang="en-US" altLang="en-US" b="0" i="0" u="none" strike="noStrike" cap="none" normalizeH="0" baseline="0" dirty="0">
                <a:ln>
                  <a:noFill/>
                </a:ln>
                <a:solidFill>
                  <a:srgbClr val="A9B7C6"/>
                </a:solidFill>
                <a:effectLst/>
                <a:latin typeface="Fira Code"/>
              </a:rPr>
              <a:t>sense_hat </a:t>
            </a:r>
            <a:r>
              <a:rPr kumimoji="0" lang="en-US" altLang="en-US" b="0" i="0" u="none" strike="noStrike" cap="none" normalizeH="0" baseline="0" dirty="0">
                <a:ln>
                  <a:noFill/>
                </a:ln>
                <a:solidFill>
                  <a:srgbClr val="CC7832"/>
                </a:solidFill>
                <a:effectLst/>
                <a:latin typeface="Fira Code"/>
              </a:rPr>
              <a:t>import </a:t>
            </a:r>
            <a:r>
              <a:rPr kumimoji="0" lang="en-US" altLang="en-US" b="0" i="0" u="none" strike="noStrike" cap="none" normalizeH="0" baseline="0" dirty="0">
                <a:ln>
                  <a:noFill/>
                </a:ln>
                <a:solidFill>
                  <a:srgbClr val="A9B7C6"/>
                </a:solidFill>
                <a:effectLst/>
                <a:latin typeface="Fira Code"/>
              </a:rPr>
              <a:t>SenseHat</a:t>
            </a:r>
            <a:br>
              <a:rPr kumimoji="0" lang="en-US" altLang="en-US" b="0" i="0" u="none" strike="noStrike" cap="none" normalizeH="0" baseline="0" dirty="0">
                <a:ln>
                  <a:noFill/>
                </a:ln>
                <a:solidFill>
                  <a:srgbClr val="A9B7C6"/>
                </a:solidFill>
                <a:effectLst/>
                <a:latin typeface="Fira Code"/>
              </a:rPr>
            </a:br>
            <a:br>
              <a:rPr kumimoji="0" lang="en-US" altLang="en-US" b="0" i="0" u="none" strike="noStrike" cap="none" normalizeH="0" baseline="0" dirty="0">
                <a:ln>
                  <a:noFill/>
                </a:ln>
                <a:solidFill>
                  <a:srgbClr val="A9B7C6"/>
                </a:solidFill>
                <a:effectLst/>
                <a:latin typeface="Fira Code"/>
              </a:rPr>
            </a:br>
            <a:br>
              <a:rPr kumimoji="0" lang="en-US" altLang="en-US" b="0" i="0" u="none" strike="noStrike" cap="none" normalizeH="0" baseline="0" dirty="0">
                <a:ln>
                  <a:noFill/>
                </a:ln>
                <a:solidFill>
                  <a:srgbClr val="A9B7C6"/>
                </a:solidFill>
                <a:effectLst/>
                <a:latin typeface="Fira Code"/>
              </a:rPr>
            </a:br>
            <a:r>
              <a:rPr kumimoji="0" lang="en-US" altLang="en-US" b="0" i="0" u="none" strike="noStrike" cap="none" normalizeH="0" baseline="0" dirty="0">
                <a:ln>
                  <a:noFill/>
                </a:ln>
                <a:solidFill>
                  <a:srgbClr val="CC7832"/>
                </a:solidFill>
                <a:effectLst/>
                <a:latin typeface="Fira Code"/>
              </a:rPr>
              <a:t>class </a:t>
            </a:r>
            <a:r>
              <a:rPr kumimoji="0" lang="en-US" altLang="en-US" b="0" i="0" u="none" strike="noStrike" cap="none" normalizeH="0" baseline="0" dirty="0">
                <a:ln>
                  <a:noFill/>
                </a:ln>
                <a:solidFill>
                  <a:srgbClr val="A9B7C6"/>
                </a:solidFill>
                <a:effectLst/>
                <a:latin typeface="Fira Code"/>
              </a:rPr>
              <a:t>Greeter:</a:t>
            </a:r>
            <a:br>
              <a:rPr kumimoji="0" lang="en-US" altLang="en-US" b="0" i="0" u="none" strike="noStrike" cap="none" normalizeH="0" baseline="0" dirty="0">
                <a:ln>
                  <a:noFill/>
                </a:ln>
                <a:solidFill>
                  <a:srgbClr val="A9B7C6"/>
                </a:solidFill>
                <a:effectLst/>
                <a:latin typeface="Fira Code"/>
              </a:rPr>
            </a:br>
            <a:r>
              <a:rPr kumimoji="0" lang="en-US" altLang="en-US" b="0" i="0" u="none" strike="noStrike" cap="none" normalizeH="0" baseline="0" dirty="0">
                <a:ln>
                  <a:noFill/>
                </a:ln>
                <a:solidFill>
                  <a:srgbClr val="A9B7C6"/>
                </a:solidFill>
                <a:effectLst/>
                <a:latin typeface="Fira Code"/>
              </a:rPr>
              <a:t>    </a:t>
            </a:r>
            <a:r>
              <a:rPr kumimoji="0" lang="en-US" altLang="en-US" b="0" i="0" u="none" strike="noStrike" cap="none" normalizeH="0" baseline="0" dirty="0">
                <a:ln>
                  <a:noFill/>
                </a:ln>
                <a:solidFill>
                  <a:srgbClr val="CC7832"/>
                </a:solidFill>
                <a:effectLst/>
                <a:latin typeface="Fira Code"/>
              </a:rPr>
              <a:t>def </a:t>
            </a:r>
            <a:r>
              <a:rPr kumimoji="0" lang="en-US" altLang="en-US" b="0" i="0" u="none" strike="noStrike" cap="none" normalizeH="0" baseline="0" dirty="0">
                <a:ln>
                  <a:noFill/>
                </a:ln>
                <a:solidFill>
                  <a:srgbClr val="B200B2"/>
                </a:solidFill>
                <a:effectLst/>
                <a:latin typeface="Fira Code"/>
              </a:rPr>
              <a:t>__init__</a:t>
            </a:r>
            <a:r>
              <a:rPr kumimoji="0" lang="en-US" altLang="en-US" b="0" i="0" u="none" strike="noStrike" cap="none" normalizeH="0" baseline="0" dirty="0">
                <a:ln>
                  <a:noFill/>
                </a:ln>
                <a:solidFill>
                  <a:srgbClr val="A9B7C6"/>
                </a:solidFill>
                <a:effectLst/>
                <a:latin typeface="Fira Code"/>
              </a:rPr>
              <a:t>(</a:t>
            </a:r>
            <a:r>
              <a:rPr kumimoji="0" lang="en-US" altLang="en-US" b="0" i="0" u="none" strike="noStrike" cap="none" normalizeH="0" baseline="0" dirty="0">
                <a:ln>
                  <a:noFill/>
                </a:ln>
                <a:solidFill>
                  <a:srgbClr val="94558D"/>
                </a:solidFill>
                <a:effectLst/>
                <a:latin typeface="Fira Code"/>
              </a:rPr>
              <a:t>self</a:t>
            </a:r>
            <a:r>
              <a:rPr kumimoji="0" lang="en-US" altLang="en-US" b="0" i="0" u="none" strike="noStrike" cap="none" normalizeH="0" baseline="0" dirty="0">
                <a:ln>
                  <a:noFill/>
                </a:ln>
                <a:solidFill>
                  <a:srgbClr val="A9B7C6"/>
                </a:solidFill>
                <a:effectLst/>
                <a:latin typeface="Fira Code"/>
              </a:rPr>
              <a:t>):</a:t>
            </a:r>
            <a:br>
              <a:rPr kumimoji="0" lang="en-US" altLang="en-US" b="0" i="0" u="none" strike="noStrike" cap="none" normalizeH="0" baseline="0" dirty="0">
                <a:ln>
                  <a:noFill/>
                </a:ln>
                <a:solidFill>
                  <a:srgbClr val="A9B7C6"/>
                </a:solidFill>
                <a:effectLst/>
                <a:latin typeface="Fira Code"/>
              </a:rPr>
            </a:br>
            <a:r>
              <a:rPr kumimoji="0" lang="en-US" altLang="en-US" b="0" i="0" u="none" strike="noStrike" cap="none" normalizeH="0" baseline="0" dirty="0">
                <a:ln>
                  <a:noFill/>
                </a:ln>
                <a:solidFill>
                  <a:srgbClr val="A9B7C6"/>
                </a:solidFill>
                <a:effectLst/>
                <a:latin typeface="Fira Code"/>
              </a:rPr>
              <a:t>        </a:t>
            </a:r>
            <a:r>
              <a:rPr kumimoji="0" lang="en-US" altLang="en-US" b="0" i="0" u="none" strike="noStrike" cap="none" normalizeH="0" baseline="0" dirty="0">
                <a:ln>
                  <a:noFill/>
                </a:ln>
                <a:solidFill>
                  <a:srgbClr val="94558D"/>
                </a:solidFill>
                <a:effectLst/>
                <a:latin typeface="Fira Code"/>
              </a:rPr>
              <a:t>self</a:t>
            </a:r>
            <a:r>
              <a:rPr kumimoji="0" lang="en-US" altLang="en-US" b="0" i="0" u="none" strike="noStrike" cap="none" normalizeH="0" baseline="0" dirty="0">
                <a:ln>
                  <a:noFill/>
                </a:ln>
                <a:solidFill>
                  <a:srgbClr val="A9B7C6"/>
                </a:solidFill>
                <a:effectLst/>
                <a:latin typeface="Fira Code"/>
              </a:rPr>
              <a:t>.sense_hat = SenseHat()</a:t>
            </a:r>
            <a:br>
              <a:rPr kumimoji="0" lang="en-US" altLang="en-US" b="0" i="0" u="none" strike="noStrike" cap="none" normalizeH="0" baseline="0" dirty="0">
                <a:ln>
                  <a:noFill/>
                </a:ln>
                <a:solidFill>
                  <a:srgbClr val="A9B7C6"/>
                </a:solidFill>
                <a:effectLst/>
                <a:latin typeface="Fira Code"/>
              </a:rPr>
            </a:br>
            <a:br>
              <a:rPr kumimoji="0" lang="en-US" altLang="en-US" b="0" i="0" u="none" strike="noStrike" cap="none" normalizeH="0" baseline="0" dirty="0">
                <a:ln>
                  <a:noFill/>
                </a:ln>
                <a:solidFill>
                  <a:srgbClr val="A9B7C6"/>
                </a:solidFill>
                <a:effectLst/>
                <a:latin typeface="Fira Code"/>
              </a:rPr>
            </a:br>
            <a:r>
              <a:rPr kumimoji="0" lang="en-US" altLang="en-US" b="0" i="0" u="none" strike="noStrike" cap="none" normalizeH="0" baseline="0" dirty="0">
                <a:ln>
                  <a:noFill/>
                </a:ln>
                <a:solidFill>
                  <a:srgbClr val="A9B7C6"/>
                </a:solidFill>
                <a:effectLst/>
                <a:latin typeface="Fira Code"/>
              </a:rPr>
              <a:t>    </a:t>
            </a:r>
            <a:r>
              <a:rPr kumimoji="0" lang="en-US" altLang="en-US" b="0" i="0" u="none" strike="noStrike" cap="none" normalizeH="0" baseline="0" dirty="0">
                <a:ln>
                  <a:noFill/>
                </a:ln>
                <a:solidFill>
                  <a:srgbClr val="CC7832"/>
                </a:solidFill>
                <a:effectLst/>
                <a:latin typeface="Fira Code"/>
              </a:rPr>
              <a:t>def </a:t>
            </a:r>
            <a:r>
              <a:rPr kumimoji="0" lang="en-US" altLang="en-US" b="0" i="0" u="none" strike="noStrike" cap="none" normalizeH="0" baseline="0" dirty="0">
                <a:ln>
                  <a:noFill/>
                </a:ln>
                <a:solidFill>
                  <a:srgbClr val="FFC66D"/>
                </a:solidFill>
                <a:effectLst/>
                <a:latin typeface="Fira Code"/>
              </a:rPr>
              <a:t>greet_user</a:t>
            </a:r>
            <a:r>
              <a:rPr kumimoji="0" lang="en-US" altLang="en-US" b="0" i="0" u="none" strike="noStrike" cap="none" normalizeH="0" baseline="0" dirty="0">
                <a:ln>
                  <a:noFill/>
                </a:ln>
                <a:solidFill>
                  <a:srgbClr val="A9B7C6"/>
                </a:solidFill>
                <a:effectLst/>
                <a:latin typeface="Fira Code"/>
              </a:rPr>
              <a:t>(</a:t>
            </a:r>
            <a:r>
              <a:rPr kumimoji="0" lang="en-US" altLang="en-US" b="0" i="0" u="none" strike="noStrike" cap="none" normalizeH="0" baseline="0" dirty="0">
                <a:ln>
                  <a:noFill/>
                </a:ln>
                <a:solidFill>
                  <a:srgbClr val="94558D"/>
                </a:solidFill>
                <a:effectLst/>
                <a:latin typeface="Fira Code"/>
              </a:rPr>
              <a:t>self</a:t>
            </a:r>
            <a:r>
              <a:rPr kumimoji="0" lang="en-US" altLang="en-US" b="0" i="0" u="none" strike="noStrike" cap="none" normalizeH="0" baseline="0" dirty="0">
                <a:ln>
                  <a:noFill/>
                </a:ln>
                <a:solidFill>
                  <a:srgbClr val="A9B7C6"/>
                </a:solidFill>
                <a:effectLst/>
                <a:latin typeface="Fira Code"/>
              </a:rPr>
              <a:t>):</a:t>
            </a:r>
            <a:br>
              <a:rPr kumimoji="0" lang="en-US" altLang="en-US" b="0" i="0" u="none" strike="noStrike" cap="none" normalizeH="0" baseline="0" dirty="0">
                <a:ln>
                  <a:noFill/>
                </a:ln>
                <a:solidFill>
                  <a:srgbClr val="A9B7C6"/>
                </a:solidFill>
                <a:effectLst/>
                <a:latin typeface="Fira Code"/>
              </a:rPr>
            </a:br>
            <a:r>
              <a:rPr kumimoji="0" lang="en-US" altLang="en-US" b="0" i="0" u="none" strike="noStrike" cap="none" normalizeH="0" baseline="0" dirty="0">
                <a:ln>
                  <a:noFill/>
                </a:ln>
                <a:solidFill>
                  <a:srgbClr val="A9B7C6"/>
                </a:solidFill>
                <a:effectLst/>
                <a:latin typeface="Fira Code"/>
              </a:rPr>
              <a:t>        </a:t>
            </a:r>
            <a:r>
              <a:rPr kumimoji="0" lang="en-US" altLang="en-US" b="0" i="0" u="none" strike="noStrike" cap="none" normalizeH="0" baseline="0" dirty="0">
                <a:ln>
                  <a:noFill/>
                </a:ln>
                <a:solidFill>
                  <a:srgbClr val="94558D"/>
                </a:solidFill>
                <a:effectLst/>
                <a:latin typeface="Fira Code"/>
              </a:rPr>
              <a:t>self</a:t>
            </a:r>
            <a:r>
              <a:rPr kumimoji="0" lang="en-US" altLang="en-US" b="0" i="0" u="none" strike="noStrike" cap="none" normalizeH="0" baseline="0" dirty="0">
                <a:ln>
                  <a:noFill/>
                </a:ln>
                <a:solidFill>
                  <a:srgbClr val="A9B7C6"/>
                </a:solidFill>
                <a:effectLst/>
                <a:latin typeface="Fira Code"/>
              </a:rPr>
              <a:t>.sense_hat.show_message(</a:t>
            </a:r>
            <a:r>
              <a:rPr kumimoji="0" lang="en-US" altLang="en-US" b="0" i="0" u="none" strike="noStrike" cap="none" normalizeH="0" baseline="0" dirty="0">
                <a:ln>
                  <a:noFill/>
                </a:ln>
                <a:solidFill>
                  <a:srgbClr val="6A8759"/>
                </a:solidFill>
                <a:effectLst/>
                <a:latin typeface="Fira Code"/>
              </a:rPr>
              <a:t>'Hello, world!'</a:t>
            </a:r>
            <a:r>
              <a:rPr kumimoji="0" lang="en-US" altLang="en-US" b="0" i="0" u="none" strike="noStrike" cap="none" normalizeH="0" baseline="0" dirty="0">
                <a:ln>
                  <a:noFill/>
                </a:ln>
                <a:solidFill>
                  <a:srgbClr val="CC7832"/>
                </a:solidFill>
                <a:effectLst/>
                <a:latin typeface="Fira Code"/>
              </a:rPr>
              <a:t>, </a:t>
            </a:r>
            <a:r>
              <a:rPr kumimoji="0" lang="en-US" altLang="en-US" b="0" i="0" u="none" strike="noStrike" cap="none" normalizeH="0" baseline="0" dirty="0">
                <a:ln>
                  <a:noFill/>
                </a:ln>
                <a:solidFill>
                  <a:srgbClr val="AA4926"/>
                </a:solidFill>
                <a:effectLst/>
                <a:latin typeface="Fira Code"/>
              </a:rPr>
              <a:t>scroll_speed</a:t>
            </a:r>
            <a:r>
              <a:rPr kumimoji="0" lang="en-US" altLang="en-US" b="0" i="0" u="none" strike="noStrike" cap="none" normalizeH="0" baseline="0" dirty="0">
                <a:ln>
                  <a:noFill/>
                </a:ln>
                <a:solidFill>
                  <a:srgbClr val="A9B7C6"/>
                </a:solidFill>
                <a:effectLst/>
                <a:latin typeface="Fira Code"/>
              </a:rPr>
              <a:t>=</a:t>
            </a:r>
            <a:r>
              <a:rPr kumimoji="0" lang="en-US" altLang="en-US" b="0" i="0" u="none" strike="noStrike" cap="none" normalizeH="0" baseline="0" dirty="0">
                <a:ln>
                  <a:noFill/>
                </a:ln>
                <a:solidFill>
                  <a:srgbClr val="6897BB"/>
                </a:solidFill>
                <a:effectLst/>
                <a:latin typeface="Fira Code"/>
              </a:rPr>
              <a:t>0.05</a:t>
            </a:r>
            <a:r>
              <a:rPr kumimoji="0" lang="en-US" altLang="en-US" b="0" i="0" u="none" strike="noStrike" cap="none" normalizeH="0" baseline="0" dirty="0">
                <a:ln>
                  <a:noFill/>
                </a:ln>
                <a:solidFill>
                  <a:srgbClr val="A9B7C6"/>
                </a:solidFill>
                <a:effectLst/>
                <a:latin typeface="Fira Code"/>
              </a:rPr>
              <a:t>)</a:t>
            </a:r>
            <a:br>
              <a:rPr kumimoji="0" lang="en-US" altLang="en-US" b="0" i="0" u="none" strike="noStrike" cap="none" normalizeH="0" baseline="0" dirty="0">
                <a:ln>
                  <a:noFill/>
                </a:ln>
                <a:solidFill>
                  <a:srgbClr val="A9B7C6"/>
                </a:solidFill>
                <a:effectLst/>
                <a:latin typeface="Fira Code"/>
              </a:rPr>
            </a:br>
            <a:br>
              <a:rPr kumimoji="0" lang="en-US" altLang="en-US" b="0" i="0" u="none" strike="noStrike" cap="none" normalizeH="0" baseline="0" dirty="0">
                <a:ln>
                  <a:noFill/>
                </a:ln>
                <a:solidFill>
                  <a:srgbClr val="A9B7C6"/>
                </a:solidFill>
                <a:effectLst/>
                <a:latin typeface="Fira Code"/>
              </a:rPr>
            </a:br>
            <a:br>
              <a:rPr kumimoji="0" lang="en-US" altLang="en-US" b="0" i="0" u="none" strike="noStrike" cap="none" normalizeH="0" baseline="0" dirty="0">
                <a:ln>
                  <a:noFill/>
                </a:ln>
                <a:solidFill>
                  <a:srgbClr val="A9B7C6"/>
                </a:solidFill>
                <a:effectLst/>
                <a:latin typeface="Fira Code"/>
              </a:rPr>
            </a:br>
            <a:r>
              <a:rPr kumimoji="0" lang="en-US" altLang="en-US" b="0" i="0" u="none" strike="noStrike" cap="none" normalizeH="0" baseline="0" dirty="0">
                <a:ln>
                  <a:noFill/>
                </a:ln>
                <a:solidFill>
                  <a:srgbClr val="CC7832"/>
                </a:solidFill>
                <a:effectLst/>
                <a:latin typeface="Fira Code"/>
              </a:rPr>
              <a:t>if </a:t>
            </a:r>
            <a:r>
              <a:rPr kumimoji="0" lang="en-US" altLang="en-US" b="0" i="0" u="none" strike="noStrike" cap="none" normalizeH="0" baseline="0" dirty="0">
                <a:ln>
                  <a:noFill/>
                </a:ln>
                <a:solidFill>
                  <a:srgbClr val="A9B7C6"/>
                </a:solidFill>
                <a:effectLst/>
                <a:latin typeface="Fira Code"/>
              </a:rPr>
              <a:t>__name__ == </a:t>
            </a:r>
            <a:r>
              <a:rPr kumimoji="0" lang="en-US" altLang="en-US" b="0" i="0" u="none" strike="noStrike" cap="none" normalizeH="0" baseline="0" dirty="0">
                <a:ln>
                  <a:noFill/>
                </a:ln>
                <a:solidFill>
                  <a:srgbClr val="6A8759"/>
                </a:solidFill>
                <a:effectLst/>
                <a:latin typeface="Fira Code"/>
              </a:rPr>
              <a:t>'__main__'</a:t>
            </a:r>
            <a:r>
              <a:rPr kumimoji="0" lang="en-US" altLang="en-US" b="0" i="0" u="none" strike="noStrike" cap="none" normalizeH="0" baseline="0" dirty="0">
                <a:ln>
                  <a:noFill/>
                </a:ln>
                <a:solidFill>
                  <a:srgbClr val="A9B7C6"/>
                </a:solidFill>
                <a:effectLst/>
                <a:latin typeface="Fira Code"/>
              </a:rPr>
              <a:t>:</a:t>
            </a:r>
            <a:br>
              <a:rPr kumimoji="0" lang="en-US" altLang="en-US" b="0" i="0" u="none" strike="noStrike" cap="none" normalizeH="0" baseline="0" dirty="0">
                <a:ln>
                  <a:noFill/>
                </a:ln>
                <a:solidFill>
                  <a:srgbClr val="A9B7C6"/>
                </a:solidFill>
                <a:effectLst/>
                <a:latin typeface="Fira Code"/>
              </a:rPr>
            </a:br>
            <a:r>
              <a:rPr kumimoji="0" lang="en-US" altLang="en-US" b="0" i="0" u="none" strike="noStrike" cap="none" normalizeH="0" baseline="0" dirty="0">
                <a:ln>
                  <a:noFill/>
                </a:ln>
                <a:solidFill>
                  <a:srgbClr val="A9B7C6"/>
                </a:solidFill>
                <a:effectLst/>
                <a:latin typeface="Fira Code"/>
              </a:rPr>
              <a:t>    </a:t>
            </a:r>
            <a:r>
              <a:rPr kumimoji="0" lang="en-US" altLang="en-US" b="0" i="0" u="none" strike="noStrike" cap="none" normalizeH="0" baseline="0" dirty="0">
                <a:ln>
                  <a:noFill/>
                </a:ln>
                <a:solidFill>
                  <a:srgbClr val="808080"/>
                </a:solidFill>
                <a:effectLst/>
                <a:latin typeface="Fira Code"/>
              </a:rPr>
              <a:t># Instantiate a Greeter object</a:t>
            </a:r>
            <a:br>
              <a:rPr kumimoji="0" lang="en-US" altLang="en-US" b="0" i="0" u="none" strike="noStrike" cap="none" normalizeH="0" baseline="0" dirty="0">
                <a:ln>
                  <a:noFill/>
                </a:ln>
                <a:solidFill>
                  <a:srgbClr val="808080"/>
                </a:solidFill>
                <a:effectLst/>
                <a:latin typeface="Fira Code"/>
              </a:rPr>
            </a:br>
            <a:r>
              <a:rPr kumimoji="0" lang="en-US" altLang="en-US" b="0" i="0" u="none" strike="noStrike" cap="none" normalizeH="0" baseline="0" dirty="0">
                <a:ln>
                  <a:noFill/>
                </a:ln>
                <a:solidFill>
                  <a:srgbClr val="808080"/>
                </a:solidFill>
                <a:effectLst/>
                <a:latin typeface="Fira Code"/>
              </a:rPr>
              <a:t>    </a:t>
            </a:r>
            <a:r>
              <a:rPr kumimoji="0" lang="en-US" altLang="en-US" b="0" i="0" u="none" strike="noStrike" cap="none" normalizeH="0" baseline="0" dirty="0">
                <a:ln>
                  <a:noFill/>
                </a:ln>
                <a:solidFill>
                  <a:srgbClr val="A9B7C6"/>
                </a:solidFill>
                <a:effectLst/>
                <a:latin typeface="Fira Code"/>
              </a:rPr>
              <a:t>greeter = Greeter()</a:t>
            </a:r>
            <a:br>
              <a:rPr kumimoji="0" lang="en-US" altLang="en-US" b="0" i="0" u="none" strike="noStrike" cap="none" normalizeH="0" baseline="0" dirty="0">
                <a:ln>
                  <a:noFill/>
                </a:ln>
                <a:solidFill>
                  <a:srgbClr val="A9B7C6"/>
                </a:solidFill>
                <a:effectLst/>
                <a:latin typeface="Fira Code"/>
              </a:rPr>
            </a:br>
            <a:br>
              <a:rPr kumimoji="0" lang="en-US" altLang="en-US" b="0" i="0" u="none" strike="noStrike" cap="none" normalizeH="0" baseline="0" dirty="0">
                <a:ln>
                  <a:noFill/>
                </a:ln>
                <a:solidFill>
                  <a:srgbClr val="A9B7C6"/>
                </a:solidFill>
                <a:effectLst/>
                <a:latin typeface="Fira Code"/>
              </a:rPr>
            </a:br>
            <a:r>
              <a:rPr kumimoji="0" lang="en-US" altLang="en-US" b="0" i="0" u="none" strike="noStrike" cap="none" normalizeH="0" baseline="0" dirty="0">
                <a:ln>
                  <a:noFill/>
                </a:ln>
                <a:solidFill>
                  <a:srgbClr val="A9B7C6"/>
                </a:solidFill>
                <a:effectLst/>
                <a:latin typeface="Fira Code"/>
              </a:rPr>
              <a:t>    </a:t>
            </a:r>
            <a:r>
              <a:rPr kumimoji="0" lang="en-US" altLang="en-US" b="0" i="0" u="none" strike="noStrike" cap="none" normalizeH="0" baseline="0" dirty="0">
                <a:ln>
                  <a:noFill/>
                </a:ln>
                <a:solidFill>
                  <a:srgbClr val="808080"/>
                </a:solidFill>
                <a:effectLst/>
                <a:latin typeface="Fira Code"/>
              </a:rPr>
              <a:t># Call the instance method {greet_user}</a:t>
            </a:r>
            <a:br>
              <a:rPr kumimoji="0" lang="en-US" altLang="en-US" b="0" i="0" u="none" strike="noStrike" cap="none" normalizeH="0" baseline="0" dirty="0">
                <a:ln>
                  <a:noFill/>
                </a:ln>
                <a:solidFill>
                  <a:srgbClr val="808080"/>
                </a:solidFill>
                <a:effectLst/>
                <a:latin typeface="Fira Code"/>
              </a:rPr>
            </a:br>
            <a:r>
              <a:rPr kumimoji="0" lang="en-US" altLang="en-US" b="0" i="0" u="none" strike="noStrike" cap="none" normalizeH="0" baseline="0" dirty="0">
                <a:ln>
                  <a:noFill/>
                </a:ln>
                <a:solidFill>
                  <a:srgbClr val="808080"/>
                </a:solidFill>
                <a:effectLst/>
                <a:latin typeface="Fira Code"/>
              </a:rPr>
              <a:t>    </a:t>
            </a:r>
            <a:r>
              <a:rPr kumimoji="0" lang="en-US" altLang="en-US" b="0" i="0" u="none" strike="noStrike" cap="none" normalizeH="0" baseline="0" dirty="0">
                <a:ln>
                  <a:noFill/>
                </a:ln>
                <a:solidFill>
                  <a:srgbClr val="A9B7C6"/>
                </a:solidFill>
                <a:effectLst/>
                <a:latin typeface="Fira Code"/>
              </a:rPr>
              <a:t>greeter.greet_user()</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11751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Try it in the simulator</a:t>
            </a:r>
          </a:p>
        </p:txBody>
      </p:sp>
      <p:pic>
        <p:nvPicPr>
          <p:cNvPr id="3" name="Picture 2"/>
          <p:cNvPicPr>
            <a:picLocks noChangeAspect="1"/>
          </p:cNvPicPr>
          <p:nvPr/>
        </p:nvPicPr>
        <p:blipFill>
          <a:blip r:embed="rId3"/>
          <a:stretch>
            <a:fillRect/>
          </a:stretch>
        </p:blipFill>
        <p:spPr>
          <a:xfrm>
            <a:off x="609600" y="1808090"/>
            <a:ext cx="6115904" cy="4286848"/>
          </a:xfrm>
          <a:prstGeom prst="rect">
            <a:avLst/>
          </a:prstGeom>
        </p:spPr>
      </p:pic>
      <p:cxnSp>
        <p:nvCxnSpPr>
          <p:cNvPr id="9" name="Straight Arrow Connector 8"/>
          <p:cNvCxnSpPr/>
          <p:nvPr/>
        </p:nvCxnSpPr>
        <p:spPr>
          <a:xfrm flipH="1">
            <a:off x="2980706" y="2648197"/>
            <a:ext cx="4334494" cy="14131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0" y="2343204"/>
            <a:ext cx="4199676" cy="523220"/>
          </a:xfrm>
          <a:prstGeom prst="rect">
            <a:avLst/>
          </a:prstGeom>
          <a:noFill/>
        </p:spPr>
        <p:txBody>
          <a:bodyPr wrap="none" rtlCol="0">
            <a:spAutoFit/>
          </a:bodyPr>
          <a:lstStyle/>
          <a:p>
            <a:r>
              <a:rPr lang="en-AU" sz="2800" dirty="0">
                <a:solidFill>
                  <a:schemeClr val="bg1"/>
                </a:solidFill>
              </a:rPr>
              <a:t>The ‘e’ from ‘Hello world!’</a:t>
            </a:r>
          </a:p>
        </p:txBody>
      </p:sp>
    </p:spTree>
    <p:extLst>
      <p:ext uri="{BB962C8B-B14F-4D97-AF65-F5344CB8AC3E}">
        <p14:creationId xmlns:p14="http://schemas.microsoft.com/office/powerpoint/2010/main" val="41716391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Raspberry Pi</a:t>
            </a:r>
          </a:p>
        </p:txBody>
      </p:sp>
      <p:sp>
        <p:nvSpPr>
          <p:cNvPr id="3" name="Content Placeholder 2"/>
          <p:cNvSpPr>
            <a:spLocks noGrp="1"/>
          </p:cNvSpPr>
          <p:nvPr>
            <p:ph idx="1"/>
          </p:nvPr>
        </p:nvSpPr>
        <p:spPr>
          <a:xfrm>
            <a:off x="609600" y="1794617"/>
            <a:ext cx="5078681" cy="4563491"/>
          </a:xfrm>
        </p:spPr>
        <p:txBody>
          <a:bodyPr/>
          <a:lstStyle/>
          <a:p>
            <a:r>
              <a:rPr lang="en-AU" dirty="0"/>
              <a:t>In the future, we will be doing this stuff on actual Raspberry Pi’s</a:t>
            </a:r>
          </a:p>
          <a:p>
            <a:endParaRPr lang="en-AU" dirty="0"/>
          </a:p>
          <a:p>
            <a:r>
              <a:rPr lang="en-AU" dirty="0"/>
              <a:t>As a reminder: please get a ≥16GB micro SD card (class  10  or better)</a:t>
            </a:r>
          </a:p>
          <a:p>
            <a:pPr lvl="1"/>
            <a:endParaRPr lang="en-AU" dirty="0"/>
          </a:p>
        </p:txBody>
      </p:sp>
      <p:pic>
        <p:nvPicPr>
          <p:cNvPr id="4" name="Picture 3"/>
          <p:cNvPicPr>
            <a:picLocks noChangeAspect="1"/>
          </p:cNvPicPr>
          <p:nvPr/>
        </p:nvPicPr>
        <p:blipFill>
          <a:blip r:embed="rId2"/>
          <a:stretch>
            <a:fillRect/>
          </a:stretch>
        </p:blipFill>
        <p:spPr>
          <a:xfrm>
            <a:off x="6950243" y="1794617"/>
            <a:ext cx="2305372" cy="3315163"/>
          </a:xfrm>
          <a:prstGeom prst="rect">
            <a:avLst/>
          </a:prstGeom>
        </p:spPr>
      </p:pic>
      <p:sp>
        <p:nvSpPr>
          <p:cNvPr id="5" name="TextBox 4"/>
          <p:cNvSpPr txBox="1"/>
          <p:nvPr/>
        </p:nvSpPr>
        <p:spPr>
          <a:xfrm>
            <a:off x="6950243" y="5206731"/>
            <a:ext cx="2920671" cy="369332"/>
          </a:xfrm>
          <a:prstGeom prst="rect">
            <a:avLst/>
          </a:prstGeom>
          <a:noFill/>
        </p:spPr>
        <p:txBody>
          <a:bodyPr wrap="none" rtlCol="0">
            <a:spAutoFit/>
          </a:bodyPr>
          <a:lstStyle/>
          <a:p>
            <a:r>
              <a:rPr lang="en-AU" dirty="0">
                <a:solidFill>
                  <a:schemeClr val="bg1"/>
                </a:solidFill>
              </a:rPr>
              <a:t>Example from </a:t>
            </a:r>
            <a:r>
              <a:rPr lang="en-AU" dirty="0" err="1">
                <a:solidFill>
                  <a:schemeClr val="bg1"/>
                </a:solidFill>
              </a:rPr>
              <a:t>OfficeWorks</a:t>
            </a:r>
            <a:endParaRPr lang="en-AU" dirty="0">
              <a:solidFill>
                <a:schemeClr val="bg1"/>
              </a:solidFill>
            </a:endParaRPr>
          </a:p>
        </p:txBody>
      </p:sp>
      <p:sp>
        <p:nvSpPr>
          <p:cNvPr id="6" name="Oval 5"/>
          <p:cNvSpPr/>
          <p:nvPr/>
        </p:nvSpPr>
        <p:spPr>
          <a:xfrm>
            <a:off x="3170710" y="4903910"/>
            <a:ext cx="605642" cy="605642"/>
          </a:xfrm>
          <a:prstGeom prst="ellipse">
            <a:avLst/>
          </a:prstGeom>
          <a:noFill/>
          <a:ln w="381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963551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END</a:t>
            </a:r>
          </a:p>
        </p:txBody>
      </p:sp>
      <p:sp>
        <p:nvSpPr>
          <p:cNvPr id="3" name="Text Placeholder 2"/>
          <p:cNvSpPr>
            <a:spLocks noGrp="1"/>
          </p:cNvSpPr>
          <p:nvPr>
            <p:ph type="body" idx="1"/>
          </p:nvPr>
        </p:nvSpPr>
        <p:spPr/>
        <p:txBody>
          <a:bodyPr/>
          <a:lstStyle/>
          <a:p>
            <a:r>
              <a:rPr lang="en-AU" dirty="0"/>
              <a:t>Session 1</a:t>
            </a:r>
          </a:p>
        </p:txBody>
      </p:sp>
    </p:spTree>
    <p:extLst>
      <p:ext uri="{BB962C8B-B14F-4D97-AF65-F5344CB8AC3E}">
        <p14:creationId xmlns:p14="http://schemas.microsoft.com/office/powerpoint/2010/main" val="15653204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FB652FE9C0E4A4BA617103343675622" ma:contentTypeVersion="14" ma:contentTypeDescription="Create a new document." ma:contentTypeScope="" ma:versionID="ad715848acff22061af62766aff301be">
  <xsd:schema xmlns:xsd="http://www.w3.org/2001/XMLSchema" xmlns:xs="http://www.w3.org/2001/XMLSchema" xmlns:p="http://schemas.microsoft.com/office/2006/metadata/properties" xmlns:ns3="ca795412-bebd-4315-bf48-ef2a3932babb" xmlns:ns4="15dc33cf-23e6-4c02-8146-51e815ffffa8" targetNamespace="http://schemas.microsoft.com/office/2006/metadata/properties" ma:root="true" ma:fieldsID="c12e525fc6fa98ea52acbf6866e6ce97" ns3:_="" ns4:_="">
    <xsd:import namespace="ca795412-bebd-4315-bf48-ef2a3932babb"/>
    <xsd:import namespace="15dc33cf-23e6-4c02-8146-51e815ffffa8"/>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795412-bebd-4315-bf48-ef2a3932ba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5dc33cf-23e6-4c02-8146-51e815ffffa8"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0EA9AED-3F34-49ED-92E5-62DD090C3E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795412-bebd-4315-bf48-ef2a3932babb"/>
    <ds:schemaRef ds:uri="15dc33cf-23e6-4c02-8146-51e815ffff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93B4755-80B4-4FE9-9650-4C8006444834}">
  <ds:schemaRefs>
    <ds:schemaRef ds:uri="http://schemas.microsoft.com/sharepoint/v3/contenttype/forms"/>
  </ds:schemaRefs>
</ds:datastoreItem>
</file>

<file path=customXml/itemProps3.xml><?xml version="1.0" encoding="utf-8"?>
<ds:datastoreItem xmlns:ds="http://schemas.openxmlformats.org/officeDocument/2006/customXml" ds:itemID="{D6F79D9B-5A67-492D-BB4F-F3913BAD9421}">
  <ds:schemaRefs>
    <ds:schemaRef ds:uri="http://purl.org/dc/terms/"/>
    <ds:schemaRef ds:uri="http://schemas.openxmlformats.org/package/2006/metadata/core-properties"/>
    <ds:schemaRef ds:uri="ca795412-bebd-4315-bf48-ef2a3932babb"/>
    <ds:schemaRef ds:uri="http://schemas.microsoft.com/office/2006/documentManagement/types"/>
    <ds:schemaRef ds:uri="15dc33cf-23e6-4c02-8146-51e815ffffa8"/>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NMT-Presentation-HD-1920x1080-AJG-V2020.07.01</Template>
  <TotalTime>7479</TotalTime>
  <Words>4324</Words>
  <Application>Microsoft Macintosh PowerPoint</Application>
  <PresentationFormat>Widescreen</PresentationFormat>
  <Paragraphs>556</Paragraphs>
  <Slides>77</Slides>
  <Notes>48</Notes>
  <HiddenSlides>33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77</vt:i4>
      </vt:variant>
    </vt:vector>
  </HeadingPairs>
  <TitlesOfParts>
    <vt:vector size="87" baseType="lpstr">
      <vt:lpstr>3270-MEDIUM</vt:lpstr>
      <vt:lpstr>Arial</vt:lpstr>
      <vt:lpstr>Calibri</vt:lpstr>
      <vt:lpstr>Century Gothic</vt:lpstr>
      <vt:lpstr>Fira Code</vt:lpstr>
      <vt:lpstr>Helvetica Neue</vt:lpstr>
      <vt:lpstr>Lucida Console</vt:lpstr>
      <vt:lpstr>Source Sans Pro</vt:lpstr>
      <vt:lpstr>Wingdings</vt:lpstr>
      <vt:lpstr>Office Theme</vt:lpstr>
      <vt:lpstr>Introduction to Object-Oriented Programming</vt:lpstr>
      <vt:lpstr>PREAMBLE: ICTPRG302 KEY REVISION</vt:lpstr>
      <vt:lpstr>Overview: Modularity and Python</vt:lpstr>
      <vt:lpstr>Functions: revision</vt:lpstr>
      <vt:lpstr>Discussion: why write functions?</vt:lpstr>
      <vt:lpstr>Why write functions?</vt:lpstr>
      <vt:lpstr>The big problem with small problems</vt:lpstr>
      <vt:lpstr>Pure functions</vt:lpstr>
      <vt:lpstr>Side effects</vt:lpstr>
      <vt:lpstr>So why?</vt:lpstr>
      <vt:lpstr>What’s wrong with this function?</vt:lpstr>
      <vt:lpstr>Compare to</vt:lpstr>
      <vt:lpstr>Python Modules</vt:lpstr>
      <vt:lpstr>if/name/main allows one file to be both</vt:lpstr>
      <vt:lpstr>Structuring a python program </vt:lpstr>
      <vt:lpstr>Namespaces</vt:lpstr>
      <vt:lpstr>Namespace categories</vt:lpstr>
      <vt:lpstr>Importing names from one module to another</vt:lpstr>
      <vt:lpstr>DEMO</vt:lpstr>
      <vt:lpstr>Importing into a custom namespace</vt:lpstr>
      <vt:lpstr>Importing into the global namespace</vt:lpstr>
      <vt:lpstr>Summary</vt:lpstr>
      <vt:lpstr>Self-test exercise</vt:lpstr>
      <vt:lpstr>Introduction</vt:lpstr>
      <vt:lpstr>Object Oriented Programming</vt:lpstr>
      <vt:lpstr>Programming facts</vt:lpstr>
      <vt:lpstr>Addressing the challenges</vt:lpstr>
      <vt:lpstr>Addressing the challenges</vt:lpstr>
      <vt:lpstr>Programming Paradigms*</vt:lpstr>
      <vt:lpstr>Programming Paradigms</vt:lpstr>
      <vt:lpstr>Hot (controversial) take</vt:lpstr>
      <vt:lpstr>Object-Oriented</vt:lpstr>
      <vt:lpstr>PowerPoint Presentation</vt:lpstr>
      <vt:lpstr>PowerPoint Presentation</vt:lpstr>
      <vt:lpstr>Notice that the values change for each object, but we can say that all objects of a given type have these attributes and behaviors!</vt:lpstr>
      <vt:lpstr>PowerPoint Presentation</vt:lpstr>
      <vt:lpstr>PowerPoint Presentation</vt:lpstr>
      <vt:lpstr>PowerPoint Presentation</vt:lpstr>
      <vt:lpstr>PowerPoint Presentation</vt:lpstr>
      <vt:lpstr>PowerPoint Presentation</vt:lpstr>
      <vt:lpstr>OOP in Python</vt:lpstr>
      <vt:lpstr>Predict</vt:lpstr>
      <vt:lpstr>Type type</vt:lpstr>
      <vt:lpstr>Demo</vt:lpstr>
      <vt:lpstr>A simple example</vt:lpstr>
      <vt:lpstr>The requirement(s)</vt:lpstr>
      <vt:lpstr>The domain model</vt:lpstr>
      <vt:lpstr>The Class Diagram</vt:lpstr>
      <vt:lpstr>Let’s create our Greeter program</vt:lpstr>
      <vt:lpstr>Let’s create our Greeter program</vt:lpstr>
      <vt:lpstr>Let’s create our Greeter program</vt:lpstr>
      <vt:lpstr>Let’s create our Greeter program</vt:lpstr>
      <vt:lpstr>Let’s create our Greeter program</vt:lpstr>
      <vt:lpstr>Let’s run our Greeter program</vt:lpstr>
      <vt:lpstr>What is IoT?</vt:lpstr>
      <vt:lpstr>What is IoT?</vt:lpstr>
      <vt:lpstr>What is IoT?</vt:lpstr>
      <vt:lpstr>Exercise: IoT where?</vt:lpstr>
      <vt:lpstr>IoT Where?</vt:lpstr>
      <vt:lpstr>Sensors vs Actuators</vt:lpstr>
      <vt:lpstr>Sensors</vt:lpstr>
      <vt:lpstr>Actuators</vt:lpstr>
      <vt:lpstr>Architecture</vt:lpstr>
      <vt:lpstr>Architecture</vt:lpstr>
      <vt:lpstr>Communications Channels</vt:lpstr>
      <vt:lpstr>Communications Protocols</vt:lpstr>
      <vt:lpstr>Communications Channels</vt:lpstr>
      <vt:lpstr>Raspberry Pi</vt:lpstr>
      <vt:lpstr>Raspberry Pi 3B/4B</vt:lpstr>
      <vt:lpstr>Raspberry Pi SenseHat Simulator</vt:lpstr>
      <vt:lpstr>The requirement(s): revisited</vt:lpstr>
      <vt:lpstr>The domain model</vt:lpstr>
      <vt:lpstr>The Class Diagram</vt:lpstr>
      <vt:lpstr>Let’s update our Greeter program</vt:lpstr>
      <vt:lpstr>Try it in the simulator</vt:lpstr>
      <vt:lpstr>Raspberry Pi</vt:lpstr>
      <vt:lpstr>END</vt:lpstr>
    </vt:vector>
  </TitlesOfParts>
  <Manager/>
  <Company>North Metro TAFE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Powerpoint presentation template (G076C)</dc:subject>
  <dc:creator>Adrian Gould</dc:creator>
  <cp:keywords>HD, 1920x1080, Template, Powerpoint</cp:keywords>
  <dc:description>Template created by Adrian Gould, Lecturer in IT (Software Development, Web Development, IoT, and more)</dc:description>
  <cp:lastModifiedBy>Rafael Avigad</cp:lastModifiedBy>
  <cp:revision>146</cp:revision>
  <cp:lastPrinted>2020-07-27T03:09:30Z</cp:lastPrinted>
  <dcterms:created xsi:type="dcterms:W3CDTF">2020-07-19T07:10:30Z</dcterms:created>
  <dcterms:modified xsi:type="dcterms:W3CDTF">2024-11-04T06:02:27Z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0x010100BFB652FE9C0E4A4BA617103343675622</vt:lpwstr>
  </property>
  <property fmtid="{D5CDD505-2E9C-101B-9397-08002B2CF9AE}" pid="3" name="MSIP_Label_f3ac7e5b-5da2-46c7-8677-8a6b50f7d886_Enabled">
    <vt:lpwstr>true</vt:lpwstr>
  </property>
  <property fmtid="{D5CDD505-2E9C-101B-9397-08002B2CF9AE}" pid="4" name="MSIP_Label_f3ac7e5b-5da2-46c7-8677-8a6b50f7d886_SetDate">
    <vt:lpwstr>2024-04-05T08:00:40Z</vt:lpwstr>
  </property>
  <property fmtid="{D5CDD505-2E9C-101B-9397-08002B2CF9AE}" pid="5" name="MSIP_Label_f3ac7e5b-5da2-46c7-8677-8a6b50f7d886_Method">
    <vt:lpwstr>Standard</vt:lpwstr>
  </property>
  <property fmtid="{D5CDD505-2E9C-101B-9397-08002B2CF9AE}" pid="6" name="MSIP_Label_f3ac7e5b-5da2-46c7-8677-8a6b50f7d886_Name">
    <vt:lpwstr>Official</vt:lpwstr>
  </property>
  <property fmtid="{D5CDD505-2E9C-101B-9397-08002B2CF9AE}" pid="7" name="MSIP_Label_f3ac7e5b-5da2-46c7-8677-8a6b50f7d886_SiteId">
    <vt:lpwstr>218881e8-07ad-4142-87d7-f6b90d17009b</vt:lpwstr>
  </property>
  <property fmtid="{D5CDD505-2E9C-101B-9397-08002B2CF9AE}" pid="8" name="MSIP_Label_f3ac7e5b-5da2-46c7-8677-8a6b50f7d886_ActionId">
    <vt:lpwstr>0dfbecef-01cc-4717-8386-447fc362cefa</vt:lpwstr>
  </property>
  <property fmtid="{D5CDD505-2E9C-101B-9397-08002B2CF9AE}" pid="9" name="MSIP_Label_f3ac7e5b-5da2-46c7-8677-8a6b50f7d886_ContentBits">
    <vt:lpwstr>1</vt:lpwstr>
  </property>
  <property fmtid="{D5CDD505-2E9C-101B-9397-08002B2CF9AE}" pid="10" name="ClassificationContentMarkingHeaderLocations">
    <vt:lpwstr>Office Theme:7</vt:lpwstr>
  </property>
  <property fmtid="{D5CDD505-2E9C-101B-9397-08002B2CF9AE}" pid="11" name="ClassificationContentMarkingHeaderText">
    <vt:lpwstr>OFFICIAL</vt:lpwstr>
  </property>
</Properties>
</file>